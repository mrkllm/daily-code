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1" r:id="rId4"/>
  </p:sldMasterIdLst>
  <p:notesMasterIdLst>
    <p:notesMasterId r:id="rId12"/>
  </p:notesMasterIdLst>
  <p:handoutMasterIdLst>
    <p:handoutMasterId r:id="rId97"/>
  </p:handoutMasterIdLst>
  <p:sldIdLst>
    <p:sldId id="305" r:id="rId5"/>
    <p:sldId id="497" r:id="rId6"/>
    <p:sldId id="257" r:id="rId7"/>
    <p:sldId id="258" r:id="rId8"/>
    <p:sldId id="407" r:id="rId9"/>
    <p:sldId id="260" r:id="rId10"/>
    <p:sldId id="261" r:id="rId11"/>
    <p:sldId id="262" r:id="rId13"/>
    <p:sldId id="263" r:id="rId14"/>
    <p:sldId id="419" r:id="rId15"/>
    <p:sldId id="264" r:id="rId16"/>
    <p:sldId id="265" r:id="rId17"/>
    <p:sldId id="266" r:id="rId18"/>
    <p:sldId id="268" r:id="rId19"/>
    <p:sldId id="269" r:id="rId20"/>
    <p:sldId id="270" r:id="rId21"/>
    <p:sldId id="271" r:id="rId22"/>
    <p:sldId id="272" r:id="rId23"/>
    <p:sldId id="340" r:id="rId24"/>
    <p:sldId id="330" r:id="rId25"/>
    <p:sldId id="408" r:id="rId26"/>
    <p:sldId id="274" r:id="rId27"/>
    <p:sldId id="326" r:id="rId28"/>
    <p:sldId id="331" r:id="rId29"/>
    <p:sldId id="411" r:id="rId30"/>
    <p:sldId id="341" r:id="rId31"/>
    <p:sldId id="275" r:id="rId32"/>
    <p:sldId id="276" r:id="rId33"/>
    <p:sldId id="277" r:id="rId34"/>
    <p:sldId id="279" r:id="rId35"/>
    <p:sldId id="278" r:id="rId36"/>
    <p:sldId id="327" r:id="rId37"/>
    <p:sldId id="332" r:id="rId38"/>
    <p:sldId id="334" r:id="rId39"/>
    <p:sldId id="413" r:id="rId40"/>
    <p:sldId id="420" r:id="rId41"/>
    <p:sldId id="424" r:id="rId42"/>
    <p:sldId id="412" r:id="rId43"/>
    <p:sldId id="353" r:id="rId44"/>
    <p:sldId id="414" r:id="rId45"/>
    <p:sldId id="282" r:id="rId46"/>
    <p:sldId id="345" r:id="rId47"/>
    <p:sldId id="583" r:id="rId48"/>
    <p:sldId id="585" r:id="rId49"/>
    <p:sldId id="584" r:id="rId50"/>
    <p:sldId id="586" r:id="rId51"/>
    <p:sldId id="281" r:id="rId52"/>
    <p:sldId id="321" r:id="rId53"/>
    <p:sldId id="324" r:id="rId54"/>
    <p:sldId id="357" r:id="rId55"/>
    <p:sldId id="415" r:id="rId56"/>
    <p:sldId id="325" r:id="rId57"/>
    <p:sldId id="285" r:id="rId58"/>
    <p:sldId id="287" r:id="rId59"/>
    <p:sldId id="288" r:id="rId60"/>
    <p:sldId id="328" r:id="rId61"/>
    <p:sldId id="337" r:id="rId62"/>
    <p:sldId id="289" r:id="rId63"/>
    <p:sldId id="416" r:id="rId64"/>
    <p:sldId id="358" r:id="rId65"/>
    <p:sldId id="291" r:id="rId66"/>
    <p:sldId id="290" r:id="rId67"/>
    <p:sldId id="417" r:id="rId68"/>
    <p:sldId id="359" r:id="rId69"/>
    <p:sldId id="293" r:id="rId70"/>
    <p:sldId id="295" r:id="rId71"/>
    <p:sldId id="297" r:id="rId72"/>
    <p:sldId id="296" r:id="rId73"/>
    <p:sldId id="298" r:id="rId74"/>
    <p:sldId id="300" r:id="rId75"/>
    <p:sldId id="425" r:id="rId76"/>
    <p:sldId id="346" r:id="rId77"/>
    <p:sldId id="347" r:id="rId78"/>
    <p:sldId id="348" r:id="rId79"/>
    <p:sldId id="349" r:id="rId80"/>
    <p:sldId id="350" r:id="rId81"/>
    <p:sldId id="421" r:id="rId82"/>
    <p:sldId id="299" r:id="rId83"/>
    <p:sldId id="301" r:id="rId84"/>
    <p:sldId id="303" r:id="rId85"/>
    <p:sldId id="418" r:id="rId86"/>
    <p:sldId id="323" r:id="rId87"/>
    <p:sldId id="302" r:id="rId88"/>
    <p:sldId id="304" r:id="rId89"/>
    <p:sldId id="354" r:id="rId90"/>
    <p:sldId id="307" r:id="rId91"/>
    <p:sldId id="351" r:id="rId92"/>
    <p:sldId id="422" r:id="rId93"/>
    <p:sldId id="423" r:id="rId94"/>
    <p:sldId id="426" r:id="rId95"/>
    <p:sldId id="329" r:id="rId96"/>
  </p:sldIdLst>
  <p:sldSz cx="9144000" cy="6858000" type="screen4x3"/>
  <p:notesSz cx="9928225" cy="6797675"/>
  <p:custDataLst>
    <p:tags r:id="rId10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29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  <p:cmAuthor id="3" name="Administrator" initials="A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009900"/>
    <a:srgbClr val="E48600"/>
    <a:srgbClr val="00FFCC"/>
    <a:srgbClr val="CCFFFF"/>
    <a:srgbClr val="66FF33"/>
    <a:srgbClr val="66CC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43"/>
    <p:restoredTop sz="89041"/>
  </p:normalViewPr>
  <p:slideViewPr>
    <p:cSldViewPr snapToGrid="0" showGuides="1">
      <p:cViewPr varScale="1">
        <p:scale>
          <a:sx n="102" d="100"/>
          <a:sy n="102" d="100"/>
        </p:scale>
        <p:origin x="1812" y="96"/>
      </p:cViewPr>
      <p:guideLst>
        <p:guide orient="horz" pos="2198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viewProps" Target="viewProps.xml"/><Relationship Id="rId98" Type="http://schemas.openxmlformats.org/officeDocument/2006/relationships/presProps" Target="presProps.xml"/><Relationship Id="rId97" Type="http://schemas.openxmlformats.org/officeDocument/2006/relationships/handoutMaster" Target="handoutMasters/handoutMaster1.xml"/><Relationship Id="rId96" Type="http://schemas.openxmlformats.org/officeDocument/2006/relationships/slide" Target="slides/slide91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" Type="http://schemas.openxmlformats.org/officeDocument/2006/relationships/slide" Target="slides/slide5.xml"/><Relationship Id="rId89" Type="http://schemas.openxmlformats.org/officeDocument/2006/relationships/slide" Target="slides/slide84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80" Type="http://schemas.openxmlformats.org/officeDocument/2006/relationships/slide" Target="slides/slide75.xml"/><Relationship Id="rId8" Type="http://schemas.openxmlformats.org/officeDocument/2006/relationships/slide" Target="slides/slide4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slide" Target="slides/slide3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slide" Target="slides/slide2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2" Type="http://schemas.openxmlformats.org/officeDocument/2006/relationships/tags" Target="tags/tag100.xml"/><Relationship Id="rId101" Type="http://schemas.openxmlformats.org/officeDocument/2006/relationships/commentAuthors" Target="commentAuthors.xml"/><Relationship Id="rId100" Type="http://schemas.openxmlformats.org/officeDocument/2006/relationships/tableStyles" Target="tableStyle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39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1" sz="12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6100" y="0"/>
            <a:ext cx="4302125" cy="339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77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7950"/>
            <a:ext cx="4302125" cy="339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1" sz="12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77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6100" y="6457950"/>
            <a:ext cx="4302125" cy="339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b="1" dirty="0"/>
            </a:fld>
            <a:endParaRPr lang="en-US" altLang="zh-CN" sz="1200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4513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A7F2B26-96A4-4397-8FF7-EA6FD848CD6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33763" y="849313"/>
            <a:ext cx="3060700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4513" y="6456363"/>
            <a:ext cx="4302125" cy="3413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3315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4513" y="6456363"/>
            <a:ext cx="4302125" cy="3413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048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4513" y="6456363"/>
            <a:ext cx="4302125" cy="3413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4579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45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4513" y="6456363"/>
            <a:ext cx="4302125" cy="3413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1747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317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4513" y="6456363"/>
            <a:ext cx="4302125" cy="3413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8915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4513" y="6456363"/>
            <a:ext cx="4302125" cy="3413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440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4513" y="6456363"/>
            <a:ext cx="4302125" cy="3413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608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460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4513" y="6456363"/>
            <a:ext cx="4302125" cy="3413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9155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491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4513" y="6456363"/>
            <a:ext cx="4302125" cy="3413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4275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42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4513" y="6456363"/>
            <a:ext cx="4302125" cy="3413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632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63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4513" y="6456363"/>
            <a:ext cx="4302125" cy="3413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993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4513" y="6456363"/>
            <a:ext cx="4302125" cy="3413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 spd="med"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med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med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 spd="med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 spd="med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 spd="med"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med"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med"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7897813" y="0"/>
            <a:ext cx="1354138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数据结构      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med"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med"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429200"/>
            <a:ext cx="40068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421729"/>
            <a:ext cx="40068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555200"/>
            <a:ext cx="392480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456300" y="608400"/>
            <a:ext cx="8226900" cy="705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429200"/>
            <a:ext cx="40068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421729"/>
            <a:ext cx="40068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555200"/>
            <a:ext cx="392480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456300" y="608400"/>
            <a:ext cx="8226900" cy="705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4" Type="http://schemas.openxmlformats.org/officeDocument/2006/relationships/tags" Target="../tags/tag41.xml"/><Relationship Id="rId13" Type="http://schemas.openxmlformats.org/officeDocument/2006/relationships/image" Target="../media/image7.png"/><Relationship Id="rId12" Type="http://schemas.openxmlformats.org/officeDocument/2006/relationships/image" Target="../media/image6.png"/><Relationship Id="rId11" Type="http://schemas.openxmlformats.org/officeDocument/2006/relationships/image" Target="../media/image5.png"/><Relationship Id="rId10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4" Type="http://schemas.openxmlformats.org/officeDocument/2006/relationships/theme" Target="../theme/theme3.xml"/><Relationship Id="rId13" Type="http://schemas.openxmlformats.org/officeDocument/2006/relationships/tags" Target="../tags/tag82.xml"/><Relationship Id="rId12" Type="http://schemas.openxmlformats.org/officeDocument/2006/relationships/image" Target="../media/image7.png"/><Relationship Id="rId11" Type="http://schemas.openxmlformats.org/officeDocument/2006/relationships/image" Target="../media/image6.png"/><Relationship Id="rId10" Type="http://schemas.openxmlformats.org/officeDocument/2006/relationships/image" Target="../media/image4.jpeg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2014538"/>
            <a:ext cx="309563" cy="41640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8834438" y="1017588"/>
            <a:ext cx="309563" cy="41640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2014538"/>
            <a:ext cx="309563" cy="41640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8834438" y="1017588"/>
            <a:ext cx="309563" cy="41640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pic>
        <p:nvPicPr>
          <p:cNvPr id="1032" name="图片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9153525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3" name="图片 7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416800" y="6346825"/>
            <a:ext cx="1736725" cy="51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圆角矩形 3"/>
          <p:cNvSpPr>
            <a:spLocks noChangeArrowheads="1"/>
          </p:cNvSpPr>
          <p:nvPr/>
        </p:nvSpPr>
        <p:spPr bwMode="auto">
          <a:xfrm flipV="1">
            <a:off x="1973263" y="620713"/>
            <a:ext cx="6985000" cy="460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pic>
        <p:nvPicPr>
          <p:cNvPr id="1035" name="图片 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0"/>
            <a:ext cx="1536700" cy="11080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>
    <p:zo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"/>
            <a:ext cx="9144000" cy="6864350"/>
          </a:xfrm>
          <a:prstGeom prst="rect">
            <a:avLst/>
          </a:prstGeom>
          <a:noFill/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10" b="14311"/>
          <a:stretch>
            <a:fillRect/>
          </a:stretch>
        </p:blipFill>
        <p:spPr>
          <a:xfrm>
            <a:off x="-207169" y="0"/>
            <a:ext cx="1080611" cy="1423035"/>
          </a:xfrm>
          <a:prstGeom prst="rect">
            <a:avLst/>
          </a:prstGeom>
        </p:spPr>
      </p:pic>
      <p:sp>
        <p:nvSpPr>
          <p:cNvPr id="7" name="文本框 6" descr="7b0a2020202022776f7264617274223a20227b5c2269645c223a31393936373038332c5c227469645c223a31333431357d220a7d0a"/>
          <p:cNvSpPr txBox="1"/>
          <p:nvPr userDrawn="1"/>
        </p:nvSpPr>
        <p:spPr>
          <a:xfrm>
            <a:off x="525780" y="105410"/>
            <a:ext cx="1982153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数据结构</a:t>
            </a:r>
            <a:endParaRPr lang="zh-CN" altLang="en-US" sz="30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470" y="6456680"/>
            <a:ext cx="1710690" cy="4787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802890" y="2083435"/>
            <a:ext cx="2009775" cy="3714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802890" y="2454910"/>
            <a:ext cx="2009775" cy="3714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802890" y="2752725"/>
            <a:ext cx="2009775" cy="371475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596265"/>
            <a:ext cx="9144000" cy="5959475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"/>
            <a:ext cx="9144000" cy="6864350"/>
          </a:xfrm>
          <a:prstGeom prst="rect">
            <a:avLst/>
          </a:prstGeom>
          <a:noFill/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470" y="6456680"/>
            <a:ext cx="1710690" cy="4787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02890" y="2083435"/>
            <a:ext cx="2009775" cy="3714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02890" y="2454910"/>
            <a:ext cx="2009775" cy="3714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02890" y="2752725"/>
            <a:ext cx="2009775" cy="371475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-5715"/>
            <a:ext cx="9144000" cy="6561455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12.wmf"/><Relationship Id="rId7" Type="http://schemas.openxmlformats.org/officeDocument/2006/relationships/oleObject" Target="../embeddings/oleObject1.bin"/><Relationship Id="rId6" Type="http://schemas.openxmlformats.org/officeDocument/2006/relationships/tags" Target="../tags/tag84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3" Type="http://schemas.openxmlformats.org/officeDocument/2006/relationships/tags" Target="../tags/tag83.xml"/><Relationship Id="rId2" Type="http://schemas.openxmlformats.org/officeDocument/2006/relationships/image" Target="../media/image9.jpeg"/><Relationship Id="rId10" Type="http://schemas.openxmlformats.org/officeDocument/2006/relationships/vmlDrawing" Target="../drawings/vmlDrawing1.v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8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slide" Target="slide3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9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slide" Target="slide3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4.xml"/><Relationship Id="rId6" Type="http://schemas.openxmlformats.org/officeDocument/2006/relationships/tags" Target="../tags/tag89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9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2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1" name="Rectangle 5"/>
          <p:cNvSpPr/>
          <p:nvPr/>
        </p:nvSpPr>
        <p:spPr>
          <a:xfrm>
            <a:off x="4140200" y="0"/>
            <a:ext cx="1498600" cy="64516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sz="36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 录</a:t>
            </a:r>
            <a:endParaRPr lang="zh-CN" altLang="en-US" sz="36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30600" y="757555"/>
            <a:ext cx="5591175" cy="1555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不奋苦而求速效，只落得少日浮夸，老来窘隘而已。 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</a:t>
            </a:r>
            <a:endParaRPr lang="en-US" altLang="zh-CN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——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郑板桥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530" y="757555"/>
            <a:ext cx="3072130" cy="2839720"/>
          </a:xfrm>
          <a:prstGeom prst="rect">
            <a:avLst/>
          </a:prstGeom>
        </p:spPr>
      </p:pic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303530" y="3655695"/>
            <a:ext cx="1542415" cy="28441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29130" y="3740785"/>
            <a:ext cx="1446530" cy="2673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图片 103"/>
          <p:cNvPicPr/>
          <p:nvPr/>
        </p:nvPicPr>
        <p:blipFill>
          <a:blip r:embed="rId5"/>
          <a:stretch>
            <a:fillRect/>
          </a:stretch>
        </p:blipFill>
        <p:spPr>
          <a:xfrm>
            <a:off x="3531235" y="4681220"/>
            <a:ext cx="5473065" cy="179197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" name="对象 3"/>
          <p:cNvGraphicFramePr/>
          <p:nvPr>
            <p:custDataLst>
              <p:tags r:id="rId6"/>
            </p:custDataLst>
          </p:nvPr>
        </p:nvGraphicFramePr>
        <p:xfrm>
          <a:off x="3532505" y="2490470"/>
          <a:ext cx="5471795" cy="2106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5467350" imgH="2105025" progId="Paint.Picture">
                  <p:embed/>
                </p:oleObj>
              </mc:Choice>
              <mc:Fallback>
                <p:oleObj name="" r:id="rId7" imgW="5467350" imgH="210502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32505" y="2490470"/>
                        <a:ext cx="5471795" cy="2106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0" name="Rectangle 4"/>
          <p:cNvSpPr>
            <a:spLocks noChangeArrowheads="1"/>
          </p:cNvSpPr>
          <p:nvPr/>
        </p:nvSpPr>
        <p:spPr bwMode="auto">
          <a:xfrm>
            <a:off x="2987675" y="981075"/>
            <a:ext cx="4464050" cy="45707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章    绪论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章    顺序表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章    链表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章    数组和广义表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章    字符串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章    树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7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章    图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8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章    查找表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9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章    内排序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47461" name="Rectangle 5"/>
          <p:cNvSpPr/>
          <p:nvPr/>
        </p:nvSpPr>
        <p:spPr>
          <a:xfrm>
            <a:off x="4140200" y="0"/>
            <a:ext cx="1498600" cy="64516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sz="36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 录</a:t>
            </a:r>
            <a:endParaRPr lang="zh-CN" altLang="en-US" sz="36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0" grpId="0"/>
      <p:bldP spid="14746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6"/>
          <p:cNvSpPr txBox="1"/>
          <p:nvPr/>
        </p:nvSpPr>
        <p:spPr>
          <a:xfrm>
            <a:off x="3967163" y="47625"/>
            <a:ext cx="2870200" cy="64516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zh-CN" altLang="en-US" sz="36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第</a:t>
            </a: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</a:t>
            </a:r>
            <a:r>
              <a:rPr lang="zh-CN" altLang="en-US" sz="36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章  图</a:t>
            </a:r>
            <a:endParaRPr lang="zh-CN" altLang="en-US" sz="3600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123" name="Rectangle 7"/>
          <p:cNvSpPr>
            <a:spLocks noChangeArrowheads="1"/>
          </p:cNvSpPr>
          <p:nvPr/>
        </p:nvSpPr>
        <p:spPr bwMode="auto">
          <a:xfrm>
            <a:off x="2622550" y="1117600"/>
            <a:ext cx="2418080" cy="5835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7.1 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基本术语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124" name="Rectangle 8"/>
          <p:cNvSpPr>
            <a:spLocks noChangeArrowheads="1"/>
          </p:cNvSpPr>
          <p:nvPr/>
        </p:nvSpPr>
        <p:spPr bwMode="auto">
          <a:xfrm>
            <a:off x="2619375" y="1876425"/>
            <a:ext cx="3230880" cy="5835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7.2 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图的存储结构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125" name="Rectangle 9"/>
          <p:cNvSpPr>
            <a:spLocks noChangeArrowheads="1"/>
          </p:cNvSpPr>
          <p:nvPr/>
        </p:nvSpPr>
        <p:spPr bwMode="auto">
          <a:xfrm>
            <a:off x="2628900" y="2652713"/>
            <a:ext cx="2418080" cy="5835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7.3 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图的遍历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126" name="Rectangle 12"/>
          <p:cNvSpPr>
            <a:spLocks noChangeArrowheads="1"/>
          </p:cNvSpPr>
          <p:nvPr/>
        </p:nvSpPr>
        <p:spPr bwMode="auto">
          <a:xfrm>
            <a:off x="2630488" y="3457575"/>
            <a:ext cx="5856288" cy="5835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7.4 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最小生成树和最短路径问题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127" name="Rectangle 13"/>
          <p:cNvSpPr>
            <a:spLocks noChangeArrowheads="1"/>
          </p:cNvSpPr>
          <p:nvPr/>
        </p:nvSpPr>
        <p:spPr bwMode="auto">
          <a:xfrm>
            <a:off x="2651125" y="4222750"/>
            <a:ext cx="4110990" cy="5835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7.5 AOV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网与拓扑排序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128" name="Rectangle 14"/>
          <p:cNvSpPr>
            <a:spLocks noChangeArrowheads="1"/>
          </p:cNvSpPr>
          <p:nvPr/>
        </p:nvSpPr>
        <p:spPr bwMode="auto">
          <a:xfrm>
            <a:off x="2644775" y="5030788"/>
            <a:ext cx="4088765" cy="5835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7.6 AOE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网与关键路径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129" name="Oval 10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 rot="10800000">
            <a:off x="2079625" y="1154113"/>
            <a:ext cx="538163" cy="512763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9900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0" name="Oval 10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 rot="10800000">
            <a:off x="2090738" y="1901825"/>
            <a:ext cx="538163" cy="512763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9900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1" name="Oval 10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 rot="10800000">
            <a:off x="2079625" y="2687638"/>
            <a:ext cx="539750" cy="512763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9900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2" name="Oval 10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 rot="10800000">
            <a:off x="2079625" y="3481388"/>
            <a:ext cx="538163" cy="512763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9900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3" name="Oval 10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 rot="10800000">
            <a:off x="2084388" y="4259263"/>
            <a:ext cx="538163" cy="512763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9900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4" name="Oval 10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 rot="10800000">
            <a:off x="2090738" y="5065713"/>
            <a:ext cx="538163" cy="512763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9900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/>
          <p:nvPr/>
        </p:nvSpPr>
        <p:spPr>
          <a:xfrm>
            <a:off x="6361113" y="1127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7.1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基本术语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219" name="Text Box 15"/>
          <p:cNvSpPr txBox="1"/>
          <p:nvPr/>
        </p:nvSpPr>
        <p:spPr>
          <a:xfrm>
            <a:off x="411163" y="746125"/>
            <a:ext cx="8367712" cy="1753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图状结构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是多对多关系形成的逻辑结构，是重要的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非线性数据结构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。用图状结构描述的信息模型在客观世界普遍存在。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437" name="Picture 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9525" y="2547938"/>
            <a:ext cx="1519238" cy="15224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716338" y="4084638"/>
            <a:ext cx="16954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GPS导航</a:t>
            </a: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0300" y="4070350"/>
            <a:ext cx="15097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航线交通</a:t>
            </a: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37338" y="4108450"/>
            <a:ext cx="16398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网络路由</a:t>
            </a: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30300" y="5997575"/>
            <a:ext cx="15097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物流规划</a:t>
            </a: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03700" y="5997575"/>
            <a:ext cx="15779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推荐系统</a:t>
            </a: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688" y="2543175"/>
            <a:ext cx="1636712" cy="1527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509838"/>
            <a:ext cx="2560638" cy="1598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00" y="4568825"/>
            <a:ext cx="1689100" cy="1428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175" y="4568825"/>
            <a:ext cx="2359025" cy="1428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Oval 7"/>
          <p:cNvSpPr/>
          <p:nvPr/>
        </p:nvSpPr>
        <p:spPr>
          <a:xfrm>
            <a:off x="595313" y="911225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0243" name="Text Box 8"/>
          <p:cNvSpPr txBox="1"/>
          <p:nvPr/>
        </p:nvSpPr>
        <p:spPr>
          <a:xfrm>
            <a:off x="1125538" y="842963"/>
            <a:ext cx="25495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图的定义</a:t>
            </a:r>
            <a:endParaRPr lang="zh-CN" altLang="en-US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1"/>
          <p:cNvSpPr txBox="1">
            <a:spLocks noChangeArrowheads="1"/>
          </p:cNvSpPr>
          <p:nvPr/>
        </p:nvSpPr>
        <p:spPr bwMode="auto">
          <a:xfrm>
            <a:off x="593725" y="1444625"/>
            <a:ext cx="8074025" cy="18256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图是由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顶点的非空有穷集合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顶点之间关系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边或弧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的集合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构成的结构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通常表示为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            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G = ( V, E)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15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其中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 V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为顶点集合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 E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为关系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边或弧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的集合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150" name="文本框 2"/>
          <p:cNvSpPr txBox="1"/>
          <p:nvPr/>
        </p:nvSpPr>
        <p:spPr>
          <a:xfrm>
            <a:off x="579279" y="3440113"/>
            <a:ext cx="3840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关于一条边或弧的表示方法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98525" y="4032250"/>
            <a:ext cx="10972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+mn-cs"/>
              </a:rPr>
              <a:t>用图形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+mn-cs"/>
            </a:endParaRPr>
          </a:p>
        </p:txBody>
      </p:sp>
      <p:sp>
        <p:nvSpPr>
          <p:cNvPr id="9" name="Oval 544"/>
          <p:cNvSpPr/>
          <p:nvPr/>
        </p:nvSpPr>
        <p:spPr>
          <a:xfrm>
            <a:off x="5210175" y="4124325"/>
            <a:ext cx="381000" cy="381000"/>
          </a:xfrm>
          <a:prstGeom prst="ellipse">
            <a:avLst/>
          </a:prstGeom>
          <a:solidFill>
            <a:srgbClr val="00FFCC"/>
          </a:solidFill>
          <a:ln w="28575" cap="sq" cmpd="sng">
            <a:solidFill>
              <a:srgbClr val="00008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1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545"/>
          <p:cNvSpPr/>
          <p:nvPr/>
        </p:nvSpPr>
        <p:spPr>
          <a:xfrm>
            <a:off x="3990975" y="4124325"/>
            <a:ext cx="381000" cy="381000"/>
          </a:xfrm>
          <a:prstGeom prst="ellipse">
            <a:avLst/>
          </a:prstGeom>
          <a:solidFill>
            <a:srgbClr val="00FFCC"/>
          </a:solidFill>
          <a:ln w="28575" cap="sq" cmpd="sng">
            <a:solidFill>
              <a:srgbClr val="00008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Line 546"/>
          <p:cNvSpPr/>
          <p:nvPr/>
        </p:nvSpPr>
        <p:spPr>
          <a:xfrm>
            <a:off x="2619375" y="4352925"/>
            <a:ext cx="762000" cy="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Line 547"/>
          <p:cNvSpPr/>
          <p:nvPr/>
        </p:nvSpPr>
        <p:spPr>
          <a:xfrm>
            <a:off x="4371975" y="4352925"/>
            <a:ext cx="838200" cy="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13" name="Oval 548"/>
          <p:cNvSpPr/>
          <p:nvPr/>
        </p:nvSpPr>
        <p:spPr>
          <a:xfrm>
            <a:off x="3305175" y="4124325"/>
            <a:ext cx="381000" cy="381000"/>
          </a:xfrm>
          <a:prstGeom prst="ellipse">
            <a:avLst/>
          </a:prstGeom>
          <a:solidFill>
            <a:srgbClr val="00FFCC"/>
          </a:solidFill>
          <a:ln w="28575" cap="sq" cmpd="sng">
            <a:solidFill>
              <a:srgbClr val="00008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1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549"/>
          <p:cNvSpPr/>
          <p:nvPr/>
        </p:nvSpPr>
        <p:spPr>
          <a:xfrm>
            <a:off x="2238375" y="4124325"/>
            <a:ext cx="381000" cy="381000"/>
          </a:xfrm>
          <a:prstGeom prst="ellipse">
            <a:avLst/>
          </a:prstGeom>
          <a:solidFill>
            <a:srgbClr val="00FFCC"/>
          </a:solidFill>
          <a:ln w="28575" cap="sq" cmpd="sng">
            <a:solidFill>
              <a:srgbClr val="00008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1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551"/>
          <p:cNvSpPr/>
          <p:nvPr/>
        </p:nvSpPr>
        <p:spPr>
          <a:xfrm>
            <a:off x="6942138" y="3740150"/>
            <a:ext cx="381000" cy="381000"/>
          </a:xfrm>
          <a:prstGeom prst="ellipse">
            <a:avLst/>
          </a:prstGeom>
          <a:solidFill>
            <a:srgbClr val="00FFCC"/>
          </a:solidFill>
          <a:ln w="28575" cap="sq" cmpd="sng">
            <a:solidFill>
              <a:srgbClr val="00008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1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552"/>
          <p:cNvSpPr/>
          <p:nvPr/>
        </p:nvSpPr>
        <p:spPr>
          <a:xfrm>
            <a:off x="6256338" y="4121150"/>
            <a:ext cx="381000" cy="381000"/>
          </a:xfrm>
          <a:prstGeom prst="ellipse">
            <a:avLst/>
          </a:prstGeom>
          <a:solidFill>
            <a:srgbClr val="00FFCC"/>
          </a:solidFill>
          <a:ln w="28575" cap="sq" cmpd="sng">
            <a:solidFill>
              <a:srgbClr val="00008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1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rc 553"/>
          <p:cNvSpPr/>
          <p:nvPr/>
        </p:nvSpPr>
        <p:spPr>
          <a:xfrm flipV="1">
            <a:off x="6615113" y="3625850"/>
            <a:ext cx="382587" cy="685800"/>
          </a:xfrm>
          <a:custGeom>
            <a:avLst/>
            <a:gdLst/>
            <a:ahLst/>
            <a:cxnLst/>
            <a:rect l="0" t="0" r="0" b="0"/>
            <a:pathLst/>
          </a:custGeom>
          <a:noFill/>
          <a:ln w="28575" cap="flat" cmpd="sng">
            <a:solidFill>
              <a:srgbClr val="FFC000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18" name="Oval 555"/>
          <p:cNvSpPr/>
          <p:nvPr/>
        </p:nvSpPr>
        <p:spPr>
          <a:xfrm>
            <a:off x="8389938" y="3816350"/>
            <a:ext cx="381000" cy="381000"/>
          </a:xfrm>
          <a:prstGeom prst="ellipse">
            <a:avLst/>
          </a:prstGeom>
          <a:solidFill>
            <a:srgbClr val="00FFCC"/>
          </a:solidFill>
          <a:ln w="28575" cap="sq" cmpd="sng">
            <a:solidFill>
              <a:srgbClr val="00008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1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556"/>
          <p:cNvSpPr/>
          <p:nvPr/>
        </p:nvSpPr>
        <p:spPr>
          <a:xfrm>
            <a:off x="7704138" y="4197350"/>
            <a:ext cx="381000" cy="381000"/>
          </a:xfrm>
          <a:prstGeom prst="ellipse">
            <a:avLst/>
          </a:prstGeom>
          <a:solidFill>
            <a:srgbClr val="00FFCC"/>
          </a:solidFill>
          <a:ln w="28575" cap="sq" cmpd="sng">
            <a:solidFill>
              <a:srgbClr val="00008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1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Arc 557"/>
          <p:cNvSpPr/>
          <p:nvPr/>
        </p:nvSpPr>
        <p:spPr>
          <a:xfrm flipV="1">
            <a:off x="8085138" y="3740150"/>
            <a:ext cx="382587" cy="685800"/>
          </a:xfrm>
          <a:custGeom>
            <a:avLst/>
            <a:gdLst/>
            <a:ahLst/>
            <a:cxnLst/>
            <a:rect l="0" t="0" r="0" b="0"/>
            <a:pathLst/>
          </a:custGeom>
          <a:noFill/>
          <a:ln w="28575" cap="flat" cmpd="sng">
            <a:solidFill>
              <a:srgbClr val="FFC000">
                <a:alpha val="100000"/>
              </a:srgbClr>
            </a:solidFill>
            <a:prstDash val="solid"/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98525" y="4810125"/>
            <a:ext cx="10972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+mn-cs"/>
              </a:rPr>
              <a:t>用符号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+mn-cs"/>
            </a:endParaRPr>
          </a:p>
        </p:txBody>
      </p:sp>
      <p:sp>
        <p:nvSpPr>
          <p:cNvPr id="22" name="Text Box 542"/>
          <p:cNvSpPr txBox="1"/>
          <p:nvPr/>
        </p:nvSpPr>
        <p:spPr>
          <a:xfrm>
            <a:off x="1704975" y="4792663"/>
            <a:ext cx="2057400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(v</a:t>
            </a:r>
            <a:r>
              <a:rPr lang="en-US" altLang="zh-CN" sz="26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 v</a:t>
            </a:r>
            <a:r>
              <a:rPr lang="en-US" altLang="zh-CN" sz="26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j</a:t>
            </a: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lang="en-US" altLang="zh-CN" sz="26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98525" y="5538788"/>
            <a:ext cx="10972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+mn-cs"/>
              </a:rPr>
              <a:t>用语言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+mn-cs"/>
            </a:endParaRPr>
          </a:p>
        </p:txBody>
      </p:sp>
      <p:sp>
        <p:nvSpPr>
          <p:cNvPr id="24" name="Text Box 541"/>
          <p:cNvSpPr txBox="1"/>
          <p:nvPr/>
        </p:nvSpPr>
        <p:spPr>
          <a:xfrm>
            <a:off x="2046288" y="5943600"/>
            <a:ext cx="5292725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(b) </a:t>
            </a: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这条边依附于顶点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j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559"/>
          <p:cNvSpPr>
            <a:spLocks noChangeArrowheads="1"/>
          </p:cNvSpPr>
          <p:nvPr/>
        </p:nvSpPr>
        <p:spPr bwMode="auto">
          <a:xfrm>
            <a:off x="2046288" y="5530850"/>
            <a:ext cx="6019800" cy="49149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(a)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顶点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与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j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是这条边的两个邻接点。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264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7.1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基本术语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150" grpId="0"/>
      <p:bldP spid="2" grpId="0"/>
      <p:bldP spid="9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3" grpId="0"/>
      <p:bldP spid="22" grpId="0"/>
      <p:bldP spid="4" grpId="0"/>
      <p:bldP spid="24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组合 1"/>
          <p:cNvGrpSpPr/>
          <p:nvPr/>
        </p:nvGrpSpPr>
        <p:grpSpPr>
          <a:xfrm>
            <a:off x="1730375" y="1687513"/>
            <a:ext cx="1970088" cy="1793875"/>
            <a:chOff x="1668463" y="739776"/>
            <a:chExt cx="1970083" cy="1793874"/>
          </a:xfrm>
        </p:grpSpPr>
        <p:sp>
          <p:nvSpPr>
            <p:cNvPr id="11288" name="Oval 287"/>
            <p:cNvSpPr/>
            <p:nvPr/>
          </p:nvSpPr>
          <p:spPr>
            <a:xfrm>
              <a:off x="2413000" y="833438"/>
              <a:ext cx="371475" cy="284162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89" name="Oval 288"/>
            <p:cNvSpPr/>
            <p:nvPr/>
          </p:nvSpPr>
          <p:spPr>
            <a:xfrm>
              <a:off x="1668463" y="1541463"/>
              <a:ext cx="371475" cy="284162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90" name="Oval 289"/>
            <p:cNvSpPr/>
            <p:nvPr/>
          </p:nvSpPr>
          <p:spPr>
            <a:xfrm>
              <a:off x="2413000" y="2251075"/>
              <a:ext cx="371475" cy="28257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91" name="Oval 290"/>
            <p:cNvSpPr/>
            <p:nvPr/>
          </p:nvSpPr>
          <p:spPr>
            <a:xfrm>
              <a:off x="3232150" y="1471613"/>
              <a:ext cx="371475" cy="28257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92" name="Line 291"/>
            <p:cNvSpPr/>
            <p:nvPr/>
          </p:nvSpPr>
          <p:spPr>
            <a:xfrm flipV="1">
              <a:off x="1976438" y="1046163"/>
              <a:ext cx="511175" cy="520700"/>
            </a:xfrm>
            <a:prstGeom prst="line">
              <a:avLst/>
            </a:prstGeom>
            <a:ln w="28575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293" name="Line 292"/>
            <p:cNvSpPr/>
            <p:nvPr/>
          </p:nvSpPr>
          <p:spPr>
            <a:xfrm>
              <a:off x="2039938" y="1682750"/>
              <a:ext cx="1192212" cy="0"/>
            </a:xfrm>
            <a:prstGeom prst="line">
              <a:avLst/>
            </a:prstGeom>
            <a:ln w="28575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294" name="Line 293"/>
            <p:cNvSpPr/>
            <p:nvPr/>
          </p:nvSpPr>
          <p:spPr>
            <a:xfrm>
              <a:off x="2636838" y="1116013"/>
              <a:ext cx="0" cy="1133475"/>
            </a:xfrm>
            <a:prstGeom prst="line">
              <a:avLst/>
            </a:prstGeom>
            <a:ln w="28575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295" name="Line 294"/>
            <p:cNvSpPr/>
            <p:nvPr/>
          </p:nvSpPr>
          <p:spPr>
            <a:xfrm>
              <a:off x="2773363" y="1058863"/>
              <a:ext cx="484187" cy="484187"/>
            </a:xfrm>
            <a:prstGeom prst="line">
              <a:avLst/>
            </a:prstGeom>
            <a:ln w="28575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296" name="Line 295"/>
            <p:cNvSpPr/>
            <p:nvPr/>
          </p:nvSpPr>
          <p:spPr>
            <a:xfrm flipV="1">
              <a:off x="2784475" y="1790700"/>
              <a:ext cx="523875" cy="530225"/>
            </a:xfrm>
            <a:prstGeom prst="line">
              <a:avLst/>
            </a:prstGeom>
            <a:ln w="28575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297" name="Line 296"/>
            <p:cNvSpPr/>
            <p:nvPr/>
          </p:nvSpPr>
          <p:spPr>
            <a:xfrm>
              <a:off x="1989138" y="1811338"/>
              <a:ext cx="498475" cy="509587"/>
            </a:xfrm>
            <a:prstGeom prst="line">
              <a:avLst/>
            </a:prstGeom>
            <a:ln w="28575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298" name="Text Box 297"/>
            <p:cNvSpPr txBox="1"/>
            <p:nvPr/>
          </p:nvSpPr>
          <p:spPr>
            <a:xfrm>
              <a:off x="2409309" y="739776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99" name="Rectangle 298"/>
            <p:cNvSpPr/>
            <p:nvPr/>
          </p:nvSpPr>
          <p:spPr>
            <a:xfrm>
              <a:off x="1682783" y="1426369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00" name="Rectangle 299"/>
            <p:cNvSpPr/>
            <p:nvPr/>
          </p:nvSpPr>
          <p:spPr>
            <a:xfrm>
              <a:off x="3244846" y="1352518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01" name="Rectangle 300"/>
            <p:cNvSpPr/>
            <p:nvPr/>
          </p:nvSpPr>
          <p:spPr>
            <a:xfrm>
              <a:off x="2417022" y="2135981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 Box 301"/>
          <p:cNvSpPr txBox="1"/>
          <p:nvPr/>
        </p:nvSpPr>
        <p:spPr>
          <a:xfrm>
            <a:off x="944563" y="4217988"/>
            <a:ext cx="3601720" cy="225933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2000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其中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= { v</a:t>
            </a:r>
            <a:r>
              <a:rPr lang="en-US" altLang="zh-CN" sz="2400" b="1" baseline="-14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 v</a:t>
            </a:r>
            <a:r>
              <a:rPr lang="en-US" altLang="zh-CN" sz="2400" b="1" baseline="-14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 v</a:t>
            </a:r>
            <a:r>
              <a:rPr lang="en-US" altLang="zh-CN" sz="2400" b="1" baseline="-16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 v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E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= { (v</a:t>
            </a:r>
            <a:r>
              <a:rPr lang="en-US" altLang="zh-CN" sz="2400" b="1" baseline="-16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,v</a:t>
            </a:r>
            <a:r>
              <a:rPr lang="en-US" altLang="zh-CN" sz="2400" b="1" baseline="-14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 (v</a:t>
            </a:r>
            <a:r>
              <a:rPr lang="en-US" altLang="zh-CN" sz="2400" b="1" baseline="-12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,v</a:t>
            </a:r>
            <a:r>
              <a:rPr lang="en-US" altLang="zh-CN" sz="2400" b="1" baseline="-14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     (v</a:t>
            </a:r>
            <a:r>
              <a:rPr lang="en-US" altLang="zh-CN" sz="2400" b="1" baseline="-14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,v</a:t>
            </a:r>
            <a:r>
              <a:rPr lang="en-US" altLang="zh-CN" sz="2400" b="1" baseline="-14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 (v</a:t>
            </a:r>
            <a:r>
              <a:rPr lang="en-US" altLang="zh-CN" sz="2400" b="1" baseline="-14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,v</a:t>
            </a:r>
            <a:r>
              <a:rPr lang="en-US" altLang="zh-CN" sz="2400" b="1" baseline="-14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     (v</a:t>
            </a:r>
            <a:r>
              <a:rPr lang="en-US" altLang="zh-CN" sz="2400" b="1" baseline="-14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,v</a:t>
            </a:r>
            <a:r>
              <a:rPr lang="en-US" altLang="zh-CN" sz="2400" b="1" baseline="-16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 (v</a:t>
            </a:r>
            <a:r>
              <a:rPr lang="en-US" altLang="zh-CN" sz="2400" b="1" baseline="-16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,v</a:t>
            </a:r>
            <a:r>
              <a:rPr lang="en-US" altLang="zh-CN" sz="2400" b="1" baseline="-16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 }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268" name="Rectangle 302"/>
          <p:cNvSpPr/>
          <p:nvPr/>
        </p:nvSpPr>
        <p:spPr>
          <a:xfrm>
            <a:off x="1697832" y="3659188"/>
            <a:ext cx="187642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=(V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</a:t>
            </a:r>
            <a:r>
              <a:rPr lang="en-US" altLang="zh-CN" sz="2400" b="1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altLang="zh-CN" sz="24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36" name="Rectangle 317"/>
          <p:cNvSpPr>
            <a:spLocks noChangeArrowheads="1"/>
          </p:cNvSpPr>
          <p:nvPr/>
        </p:nvSpPr>
        <p:spPr bwMode="auto">
          <a:xfrm>
            <a:off x="4832350" y="4370388"/>
            <a:ext cx="3990975" cy="183451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其中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2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= { v</a:t>
            </a:r>
            <a:r>
              <a:rPr kumimoji="0" lang="en-US" altLang="zh-CN" sz="2400" b="1" i="0" u="none" strike="noStrike" kern="1200" cap="none" spc="0" normalizeH="0" baseline="-14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 v</a:t>
            </a:r>
            <a:r>
              <a:rPr kumimoji="0" lang="en-US" altLang="zh-CN" sz="2400" b="1" i="0" u="none" strike="noStrike" kern="1200" cap="none" spc="0" normalizeH="0" baseline="-14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 v</a:t>
            </a:r>
            <a:r>
              <a:rPr kumimoji="0" lang="en-US" altLang="zh-CN" sz="2400" b="1" i="0" u="none" strike="noStrike" kern="1200" cap="none" spc="0" normalizeH="0" baseline="-16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 v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4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E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2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= { &lt;v</a:t>
            </a:r>
            <a:r>
              <a:rPr kumimoji="0" lang="en-US" altLang="zh-CN" sz="2400" b="1" i="0" u="none" strike="noStrike" kern="1200" cap="none" spc="0" normalizeH="0" baseline="-16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,v</a:t>
            </a:r>
            <a:r>
              <a:rPr kumimoji="0" lang="en-US" altLang="zh-CN" sz="2400" b="1" i="0" u="none" strike="noStrike" kern="1200" cap="none" spc="0" normalizeH="0" baseline="-14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&gt;,   &lt;v</a:t>
            </a:r>
            <a:r>
              <a:rPr kumimoji="0" lang="en-US" altLang="zh-CN" sz="2400" b="1" i="0" u="none" strike="noStrike" kern="1200" cap="none" spc="0" normalizeH="0" baseline="-1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,v</a:t>
            </a:r>
            <a:r>
              <a:rPr kumimoji="0" lang="en-US" altLang="zh-CN" sz="2400" b="1" i="0" u="none" strike="noStrike" kern="1200" cap="none" spc="0" normalizeH="0" baseline="-14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&gt;,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       &lt;v</a:t>
            </a:r>
            <a:r>
              <a:rPr kumimoji="0" lang="en-US" altLang="zh-CN" sz="2400" b="1" i="0" u="none" strike="noStrike" kern="1200" cap="none" spc="0" normalizeH="0" baseline="-14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,v</a:t>
            </a:r>
            <a:r>
              <a:rPr kumimoji="0" lang="en-US" altLang="zh-CN" sz="2400" b="1" i="0" u="none" strike="noStrike" kern="1200" cap="none" spc="0" normalizeH="0" baseline="-14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&gt;,   &lt;v</a:t>
            </a:r>
            <a:r>
              <a:rPr kumimoji="0" lang="en-US" altLang="zh-CN" sz="2400" b="1" i="0" u="none" strike="noStrike" kern="1200" cap="none" spc="0" normalizeH="0" baseline="-14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,v</a:t>
            </a:r>
            <a:r>
              <a:rPr kumimoji="0" lang="en-US" altLang="zh-CN" sz="2400" b="1" i="0" u="none" strike="noStrike" kern="1200" cap="none" spc="0" normalizeH="0" baseline="-16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&gt; 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280025" y="1697038"/>
            <a:ext cx="2098675" cy="2417762"/>
            <a:chOff x="5278750" y="1696456"/>
            <a:chExt cx="2099954" cy="2419793"/>
          </a:xfrm>
        </p:grpSpPr>
        <p:grpSp>
          <p:nvGrpSpPr>
            <p:cNvPr id="11274" name="组合 2"/>
            <p:cNvGrpSpPr/>
            <p:nvPr/>
          </p:nvGrpSpPr>
          <p:grpSpPr>
            <a:xfrm>
              <a:off x="5460654" y="1696456"/>
              <a:ext cx="1918050" cy="1833293"/>
              <a:chOff x="5428900" y="818568"/>
              <a:chExt cx="1918050" cy="1833293"/>
            </a:xfrm>
          </p:grpSpPr>
          <p:sp>
            <p:nvSpPr>
              <p:cNvPr id="11276" name="Oval 305"/>
              <p:cNvSpPr/>
              <p:nvPr/>
            </p:nvSpPr>
            <p:spPr>
              <a:xfrm>
                <a:off x="6156325" y="919163"/>
                <a:ext cx="361950" cy="285750"/>
              </a:xfrm>
              <a:prstGeom prst="ellipse">
                <a:avLst/>
              </a:prstGeom>
              <a:solidFill>
                <a:srgbClr val="00FFCC"/>
              </a:solidFill>
              <a:ln w="1905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</a:pP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77" name="Oval 306"/>
              <p:cNvSpPr/>
              <p:nvPr/>
            </p:nvSpPr>
            <p:spPr>
              <a:xfrm>
                <a:off x="5432425" y="1633538"/>
                <a:ext cx="361950" cy="285750"/>
              </a:xfrm>
              <a:prstGeom prst="ellipse">
                <a:avLst/>
              </a:prstGeom>
              <a:solidFill>
                <a:srgbClr val="00FFCC"/>
              </a:solidFill>
              <a:ln w="1905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/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78" name="Oval 307"/>
              <p:cNvSpPr/>
              <p:nvPr/>
            </p:nvSpPr>
            <p:spPr>
              <a:xfrm>
                <a:off x="6156325" y="2347913"/>
                <a:ext cx="361950" cy="285750"/>
              </a:xfrm>
              <a:prstGeom prst="ellipse">
                <a:avLst/>
              </a:prstGeom>
              <a:solidFill>
                <a:srgbClr val="00FFCC"/>
              </a:solidFill>
              <a:ln w="1905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/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79" name="Oval 308"/>
              <p:cNvSpPr/>
              <p:nvPr/>
            </p:nvSpPr>
            <p:spPr>
              <a:xfrm>
                <a:off x="6953250" y="1562100"/>
                <a:ext cx="361950" cy="285750"/>
              </a:xfrm>
              <a:prstGeom prst="ellipse">
                <a:avLst/>
              </a:prstGeom>
              <a:solidFill>
                <a:srgbClr val="00FFCC"/>
              </a:solidFill>
              <a:ln w="1905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/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80" name="Line 309"/>
              <p:cNvSpPr/>
              <p:nvPr/>
            </p:nvSpPr>
            <p:spPr>
              <a:xfrm flipV="1">
                <a:off x="5794375" y="1704975"/>
                <a:ext cx="1230313" cy="0"/>
              </a:xfrm>
              <a:prstGeom prst="line">
                <a:avLst/>
              </a:prstGeom>
              <a:ln w="28575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triangle" w="med" len="lg"/>
              </a:ln>
            </p:spPr>
          </p:sp>
          <p:sp>
            <p:nvSpPr>
              <p:cNvPr id="11281" name="Line 310"/>
              <p:cNvSpPr/>
              <p:nvPr/>
            </p:nvSpPr>
            <p:spPr>
              <a:xfrm flipV="1">
                <a:off x="6484938" y="1847850"/>
                <a:ext cx="539750" cy="547688"/>
              </a:xfrm>
              <a:prstGeom prst="line">
                <a:avLst/>
              </a:prstGeom>
              <a:ln w="28575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triangle" w="med" len="lg"/>
              </a:ln>
            </p:spPr>
          </p:sp>
          <p:sp>
            <p:nvSpPr>
              <p:cNvPr id="11282" name="Freeform 311"/>
              <p:cNvSpPr/>
              <p:nvPr/>
            </p:nvSpPr>
            <p:spPr>
              <a:xfrm>
                <a:off x="5432425" y="847725"/>
                <a:ext cx="723900" cy="857250"/>
              </a:xfrm>
              <a:custGeom>
                <a:avLst/>
                <a:gdLst/>
                <a:ahLst/>
                <a:cxnLst>
                  <a:cxn ang="0">
                    <a:pos x="0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0" t="0" r="0" b="0"/>
                <a:pathLst>
                  <a:path w="864" h="440">
                    <a:moveTo>
                      <a:pt x="0" y="440"/>
                    </a:moveTo>
                    <a:cubicBezTo>
                      <a:pt x="72" y="276"/>
                      <a:pt x="144" y="112"/>
                      <a:pt x="288" y="56"/>
                    </a:cubicBezTo>
                    <a:cubicBezTo>
                      <a:pt x="432" y="0"/>
                      <a:pt x="768" y="96"/>
                      <a:pt x="864" y="104"/>
                    </a:cubicBezTo>
                  </a:path>
                </a:pathLst>
              </a:custGeom>
              <a:noFill/>
              <a:ln w="28575" cap="flat" cmpd="sng">
                <a:solidFill>
                  <a:schemeClr val="accent4">
                    <a:lumMod val="75000"/>
                    <a:alpha val="100000"/>
                  </a:schemeClr>
                </a:solidFill>
                <a:prstDash val="solid"/>
                <a:round/>
                <a:headEnd type="none" w="sm" len="sm"/>
                <a:tailEnd type="triangle" w="med" len="med"/>
              </a:ln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1283" name="Freeform 312"/>
              <p:cNvSpPr/>
              <p:nvPr/>
            </p:nvSpPr>
            <p:spPr>
              <a:xfrm>
                <a:off x="5794375" y="1204913"/>
                <a:ext cx="579438" cy="714375"/>
              </a:xfrm>
              <a:custGeom>
                <a:avLst/>
                <a:gdLst/>
                <a:ahLst/>
                <a:cxnLst>
                  <a:cxn ang="0">
                    <a:pos x="0" y="2147483646"/>
                  </a:cxn>
                  <a:cxn ang="0">
                    <a:pos x="2147483646" y="2147483646"/>
                  </a:cxn>
                  <a:cxn ang="0">
                    <a:pos x="2147483646" y="0"/>
                  </a:cxn>
                </a:cxnLst>
                <a:rect l="0" t="0" r="0" b="0"/>
                <a:pathLst>
                  <a:path w="768" h="328">
                    <a:moveTo>
                      <a:pt x="0" y="240"/>
                    </a:moveTo>
                    <a:cubicBezTo>
                      <a:pt x="152" y="284"/>
                      <a:pt x="304" y="328"/>
                      <a:pt x="432" y="288"/>
                    </a:cubicBezTo>
                    <a:cubicBezTo>
                      <a:pt x="560" y="248"/>
                      <a:pt x="712" y="48"/>
                      <a:pt x="768" y="0"/>
                    </a:cubicBezTo>
                  </a:path>
                </a:pathLst>
              </a:custGeom>
              <a:noFill/>
              <a:ln w="28575" cap="flat" cmpd="sng">
                <a:solidFill>
                  <a:schemeClr val="accent4">
                    <a:lumMod val="75000"/>
                    <a:alpha val="100000"/>
                  </a:schemeClr>
                </a:solidFill>
                <a:prstDash val="solid"/>
                <a:round/>
                <a:headEnd type="triangle" w="med" len="med"/>
                <a:tailEnd type="none" w="sm" len="sm"/>
              </a:ln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1284" name="Rectangle 313"/>
              <p:cNvSpPr/>
              <p:nvPr/>
            </p:nvSpPr>
            <p:spPr>
              <a:xfrm>
                <a:off x="6169769" y="818568"/>
                <a:ext cx="393700" cy="39687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85" name="Rectangle 314"/>
              <p:cNvSpPr/>
              <p:nvPr/>
            </p:nvSpPr>
            <p:spPr>
              <a:xfrm>
                <a:off x="5428900" y="1506538"/>
                <a:ext cx="393700" cy="39687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86" name="Rectangle 315"/>
              <p:cNvSpPr/>
              <p:nvPr/>
            </p:nvSpPr>
            <p:spPr>
              <a:xfrm>
                <a:off x="6953250" y="1455565"/>
                <a:ext cx="393700" cy="39687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87" name="Rectangle 316"/>
              <p:cNvSpPr/>
              <p:nvPr/>
            </p:nvSpPr>
            <p:spPr>
              <a:xfrm>
                <a:off x="6140449" y="2254986"/>
                <a:ext cx="393700" cy="39687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275" name="Rectangle 318"/>
            <p:cNvSpPr/>
            <p:nvPr/>
          </p:nvSpPr>
          <p:spPr>
            <a:xfrm>
              <a:off x="5278750" y="3654443"/>
              <a:ext cx="1847544" cy="4618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G</a:t>
              </a:r>
              <a:r>
                <a:rPr lang="en-US" altLang="zh-CN" sz="2400" b="1" baseline="-25000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=(V</a:t>
              </a:r>
              <a:r>
                <a:rPr lang="en-US" altLang="zh-CN" sz="2400" b="1" baseline="-25000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E</a:t>
              </a:r>
              <a:r>
                <a:rPr lang="en-US" altLang="zh-CN" sz="2400" b="1" baseline="-25000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271" name="Oval 7"/>
          <p:cNvSpPr/>
          <p:nvPr/>
        </p:nvSpPr>
        <p:spPr>
          <a:xfrm>
            <a:off x="595313" y="1033463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1272" name="Text Box 8"/>
          <p:cNvSpPr txBox="1"/>
          <p:nvPr/>
        </p:nvSpPr>
        <p:spPr>
          <a:xfrm>
            <a:off x="1125538" y="965200"/>
            <a:ext cx="25495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图的定义</a:t>
            </a:r>
            <a:endParaRPr lang="zh-CN" altLang="en-US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73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7.1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基本术语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2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" name="Text Box 92"/>
          <p:cNvSpPr txBox="1">
            <a:spLocks noChangeArrowheads="1"/>
          </p:cNvSpPr>
          <p:nvPr/>
        </p:nvSpPr>
        <p:spPr bwMode="auto">
          <a:xfrm>
            <a:off x="968375" y="3271838"/>
            <a:ext cx="7558405" cy="44513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网    络：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与边有关的数据称为权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边上带权的图称为网络。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312" name="Text Box 144"/>
          <p:cNvSpPr txBox="1">
            <a:spLocks noChangeArrowheads="1"/>
          </p:cNvSpPr>
          <p:nvPr/>
        </p:nvSpPr>
        <p:spPr bwMode="auto">
          <a:xfrm>
            <a:off x="933450" y="1673225"/>
            <a:ext cx="8039100" cy="7988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无向图：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对于（</a:t>
            </a:r>
            <a:r>
              <a:rPr kumimoji="0" lang="en-US" altLang="zh-CN" sz="23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3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3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,v</a:t>
            </a:r>
            <a:r>
              <a:rPr kumimoji="0" lang="en-US" altLang="zh-CN" sz="2300" b="1" i="0" u="none" strike="noStrike" kern="1200" cap="none" spc="0" normalizeH="0" baseline="-14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j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E,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必有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3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3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j</a:t>
            </a:r>
            <a:r>
              <a:rPr kumimoji="0" lang="en-US" altLang="zh-CN" sz="23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,v</a:t>
            </a:r>
            <a:r>
              <a:rPr kumimoji="0" lang="en-US" altLang="zh-CN" sz="23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E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，并且偶对中顶点的</a:t>
            </a:r>
            <a:endParaRPr kumimoji="0" lang="en-US" altLang="zh-CN" sz="2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前后顺序无关。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313" name="Text Box 145"/>
          <p:cNvSpPr txBox="1">
            <a:spLocks noChangeArrowheads="1"/>
          </p:cNvSpPr>
          <p:nvPr/>
        </p:nvSpPr>
        <p:spPr bwMode="auto">
          <a:xfrm>
            <a:off x="933450" y="2554288"/>
            <a:ext cx="5593080" cy="460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有向图：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若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&lt;</a:t>
            </a:r>
            <a:r>
              <a:rPr kumimoji="0" lang="en-US" altLang="zh-CN" sz="23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3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3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,v</a:t>
            </a:r>
            <a:r>
              <a:rPr kumimoji="0" lang="en-US" altLang="zh-CN" sz="2300" b="1" i="0" u="none" strike="noStrike" kern="1200" cap="none" spc="0" normalizeH="0" baseline="-14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j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&gt;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E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是顶点的有序偶对。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7374" name="Group 206"/>
          <p:cNvGrpSpPr/>
          <p:nvPr/>
        </p:nvGrpSpPr>
        <p:grpSpPr>
          <a:xfrm>
            <a:off x="1073150" y="4191000"/>
            <a:ext cx="1984375" cy="1808163"/>
            <a:chOff x="676" y="2640"/>
            <a:chExt cx="1250" cy="1139"/>
          </a:xfrm>
        </p:grpSpPr>
        <p:sp>
          <p:nvSpPr>
            <p:cNvPr id="12327" name="Oval 163"/>
            <p:cNvSpPr/>
            <p:nvPr/>
          </p:nvSpPr>
          <p:spPr>
            <a:xfrm>
              <a:off x="1149" y="2708"/>
              <a:ext cx="234" cy="179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28" name="Oval 164"/>
            <p:cNvSpPr/>
            <p:nvPr/>
          </p:nvSpPr>
          <p:spPr>
            <a:xfrm>
              <a:off x="680" y="3154"/>
              <a:ext cx="234" cy="179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29" name="Oval 165"/>
            <p:cNvSpPr/>
            <p:nvPr/>
          </p:nvSpPr>
          <p:spPr>
            <a:xfrm>
              <a:off x="1149" y="3601"/>
              <a:ext cx="234" cy="17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30" name="Oval 166"/>
            <p:cNvSpPr/>
            <p:nvPr/>
          </p:nvSpPr>
          <p:spPr>
            <a:xfrm>
              <a:off x="1665" y="3110"/>
              <a:ext cx="234" cy="17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31" name="Line 167"/>
            <p:cNvSpPr/>
            <p:nvPr/>
          </p:nvSpPr>
          <p:spPr>
            <a:xfrm flipV="1">
              <a:off x="874" y="2842"/>
              <a:ext cx="322" cy="328"/>
            </a:xfrm>
            <a:prstGeom prst="line">
              <a:avLst/>
            </a:prstGeom>
            <a:ln w="2540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32" name="Line 168"/>
            <p:cNvSpPr/>
            <p:nvPr/>
          </p:nvSpPr>
          <p:spPr>
            <a:xfrm>
              <a:off x="914" y="3243"/>
              <a:ext cx="751" cy="0"/>
            </a:xfrm>
            <a:prstGeom prst="line">
              <a:avLst/>
            </a:prstGeom>
            <a:ln w="2540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33" name="Line 169"/>
            <p:cNvSpPr/>
            <p:nvPr/>
          </p:nvSpPr>
          <p:spPr>
            <a:xfrm>
              <a:off x="1290" y="2886"/>
              <a:ext cx="0" cy="714"/>
            </a:xfrm>
            <a:prstGeom prst="line">
              <a:avLst/>
            </a:prstGeom>
            <a:ln w="2540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34" name="Line 170"/>
            <p:cNvSpPr/>
            <p:nvPr/>
          </p:nvSpPr>
          <p:spPr>
            <a:xfrm>
              <a:off x="1376" y="2850"/>
              <a:ext cx="305" cy="305"/>
            </a:xfrm>
            <a:prstGeom prst="line">
              <a:avLst/>
            </a:prstGeom>
            <a:ln w="2540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35" name="Line 171"/>
            <p:cNvSpPr/>
            <p:nvPr/>
          </p:nvSpPr>
          <p:spPr>
            <a:xfrm flipV="1">
              <a:off x="1383" y="3311"/>
              <a:ext cx="330" cy="334"/>
            </a:xfrm>
            <a:prstGeom prst="line">
              <a:avLst/>
            </a:prstGeom>
            <a:ln w="2540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36" name="Line 172"/>
            <p:cNvSpPr/>
            <p:nvPr/>
          </p:nvSpPr>
          <p:spPr>
            <a:xfrm>
              <a:off x="882" y="3324"/>
              <a:ext cx="314" cy="321"/>
            </a:xfrm>
            <a:prstGeom prst="line">
              <a:avLst/>
            </a:prstGeom>
            <a:ln w="2540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337" name="Text Box 173"/>
            <p:cNvSpPr txBox="1"/>
            <p:nvPr/>
          </p:nvSpPr>
          <p:spPr>
            <a:xfrm>
              <a:off x="1147" y="2640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38" name="Rectangle 174"/>
            <p:cNvSpPr/>
            <p:nvPr/>
          </p:nvSpPr>
          <p:spPr>
            <a:xfrm>
              <a:off x="676" y="3077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39" name="Rectangle 175"/>
            <p:cNvSpPr/>
            <p:nvPr/>
          </p:nvSpPr>
          <p:spPr>
            <a:xfrm>
              <a:off x="1678" y="3042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40" name="Rectangle 176"/>
            <p:cNvSpPr/>
            <p:nvPr/>
          </p:nvSpPr>
          <p:spPr>
            <a:xfrm>
              <a:off x="1142" y="3520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375" name="Group 207"/>
          <p:cNvGrpSpPr/>
          <p:nvPr/>
        </p:nvGrpSpPr>
        <p:grpSpPr>
          <a:xfrm>
            <a:off x="3649663" y="4210050"/>
            <a:ext cx="1905000" cy="1808163"/>
            <a:chOff x="2299" y="2652"/>
            <a:chExt cx="1200" cy="1139"/>
          </a:xfrm>
        </p:grpSpPr>
        <p:sp>
          <p:nvSpPr>
            <p:cNvPr id="12315" name="Oval 177"/>
            <p:cNvSpPr/>
            <p:nvPr/>
          </p:nvSpPr>
          <p:spPr>
            <a:xfrm>
              <a:off x="2755" y="2709"/>
              <a:ext cx="228" cy="18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16" name="Oval 178"/>
            <p:cNvSpPr/>
            <p:nvPr/>
          </p:nvSpPr>
          <p:spPr>
            <a:xfrm>
              <a:off x="2299" y="3159"/>
              <a:ext cx="228" cy="18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17" name="Oval 179"/>
            <p:cNvSpPr/>
            <p:nvPr/>
          </p:nvSpPr>
          <p:spPr>
            <a:xfrm>
              <a:off x="2755" y="3609"/>
              <a:ext cx="228" cy="18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18" name="Oval 180"/>
            <p:cNvSpPr/>
            <p:nvPr/>
          </p:nvSpPr>
          <p:spPr>
            <a:xfrm>
              <a:off x="3257" y="3114"/>
              <a:ext cx="228" cy="18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19" name="Line 181"/>
            <p:cNvSpPr/>
            <p:nvPr/>
          </p:nvSpPr>
          <p:spPr>
            <a:xfrm flipV="1">
              <a:off x="2527" y="3204"/>
              <a:ext cx="775" cy="0"/>
            </a:xfrm>
            <a:prstGeom prst="line">
              <a:avLst/>
            </a:prstGeom>
            <a:ln w="2540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lg"/>
            </a:ln>
          </p:spPr>
        </p:sp>
        <p:sp>
          <p:nvSpPr>
            <p:cNvPr id="12320" name="Line 182"/>
            <p:cNvSpPr/>
            <p:nvPr/>
          </p:nvSpPr>
          <p:spPr>
            <a:xfrm flipV="1">
              <a:off x="2962" y="3294"/>
              <a:ext cx="340" cy="345"/>
            </a:xfrm>
            <a:prstGeom prst="line">
              <a:avLst/>
            </a:prstGeom>
            <a:ln w="2540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lg"/>
            </a:ln>
          </p:spPr>
        </p:sp>
        <p:sp>
          <p:nvSpPr>
            <p:cNvPr id="12321" name="Freeform 183"/>
            <p:cNvSpPr/>
            <p:nvPr/>
          </p:nvSpPr>
          <p:spPr>
            <a:xfrm>
              <a:off x="2299" y="2664"/>
              <a:ext cx="456" cy="540"/>
            </a:xfrm>
            <a:custGeom>
              <a:avLst/>
              <a:gdLst/>
              <a:ahLst/>
              <a:cxnLst>
                <a:cxn ang="0">
                  <a:pos x="0" y="3414"/>
                </a:cxn>
                <a:cxn ang="0">
                  <a:pos x="1" y="438"/>
                </a:cxn>
                <a:cxn ang="0">
                  <a:pos x="2" y="810"/>
                </a:cxn>
              </a:cxnLst>
              <a:rect l="0" t="0" r="0" b="0"/>
              <a:pathLst>
                <a:path w="864" h="440">
                  <a:moveTo>
                    <a:pt x="0" y="440"/>
                  </a:moveTo>
                  <a:cubicBezTo>
                    <a:pt x="72" y="276"/>
                    <a:pt x="144" y="112"/>
                    <a:pt x="288" y="56"/>
                  </a:cubicBezTo>
                  <a:cubicBezTo>
                    <a:pt x="432" y="0"/>
                    <a:pt x="768" y="96"/>
                    <a:pt x="864" y="104"/>
                  </a:cubicBezTo>
                </a:path>
              </a:pathLst>
            </a:custGeom>
            <a:noFill/>
            <a:ln w="25400" cap="flat" cmpd="sng">
              <a:solidFill>
                <a:schemeClr val="accent4">
                  <a:lumMod val="75000"/>
                  <a:alpha val="100000"/>
                </a:schemeClr>
              </a:solidFill>
              <a:prstDash val="solid"/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2322" name="Freeform 184"/>
            <p:cNvSpPr/>
            <p:nvPr/>
          </p:nvSpPr>
          <p:spPr>
            <a:xfrm>
              <a:off x="2527" y="2889"/>
              <a:ext cx="365" cy="450"/>
            </a:xfrm>
            <a:custGeom>
              <a:avLst/>
              <a:gdLst/>
              <a:ahLst/>
              <a:cxnLst>
                <a:cxn ang="0">
                  <a:pos x="0" y="5659"/>
                </a:cxn>
                <a:cxn ang="0">
                  <a:pos x="0" y="6810"/>
                </a:cxn>
                <a:cxn ang="0">
                  <a:pos x="0" y="0"/>
                </a:cxn>
              </a:cxnLst>
              <a:rect l="0" t="0" r="0" b="0"/>
              <a:pathLst>
                <a:path w="768" h="328">
                  <a:moveTo>
                    <a:pt x="0" y="240"/>
                  </a:moveTo>
                  <a:cubicBezTo>
                    <a:pt x="152" y="284"/>
                    <a:pt x="304" y="328"/>
                    <a:pt x="432" y="288"/>
                  </a:cubicBezTo>
                  <a:cubicBezTo>
                    <a:pt x="560" y="248"/>
                    <a:pt x="712" y="48"/>
                    <a:pt x="768" y="0"/>
                  </a:cubicBezTo>
                </a:path>
              </a:pathLst>
            </a:custGeom>
            <a:noFill/>
            <a:ln w="25400" cap="flat" cmpd="sng">
              <a:solidFill>
                <a:schemeClr val="accent4">
                  <a:lumMod val="75000"/>
                  <a:alpha val="100000"/>
                </a:schemeClr>
              </a:solidFill>
              <a:prstDash val="solid"/>
              <a:round/>
              <a:headEnd type="triangle" w="med" len="med"/>
              <a:tailEnd type="none" w="sm" len="sm"/>
            </a:ln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2323" name="Rectangle 185"/>
            <p:cNvSpPr/>
            <p:nvPr/>
          </p:nvSpPr>
          <p:spPr>
            <a:xfrm>
              <a:off x="2750" y="2652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24" name="Rectangle 186"/>
            <p:cNvSpPr/>
            <p:nvPr/>
          </p:nvSpPr>
          <p:spPr>
            <a:xfrm>
              <a:off x="2303" y="3091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25" name="Rectangle 187"/>
            <p:cNvSpPr/>
            <p:nvPr/>
          </p:nvSpPr>
          <p:spPr>
            <a:xfrm>
              <a:off x="3251" y="3042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26" name="Rectangle 188"/>
            <p:cNvSpPr/>
            <p:nvPr/>
          </p:nvSpPr>
          <p:spPr>
            <a:xfrm>
              <a:off x="2756" y="3541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376" name="Group 208"/>
          <p:cNvGrpSpPr/>
          <p:nvPr/>
        </p:nvGrpSpPr>
        <p:grpSpPr>
          <a:xfrm>
            <a:off x="6100763" y="4176713"/>
            <a:ext cx="1914525" cy="1814512"/>
            <a:chOff x="3843" y="2631"/>
            <a:chExt cx="1206" cy="1143"/>
          </a:xfrm>
        </p:grpSpPr>
        <p:sp>
          <p:nvSpPr>
            <p:cNvPr id="12299" name="Oval 189"/>
            <p:cNvSpPr/>
            <p:nvPr/>
          </p:nvSpPr>
          <p:spPr>
            <a:xfrm>
              <a:off x="4299" y="2693"/>
              <a:ext cx="228" cy="18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00" name="Oval 190"/>
            <p:cNvSpPr/>
            <p:nvPr/>
          </p:nvSpPr>
          <p:spPr>
            <a:xfrm>
              <a:off x="3843" y="3143"/>
              <a:ext cx="228" cy="18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01" name="Oval 191"/>
            <p:cNvSpPr/>
            <p:nvPr/>
          </p:nvSpPr>
          <p:spPr>
            <a:xfrm>
              <a:off x="4299" y="3593"/>
              <a:ext cx="228" cy="18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02" name="Oval 192"/>
            <p:cNvSpPr/>
            <p:nvPr/>
          </p:nvSpPr>
          <p:spPr>
            <a:xfrm>
              <a:off x="4801" y="3098"/>
              <a:ext cx="228" cy="18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03" name="Line 193"/>
            <p:cNvSpPr/>
            <p:nvPr/>
          </p:nvSpPr>
          <p:spPr>
            <a:xfrm flipV="1">
              <a:off x="4071" y="3188"/>
              <a:ext cx="775" cy="0"/>
            </a:xfrm>
            <a:prstGeom prst="line">
              <a:avLst/>
            </a:prstGeom>
            <a:ln w="2540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lg"/>
            </a:ln>
          </p:spPr>
        </p:sp>
        <p:sp>
          <p:nvSpPr>
            <p:cNvPr id="12304" name="Line 194"/>
            <p:cNvSpPr/>
            <p:nvPr/>
          </p:nvSpPr>
          <p:spPr>
            <a:xfrm flipV="1">
              <a:off x="4506" y="3278"/>
              <a:ext cx="348" cy="345"/>
            </a:xfrm>
            <a:prstGeom prst="line">
              <a:avLst/>
            </a:prstGeom>
            <a:ln w="2540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lg"/>
            </a:ln>
          </p:spPr>
        </p:sp>
        <p:sp>
          <p:nvSpPr>
            <p:cNvPr id="12305" name="Freeform 195"/>
            <p:cNvSpPr/>
            <p:nvPr/>
          </p:nvSpPr>
          <p:spPr>
            <a:xfrm>
              <a:off x="3843" y="2648"/>
              <a:ext cx="456" cy="540"/>
            </a:xfrm>
            <a:custGeom>
              <a:avLst/>
              <a:gdLst/>
              <a:ahLst/>
              <a:cxnLst>
                <a:cxn ang="0">
                  <a:pos x="0" y="3414"/>
                </a:cxn>
                <a:cxn ang="0">
                  <a:pos x="1" y="438"/>
                </a:cxn>
                <a:cxn ang="0">
                  <a:pos x="2" y="810"/>
                </a:cxn>
              </a:cxnLst>
              <a:rect l="0" t="0" r="0" b="0"/>
              <a:pathLst>
                <a:path w="864" h="440">
                  <a:moveTo>
                    <a:pt x="0" y="440"/>
                  </a:moveTo>
                  <a:cubicBezTo>
                    <a:pt x="72" y="276"/>
                    <a:pt x="144" y="112"/>
                    <a:pt x="288" y="56"/>
                  </a:cubicBezTo>
                  <a:cubicBezTo>
                    <a:pt x="432" y="0"/>
                    <a:pt x="768" y="96"/>
                    <a:pt x="864" y="104"/>
                  </a:cubicBezTo>
                </a:path>
              </a:pathLst>
            </a:custGeom>
            <a:noFill/>
            <a:ln w="25400" cap="flat" cmpd="sng">
              <a:solidFill>
                <a:schemeClr val="accent4">
                  <a:lumMod val="75000"/>
                  <a:alpha val="100000"/>
                </a:schemeClr>
              </a:solidFill>
              <a:prstDash val="solid"/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2306" name="Freeform 196"/>
            <p:cNvSpPr/>
            <p:nvPr/>
          </p:nvSpPr>
          <p:spPr>
            <a:xfrm>
              <a:off x="4071" y="2873"/>
              <a:ext cx="365" cy="450"/>
            </a:xfrm>
            <a:custGeom>
              <a:avLst/>
              <a:gdLst/>
              <a:ahLst/>
              <a:cxnLst>
                <a:cxn ang="0">
                  <a:pos x="0" y="5659"/>
                </a:cxn>
                <a:cxn ang="0">
                  <a:pos x="0" y="6810"/>
                </a:cxn>
                <a:cxn ang="0">
                  <a:pos x="0" y="0"/>
                </a:cxn>
              </a:cxnLst>
              <a:rect l="0" t="0" r="0" b="0"/>
              <a:pathLst>
                <a:path w="768" h="328">
                  <a:moveTo>
                    <a:pt x="0" y="240"/>
                  </a:moveTo>
                  <a:cubicBezTo>
                    <a:pt x="152" y="284"/>
                    <a:pt x="304" y="328"/>
                    <a:pt x="432" y="288"/>
                  </a:cubicBezTo>
                  <a:cubicBezTo>
                    <a:pt x="560" y="248"/>
                    <a:pt x="712" y="48"/>
                    <a:pt x="768" y="0"/>
                  </a:cubicBezTo>
                </a:path>
              </a:pathLst>
            </a:custGeom>
            <a:noFill/>
            <a:ln w="25400" cap="flat" cmpd="sng">
              <a:solidFill>
                <a:schemeClr val="accent4">
                  <a:lumMod val="75000"/>
                  <a:alpha val="100000"/>
                </a:schemeClr>
              </a:solidFill>
              <a:prstDash val="solid"/>
              <a:round/>
              <a:headEnd type="triangle" w="med" len="med"/>
              <a:tailEnd type="none" w="sm" len="sm"/>
            </a:ln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2307" name="Rectangle 197"/>
            <p:cNvSpPr/>
            <p:nvPr/>
          </p:nvSpPr>
          <p:spPr>
            <a:xfrm>
              <a:off x="4295" y="2631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08" name="Rectangle 198"/>
            <p:cNvSpPr/>
            <p:nvPr/>
          </p:nvSpPr>
          <p:spPr>
            <a:xfrm>
              <a:off x="3843" y="3089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09" name="Rectangle 199"/>
            <p:cNvSpPr/>
            <p:nvPr/>
          </p:nvSpPr>
          <p:spPr>
            <a:xfrm>
              <a:off x="4801" y="3022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10" name="Rectangle 200"/>
            <p:cNvSpPr/>
            <p:nvPr/>
          </p:nvSpPr>
          <p:spPr>
            <a:xfrm>
              <a:off x="4285" y="3524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11" name="Text Box 201"/>
            <p:cNvSpPr txBox="1"/>
            <p:nvPr/>
          </p:nvSpPr>
          <p:spPr>
            <a:xfrm>
              <a:off x="3939" y="2705"/>
              <a:ext cx="276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12" name="Text Box 202"/>
            <p:cNvSpPr txBox="1"/>
            <p:nvPr/>
          </p:nvSpPr>
          <p:spPr>
            <a:xfrm>
              <a:off x="4153" y="2907"/>
              <a:ext cx="196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13" name="Text Box 203"/>
            <p:cNvSpPr txBox="1"/>
            <p:nvPr/>
          </p:nvSpPr>
          <p:spPr>
            <a:xfrm>
              <a:off x="4397" y="2980"/>
              <a:ext cx="276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17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14" name="Text Box 204"/>
            <p:cNvSpPr txBox="1"/>
            <p:nvPr/>
          </p:nvSpPr>
          <p:spPr>
            <a:xfrm>
              <a:off x="4472" y="3309"/>
              <a:ext cx="196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296" name="Oval 7"/>
          <p:cNvSpPr/>
          <p:nvPr/>
        </p:nvSpPr>
        <p:spPr>
          <a:xfrm>
            <a:off x="595313" y="1033463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7" name="Text Box 8"/>
          <p:cNvSpPr txBox="1"/>
          <p:nvPr/>
        </p:nvSpPr>
        <p:spPr>
          <a:xfrm>
            <a:off x="1125538" y="965200"/>
            <a:ext cx="25495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图的分类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2298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7.1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基本术语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0" grpId="0"/>
      <p:bldP spid="7312" grpId="0"/>
      <p:bldP spid="73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5"/>
          <p:cNvSpPr txBox="1">
            <a:spLocks noChangeArrowheads="1"/>
          </p:cNvSpPr>
          <p:nvPr/>
        </p:nvSpPr>
        <p:spPr bwMode="auto">
          <a:xfrm>
            <a:off x="401638" y="1633538"/>
            <a:ext cx="2967038" cy="521970"/>
          </a:xfrm>
          <a:prstGeom prst="rect">
            <a:avLst/>
          </a:prstGeom>
          <a:noFill/>
          <a:ln w="28575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）顶点的度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219" name="Text Box 46"/>
          <p:cNvSpPr txBox="1">
            <a:spLocks noChangeArrowheads="1"/>
          </p:cNvSpPr>
          <p:nvPr/>
        </p:nvSpPr>
        <p:spPr bwMode="auto">
          <a:xfrm>
            <a:off x="506413" y="3041650"/>
            <a:ext cx="6191250" cy="286004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对于有向图而言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: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顶点的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出度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: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以顶点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1" i="0" u="none" strike="noStrike" kern="1200" cap="none" spc="0" normalizeH="0" baseline="-18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为出发点的边的数目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记为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OD(v</a:t>
            </a:r>
            <a:r>
              <a:rPr kumimoji="0" lang="en-US" altLang="zh-CN" sz="2400" b="1" i="0" u="none" strike="noStrike" kern="1200" cap="none" spc="0" normalizeH="0" baseline="-18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).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顶点的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入度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: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以顶点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1" i="0" u="none" strike="noStrike" kern="1200" cap="none" spc="0" normalizeH="0" baseline="-18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为终止点的边的数目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记为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ID(v</a:t>
            </a:r>
            <a:r>
              <a:rPr kumimoji="0" lang="en-US" altLang="zh-CN" sz="2400" b="1" i="0" u="none" strike="noStrike" kern="1200" cap="none" spc="0" normalizeH="0" baseline="-18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).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    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TD(v</a:t>
            </a:r>
            <a:r>
              <a:rPr kumimoji="0" lang="en-US" altLang="zh-CN" sz="2400" b="1" i="0" u="none" strike="noStrike" kern="1200" cap="none" spc="0" normalizeH="0" baseline="-1800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 = OD(v</a:t>
            </a:r>
            <a:r>
              <a:rPr kumimoji="0" lang="en-US" altLang="zh-CN" sz="2400" b="1" i="0" u="none" strike="noStrike" kern="1200" cap="none" spc="0" normalizeH="0" baseline="-1800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 + ID(v</a:t>
            </a:r>
            <a:r>
              <a:rPr kumimoji="0" lang="en-US" altLang="zh-CN" sz="2400" b="1" i="0" u="none" strike="noStrike" kern="1200" cap="none" spc="0" normalizeH="0" baseline="-1800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264" name="Rectangle 52"/>
          <p:cNvSpPr>
            <a:spLocks noChangeArrowheads="1"/>
          </p:cNvSpPr>
          <p:nvPr/>
        </p:nvSpPr>
        <p:spPr bwMode="auto">
          <a:xfrm>
            <a:off x="1125855" y="2176780"/>
            <a:ext cx="5700395" cy="4914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依附于顶点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600" b="1" i="0" u="none" strike="noStrike" kern="1200" cap="none" spc="0" normalizeH="0" baseline="-2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的边的数目，记为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TD(v</a:t>
            </a:r>
            <a:r>
              <a:rPr kumimoji="0" lang="en-US" altLang="zh-CN" sz="2600" b="1" i="0" u="none" strike="noStrike" kern="1200" cap="none" spc="0" normalizeH="0" baseline="-2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).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743700" y="3716338"/>
            <a:ext cx="1976438" cy="1816100"/>
            <a:chOff x="3623836" y="4844012"/>
            <a:chExt cx="1976864" cy="1815061"/>
          </a:xfrm>
        </p:grpSpPr>
        <p:sp>
          <p:nvSpPr>
            <p:cNvPr id="9237" name="Oval 110"/>
            <p:cNvSpPr>
              <a:spLocks noChangeArrowheads="1"/>
            </p:cNvSpPr>
            <p:nvPr/>
          </p:nvSpPr>
          <p:spPr bwMode="auto">
            <a:xfrm>
              <a:off x="4409818" y="4937620"/>
              <a:ext cx="362028" cy="285587"/>
            </a:xfrm>
            <a:prstGeom prst="ellipse">
              <a:avLst/>
            </a:prstGeom>
            <a:solidFill>
              <a:srgbClr val="00FFCC"/>
            </a:solidFill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62" name="Oval 111"/>
            <p:cNvSpPr>
              <a:spLocks noChangeArrowheads="1"/>
            </p:cNvSpPr>
            <p:nvPr/>
          </p:nvSpPr>
          <p:spPr bwMode="auto">
            <a:xfrm>
              <a:off x="3649241" y="5623028"/>
              <a:ext cx="362028" cy="285587"/>
            </a:xfrm>
            <a:prstGeom prst="ellipse">
              <a:avLst/>
            </a:prstGeom>
            <a:solidFill>
              <a:srgbClr val="00FFCC"/>
            </a:solidFill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63" name="Oval 112"/>
            <p:cNvSpPr>
              <a:spLocks noChangeArrowheads="1"/>
            </p:cNvSpPr>
            <p:nvPr/>
          </p:nvSpPr>
          <p:spPr bwMode="auto">
            <a:xfrm>
              <a:off x="4409818" y="6365553"/>
              <a:ext cx="362028" cy="285587"/>
            </a:xfrm>
            <a:prstGeom prst="ellipse">
              <a:avLst/>
            </a:prstGeom>
            <a:solidFill>
              <a:srgbClr val="00FFCC"/>
            </a:solidFill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64" name="Oval 113"/>
            <p:cNvSpPr>
              <a:spLocks noChangeArrowheads="1"/>
            </p:cNvSpPr>
            <p:nvPr/>
          </p:nvSpPr>
          <p:spPr bwMode="auto">
            <a:xfrm>
              <a:off x="5206915" y="5580191"/>
              <a:ext cx="362028" cy="285587"/>
            </a:xfrm>
            <a:prstGeom prst="ellipse">
              <a:avLst/>
            </a:prstGeom>
            <a:solidFill>
              <a:srgbClr val="00FFCC"/>
            </a:solidFill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" name="Line 114"/>
            <p:cNvSpPr/>
            <p:nvPr/>
          </p:nvSpPr>
          <p:spPr>
            <a:xfrm flipV="1">
              <a:off x="4048125" y="5722938"/>
              <a:ext cx="1230313" cy="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lg"/>
            </a:ln>
          </p:spPr>
        </p:sp>
        <p:sp>
          <p:nvSpPr>
            <p:cNvPr id="14365" name="Line 115"/>
            <p:cNvSpPr/>
            <p:nvPr/>
          </p:nvSpPr>
          <p:spPr>
            <a:xfrm flipV="1">
              <a:off x="4738688" y="5865813"/>
              <a:ext cx="539750" cy="547687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lg"/>
            </a:ln>
          </p:spPr>
        </p:sp>
        <p:sp>
          <p:nvSpPr>
            <p:cNvPr id="14366" name="Freeform 116"/>
            <p:cNvSpPr/>
            <p:nvPr/>
          </p:nvSpPr>
          <p:spPr>
            <a:xfrm>
              <a:off x="3686175" y="4865688"/>
              <a:ext cx="723900" cy="857250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864" h="440">
                  <a:moveTo>
                    <a:pt x="0" y="440"/>
                  </a:moveTo>
                  <a:cubicBezTo>
                    <a:pt x="72" y="276"/>
                    <a:pt x="144" y="112"/>
                    <a:pt x="288" y="56"/>
                  </a:cubicBezTo>
                  <a:cubicBezTo>
                    <a:pt x="432" y="0"/>
                    <a:pt x="768" y="96"/>
                    <a:pt x="864" y="104"/>
                  </a:cubicBezTo>
                </a:path>
              </a:pathLst>
            </a:custGeom>
            <a:noFill/>
            <a:ln w="28575" cap="flat" cmpd="sng">
              <a:solidFill>
                <a:schemeClr val="accent4">
                  <a:lumMod val="75000"/>
                  <a:alpha val="100000"/>
                </a:schemeClr>
              </a:solidFill>
              <a:prstDash val="solid"/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4367" name="Freeform 117"/>
            <p:cNvSpPr/>
            <p:nvPr/>
          </p:nvSpPr>
          <p:spPr>
            <a:xfrm>
              <a:off x="4011612" y="5213350"/>
              <a:ext cx="579438" cy="714375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0" t="0" r="0" b="0"/>
              <a:pathLst>
                <a:path w="768" h="328">
                  <a:moveTo>
                    <a:pt x="0" y="240"/>
                  </a:moveTo>
                  <a:cubicBezTo>
                    <a:pt x="152" y="284"/>
                    <a:pt x="304" y="328"/>
                    <a:pt x="432" y="288"/>
                  </a:cubicBezTo>
                  <a:cubicBezTo>
                    <a:pt x="560" y="248"/>
                    <a:pt x="712" y="48"/>
                    <a:pt x="768" y="0"/>
                  </a:cubicBezTo>
                </a:path>
              </a:pathLst>
            </a:custGeom>
            <a:noFill/>
            <a:ln w="28575" cap="flat" cmpd="sng">
              <a:solidFill>
                <a:schemeClr val="accent4">
                  <a:lumMod val="75000"/>
                  <a:alpha val="100000"/>
                </a:schemeClr>
              </a:solidFill>
              <a:prstDash val="solid"/>
              <a:round/>
              <a:headEnd type="triangle" w="med" len="med"/>
              <a:tailEnd type="none" w="sm" len="sm"/>
            </a:ln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9245" name="Rectangle 118"/>
            <p:cNvSpPr>
              <a:spLocks noChangeArrowheads="1"/>
            </p:cNvSpPr>
            <p:nvPr/>
          </p:nvSpPr>
          <p:spPr bwMode="auto">
            <a:xfrm>
              <a:off x="4409818" y="4844012"/>
              <a:ext cx="398548" cy="399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69" name="Rectangle 119"/>
            <p:cNvSpPr/>
            <p:nvPr/>
          </p:nvSpPr>
          <p:spPr>
            <a:xfrm>
              <a:off x="3623836" y="5524501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70" name="Rectangle 120"/>
            <p:cNvSpPr/>
            <p:nvPr/>
          </p:nvSpPr>
          <p:spPr>
            <a:xfrm>
              <a:off x="5207000" y="5478097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71" name="Rectangle 121"/>
            <p:cNvSpPr/>
            <p:nvPr/>
          </p:nvSpPr>
          <p:spPr>
            <a:xfrm>
              <a:off x="4394200" y="6262198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2"/>
          <p:cNvGrpSpPr/>
          <p:nvPr/>
        </p:nvGrpSpPr>
        <p:grpSpPr>
          <a:xfrm>
            <a:off x="6796088" y="1471613"/>
            <a:ext cx="1965325" cy="1812925"/>
            <a:chOff x="1108442" y="4830825"/>
            <a:chExt cx="1964958" cy="1812438"/>
          </a:xfrm>
        </p:grpSpPr>
        <p:sp>
          <p:nvSpPr>
            <p:cNvPr id="9224" name="Oval 97"/>
            <p:cNvSpPr>
              <a:spLocks noChangeArrowheads="1"/>
            </p:cNvSpPr>
            <p:nvPr/>
          </p:nvSpPr>
          <p:spPr bwMode="auto">
            <a:xfrm>
              <a:off x="1860776" y="4935572"/>
              <a:ext cx="371406" cy="284086"/>
            </a:xfrm>
            <a:prstGeom prst="ellipse">
              <a:avLst/>
            </a:prstGeom>
            <a:solidFill>
              <a:srgbClr val="00FFCC"/>
            </a:solidFill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48" name="Oval 98"/>
            <p:cNvSpPr>
              <a:spLocks noChangeArrowheads="1"/>
            </p:cNvSpPr>
            <p:nvPr/>
          </p:nvSpPr>
          <p:spPr bwMode="auto">
            <a:xfrm>
              <a:off x="1116378" y="5643407"/>
              <a:ext cx="371406" cy="284086"/>
            </a:xfrm>
            <a:prstGeom prst="ellipse">
              <a:avLst/>
            </a:prstGeom>
            <a:solidFill>
              <a:srgbClr val="00FFCC"/>
            </a:solidFill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49" name="Oval 99"/>
            <p:cNvSpPr>
              <a:spLocks noChangeArrowheads="1"/>
            </p:cNvSpPr>
            <p:nvPr/>
          </p:nvSpPr>
          <p:spPr bwMode="auto">
            <a:xfrm>
              <a:off x="1860776" y="6352828"/>
              <a:ext cx="371406" cy="282499"/>
            </a:xfrm>
            <a:prstGeom prst="ellipse">
              <a:avLst/>
            </a:prstGeom>
            <a:solidFill>
              <a:srgbClr val="00FFCC"/>
            </a:solidFill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50" name="Oval 100"/>
            <p:cNvSpPr>
              <a:spLocks noChangeArrowheads="1"/>
            </p:cNvSpPr>
            <p:nvPr/>
          </p:nvSpPr>
          <p:spPr bwMode="auto">
            <a:xfrm>
              <a:off x="2679774" y="5573575"/>
              <a:ext cx="371406" cy="282499"/>
            </a:xfrm>
            <a:prstGeom prst="ellipse">
              <a:avLst/>
            </a:prstGeom>
            <a:solidFill>
              <a:srgbClr val="00FFCC"/>
            </a:solidFill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Line 101"/>
            <p:cNvSpPr/>
            <p:nvPr/>
          </p:nvSpPr>
          <p:spPr>
            <a:xfrm flipV="1">
              <a:off x="1423988" y="5148263"/>
              <a:ext cx="511175" cy="520700"/>
            </a:xfrm>
            <a:prstGeom prst="line">
              <a:avLst/>
            </a:prstGeom>
            <a:ln w="28575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51" name="Line 102"/>
            <p:cNvSpPr/>
            <p:nvPr/>
          </p:nvSpPr>
          <p:spPr>
            <a:xfrm>
              <a:off x="1487488" y="5784850"/>
              <a:ext cx="1192212" cy="0"/>
            </a:xfrm>
            <a:prstGeom prst="line">
              <a:avLst/>
            </a:prstGeom>
            <a:ln w="28575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52" name="Line 103"/>
            <p:cNvSpPr/>
            <p:nvPr/>
          </p:nvSpPr>
          <p:spPr>
            <a:xfrm>
              <a:off x="2084388" y="5218113"/>
              <a:ext cx="0" cy="1133475"/>
            </a:xfrm>
            <a:prstGeom prst="line">
              <a:avLst/>
            </a:prstGeom>
            <a:ln w="28575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53" name="Line 104"/>
            <p:cNvSpPr/>
            <p:nvPr/>
          </p:nvSpPr>
          <p:spPr>
            <a:xfrm>
              <a:off x="2220913" y="5160963"/>
              <a:ext cx="484187" cy="484187"/>
            </a:xfrm>
            <a:prstGeom prst="line">
              <a:avLst/>
            </a:prstGeom>
            <a:ln w="28575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54" name="Line 105"/>
            <p:cNvSpPr/>
            <p:nvPr/>
          </p:nvSpPr>
          <p:spPr>
            <a:xfrm flipV="1">
              <a:off x="2232025" y="5892800"/>
              <a:ext cx="523875" cy="530225"/>
            </a:xfrm>
            <a:prstGeom prst="line">
              <a:avLst/>
            </a:prstGeom>
            <a:ln w="28575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355" name="Line 106"/>
            <p:cNvSpPr/>
            <p:nvPr/>
          </p:nvSpPr>
          <p:spPr>
            <a:xfrm>
              <a:off x="1436688" y="5913438"/>
              <a:ext cx="498475" cy="509587"/>
            </a:xfrm>
            <a:prstGeom prst="line">
              <a:avLst/>
            </a:prstGeom>
            <a:ln w="28575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234" name="Text Box 107"/>
            <p:cNvSpPr txBox="1">
              <a:spLocks noChangeArrowheads="1"/>
            </p:cNvSpPr>
            <p:nvPr/>
          </p:nvSpPr>
          <p:spPr bwMode="auto">
            <a:xfrm>
              <a:off x="1871886" y="4830825"/>
              <a:ext cx="398389" cy="39994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57" name="Rectangle 108"/>
            <p:cNvSpPr/>
            <p:nvPr/>
          </p:nvSpPr>
          <p:spPr>
            <a:xfrm>
              <a:off x="2679700" y="5473700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58" name="Rectangle 109"/>
            <p:cNvSpPr/>
            <p:nvPr/>
          </p:nvSpPr>
          <p:spPr>
            <a:xfrm>
              <a:off x="1858963" y="6246388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59" name="Text Box 122"/>
            <p:cNvSpPr txBox="1"/>
            <p:nvPr/>
          </p:nvSpPr>
          <p:spPr>
            <a:xfrm>
              <a:off x="1108442" y="5528287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343" name="Oval 7"/>
          <p:cNvSpPr/>
          <p:nvPr/>
        </p:nvSpPr>
        <p:spPr>
          <a:xfrm>
            <a:off x="595313" y="1033463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44" name="Text Box 8"/>
          <p:cNvSpPr txBox="1"/>
          <p:nvPr/>
        </p:nvSpPr>
        <p:spPr>
          <a:xfrm>
            <a:off x="1125538" y="965200"/>
            <a:ext cx="25495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名词术语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4345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7.1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基本术语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/>
      <p:bldP spid="92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4" name="Text Box 148"/>
          <p:cNvSpPr txBox="1">
            <a:spLocks noChangeArrowheads="1"/>
          </p:cNvSpPr>
          <p:nvPr/>
        </p:nvSpPr>
        <p:spPr bwMode="auto">
          <a:xfrm>
            <a:off x="412750" y="4675505"/>
            <a:ext cx="8483600" cy="13144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边的数目达到最大的图称为完全图。边的数目达到或接近最大的图称为稠密图，否则，称为稀疏图。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365" name="Rectangle 149"/>
          <p:cNvSpPr>
            <a:spLocks noChangeArrowheads="1"/>
          </p:cNvSpPr>
          <p:nvPr/>
        </p:nvSpPr>
        <p:spPr bwMode="auto">
          <a:xfrm>
            <a:off x="592138" y="3956050"/>
            <a:ext cx="7520305" cy="49149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推论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具有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个顶点的有向图最多有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n(n-1)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条边。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366" name="Text Box 150"/>
          <p:cNvSpPr txBox="1">
            <a:spLocks noChangeArrowheads="1"/>
          </p:cNvSpPr>
          <p:nvPr/>
        </p:nvSpPr>
        <p:spPr bwMode="auto">
          <a:xfrm>
            <a:off x="592138" y="2994025"/>
            <a:ext cx="7795260" cy="49149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推论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具有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个顶点的无向图最多有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n(n-1)/2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条边。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5365" name="组合 1"/>
          <p:cNvGrpSpPr/>
          <p:nvPr/>
        </p:nvGrpSpPr>
        <p:grpSpPr>
          <a:xfrm>
            <a:off x="606425" y="1627188"/>
            <a:ext cx="6334125" cy="1141412"/>
            <a:chOff x="595630" y="1797688"/>
            <a:chExt cx="6334128" cy="1141415"/>
          </a:xfrm>
        </p:grpSpPr>
        <p:sp>
          <p:nvSpPr>
            <p:cNvPr id="10270" name="Text Box 152"/>
            <p:cNvSpPr txBox="1">
              <a:spLocks noChangeArrowheads="1"/>
            </p:cNvSpPr>
            <p:nvPr/>
          </p:nvSpPr>
          <p:spPr bwMode="auto">
            <a:xfrm>
              <a:off x="595630" y="1797688"/>
              <a:ext cx="6334128" cy="992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推论</a:t>
              </a: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：</a:t>
              </a: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对于具有</a:t>
              </a: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n</a:t>
              </a: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个顶点，</a:t>
              </a: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e</a:t>
              </a: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条边的图，有</a:t>
              </a: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                            </a:t>
              </a: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2e = </a:t>
              </a: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</a:t>
              </a: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TD(v</a:t>
              </a:r>
              <a:r>
                <a:rPr kumimoji="0" lang="en-US" altLang="zh-CN" sz="2600" b="1" i="0" u="none" strike="noStrike" kern="1200" cap="none" spc="0" normalizeH="0" baseline="-20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)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71" name="Text Box 153"/>
            <p:cNvSpPr txBox="1">
              <a:spLocks noChangeArrowheads="1"/>
            </p:cNvSpPr>
            <p:nvPr/>
          </p:nvSpPr>
          <p:spPr bwMode="auto">
            <a:xfrm>
              <a:off x="3549969" y="2181864"/>
              <a:ext cx="425450" cy="75723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n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=1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366" name="Oval 7"/>
          <p:cNvSpPr/>
          <p:nvPr/>
        </p:nvSpPr>
        <p:spPr>
          <a:xfrm>
            <a:off x="606425" y="881063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7" name="Text Box 8"/>
          <p:cNvSpPr txBox="1"/>
          <p:nvPr/>
        </p:nvSpPr>
        <p:spPr>
          <a:xfrm>
            <a:off x="1136650" y="812800"/>
            <a:ext cx="25495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名词术语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368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7.1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基本术语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64" grpId="0"/>
      <p:bldP spid="9365" grpId="0"/>
      <p:bldP spid="936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79730" y="944880"/>
            <a:ext cx="8444230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b="1" kern="100" cap="none" spc="0" normalizeH="0" baseline="0" noProof="0" dirty="0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问题：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已知无向图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G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含有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16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条边，其中度为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的顶点个数为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，度为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的顶点个数为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，其他顶点的度均小于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。图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G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所含的顶点个数至少是（ 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  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）。</a:t>
            </a:r>
            <a:endParaRPr kumimoji="0" lang="en-US" altLang="zh-CN" b="1" kern="100" cap="none" spc="0" normalizeH="0" baseline="0" noProof="0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R="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   A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．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10            B. 11            C.13            D. 15</a:t>
            </a:r>
            <a:endParaRPr kumimoji="0" lang="en-US" altLang="zh-CN" b="1" kern="100" cap="none" spc="0" normalizeH="0" baseline="0" noProof="0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9095" y="3517900"/>
            <a:ext cx="8444865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b="1" kern="100" cap="none" spc="0" normalizeH="0" baseline="0" noProof="0" dirty="0">
                <a:solidFill>
                  <a:srgbClr val="00B050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解析</a:t>
            </a:r>
            <a:r>
              <a:rPr kumimoji="0" lang="en-US" altLang="zh-CN" b="1" kern="100" cap="none" spc="0" normalizeH="0" baseline="0" noProof="0" dirty="0">
                <a:solidFill>
                  <a:srgbClr val="00B050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: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无向图边数的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倍等于各顶点度数的总和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由于其他顶点的度均小于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设它们的度都为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设它们的数量都是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列出这个方程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4*3+3*4+2x=16*2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解得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x=4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4+4+3=11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选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kumimoji="0" lang="zh-CN" altLang="en-US" b="1" kern="100" cap="none" spc="0" normalizeH="0" baseline="0" noProof="0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52065" y="2231708"/>
            <a:ext cx="369888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00" cap="none" spc="0" normalizeH="0" baseline="0" noProof="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b="1" kern="100" cap="none" spc="0" normalizeH="0" baseline="0" noProof="0" dirty="0">
              <a:solidFill>
                <a:srgbClr val="0000FF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389" name="Text Box 5"/>
          <p:cNvSpPr txBox="1"/>
          <p:nvPr/>
        </p:nvSpPr>
        <p:spPr>
          <a:xfrm>
            <a:off x="7373938" y="122238"/>
            <a:ext cx="162083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互动答题</a:t>
            </a:r>
            <a:endParaRPr lang="en-US" altLang="zh-CN" sz="2800" b="1" dirty="0">
              <a:solidFill>
                <a:srgbClr val="FFFF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6" name="Text Box 66"/>
          <p:cNvSpPr txBox="1">
            <a:spLocks noChangeArrowheads="1"/>
          </p:cNvSpPr>
          <p:nvPr/>
        </p:nvSpPr>
        <p:spPr bwMode="auto">
          <a:xfrm>
            <a:off x="412750" y="1457325"/>
            <a:ext cx="1644650" cy="52197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）路径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560513" y="3298825"/>
            <a:ext cx="2859087" cy="1295400"/>
            <a:chOff x="1560513" y="3403367"/>
            <a:chExt cx="2859087" cy="1295400"/>
          </a:xfrm>
        </p:grpSpPr>
        <p:sp>
          <p:nvSpPr>
            <p:cNvPr id="11267" name="Oval 68"/>
            <p:cNvSpPr>
              <a:spLocks noChangeArrowheads="1"/>
            </p:cNvSpPr>
            <p:nvPr/>
          </p:nvSpPr>
          <p:spPr bwMode="auto">
            <a:xfrm>
              <a:off x="3294063" y="4393967"/>
              <a:ext cx="381000" cy="304800"/>
            </a:xfrm>
            <a:prstGeom prst="ellipse">
              <a:avLst/>
            </a:prstGeom>
            <a:solidFill>
              <a:srgbClr val="00FFCC"/>
            </a:solidFill>
            <a:ln w="28575">
              <a:solidFill>
                <a:srgbClr val="333399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D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268" name="Oval 69"/>
            <p:cNvSpPr>
              <a:spLocks noChangeArrowheads="1"/>
            </p:cNvSpPr>
            <p:nvPr/>
          </p:nvSpPr>
          <p:spPr bwMode="auto">
            <a:xfrm>
              <a:off x="2057400" y="4393967"/>
              <a:ext cx="381000" cy="304800"/>
            </a:xfrm>
            <a:prstGeom prst="ellipse">
              <a:avLst/>
            </a:prstGeom>
            <a:solidFill>
              <a:srgbClr val="00FFCC"/>
            </a:solidFill>
            <a:ln w="28575">
              <a:solidFill>
                <a:srgbClr val="333399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269" name="Oval 70"/>
            <p:cNvSpPr>
              <a:spLocks noChangeArrowheads="1"/>
            </p:cNvSpPr>
            <p:nvPr/>
          </p:nvSpPr>
          <p:spPr bwMode="auto">
            <a:xfrm>
              <a:off x="4038600" y="3784367"/>
              <a:ext cx="381000" cy="304800"/>
            </a:xfrm>
            <a:prstGeom prst="ellipse">
              <a:avLst/>
            </a:prstGeom>
            <a:solidFill>
              <a:srgbClr val="00FFCC"/>
            </a:solidFill>
            <a:ln w="28575">
              <a:solidFill>
                <a:srgbClr val="333399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E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270" name="Oval 71"/>
            <p:cNvSpPr>
              <a:spLocks noChangeArrowheads="1"/>
            </p:cNvSpPr>
            <p:nvPr/>
          </p:nvSpPr>
          <p:spPr bwMode="auto">
            <a:xfrm>
              <a:off x="2819400" y="3403367"/>
              <a:ext cx="381000" cy="304800"/>
            </a:xfrm>
            <a:prstGeom prst="ellipse">
              <a:avLst/>
            </a:prstGeom>
            <a:solidFill>
              <a:srgbClr val="00FFCC"/>
            </a:solidFill>
            <a:ln w="28575">
              <a:solidFill>
                <a:srgbClr val="333399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B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271" name="Oval 72"/>
            <p:cNvSpPr>
              <a:spLocks noChangeArrowheads="1"/>
            </p:cNvSpPr>
            <p:nvPr/>
          </p:nvSpPr>
          <p:spPr bwMode="auto">
            <a:xfrm>
              <a:off x="1560513" y="3757380"/>
              <a:ext cx="381000" cy="304800"/>
            </a:xfrm>
            <a:prstGeom prst="ellipse">
              <a:avLst/>
            </a:prstGeom>
            <a:solidFill>
              <a:srgbClr val="00FFCC"/>
            </a:solidFill>
            <a:ln w="28575">
              <a:solidFill>
                <a:srgbClr val="333399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A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272" name="Line 73"/>
            <p:cNvSpPr>
              <a:spLocks noChangeShapeType="1"/>
            </p:cNvSpPr>
            <p:nvPr/>
          </p:nvSpPr>
          <p:spPr bwMode="auto">
            <a:xfrm>
              <a:off x="2438400" y="4546367"/>
              <a:ext cx="838200" cy="0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273" name="Line 74"/>
            <p:cNvSpPr>
              <a:spLocks noChangeShapeType="1"/>
            </p:cNvSpPr>
            <p:nvPr/>
          </p:nvSpPr>
          <p:spPr bwMode="auto">
            <a:xfrm>
              <a:off x="3236913" y="3597042"/>
              <a:ext cx="838200" cy="228600"/>
            </a:xfrm>
            <a:prstGeom prst="line">
              <a:avLst/>
            </a:prstGeom>
            <a:noFill/>
            <a:ln w="31750" cap="sq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274" name="Line 75"/>
            <p:cNvSpPr>
              <a:spLocks noChangeShapeType="1"/>
            </p:cNvSpPr>
            <p:nvPr/>
          </p:nvSpPr>
          <p:spPr bwMode="auto">
            <a:xfrm flipV="1">
              <a:off x="1905000" y="3595455"/>
              <a:ext cx="917575" cy="265112"/>
            </a:xfrm>
            <a:prstGeom prst="line">
              <a:avLst/>
            </a:prstGeom>
            <a:noFill/>
            <a:ln w="31750" cap="sq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275" name="Line 76"/>
            <p:cNvSpPr>
              <a:spLocks noChangeShapeType="1"/>
            </p:cNvSpPr>
            <p:nvPr/>
          </p:nvSpPr>
          <p:spPr bwMode="auto">
            <a:xfrm>
              <a:off x="1790700" y="4011380"/>
              <a:ext cx="401638" cy="388937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276" name="Line 77"/>
            <p:cNvSpPr>
              <a:spLocks noChangeShapeType="1"/>
            </p:cNvSpPr>
            <p:nvPr/>
          </p:nvSpPr>
          <p:spPr bwMode="auto">
            <a:xfrm flipV="1">
              <a:off x="3668713" y="4055830"/>
              <a:ext cx="458787" cy="463550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0318" name="Text Box 78"/>
          <p:cNvSpPr txBox="1">
            <a:spLocks noChangeArrowheads="1"/>
          </p:cNvSpPr>
          <p:nvPr/>
        </p:nvSpPr>
        <p:spPr bwMode="auto">
          <a:xfrm>
            <a:off x="5253038" y="3603625"/>
            <a:ext cx="2514600" cy="70675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P(A, E):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E486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A, B, 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     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A, C, D, 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319" name="Text Box 79"/>
          <p:cNvSpPr txBox="1">
            <a:spLocks noChangeArrowheads="1"/>
          </p:cNvSpPr>
          <p:nvPr/>
        </p:nvSpPr>
        <p:spPr bwMode="auto">
          <a:xfrm>
            <a:off x="488950" y="4713288"/>
            <a:ext cx="8207375" cy="1788795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</a:t>
            </a:r>
            <a:r>
              <a:rPr kumimoji="0" lang="zh-CN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出发点与终止点相同的路径称为回路或环；顶点序列中顶点不重复出现的路径称为</a:t>
            </a:r>
            <a:r>
              <a:rPr kumimoji="0" lang="zh-CN" altLang="zh-CN" sz="23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简单路径</a:t>
            </a:r>
            <a:r>
              <a:rPr kumimoji="0" lang="zh-CN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。不带权的图的路径长度是指路径上所经过的边的数目，带权的图的路径长度是指路径上经过的边上的权值之和。</a:t>
            </a:r>
            <a:endParaRPr kumimoji="0" lang="zh-CN" altLang="zh-CN" sz="2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296" name="Text Box 82"/>
          <p:cNvSpPr txBox="1">
            <a:spLocks noChangeArrowheads="1"/>
          </p:cNvSpPr>
          <p:nvPr/>
        </p:nvSpPr>
        <p:spPr bwMode="auto">
          <a:xfrm>
            <a:off x="534988" y="1993900"/>
            <a:ext cx="8264525" cy="125285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顶点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1" i="0" u="none" strike="noStrike" kern="1200" cap="none" spc="0" normalizeH="0" baseline="-18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1" i="0" u="none" strike="noStrike" kern="1200" cap="none" spc="0" normalizeH="0" baseline="-20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之间有路径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P(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1" i="0" u="none" strike="noStrike" kern="1200" cap="none" spc="0" normalizeH="0" baseline="-20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1" i="0" u="none" strike="noStrike" kern="1200" cap="none" spc="0" normalizeH="0" baseline="-20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的充分必要条件为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: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存在顶点序列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1" i="0" u="none" strike="noStrike" kern="1200" cap="none" spc="0" normalizeH="0" baseline="-20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 v</a:t>
            </a:r>
            <a:r>
              <a:rPr kumimoji="0" lang="en-US" altLang="zh-CN" sz="2400" b="1" i="0" u="none" strike="noStrike" kern="1200" cap="none" spc="0" normalizeH="0" baseline="-2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 v</a:t>
            </a:r>
            <a:r>
              <a:rPr kumimoji="0" lang="en-US" altLang="zh-CN" sz="2400" b="1" i="0" u="none" strike="noStrike" kern="1200" cap="none" spc="0" normalizeH="0" baseline="-2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  …, v</a:t>
            </a:r>
            <a:r>
              <a:rPr kumimoji="0" lang="en-US" altLang="zh-CN" sz="2400" b="1" i="0" u="none" strike="noStrike" kern="1200" cap="none" spc="0" normalizeH="0" baseline="-2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im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1" i="0" u="none" strike="noStrike" kern="1200" cap="none" spc="0" normalizeH="0" baseline="-20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并且序列中相邻两个顶点构造的顶点偶对分别为图中的一条边。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7415" name="Oval 7"/>
          <p:cNvSpPr/>
          <p:nvPr/>
        </p:nvSpPr>
        <p:spPr>
          <a:xfrm>
            <a:off x="595313" y="92868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6" name="Text Box 8"/>
          <p:cNvSpPr txBox="1"/>
          <p:nvPr/>
        </p:nvSpPr>
        <p:spPr>
          <a:xfrm>
            <a:off x="1125538" y="860425"/>
            <a:ext cx="25495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名词术语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7417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7.1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基本术语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06" grpId="0"/>
      <p:bldP spid="10318" grpId="0"/>
      <p:bldP spid="10319" grpId="0" bldLvl="0" animBg="1"/>
      <p:bldP spid="1129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29"/>
          <p:cNvSpPr txBox="1"/>
          <p:nvPr/>
        </p:nvSpPr>
        <p:spPr>
          <a:xfrm>
            <a:off x="561975" y="1679575"/>
            <a:ext cx="158750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3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）子图  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49338" y="3586163"/>
            <a:ext cx="1997075" cy="1916112"/>
            <a:chOff x="1205706" y="4305733"/>
            <a:chExt cx="1996281" cy="1916112"/>
          </a:xfrm>
        </p:grpSpPr>
        <p:sp>
          <p:nvSpPr>
            <p:cNvPr id="18459" name="Oval 131"/>
            <p:cNvSpPr/>
            <p:nvPr/>
          </p:nvSpPr>
          <p:spPr>
            <a:xfrm>
              <a:off x="1968500" y="4393045"/>
              <a:ext cx="381000" cy="3048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60" name="Oval 132"/>
            <p:cNvSpPr/>
            <p:nvPr/>
          </p:nvSpPr>
          <p:spPr>
            <a:xfrm>
              <a:off x="1206500" y="5155045"/>
              <a:ext cx="381000" cy="3048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61" name="Oval 133"/>
            <p:cNvSpPr/>
            <p:nvPr/>
          </p:nvSpPr>
          <p:spPr>
            <a:xfrm>
              <a:off x="1968500" y="5917045"/>
              <a:ext cx="381000" cy="3048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62" name="Oval 134"/>
            <p:cNvSpPr/>
            <p:nvPr/>
          </p:nvSpPr>
          <p:spPr>
            <a:xfrm>
              <a:off x="2806700" y="5078845"/>
              <a:ext cx="381000" cy="3048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63" name="Line 135"/>
            <p:cNvSpPr/>
            <p:nvPr/>
          </p:nvSpPr>
          <p:spPr>
            <a:xfrm flipV="1">
              <a:off x="1587500" y="5231245"/>
              <a:ext cx="1295400" cy="0"/>
            </a:xfrm>
            <a:prstGeom prst="line">
              <a:avLst/>
            </a:prstGeom>
            <a:ln w="3175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lg"/>
            </a:ln>
          </p:spPr>
        </p:sp>
        <p:sp>
          <p:nvSpPr>
            <p:cNvPr id="18464" name="Line 136"/>
            <p:cNvSpPr/>
            <p:nvPr/>
          </p:nvSpPr>
          <p:spPr>
            <a:xfrm flipV="1">
              <a:off x="2325688" y="5383645"/>
              <a:ext cx="593725" cy="596900"/>
            </a:xfrm>
            <a:prstGeom prst="line">
              <a:avLst/>
            </a:prstGeom>
            <a:ln w="3175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lg"/>
            </a:ln>
          </p:spPr>
        </p:sp>
        <p:sp>
          <p:nvSpPr>
            <p:cNvPr id="18465" name="Freeform 137"/>
            <p:cNvSpPr/>
            <p:nvPr/>
          </p:nvSpPr>
          <p:spPr>
            <a:xfrm>
              <a:off x="1206500" y="4316845"/>
              <a:ext cx="762000" cy="914400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864" h="440">
                  <a:moveTo>
                    <a:pt x="0" y="440"/>
                  </a:moveTo>
                  <a:cubicBezTo>
                    <a:pt x="72" y="276"/>
                    <a:pt x="144" y="112"/>
                    <a:pt x="288" y="56"/>
                  </a:cubicBezTo>
                  <a:cubicBezTo>
                    <a:pt x="432" y="0"/>
                    <a:pt x="768" y="96"/>
                    <a:pt x="864" y="104"/>
                  </a:cubicBezTo>
                </a:path>
              </a:pathLst>
            </a:custGeom>
            <a:noFill/>
            <a:ln w="31750" cap="flat" cmpd="sng">
              <a:solidFill>
                <a:schemeClr val="accent4">
                  <a:lumMod val="75000"/>
                  <a:alpha val="100000"/>
                </a:schemeClr>
              </a:solidFill>
              <a:prstDash val="solid"/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8466" name="Freeform 138"/>
            <p:cNvSpPr/>
            <p:nvPr/>
          </p:nvSpPr>
          <p:spPr>
            <a:xfrm>
              <a:off x="1587500" y="4697845"/>
              <a:ext cx="609600" cy="762000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0" t="0" r="0" b="0"/>
              <a:pathLst>
                <a:path w="768" h="328">
                  <a:moveTo>
                    <a:pt x="0" y="240"/>
                  </a:moveTo>
                  <a:cubicBezTo>
                    <a:pt x="152" y="284"/>
                    <a:pt x="304" y="328"/>
                    <a:pt x="432" y="288"/>
                  </a:cubicBezTo>
                  <a:cubicBezTo>
                    <a:pt x="560" y="248"/>
                    <a:pt x="712" y="48"/>
                    <a:pt x="768" y="0"/>
                  </a:cubicBezTo>
                </a:path>
              </a:pathLst>
            </a:custGeom>
            <a:noFill/>
            <a:ln w="31750" cap="flat" cmpd="sng">
              <a:solidFill>
                <a:schemeClr val="accent4">
                  <a:lumMod val="75000"/>
                  <a:alpha val="100000"/>
                </a:schemeClr>
              </a:solidFill>
              <a:prstDash val="solid"/>
              <a:round/>
              <a:headEnd type="triangle" w="med" len="med"/>
              <a:tailEnd type="none" w="sm" len="sm"/>
            </a:ln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8467" name="Rectangle 139"/>
            <p:cNvSpPr/>
            <p:nvPr/>
          </p:nvSpPr>
          <p:spPr>
            <a:xfrm>
              <a:off x="1974849" y="4305733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68" name="Rectangle 140"/>
            <p:cNvSpPr/>
            <p:nvPr/>
          </p:nvSpPr>
          <p:spPr>
            <a:xfrm>
              <a:off x="1205706" y="5060039"/>
              <a:ext cx="458788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69" name="Rectangle 141"/>
            <p:cNvSpPr/>
            <p:nvPr/>
          </p:nvSpPr>
          <p:spPr>
            <a:xfrm>
              <a:off x="2808287" y="5008334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70" name="Rectangle 142"/>
            <p:cNvSpPr/>
            <p:nvPr/>
          </p:nvSpPr>
          <p:spPr>
            <a:xfrm>
              <a:off x="1968500" y="5823260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337" name="Text Box 166"/>
          <p:cNvSpPr txBox="1">
            <a:spLocks noChangeArrowheads="1"/>
          </p:cNvSpPr>
          <p:nvPr/>
        </p:nvSpPr>
        <p:spPr bwMode="auto">
          <a:xfrm>
            <a:off x="630555" y="2120900"/>
            <a:ext cx="8226425" cy="1198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对于图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G=(V, E)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与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G´=(V´, E´)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，若有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V´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E´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，则称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G´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的一个子图。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765550" y="3541713"/>
            <a:ext cx="2035175" cy="1936750"/>
            <a:chOff x="3835278" y="4243819"/>
            <a:chExt cx="2035297" cy="1936018"/>
          </a:xfrm>
        </p:grpSpPr>
        <p:sp>
          <p:nvSpPr>
            <p:cNvPr id="18448" name="Oval 183"/>
            <p:cNvSpPr/>
            <p:nvPr/>
          </p:nvSpPr>
          <p:spPr>
            <a:xfrm>
              <a:off x="4622800" y="4329545"/>
              <a:ext cx="381000" cy="3048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49" name="Oval 184"/>
            <p:cNvSpPr/>
            <p:nvPr/>
          </p:nvSpPr>
          <p:spPr>
            <a:xfrm>
              <a:off x="3860800" y="5091545"/>
              <a:ext cx="381000" cy="3048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50" name="Oval 185"/>
            <p:cNvSpPr/>
            <p:nvPr/>
          </p:nvSpPr>
          <p:spPr>
            <a:xfrm>
              <a:off x="4645269" y="5875037"/>
              <a:ext cx="381000" cy="3048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51" name="Oval 186"/>
            <p:cNvSpPr/>
            <p:nvPr/>
          </p:nvSpPr>
          <p:spPr>
            <a:xfrm>
              <a:off x="5461000" y="5015345"/>
              <a:ext cx="381000" cy="3048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52" name="Line 187"/>
            <p:cNvSpPr/>
            <p:nvPr/>
          </p:nvSpPr>
          <p:spPr>
            <a:xfrm flipV="1">
              <a:off x="4241800" y="5167745"/>
              <a:ext cx="1295400" cy="0"/>
            </a:xfrm>
            <a:prstGeom prst="line">
              <a:avLst/>
            </a:prstGeom>
            <a:ln w="3175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lg"/>
            </a:ln>
          </p:spPr>
        </p:sp>
        <p:sp>
          <p:nvSpPr>
            <p:cNvPr id="18453" name="Line 188"/>
            <p:cNvSpPr/>
            <p:nvPr/>
          </p:nvSpPr>
          <p:spPr>
            <a:xfrm flipV="1">
              <a:off x="5003800" y="5331258"/>
              <a:ext cx="606425" cy="598487"/>
            </a:xfrm>
            <a:prstGeom prst="line">
              <a:avLst/>
            </a:prstGeom>
            <a:ln w="3175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lg"/>
            </a:ln>
          </p:spPr>
        </p:sp>
        <p:sp>
          <p:nvSpPr>
            <p:cNvPr id="18454" name="Freeform 190"/>
            <p:cNvSpPr/>
            <p:nvPr/>
          </p:nvSpPr>
          <p:spPr>
            <a:xfrm>
              <a:off x="4241800" y="4634345"/>
              <a:ext cx="609600" cy="762000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0" t="0" r="0" b="0"/>
              <a:pathLst>
                <a:path w="768" h="328">
                  <a:moveTo>
                    <a:pt x="0" y="240"/>
                  </a:moveTo>
                  <a:cubicBezTo>
                    <a:pt x="152" y="284"/>
                    <a:pt x="304" y="328"/>
                    <a:pt x="432" y="288"/>
                  </a:cubicBezTo>
                  <a:cubicBezTo>
                    <a:pt x="560" y="248"/>
                    <a:pt x="712" y="48"/>
                    <a:pt x="768" y="0"/>
                  </a:cubicBezTo>
                </a:path>
              </a:pathLst>
            </a:custGeom>
            <a:noFill/>
            <a:ln w="31750" cap="flat" cmpd="sng">
              <a:solidFill>
                <a:schemeClr val="accent4">
                  <a:lumMod val="75000"/>
                  <a:alpha val="100000"/>
                </a:schemeClr>
              </a:solidFill>
              <a:prstDash val="solid"/>
              <a:round/>
              <a:headEnd type="triangle" w="med" len="med"/>
              <a:tailEnd type="none" w="sm" len="sm"/>
            </a:ln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8455" name="Rectangle 191"/>
            <p:cNvSpPr/>
            <p:nvPr/>
          </p:nvSpPr>
          <p:spPr>
            <a:xfrm>
              <a:off x="4610100" y="4243819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56" name="Rectangle 192"/>
            <p:cNvSpPr/>
            <p:nvPr/>
          </p:nvSpPr>
          <p:spPr>
            <a:xfrm>
              <a:off x="3835278" y="4990871"/>
              <a:ext cx="4572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57" name="Rectangle 193"/>
            <p:cNvSpPr/>
            <p:nvPr/>
          </p:nvSpPr>
          <p:spPr>
            <a:xfrm>
              <a:off x="5476875" y="4939144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58" name="Rectangle 194"/>
            <p:cNvSpPr/>
            <p:nvPr/>
          </p:nvSpPr>
          <p:spPr>
            <a:xfrm>
              <a:off x="4638432" y="5772155"/>
              <a:ext cx="499208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694488" y="3489325"/>
            <a:ext cx="1176337" cy="1211263"/>
            <a:chOff x="6460271" y="4108883"/>
            <a:chExt cx="1175604" cy="1211262"/>
          </a:xfrm>
        </p:grpSpPr>
        <p:sp>
          <p:nvSpPr>
            <p:cNvPr id="18442" name="Oval 195"/>
            <p:cNvSpPr/>
            <p:nvPr/>
          </p:nvSpPr>
          <p:spPr>
            <a:xfrm>
              <a:off x="7242175" y="4253345"/>
              <a:ext cx="381000" cy="3048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43" name="Oval 196"/>
            <p:cNvSpPr/>
            <p:nvPr/>
          </p:nvSpPr>
          <p:spPr>
            <a:xfrm>
              <a:off x="6480175" y="5015345"/>
              <a:ext cx="381000" cy="3048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44" name="Freeform 201"/>
            <p:cNvSpPr/>
            <p:nvPr/>
          </p:nvSpPr>
          <p:spPr>
            <a:xfrm>
              <a:off x="6861175" y="4558145"/>
              <a:ext cx="609600" cy="762000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0" t="0" r="0" b="0"/>
              <a:pathLst>
                <a:path w="768" h="328">
                  <a:moveTo>
                    <a:pt x="0" y="240"/>
                  </a:moveTo>
                  <a:cubicBezTo>
                    <a:pt x="152" y="284"/>
                    <a:pt x="304" y="328"/>
                    <a:pt x="432" y="288"/>
                  </a:cubicBezTo>
                  <a:cubicBezTo>
                    <a:pt x="560" y="248"/>
                    <a:pt x="712" y="48"/>
                    <a:pt x="768" y="0"/>
                  </a:cubicBezTo>
                </a:path>
              </a:pathLst>
            </a:custGeom>
            <a:noFill/>
            <a:ln w="31750" cap="flat" cmpd="sng">
              <a:solidFill>
                <a:schemeClr val="accent4">
                  <a:lumMod val="75000"/>
                  <a:alpha val="100000"/>
                </a:schemeClr>
              </a:solidFill>
              <a:prstDash val="solid"/>
              <a:round/>
              <a:headEnd type="triangle" w="med" len="med"/>
              <a:tailEnd type="none" w="sm" len="sm"/>
            </a:ln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8445" name="Rectangle 202"/>
            <p:cNvSpPr/>
            <p:nvPr/>
          </p:nvSpPr>
          <p:spPr>
            <a:xfrm>
              <a:off x="7242175" y="4167620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46" name="Rectangle 203"/>
            <p:cNvSpPr/>
            <p:nvPr/>
          </p:nvSpPr>
          <p:spPr>
            <a:xfrm>
              <a:off x="6460271" y="4904170"/>
              <a:ext cx="455612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47" name="Freeform 206"/>
            <p:cNvSpPr/>
            <p:nvPr/>
          </p:nvSpPr>
          <p:spPr>
            <a:xfrm>
              <a:off x="6556375" y="4108883"/>
              <a:ext cx="762000" cy="914400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864" h="440">
                  <a:moveTo>
                    <a:pt x="0" y="440"/>
                  </a:moveTo>
                  <a:cubicBezTo>
                    <a:pt x="72" y="276"/>
                    <a:pt x="144" y="112"/>
                    <a:pt x="288" y="56"/>
                  </a:cubicBezTo>
                  <a:cubicBezTo>
                    <a:pt x="432" y="0"/>
                    <a:pt x="768" y="96"/>
                    <a:pt x="864" y="104"/>
                  </a:cubicBezTo>
                </a:path>
              </a:pathLst>
            </a:custGeom>
            <a:noFill/>
            <a:ln w="31750" cap="flat" cmpd="sng">
              <a:solidFill>
                <a:schemeClr val="accent4">
                  <a:lumMod val="75000"/>
                  <a:alpha val="100000"/>
                </a:schemeClr>
              </a:solidFill>
              <a:prstDash val="solid"/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sp>
        <p:nvSpPr>
          <p:cNvPr id="18439" name="Oval 7"/>
          <p:cNvSpPr/>
          <p:nvPr/>
        </p:nvSpPr>
        <p:spPr>
          <a:xfrm>
            <a:off x="595313" y="1033463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40" name="Text Box 8"/>
          <p:cNvSpPr txBox="1"/>
          <p:nvPr/>
        </p:nvSpPr>
        <p:spPr>
          <a:xfrm>
            <a:off x="1125538" y="965200"/>
            <a:ext cx="25495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名词术语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8441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7.1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基本术语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54"/>
          <p:cNvSpPr txBox="1"/>
          <p:nvPr/>
        </p:nvSpPr>
        <p:spPr>
          <a:xfrm>
            <a:off x="484188" y="1404938"/>
            <a:ext cx="3516312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4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）图的连通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9459" name="Group 55"/>
          <p:cNvGrpSpPr/>
          <p:nvPr/>
        </p:nvGrpSpPr>
        <p:grpSpPr>
          <a:xfrm>
            <a:off x="609600" y="2351088"/>
            <a:ext cx="8153400" cy="1600200"/>
            <a:chOff x="432" y="1200"/>
            <a:chExt cx="5136" cy="1008"/>
          </a:xfrm>
        </p:grpSpPr>
        <p:sp>
          <p:nvSpPr>
            <p:cNvPr id="12344" name="AutoShape 56"/>
            <p:cNvSpPr>
              <a:spLocks noChangeArrowheads="1"/>
            </p:cNvSpPr>
            <p:nvPr/>
          </p:nvSpPr>
          <p:spPr bwMode="auto">
            <a:xfrm>
              <a:off x="432" y="1200"/>
              <a:ext cx="5136" cy="1008"/>
            </a:xfrm>
            <a:prstGeom prst="plaque">
              <a:avLst>
                <a:gd name="adj" fmla="val 16667"/>
              </a:avLst>
            </a:prstGeom>
            <a:gradFill rotWithShape="0">
              <a:gsLst>
                <a:gs pos="0">
                  <a:srgbClr val="CCECFF"/>
                </a:gs>
                <a:gs pos="50000">
                  <a:schemeClr val="bg1"/>
                </a:gs>
                <a:gs pos="100000">
                  <a:srgbClr val="CCECFF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341" name="Text Box 57"/>
            <p:cNvSpPr txBox="1">
              <a:spLocks noChangeArrowheads="1"/>
            </p:cNvSpPr>
            <p:nvPr/>
          </p:nvSpPr>
          <p:spPr bwMode="auto">
            <a:xfrm>
              <a:off x="576" y="1318"/>
              <a:ext cx="4932" cy="6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    </a:t>
              </a:r>
              <a:r>
                <a:rPr kumimoji="0" lang="zh-CN" alt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无向图中顶点</a:t>
              </a:r>
              <a:r>
                <a:rPr kumimoji="0" lang="en-US" altLang="zh-CN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300" b="0" i="0" u="none" strike="noStrike" kern="1200" cap="none" spc="0" normalizeH="0" baseline="-20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i </a:t>
              </a:r>
              <a:r>
                <a:rPr kumimoji="0" lang="zh-CN" alt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到</a:t>
              </a:r>
              <a:r>
                <a:rPr kumimoji="0" lang="en-US" altLang="zh-CN" sz="23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300" b="0" i="0" u="none" strike="noStrike" kern="1200" cap="none" spc="0" normalizeH="0" baseline="-1400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j</a:t>
              </a:r>
              <a:r>
                <a:rPr kumimoji="0" lang="en-US" altLang="zh-CN" sz="2300" b="0" i="0" u="none" strike="noStrike" kern="1200" cap="none" spc="0" normalizeH="0" baseline="-14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有路径</a:t>
              </a:r>
              <a:r>
                <a:rPr kumimoji="0" lang="en-US" altLang="zh-CN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,</a:t>
              </a:r>
              <a:r>
                <a:rPr kumimoji="0" lang="zh-CN" alt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则称顶点</a:t>
              </a:r>
              <a:r>
                <a:rPr kumimoji="0" lang="en-US" altLang="zh-CN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300" b="0" i="0" u="none" strike="noStrike" kern="1200" cap="none" spc="0" normalizeH="0" baseline="-20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i </a:t>
              </a:r>
              <a:r>
                <a:rPr kumimoji="0" lang="zh-CN" alt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与</a:t>
              </a:r>
              <a:r>
                <a:rPr kumimoji="0" lang="en-US" altLang="zh-CN" sz="23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300" b="0" i="0" u="none" strike="noStrike" kern="1200" cap="none" spc="0" normalizeH="0" baseline="-1600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j</a:t>
              </a:r>
              <a:r>
                <a:rPr kumimoji="0" lang="en-US" altLang="zh-CN" sz="2300" b="0" i="0" u="none" strike="noStrike" kern="1200" cap="none" spc="0" normalizeH="0" baseline="-16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是连通的。</a:t>
              </a:r>
              <a:endPara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    若无向图中任意两个顶点都连通</a:t>
              </a:r>
              <a:r>
                <a:rPr kumimoji="0" lang="en-US" altLang="zh-CN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, </a:t>
              </a:r>
              <a:r>
                <a:rPr kumimoji="0" lang="zh-CN" alt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则称该无向图是连通的。</a:t>
              </a:r>
              <a:endPara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316" name="Group 58"/>
          <p:cNvGrpSpPr/>
          <p:nvPr/>
        </p:nvGrpSpPr>
        <p:grpSpPr>
          <a:xfrm>
            <a:off x="533400" y="4619625"/>
            <a:ext cx="8229600" cy="1905000"/>
            <a:chOff x="384" y="2592"/>
            <a:chExt cx="5184" cy="1200"/>
          </a:xfrm>
        </p:grpSpPr>
        <p:sp>
          <p:nvSpPr>
            <p:cNvPr id="12347" name="AutoShape 59"/>
            <p:cNvSpPr>
              <a:spLocks noChangeArrowheads="1"/>
            </p:cNvSpPr>
            <p:nvPr/>
          </p:nvSpPr>
          <p:spPr bwMode="auto">
            <a:xfrm>
              <a:off x="384" y="2592"/>
              <a:ext cx="5184" cy="1200"/>
            </a:xfrm>
            <a:prstGeom prst="plaque">
              <a:avLst>
                <a:gd name="adj" fmla="val 16667"/>
              </a:avLst>
            </a:prstGeom>
            <a:gradFill rotWithShape="0">
              <a:gsLst>
                <a:gs pos="0">
                  <a:srgbClr val="FFCCCC"/>
                </a:gs>
                <a:gs pos="50000">
                  <a:schemeClr val="bg1"/>
                </a:gs>
                <a:gs pos="100000">
                  <a:srgbClr val="FFCCCC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339" name="Rectangle 60"/>
            <p:cNvSpPr>
              <a:spLocks noChangeArrowheads="1"/>
            </p:cNvSpPr>
            <p:nvPr/>
          </p:nvSpPr>
          <p:spPr bwMode="auto">
            <a:xfrm>
              <a:off x="624" y="2706"/>
              <a:ext cx="4848" cy="102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    </a:t>
              </a:r>
              <a:r>
                <a:rPr kumimoji="0" lang="zh-CN" alt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若有向图中顶点</a:t>
              </a:r>
              <a:r>
                <a:rPr kumimoji="0" lang="en-US" altLang="zh-CN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300" b="0" i="0" u="none" strike="noStrike" kern="1200" cap="none" spc="0" normalizeH="0" baseline="-20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i </a:t>
              </a:r>
              <a:r>
                <a:rPr kumimoji="0" lang="zh-CN" alt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到</a:t>
              </a:r>
              <a:r>
                <a:rPr kumimoji="0" lang="en-US" altLang="zh-CN" sz="23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300" b="0" i="0" u="none" strike="noStrike" kern="1200" cap="none" spc="0" normalizeH="0" baseline="-1400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j</a:t>
              </a:r>
              <a:r>
                <a:rPr kumimoji="0" lang="en-US" altLang="zh-CN" sz="2300" b="0" i="0" u="none" strike="noStrike" kern="1200" cap="none" spc="0" normalizeH="0" baseline="-14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有路径</a:t>
              </a:r>
              <a:r>
                <a:rPr kumimoji="0" lang="en-US" altLang="zh-CN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,</a:t>
              </a:r>
              <a:r>
                <a:rPr kumimoji="0" lang="zh-CN" alt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并且顶点</a:t>
              </a:r>
              <a:r>
                <a:rPr kumimoji="0" lang="en-US" altLang="zh-CN" sz="23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300" b="0" i="0" u="none" strike="noStrike" kern="1200" cap="none" spc="0" normalizeH="0" baseline="-2000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j</a:t>
              </a:r>
              <a:r>
                <a:rPr kumimoji="0" lang="en-US" altLang="zh-CN" sz="2300" b="0" i="0" u="none" strike="noStrike" kern="1200" cap="none" spc="0" normalizeH="0" baseline="-20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到</a:t>
              </a:r>
              <a:r>
                <a:rPr kumimoji="0" lang="en-US" altLang="zh-CN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300" b="0" i="0" u="none" strike="noStrike" kern="1200" cap="none" spc="0" normalizeH="0" baseline="-14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i </a:t>
              </a:r>
              <a:r>
                <a:rPr kumimoji="0" lang="zh-CN" alt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也有路径</a:t>
              </a:r>
              <a:r>
                <a:rPr kumimoji="0" lang="en-US" altLang="zh-CN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,</a:t>
              </a:r>
              <a:r>
                <a:rPr kumimoji="0" lang="zh-CN" alt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则称顶点</a:t>
              </a:r>
              <a:r>
                <a:rPr kumimoji="0" lang="en-US" altLang="zh-CN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300" b="0" i="0" u="none" strike="noStrike" kern="1200" cap="none" spc="0" normalizeH="0" baseline="-20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i </a:t>
              </a:r>
              <a:r>
                <a:rPr kumimoji="0" lang="zh-CN" alt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与</a:t>
              </a:r>
              <a:r>
                <a:rPr kumimoji="0" lang="en-US" altLang="zh-CN" sz="23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300" b="0" i="0" u="none" strike="noStrike" kern="1200" cap="none" spc="0" normalizeH="0" baseline="-1600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j</a:t>
              </a:r>
              <a:r>
                <a:rPr kumimoji="0" lang="en-US" altLang="zh-CN" sz="2300" b="0" i="0" u="none" strike="noStrike" kern="1200" cap="none" spc="0" normalizeH="0" baseline="-16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是连通的。</a:t>
              </a:r>
              <a:endPara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    若有向图中任意两个顶点都连通</a:t>
              </a:r>
              <a:r>
                <a:rPr kumimoji="0" lang="en-US" altLang="zh-CN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,</a:t>
              </a:r>
              <a:r>
                <a:rPr kumimoji="0" lang="zh-CN" alt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则称该有向图是强连通的。</a:t>
              </a:r>
              <a:endPara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461" name="Group 61"/>
          <p:cNvGrpSpPr/>
          <p:nvPr/>
        </p:nvGrpSpPr>
        <p:grpSpPr>
          <a:xfrm>
            <a:off x="762000" y="2038350"/>
            <a:ext cx="3048000" cy="549275"/>
            <a:chOff x="3024" y="567"/>
            <a:chExt cx="1920" cy="346"/>
          </a:xfrm>
        </p:grpSpPr>
        <p:sp>
          <p:nvSpPr>
            <p:cNvPr id="13336" name="AutoShape 62"/>
            <p:cNvSpPr>
              <a:spLocks noChangeArrowheads="1"/>
            </p:cNvSpPr>
            <p:nvPr/>
          </p:nvSpPr>
          <p:spPr bwMode="auto">
            <a:xfrm>
              <a:off x="3024" y="577"/>
              <a:ext cx="1872" cy="336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FFC000"/>
                </a:gs>
                <a:gs pos="100000">
                  <a:srgbClr val="FFC000"/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337" name="Text Box 63"/>
            <p:cNvSpPr txBox="1">
              <a:spLocks noChangeArrowheads="1"/>
            </p:cNvSpPr>
            <p:nvPr/>
          </p:nvSpPr>
          <p:spPr bwMode="auto">
            <a:xfrm>
              <a:off x="3072" y="567"/>
              <a:ext cx="1872" cy="30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(1) </a:t>
              </a: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无向图的连通</a:t>
              </a: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318" name="Group 64"/>
          <p:cNvGrpSpPr/>
          <p:nvPr/>
        </p:nvGrpSpPr>
        <p:grpSpPr>
          <a:xfrm>
            <a:off x="719138" y="4267200"/>
            <a:ext cx="3048000" cy="533400"/>
            <a:chOff x="3024" y="432"/>
            <a:chExt cx="1920" cy="336"/>
          </a:xfrm>
        </p:grpSpPr>
        <p:sp>
          <p:nvSpPr>
            <p:cNvPr id="13334" name="AutoShape 65"/>
            <p:cNvSpPr>
              <a:spLocks noChangeArrowheads="1"/>
            </p:cNvSpPr>
            <p:nvPr/>
          </p:nvSpPr>
          <p:spPr bwMode="auto">
            <a:xfrm>
              <a:off x="3024" y="432"/>
              <a:ext cx="1872" cy="336"/>
            </a:xfrm>
            <a:prstGeom prst="foldedCorner">
              <a:avLst>
                <a:gd name="adj" fmla="val 125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335" name="Text Box 66"/>
            <p:cNvSpPr txBox="1">
              <a:spLocks noChangeArrowheads="1"/>
            </p:cNvSpPr>
            <p:nvPr/>
          </p:nvSpPr>
          <p:spPr bwMode="auto">
            <a:xfrm>
              <a:off x="3072" y="436"/>
              <a:ext cx="1872" cy="30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(2) </a:t>
              </a: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有向图的连通</a:t>
              </a: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9463" name="Oval 7"/>
          <p:cNvSpPr/>
          <p:nvPr/>
        </p:nvSpPr>
        <p:spPr>
          <a:xfrm>
            <a:off x="595313" y="919163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4" name="Text Box 8"/>
          <p:cNvSpPr txBox="1"/>
          <p:nvPr/>
        </p:nvSpPr>
        <p:spPr>
          <a:xfrm>
            <a:off x="1125538" y="850900"/>
            <a:ext cx="25495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名词术语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9465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7.1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基本术语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89"/>
          <p:cNvSpPr txBox="1"/>
          <p:nvPr/>
        </p:nvSpPr>
        <p:spPr>
          <a:xfrm>
            <a:off x="388938" y="1463675"/>
            <a:ext cx="2238375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5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）生成树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1507" name="Text Box 308"/>
          <p:cNvSpPr txBox="1"/>
          <p:nvPr/>
        </p:nvSpPr>
        <p:spPr>
          <a:xfrm>
            <a:off x="496888" y="1862138"/>
            <a:ext cx="8201025" cy="11988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包含具有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个顶点的连通图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G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的全部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个顶点，仅包含其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n-1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条边的连通子图称为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G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的一个生成树。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57225" y="2982913"/>
            <a:ext cx="1993900" cy="1793875"/>
            <a:chOff x="657225" y="2982479"/>
            <a:chExt cx="1994693" cy="1793876"/>
          </a:xfrm>
        </p:grpSpPr>
        <p:sp>
          <p:nvSpPr>
            <p:cNvPr id="21560" name="Oval 309"/>
            <p:cNvSpPr/>
            <p:nvPr/>
          </p:nvSpPr>
          <p:spPr>
            <a:xfrm>
              <a:off x="1414463" y="3063443"/>
              <a:ext cx="371475" cy="284162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61" name="Oval 310"/>
            <p:cNvSpPr/>
            <p:nvPr/>
          </p:nvSpPr>
          <p:spPr>
            <a:xfrm>
              <a:off x="669925" y="3771468"/>
              <a:ext cx="371475" cy="284162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62" name="Oval 311"/>
            <p:cNvSpPr/>
            <p:nvPr/>
          </p:nvSpPr>
          <p:spPr>
            <a:xfrm>
              <a:off x="1414463" y="4481080"/>
              <a:ext cx="371475" cy="28257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63" name="Oval 312"/>
            <p:cNvSpPr/>
            <p:nvPr/>
          </p:nvSpPr>
          <p:spPr>
            <a:xfrm>
              <a:off x="2233613" y="3701618"/>
              <a:ext cx="371475" cy="28257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64" name="Line 313"/>
            <p:cNvSpPr/>
            <p:nvPr/>
          </p:nvSpPr>
          <p:spPr>
            <a:xfrm flipV="1">
              <a:off x="977900" y="3276168"/>
              <a:ext cx="511175" cy="520700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65" name="Line 314"/>
            <p:cNvSpPr/>
            <p:nvPr/>
          </p:nvSpPr>
          <p:spPr>
            <a:xfrm>
              <a:off x="1041400" y="3912755"/>
              <a:ext cx="1192213" cy="0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66" name="Line 315"/>
            <p:cNvSpPr/>
            <p:nvPr/>
          </p:nvSpPr>
          <p:spPr>
            <a:xfrm>
              <a:off x="1638300" y="3346018"/>
              <a:ext cx="0" cy="1133475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67" name="Line 316"/>
            <p:cNvSpPr/>
            <p:nvPr/>
          </p:nvSpPr>
          <p:spPr>
            <a:xfrm>
              <a:off x="1774825" y="3288868"/>
              <a:ext cx="484188" cy="484187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68" name="Line 317"/>
            <p:cNvSpPr/>
            <p:nvPr/>
          </p:nvSpPr>
          <p:spPr>
            <a:xfrm flipV="1">
              <a:off x="1785938" y="4008005"/>
              <a:ext cx="536575" cy="542925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69" name="Line 318"/>
            <p:cNvSpPr/>
            <p:nvPr/>
          </p:nvSpPr>
          <p:spPr>
            <a:xfrm>
              <a:off x="990600" y="4041343"/>
              <a:ext cx="498475" cy="509587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70" name="Text Box 319"/>
            <p:cNvSpPr txBox="1"/>
            <p:nvPr/>
          </p:nvSpPr>
          <p:spPr>
            <a:xfrm>
              <a:off x="1398466" y="2982479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71" name="Rectangle 320"/>
            <p:cNvSpPr/>
            <p:nvPr/>
          </p:nvSpPr>
          <p:spPr>
            <a:xfrm>
              <a:off x="2258218" y="3595255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72" name="Rectangle 321"/>
            <p:cNvSpPr/>
            <p:nvPr/>
          </p:nvSpPr>
          <p:spPr>
            <a:xfrm>
              <a:off x="1392238" y="4379480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73" name="Text Box 322"/>
            <p:cNvSpPr txBox="1"/>
            <p:nvPr/>
          </p:nvSpPr>
          <p:spPr>
            <a:xfrm>
              <a:off x="657225" y="3671455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386138" y="2982913"/>
            <a:ext cx="1970087" cy="1806575"/>
            <a:chOff x="3481388" y="2890404"/>
            <a:chExt cx="1970087" cy="1806435"/>
          </a:xfrm>
        </p:grpSpPr>
        <p:sp>
          <p:nvSpPr>
            <p:cNvPr id="21549" name="Oval 323"/>
            <p:cNvSpPr/>
            <p:nvPr/>
          </p:nvSpPr>
          <p:spPr>
            <a:xfrm>
              <a:off x="4225925" y="2984068"/>
              <a:ext cx="371475" cy="284162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50" name="Oval 324"/>
            <p:cNvSpPr/>
            <p:nvPr/>
          </p:nvSpPr>
          <p:spPr>
            <a:xfrm>
              <a:off x="3481388" y="3692093"/>
              <a:ext cx="371475" cy="284162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51" name="Oval 325"/>
            <p:cNvSpPr/>
            <p:nvPr/>
          </p:nvSpPr>
          <p:spPr>
            <a:xfrm>
              <a:off x="4225925" y="4401705"/>
              <a:ext cx="371475" cy="28257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52" name="Oval 326"/>
            <p:cNvSpPr/>
            <p:nvPr/>
          </p:nvSpPr>
          <p:spPr>
            <a:xfrm>
              <a:off x="5045075" y="3622243"/>
              <a:ext cx="371475" cy="28257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53" name="Line 327"/>
            <p:cNvSpPr/>
            <p:nvPr/>
          </p:nvSpPr>
          <p:spPr>
            <a:xfrm flipV="1">
              <a:off x="3776663" y="3207905"/>
              <a:ext cx="501650" cy="496888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54" name="Line 329"/>
            <p:cNvSpPr/>
            <p:nvPr/>
          </p:nvSpPr>
          <p:spPr>
            <a:xfrm>
              <a:off x="4449763" y="3266643"/>
              <a:ext cx="0" cy="1133475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55" name="Line 330"/>
            <p:cNvSpPr/>
            <p:nvPr/>
          </p:nvSpPr>
          <p:spPr>
            <a:xfrm>
              <a:off x="4551363" y="3187268"/>
              <a:ext cx="506412" cy="506412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56" name="Text Box 333"/>
            <p:cNvSpPr txBox="1"/>
            <p:nvPr/>
          </p:nvSpPr>
          <p:spPr>
            <a:xfrm>
              <a:off x="4210051" y="2890404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57" name="Rectangle 334"/>
            <p:cNvSpPr/>
            <p:nvPr/>
          </p:nvSpPr>
          <p:spPr>
            <a:xfrm>
              <a:off x="5057775" y="3510324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58" name="Rectangle 335"/>
            <p:cNvSpPr/>
            <p:nvPr/>
          </p:nvSpPr>
          <p:spPr>
            <a:xfrm>
              <a:off x="4197230" y="4299964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59" name="Text Box 336"/>
            <p:cNvSpPr txBox="1"/>
            <p:nvPr/>
          </p:nvSpPr>
          <p:spPr>
            <a:xfrm>
              <a:off x="3481388" y="3574303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276975" y="2932113"/>
            <a:ext cx="1968500" cy="1797050"/>
            <a:chOff x="6277220" y="2817162"/>
            <a:chExt cx="1967646" cy="1797268"/>
          </a:xfrm>
        </p:grpSpPr>
        <p:sp>
          <p:nvSpPr>
            <p:cNvPr id="21538" name="Oval 337"/>
            <p:cNvSpPr/>
            <p:nvPr/>
          </p:nvSpPr>
          <p:spPr>
            <a:xfrm>
              <a:off x="7031038" y="2914218"/>
              <a:ext cx="371475" cy="284162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39" name="Oval 338"/>
            <p:cNvSpPr/>
            <p:nvPr/>
          </p:nvSpPr>
          <p:spPr>
            <a:xfrm>
              <a:off x="6286500" y="3622243"/>
              <a:ext cx="371475" cy="284162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40" name="Oval 339"/>
            <p:cNvSpPr/>
            <p:nvPr/>
          </p:nvSpPr>
          <p:spPr>
            <a:xfrm>
              <a:off x="7031038" y="4331855"/>
              <a:ext cx="371475" cy="28257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41" name="Oval 340"/>
            <p:cNvSpPr/>
            <p:nvPr/>
          </p:nvSpPr>
          <p:spPr>
            <a:xfrm>
              <a:off x="7850188" y="3552393"/>
              <a:ext cx="371475" cy="28257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42" name="Line 342"/>
            <p:cNvSpPr/>
            <p:nvPr/>
          </p:nvSpPr>
          <p:spPr>
            <a:xfrm>
              <a:off x="6657975" y="3763530"/>
              <a:ext cx="1192213" cy="0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43" name="Line 344"/>
            <p:cNvSpPr/>
            <p:nvPr/>
          </p:nvSpPr>
          <p:spPr>
            <a:xfrm>
              <a:off x="7391400" y="3128530"/>
              <a:ext cx="484188" cy="495300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44" name="Line 345"/>
            <p:cNvSpPr/>
            <p:nvPr/>
          </p:nvSpPr>
          <p:spPr>
            <a:xfrm flipV="1">
              <a:off x="7402513" y="3873068"/>
              <a:ext cx="522287" cy="528637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45" name="Text Box 347"/>
            <p:cNvSpPr txBox="1"/>
            <p:nvPr/>
          </p:nvSpPr>
          <p:spPr>
            <a:xfrm>
              <a:off x="7011987" y="2817162"/>
              <a:ext cx="484188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46" name="Rectangle 348"/>
            <p:cNvSpPr/>
            <p:nvPr/>
          </p:nvSpPr>
          <p:spPr>
            <a:xfrm>
              <a:off x="7851166" y="3457143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47" name="Rectangle 349"/>
            <p:cNvSpPr/>
            <p:nvPr/>
          </p:nvSpPr>
          <p:spPr>
            <a:xfrm>
              <a:off x="7019926" y="4203939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48" name="Text Box 350"/>
            <p:cNvSpPr txBox="1"/>
            <p:nvPr/>
          </p:nvSpPr>
          <p:spPr>
            <a:xfrm>
              <a:off x="6277220" y="3516674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992313" y="4699000"/>
            <a:ext cx="1982787" cy="1801813"/>
            <a:chOff x="1982635" y="4825684"/>
            <a:chExt cx="1983399" cy="1802162"/>
          </a:xfrm>
        </p:grpSpPr>
        <p:sp>
          <p:nvSpPr>
            <p:cNvPr id="21527" name="Oval 351"/>
            <p:cNvSpPr/>
            <p:nvPr/>
          </p:nvSpPr>
          <p:spPr>
            <a:xfrm>
              <a:off x="2751138" y="4916055"/>
              <a:ext cx="371475" cy="284163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28" name="Oval 352"/>
            <p:cNvSpPr/>
            <p:nvPr/>
          </p:nvSpPr>
          <p:spPr>
            <a:xfrm>
              <a:off x="2006600" y="5624080"/>
              <a:ext cx="371475" cy="284163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29" name="Oval 353"/>
            <p:cNvSpPr/>
            <p:nvPr/>
          </p:nvSpPr>
          <p:spPr>
            <a:xfrm>
              <a:off x="2762250" y="6323014"/>
              <a:ext cx="371475" cy="28257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30" name="Oval 354"/>
            <p:cNvSpPr/>
            <p:nvPr/>
          </p:nvSpPr>
          <p:spPr>
            <a:xfrm>
              <a:off x="3570288" y="5554230"/>
              <a:ext cx="371475" cy="28257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31" name="Line 355"/>
            <p:cNvSpPr/>
            <p:nvPr/>
          </p:nvSpPr>
          <p:spPr>
            <a:xfrm flipV="1">
              <a:off x="2314575" y="5128780"/>
              <a:ext cx="511175" cy="520700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32" name="Line 356"/>
            <p:cNvSpPr/>
            <p:nvPr/>
          </p:nvSpPr>
          <p:spPr>
            <a:xfrm>
              <a:off x="2378075" y="5765368"/>
              <a:ext cx="1192213" cy="0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33" name="Line 359"/>
            <p:cNvSpPr/>
            <p:nvPr/>
          </p:nvSpPr>
          <p:spPr>
            <a:xfrm flipV="1">
              <a:off x="3122613" y="5873318"/>
              <a:ext cx="534987" cy="530225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34" name="Text Box 361"/>
            <p:cNvSpPr txBox="1"/>
            <p:nvPr/>
          </p:nvSpPr>
          <p:spPr>
            <a:xfrm>
              <a:off x="2743203" y="4825684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35" name="Rectangle 362"/>
            <p:cNvSpPr/>
            <p:nvPr/>
          </p:nvSpPr>
          <p:spPr>
            <a:xfrm>
              <a:off x="3572334" y="5436134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36" name="Rectangle 363"/>
            <p:cNvSpPr/>
            <p:nvPr/>
          </p:nvSpPr>
          <p:spPr>
            <a:xfrm>
              <a:off x="2743203" y="6230971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37" name="Text Box 364"/>
            <p:cNvSpPr txBox="1"/>
            <p:nvPr/>
          </p:nvSpPr>
          <p:spPr>
            <a:xfrm>
              <a:off x="1982635" y="5520984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841875" y="4706938"/>
            <a:ext cx="2046288" cy="1804987"/>
            <a:chOff x="4921006" y="4811723"/>
            <a:chExt cx="2046654" cy="1804545"/>
          </a:xfrm>
        </p:grpSpPr>
        <p:sp>
          <p:nvSpPr>
            <p:cNvPr id="21516" name="Oval 365"/>
            <p:cNvSpPr/>
            <p:nvPr/>
          </p:nvSpPr>
          <p:spPr>
            <a:xfrm>
              <a:off x="5675313" y="4916055"/>
              <a:ext cx="371475" cy="284163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17" name="Oval 366"/>
            <p:cNvSpPr/>
            <p:nvPr/>
          </p:nvSpPr>
          <p:spPr>
            <a:xfrm>
              <a:off x="4930775" y="5624080"/>
              <a:ext cx="371475" cy="284163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18" name="Oval 367"/>
            <p:cNvSpPr/>
            <p:nvPr/>
          </p:nvSpPr>
          <p:spPr>
            <a:xfrm>
              <a:off x="5675313" y="6333693"/>
              <a:ext cx="371475" cy="28257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19" name="Oval 368"/>
            <p:cNvSpPr/>
            <p:nvPr/>
          </p:nvSpPr>
          <p:spPr>
            <a:xfrm>
              <a:off x="6564557" y="5612264"/>
              <a:ext cx="371475" cy="28257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20" name="Line 369"/>
            <p:cNvSpPr/>
            <p:nvPr/>
          </p:nvSpPr>
          <p:spPr>
            <a:xfrm flipV="1">
              <a:off x="5238750" y="5128780"/>
              <a:ext cx="511175" cy="520700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21" name="Line 373"/>
            <p:cNvSpPr/>
            <p:nvPr/>
          </p:nvSpPr>
          <p:spPr>
            <a:xfrm flipV="1">
              <a:off x="6046788" y="5849505"/>
              <a:ext cx="558800" cy="554038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22" name="Line 374"/>
            <p:cNvSpPr/>
            <p:nvPr/>
          </p:nvSpPr>
          <p:spPr>
            <a:xfrm>
              <a:off x="5251450" y="5893955"/>
              <a:ext cx="498475" cy="509588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523" name="Text Box 375"/>
            <p:cNvSpPr txBox="1"/>
            <p:nvPr/>
          </p:nvSpPr>
          <p:spPr>
            <a:xfrm>
              <a:off x="5653088" y="4811723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24" name="Rectangle 376"/>
            <p:cNvSpPr/>
            <p:nvPr/>
          </p:nvSpPr>
          <p:spPr>
            <a:xfrm>
              <a:off x="6573960" y="5495005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25" name="Rectangle 377"/>
            <p:cNvSpPr/>
            <p:nvPr/>
          </p:nvSpPr>
          <p:spPr>
            <a:xfrm>
              <a:off x="5653088" y="6208746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26" name="Text Box 378"/>
            <p:cNvSpPr txBox="1"/>
            <p:nvPr/>
          </p:nvSpPr>
          <p:spPr>
            <a:xfrm>
              <a:off x="4921006" y="5520893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513" name="Oval 7"/>
          <p:cNvSpPr/>
          <p:nvPr/>
        </p:nvSpPr>
        <p:spPr>
          <a:xfrm>
            <a:off x="595313" y="919163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14" name="Text Box 8"/>
          <p:cNvSpPr txBox="1"/>
          <p:nvPr/>
        </p:nvSpPr>
        <p:spPr>
          <a:xfrm>
            <a:off x="958850" y="809625"/>
            <a:ext cx="25495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名词术语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1515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99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7.1 </a:t>
            </a:r>
            <a:r>
              <a:rPr lang="zh-CN" altLang="en-US" b="1" dirty="0">
                <a:solidFill>
                  <a:srgbClr val="FFFF99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基本术语</a:t>
            </a:r>
            <a:endParaRPr lang="zh-CN" altLang="en-US" b="1" dirty="0">
              <a:solidFill>
                <a:srgbClr val="FFFF99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Rectangle 110"/>
          <p:cNvSpPr/>
          <p:nvPr/>
        </p:nvSpPr>
        <p:spPr>
          <a:xfrm>
            <a:off x="1217613" y="3436938"/>
            <a:ext cx="3852862" cy="47561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(1) </a:t>
            </a: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所有顶点的数据信息；</a:t>
            </a:r>
            <a:endParaRPr lang="zh-CN" altLang="en-US" sz="25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367" name="Text Box 111"/>
          <p:cNvSpPr txBox="1"/>
          <p:nvPr/>
        </p:nvSpPr>
        <p:spPr>
          <a:xfrm>
            <a:off x="1217613" y="4103688"/>
            <a:ext cx="4869180" cy="47561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(2) </a:t>
            </a: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顶点之间关系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边或弧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的信息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;</a:t>
            </a:r>
            <a:endParaRPr lang="en-US" altLang="zh-CN" sz="25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368" name="Text Box 112"/>
          <p:cNvSpPr txBox="1"/>
          <p:nvPr/>
        </p:nvSpPr>
        <p:spPr>
          <a:xfrm>
            <a:off x="1217613" y="4840288"/>
            <a:ext cx="2308225" cy="47561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(3) </a:t>
            </a: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权的信息。</a:t>
            </a:r>
            <a:endParaRPr lang="zh-CN" altLang="en-US" sz="25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2533" name="矩形 1"/>
          <p:cNvSpPr/>
          <p:nvPr/>
        </p:nvSpPr>
        <p:spPr>
          <a:xfrm>
            <a:off x="1228725" y="1752600"/>
            <a:ext cx="74295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对于一个图，需要存储的信息应该包括？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grpSp>
        <p:nvGrpSpPr>
          <p:cNvPr id="22534" name="组合 30"/>
          <p:cNvGrpSpPr/>
          <p:nvPr/>
        </p:nvGrpSpPr>
        <p:grpSpPr>
          <a:xfrm>
            <a:off x="5883275" y="2424113"/>
            <a:ext cx="2774950" cy="2565400"/>
            <a:chOff x="565150" y="3481388"/>
            <a:chExt cx="2774950" cy="2565400"/>
          </a:xfrm>
        </p:grpSpPr>
        <p:sp>
          <p:nvSpPr>
            <p:cNvPr id="22537" name="Oval 2415"/>
            <p:cNvSpPr/>
            <p:nvPr/>
          </p:nvSpPr>
          <p:spPr>
            <a:xfrm>
              <a:off x="1685925" y="3490913"/>
              <a:ext cx="457200" cy="4572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38" name="Text Box 2416"/>
            <p:cNvSpPr txBox="1"/>
            <p:nvPr/>
          </p:nvSpPr>
          <p:spPr>
            <a:xfrm>
              <a:off x="1741611" y="34813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39" name="Oval 2418"/>
            <p:cNvSpPr/>
            <p:nvPr/>
          </p:nvSpPr>
          <p:spPr>
            <a:xfrm>
              <a:off x="581025" y="4176713"/>
              <a:ext cx="457200" cy="4572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40" name="Text Box 2419"/>
            <p:cNvSpPr txBox="1"/>
            <p:nvPr/>
          </p:nvSpPr>
          <p:spPr>
            <a:xfrm>
              <a:off x="635001" y="4151436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41" name="Oval 2421"/>
            <p:cNvSpPr/>
            <p:nvPr/>
          </p:nvSpPr>
          <p:spPr>
            <a:xfrm>
              <a:off x="2867025" y="4157663"/>
              <a:ext cx="457200" cy="4572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42" name="Text Box 2422"/>
            <p:cNvSpPr txBox="1"/>
            <p:nvPr/>
          </p:nvSpPr>
          <p:spPr>
            <a:xfrm>
              <a:off x="2927350" y="4117976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43" name="Oval 2424"/>
            <p:cNvSpPr/>
            <p:nvPr/>
          </p:nvSpPr>
          <p:spPr>
            <a:xfrm>
              <a:off x="2676525" y="5357813"/>
              <a:ext cx="457200" cy="4572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44" name="Text Box 2425"/>
            <p:cNvSpPr txBox="1"/>
            <p:nvPr/>
          </p:nvSpPr>
          <p:spPr>
            <a:xfrm>
              <a:off x="2745398" y="5346213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45" name="Oval 2427"/>
            <p:cNvSpPr/>
            <p:nvPr/>
          </p:nvSpPr>
          <p:spPr>
            <a:xfrm>
              <a:off x="942975" y="5376863"/>
              <a:ext cx="457200" cy="4572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46" name="Text Box 2428"/>
            <p:cNvSpPr txBox="1"/>
            <p:nvPr/>
          </p:nvSpPr>
          <p:spPr>
            <a:xfrm>
              <a:off x="1023937" y="5357813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47" name="Oval 2430"/>
            <p:cNvSpPr/>
            <p:nvPr/>
          </p:nvSpPr>
          <p:spPr>
            <a:xfrm>
              <a:off x="1704975" y="4557713"/>
              <a:ext cx="457200" cy="4572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48" name="Text Box 2431"/>
            <p:cNvSpPr txBox="1"/>
            <p:nvPr/>
          </p:nvSpPr>
          <p:spPr>
            <a:xfrm>
              <a:off x="1759745" y="4551452"/>
              <a:ext cx="271767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49" name="Line 2432"/>
            <p:cNvSpPr/>
            <p:nvPr/>
          </p:nvSpPr>
          <p:spPr>
            <a:xfrm flipH="1">
              <a:off x="1000125" y="3795713"/>
              <a:ext cx="685800" cy="457200"/>
            </a:xfrm>
            <a:prstGeom prst="line">
              <a:avLst/>
            </a:prstGeom>
            <a:ln w="3175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550" name="Line 2433"/>
            <p:cNvSpPr/>
            <p:nvPr/>
          </p:nvSpPr>
          <p:spPr>
            <a:xfrm>
              <a:off x="2162175" y="3776663"/>
              <a:ext cx="762000" cy="381000"/>
            </a:xfrm>
            <a:prstGeom prst="line">
              <a:avLst/>
            </a:prstGeom>
            <a:ln w="3175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551" name="Line 2434"/>
            <p:cNvSpPr/>
            <p:nvPr/>
          </p:nvSpPr>
          <p:spPr>
            <a:xfrm>
              <a:off x="847725" y="4633913"/>
              <a:ext cx="152400" cy="762000"/>
            </a:xfrm>
            <a:prstGeom prst="line">
              <a:avLst/>
            </a:prstGeom>
            <a:ln w="3175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552" name="Line 2435"/>
            <p:cNvSpPr/>
            <p:nvPr/>
          </p:nvSpPr>
          <p:spPr>
            <a:xfrm>
              <a:off x="1438275" y="5624513"/>
              <a:ext cx="1219200" cy="0"/>
            </a:xfrm>
            <a:prstGeom prst="line">
              <a:avLst/>
            </a:prstGeom>
            <a:ln w="3175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553" name="Line 2436"/>
            <p:cNvSpPr/>
            <p:nvPr/>
          </p:nvSpPr>
          <p:spPr>
            <a:xfrm flipH="1">
              <a:off x="2905125" y="4633913"/>
              <a:ext cx="152400" cy="685800"/>
            </a:xfrm>
            <a:prstGeom prst="line">
              <a:avLst/>
            </a:prstGeom>
            <a:ln w="3175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554" name="Line 2437"/>
            <p:cNvSpPr/>
            <p:nvPr/>
          </p:nvSpPr>
          <p:spPr>
            <a:xfrm>
              <a:off x="1914525" y="3948113"/>
              <a:ext cx="0" cy="609600"/>
            </a:xfrm>
            <a:prstGeom prst="line">
              <a:avLst/>
            </a:prstGeom>
            <a:ln w="3175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555" name="Line 2438"/>
            <p:cNvSpPr/>
            <p:nvPr/>
          </p:nvSpPr>
          <p:spPr>
            <a:xfrm>
              <a:off x="1019175" y="4500563"/>
              <a:ext cx="685800" cy="228600"/>
            </a:xfrm>
            <a:prstGeom prst="line">
              <a:avLst/>
            </a:prstGeom>
            <a:ln w="3175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556" name="Line 2439"/>
            <p:cNvSpPr/>
            <p:nvPr/>
          </p:nvSpPr>
          <p:spPr>
            <a:xfrm flipH="1">
              <a:off x="2143125" y="4494213"/>
              <a:ext cx="727075" cy="292100"/>
            </a:xfrm>
            <a:prstGeom prst="line">
              <a:avLst/>
            </a:prstGeom>
            <a:ln w="3175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557" name="Line 2440"/>
            <p:cNvSpPr/>
            <p:nvPr/>
          </p:nvSpPr>
          <p:spPr>
            <a:xfrm flipH="1">
              <a:off x="1314450" y="4948238"/>
              <a:ext cx="452438" cy="452437"/>
            </a:xfrm>
            <a:prstGeom prst="line">
              <a:avLst/>
            </a:prstGeom>
            <a:ln w="3175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558" name="Line 2441"/>
            <p:cNvSpPr/>
            <p:nvPr/>
          </p:nvSpPr>
          <p:spPr>
            <a:xfrm>
              <a:off x="2047875" y="4970463"/>
              <a:ext cx="685800" cy="444500"/>
            </a:xfrm>
            <a:prstGeom prst="line">
              <a:avLst/>
            </a:prstGeom>
            <a:ln w="3175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559" name="Text Box 2442"/>
            <p:cNvSpPr txBox="1"/>
            <p:nvPr/>
          </p:nvSpPr>
          <p:spPr>
            <a:xfrm>
              <a:off x="1117600" y="3665538"/>
              <a:ext cx="336550" cy="457200"/>
            </a:xfrm>
            <a:prstGeom prst="rect">
              <a:avLst/>
            </a:prstGeom>
            <a:noFill/>
            <a:ln w="3175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60" name="Text Box 2443"/>
            <p:cNvSpPr txBox="1"/>
            <p:nvPr/>
          </p:nvSpPr>
          <p:spPr>
            <a:xfrm>
              <a:off x="2393950" y="3532188"/>
              <a:ext cx="336550" cy="457200"/>
            </a:xfrm>
            <a:prstGeom prst="rect">
              <a:avLst/>
            </a:prstGeom>
            <a:noFill/>
            <a:ln w="3175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61" name="Text Box 2444"/>
            <p:cNvSpPr txBox="1"/>
            <p:nvPr/>
          </p:nvSpPr>
          <p:spPr>
            <a:xfrm>
              <a:off x="565150" y="4751388"/>
              <a:ext cx="336550" cy="457200"/>
            </a:xfrm>
            <a:prstGeom prst="rect">
              <a:avLst/>
            </a:prstGeom>
            <a:noFill/>
            <a:ln w="3175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62" name="Text Box 2445"/>
            <p:cNvSpPr txBox="1"/>
            <p:nvPr/>
          </p:nvSpPr>
          <p:spPr>
            <a:xfrm>
              <a:off x="1936750" y="5589588"/>
              <a:ext cx="336550" cy="457200"/>
            </a:xfrm>
            <a:prstGeom prst="rect">
              <a:avLst/>
            </a:prstGeom>
            <a:noFill/>
            <a:ln w="3175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63" name="Text Box 2446"/>
            <p:cNvSpPr txBox="1"/>
            <p:nvPr/>
          </p:nvSpPr>
          <p:spPr>
            <a:xfrm>
              <a:off x="3003550" y="4751388"/>
              <a:ext cx="336550" cy="457200"/>
            </a:xfrm>
            <a:prstGeom prst="rect">
              <a:avLst/>
            </a:prstGeom>
            <a:noFill/>
            <a:ln w="3175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64" name="Text Box 2447"/>
            <p:cNvSpPr txBox="1"/>
            <p:nvPr/>
          </p:nvSpPr>
          <p:spPr>
            <a:xfrm>
              <a:off x="1878013" y="4065588"/>
              <a:ext cx="336550" cy="457200"/>
            </a:xfrm>
            <a:prstGeom prst="rect">
              <a:avLst/>
            </a:prstGeom>
            <a:noFill/>
            <a:ln w="3175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65" name="Text Box 2448"/>
            <p:cNvSpPr txBox="1"/>
            <p:nvPr/>
          </p:nvSpPr>
          <p:spPr>
            <a:xfrm>
              <a:off x="2378075" y="4598988"/>
              <a:ext cx="336550" cy="457200"/>
            </a:xfrm>
            <a:prstGeom prst="rect">
              <a:avLst/>
            </a:prstGeom>
            <a:noFill/>
            <a:ln w="3175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66" name="Text Box 2449"/>
            <p:cNvSpPr txBox="1"/>
            <p:nvPr/>
          </p:nvSpPr>
          <p:spPr>
            <a:xfrm>
              <a:off x="2149475" y="5056188"/>
              <a:ext cx="336550" cy="457200"/>
            </a:xfrm>
            <a:prstGeom prst="rect">
              <a:avLst/>
            </a:prstGeom>
            <a:noFill/>
            <a:ln w="3175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67" name="Text Box 2450"/>
            <p:cNvSpPr txBox="1"/>
            <p:nvPr/>
          </p:nvSpPr>
          <p:spPr>
            <a:xfrm>
              <a:off x="1311275" y="4751388"/>
              <a:ext cx="336550" cy="457200"/>
            </a:xfrm>
            <a:prstGeom prst="rect">
              <a:avLst/>
            </a:prstGeom>
            <a:noFill/>
            <a:ln w="3175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68" name="Text Box 2451"/>
            <p:cNvSpPr txBox="1"/>
            <p:nvPr/>
          </p:nvSpPr>
          <p:spPr>
            <a:xfrm>
              <a:off x="1311275" y="4217988"/>
              <a:ext cx="336550" cy="457200"/>
            </a:xfrm>
            <a:prstGeom prst="rect">
              <a:avLst/>
            </a:prstGeom>
            <a:noFill/>
            <a:ln w="3175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513" name="Group 169"/>
          <p:cNvGrpSpPr/>
          <p:nvPr/>
        </p:nvGrpSpPr>
        <p:grpSpPr bwMode="auto">
          <a:xfrm>
            <a:off x="533400" y="1201738"/>
            <a:ext cx="684213" cy="1522412"/>
            <a:chOff x="193" y="3217"/>
            <a:chExt cx="431" cy="959"/>
          </a:xfrm>
          <a:solidFill>
            <a:srgbClr val="66CCFF"/>
          </a:solidFill>
        </p:grpSpPr>
        <p:grpSp>
          <p:nvGrpSpPr>
            <p:cNvPr id="21514" name="Group 170"/>
            <p:cNvGrpSpPr/>
            <p:nvPr/>
          </p:nvGrpSpPr>
          <p:grpSpPr bwMode="auto">
            <a:xfrm>
              <a:off x="193" y="3290"/>
              <a:ext cx="431" cy="886"/>
              <a:chOff x="193" y="3290"/>
              <a:chExt cx="431" cy="886"/>
            </a:xfrm>
            <a:grpFill/>
          </p:grpSpPr>
          <p:sp>
            <p:nvSpPr>
              <p:cNvPr id="21518" name="Freeform 171"/>
              <p:cNvSpPr>
                <a:spLocks noChangeArrowheads="1"/>
              </p:cNvSpPr>
              <p:nvPr/>
            </p:nvSpPr>
            <p:spPr bwMode="auto">
              <a:xfrm>
                <a:off x="330" y="3340"/>
                <a:ext cx="169" cy="193"/>
              </a:xfrm>
              <a:custGeom>
                <a:avLst/>
                <a:gdLst>
                  <a:gd name="T0" fmla="*/ 29 w 506"/>
                  <a:gd name="T1" fmla="*/ 15 h 580"/>
                  <a:gd name="T2" fmla="*/ 24 w 506"/>
                  <a:gd name="T3" fmla="*/ 8 h 580"/>
                  <a:gd name="T4" fmla="*/ 18 w 506"/>
                  <a:gd name="T5" fmla="*/ 3 h 580"/>
                  <a:gd name="T6" fmla="*/ 11 w 506"/>
                  <a:gd name="T7" fmla="*/ 0 h 580"/>
                  <a:gd name="T8" fmla="*/ 6 w 506"/>
                  <a:gd name="T9" fmla="*/ 1 h 580"/>
                  <a:gd name="T10" fmla="*/ 3 w 506"/>
                  <a:gd name="T11" fmla="*/ 5 h 580"/>
                  <a:gd name="T12" fmla="*/ 0 w 506"/>
                  <a:gd name="T13" fmla="*/ 16 h 580"/>
                  <a:gd name="T14" fmla="*/ 1 w 506"/>
                  <a:gd name="T15" fmla="*/ 29 h 580"/>
                  <a:gd name="T16" fmla="*/ 4 w 506"/>
                  <a:gd name="T17" fmla="*/ 41 h 580"/>
                  <a:gd name="T18" fmla="*/ 7 w 506"/>
                  <a:gd name="T19" fmla="*/ 50 h 580"/>
                  <a:gd name="T20" fmla="*/ 13 w 506"/>
                  <a:gd name="T21" fmla="*/ 60 h 580"/>
                  <a:gd name="T22" fmla="*/ 19 w 506"/>
                  <a:gd name="T23" fmla="*/ 64 h 580"/>
                  <a:gd name="T24" fmla="*/ 26 w 506"/>
                  <a:gd name="T25" fmla="*/ 64 h 580"/>
                  <a:gd name="T26" fmla="*/ 33 w 506"/>
                  <a:gd name="T27" fmla="*/ 62 h 580"/>
                  <a:gd name="T28" fmla="*/ 37 w 506"/>
                  <a:gd name="T29" fmla="*/ 54 h 580"/>
                  <a:gd name="T30" fmla="*/ 39 w 506"/>
                  <a:gd name="T31" fmla="*/ 45 h 580"/>
                  <a:gd name="T32" fmla="*/ 38 w 506"/>
                  <a:gd name="T33" fmla="*/ 34 h 580"/>
                  <a:gd name="T34" fmla="*/ 56 w 506"/>
                  <a:gd name="T35" fmla="*/ 35 h 580"/>
                  <a:gd name="T36" fmla="*/ 56 w 506"/>
                  <a:gd name="T37" fmla="*/ 31 h 580"/>
                  <a:gd name="T38" fmla="*/ 37 w 506"/>
                  <a:gd name="T39" fmla="*/ 29 h 580"/>
                  <a:gd name="T40" fmla="*/ 32 w 506"/>
                  <a:gd name="T41" fmla="*/ 17 h 580"/>
                  <a:gd name="T42" fmla="*/ 29 w 506"/>
                  <a:gd name="T43" fmla="*/ 15 h 58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506" h="580">
                    <a:moveTo>
                      <a:pt x="264" y="134"/>
                    </a:moveTo>
                    <a:lnTo>
                      <a:pt x="220" y="74"/>
                    </a:lnTo>
                    <a:lnTo>
                      <a:pt x="158" y="30"/>
                    </a:lnTo>
                    <a:lnTo>
                      <a:pt x="102" y="0"/>
                    </a:lnTo>
                    <a:lnTo>
                      <a:pt x="58" y="8"/>
                    </a:lnTo>
                    <a:lnTo>
                      <a:pt x="26" y="41"/>
                    </a:lnTo>
                    <a:lnTo>
                      <a:pt x="0" y="142"/>
                    </a:lnTo>
                    <a:lnTo>
                      <a:pt x="10" y="257"/>
                    </a:lnTo>
                    <a:lnTo>
                      <a:pt x="37" y="368"/>
                    </a:lnTo>
                    <a:lnTo>
                      <a:pt x="66" y="454"/>
                    </a:lnTo>
                    <a:lnTo>
                      <a:pt x="121" y="543"/>
                    </a:lnTo>
                    <a:lnTo>
                      <a:pt x="169" y="580"/>
                    </a:lnTo>
                    <a:lnTo>
                      <a:pt x="234" y="580"/>
                    </a:lnTo>
                    <a:lnTo>
                      <a:pt x="300" y="555"/>
                    </a:lnTo>
                    <a:lnTo>
                      <a:pt x="334" y="491"/>
                    </a:lnTo>
                    <a:lnTo>
                      <a:pt x="351" y="410"/>
                    </a:lnTo>
                    <a:lnTo>
                      <a:pt x="345" y="309"/>
                    </a:lnTo>
                    <a:lnTo>
                      <a:pt x="499" y="320"/>
                    </a:lnTo>
                    <a:lnTo>
                      <a:pt x="506" y="276"/>
                    </a:lnTo>
                    <a:lnTo>
                      <a:pt x="330" y="257"/>
                    </a:lnTo>
                    <a:lnTo>
                      <a:pt x="286" y="153"/>
                    </a:lnTo>
                    <a:lnTo>
                      <a:pt x="264" y="13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519" name="Freeform 172"/>
              <p:cNvSpPr>
                <a:spLocks noChangeArrowheads="1"/>
              </p:cNvSpPr>
              <p:nvPr/>
            </p:nvSpPr>
            <p:spPr bwMode="auto">
              <a:xfrm>
                <a:off x="193" y="3290"/>
                <a:ext cx="194" cy="310"/>
              </a:xfrm>
              <a:custGeom>
                <a:avLst/>
                <a:gdLst>
                  <a:gd name="T0" fmla="*/ 38 w 583"/>
                  <a:gd name="T1" fmla="*/ 2 h 930"/>
                  <a:gd name="T2" fmla="*/ 46 w 583"/>
                  <a:gd name="T3" fmla="*/ 0 h 930"/>
                  <a:gd name="T4" fmla="*/ 52 w 583"/>
                  <a:gd name="T5" fmla="*/ 0 h 930"/>
                  <a:gd name="T6" fmla="*/ 57 w 583"/>
                  <a:gd name="T7" fmla="*/ 4 h 930"/>
                  <a:gd name="T8" fmla="*/ 61 w 583"/>
                  <a:gd name="T9" fmla="*/ 10 h 930"/>
                  <a:gd name="T10" fmla="*/ 59 w 583"/>
                  <a:gd name="T11" fmla="*/ 16 h 930"/>
                  <a:gd name="T12" fmla="*/ 55 w 583"/>
                  <a:gd name="T13" fmla="*/ 16 h 930"/>
                  <a:gd name="T14" fmla="*/ 56 w 583"/>
                  <a:gd name="T15" fmla="*/ 11 h 930"/>
                  <a:gd name="T16" fmla="*/ 52 w 583"/>
                  <a:gd name="T17" fmla="*/ 7 h 930"/>
                  <a:gd name="T18" fmla="*/ 49 w 583"/>
                  <a:gd name="T19" fmla="*/ 5 h 930"/>
                  <a:gd name="T20" fmla="*/ 43 w 583"/>
                  <a:gd name="T21" fmla="*/ 7 h 930"/>
                  <a:gd name="T22" fmla="*/ 45 w 583"/>
                  <a:gd name="T23" fmla="*/ 12 h 930"/>
                  <a:gd name="T24" fmla="*/ 46 w 583"/>
                  <a:gd name="T25" fmla="*/ 16 h 930"/>
                  <a:gd name="T26" fmla="*/ 45 w 583"/>
                  <a:gd name="T27" fmla="*/ 20 h 930"/>
                  <a:gd name="T28" fmla="*/ 39 w 583"/>
                  <a:gd name="T29" fmla="*/ 21 h 930"/>
                  <a:gd name="T30" fmla="*/ 32 w 583"/>
                  <a:gd name="T31" fmla="*/ 20 h 930"/>
                  <a:gd name="T32" fmla="*/ 31 w 583"/>
                  <a:gd name="T33" fmla="*/ 17 h 930"/>
                  <a:gd name="T34" fmla="*/ 24 w 583"/>
                  <a:gd name="T35" fmla="*/ 25 h 930"/>
                  <a:gd name="T36" fmla="*/ 20 w 583"/>
                  <a:gd name="T37" fmla="*/ 34 h 930"/>
                  <a:gd name="T38" fmla="*/ 15 w 583"/>
                  <a:gd name="T39" fmla="*/ 45 h 930"/>
                  <a:gd name="T40" fmla="*/ 11 w 583"/>
                  <a:gd name="T41" fmla="*/ 55 h 930"/>
                  <a:gd name="T42" fmla="*/ 9 w 583"/>
                  <a:gd name="T43" fmla="*/ 64 h 930"/>
                  <a:gd name="T44" fmla="*/ 11 w 583"/>
                  <a:gd name="T45" fmla="*/ 69 h 930"/>
                  <a:gd name="T46" fmla="*/ 17 w 583"/>
                  <a:gd name="T47" fmla="*/ 76 h 930"/>
                  <a:gd name="T48" fmla="*/ 31 w 583"/>
                  <a:gd name="T49" fmla="*/ 81 h 930"/>
                  <a:gd name="T50" fmla="*/ 38 w 583"/>
                  <a:gd name="T51" fmla="*/ 83 h 930"/>
                  <a:gd name="T52" fmla="*/ 45 w 583"/>
                  <a:gd name="T53" fmla="*/ 85 h 930"/>
                  <a:gd name="T54" fmla="*/ 56 w 583"/>
                  <a:gd name="T55" fmla="*/ 89 h 930"/>
                  <a:gd name="T56" fmla="*/ 64 w 583"/>
                  <a:gd name="T57" fmla="*/ 92 h 930"/>
                  <a:gd name="T58" fmla="*/ 65 w 583"/>
                  <a:gd name="T59" fmla="*/ 98 h 930"/>
                  <a:gd name="T60" fmla="*/ 61 w 583"/>
                  <a:gd name="T61" fmla="*/ 102 h 930"/>
                  <a:gd name="T62" fmla="*/ 56 w 583"/>
                  <a:gd name="T63" fmla="*/ 103 h 930"/>
                  <a:gd name="T64" fmla="*/ 48 w 583"/>
                  <a:gd name="T65" fmla="*/ 100 h 930"/>
                  <a:gd name="T66" fmla="*/ 31 w 583"/>
                  <a:gd name="T67" fmla="*/ 91 h 930"/>
                  <a:gd name="T68" fmla="*/ 17 w 583"/>
                  <a:gd name="T69" fmla="*/ 84 h 930"/>
                  <a:gd name="T70" fmla="*/ 7 w 583"/>
                  <a:gd name="T71" fmla="*/ 77 h 930"/>
                  <a:gd name="T72" fmla="*/ 1 w 583"/>
                  <a:gd name="T73" fmla="*/ 71 h 930"/>
                  <a:gd name="T74" fmla="*/ 0 w 583"/>
                  <a:gd name="T75" fmla="*/ 64 h 930"/>
                  <a:gd name="T76" fmla="*/ 4 w 583"/>
                  <a:gd name="T77" fmla="*/ 54 h 930"/>
                  <a:gd name="T78" fmla="*/ 11 w 583"/>
                  <a:gd name="T79" fmla="*/ 39 h 930"/>
                  <a:gd name="T80" fmla="*/ 18 w 583"/>
                  <a:gd name="T81" fmla="*/ 26 h 930"/>
                  <a:gd name="T82" fmla="*/ 26 w 583"/>
                  <a:gd name="T83" fmla="*/ 14 h 930"/>
                  <a:gd name="T84" fmla="*/ 33 w 583"/>
                  <a:gd name="T85" fmla="*/ 6 h 930"/>
                  <a:gd name="T86" fmla="*/ 41 w 583"/>
                  <a:gd name="T87" fmla="*/ 2 h 930"/>
                  <a:gd name="T88" fmla="*/ 38 w 583"/>
                  <a:gd name="T89" fmla="*/ 2 h 930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583" h="930">
                    <a:moveTo>
                      <a:pt x="340" y="22"/>
                    </a:moveTo>
                    <a:lnTo>
                      <a:pt x="413" y="0"/>
                    </a:lnTo>
                    <a:lnTo>
                      <a:pt x="472" y="4"/>
                    </a:lnTo>
                    <a:lnTo>
                      <a:pt x="516" y="37"/>
                    </a:lnTo>
                    <a:lnTo>
                      <a:pt x="546" y="89"/>
                    </a:lnTo>
                    <a:lnTo>
                      <a:pt x="535" y="144"/>
                    </a:lnTo>
                    <a:lnTo>
                      <a:pt x="494" y="144"/>
                    </a:lnTo>
                    <a:lnTo>
                      <a:pt x="505" y="100"/>
                    </a:lnTo>
                    <a:lnTo>
                      <a:pt x="472" y="60"/>
                    </a:lnTo>
                    <a:lnTo>
                      <a:pt x="440" y="45"/>
                    </a:lnTo>
                    <a:lnTo>
                      <a:pt x="385" y="60"/>
                    </a:lnTo>
                    <a:lnTo>
                      <a:pt x="407" y="104"/>
                    </a:lnTo>
                    <a:lnTo>
                      <a:pt x="413" y="144"/>
                    </a:lnTo>
                    <a:lnTo>
                      <a:pt x="407" y="179"/>
                    </a:lnTo>
                    <a:lnTo>
                      <a:pt x="351" y="193"/>
                    </a:lnTo>
                    <a:lnTo>
                      <a:pt x="293" y="182"/>
                    </a:lnTo>
                    <a:lnTo>
                      <a:pt x="282" y="156"/>
                    </a:lnTo>
                    <a:lnTo>
                      <a:pt x="220" y="227"/>
                    </a:lnTo>
                    <a:lnTo>
                      <a:pt x="183" y="304"/>
                    </a:lnTo>
                    <a:lnTo>
                      <a:pt x="132" y="405"/>
                    </a:lnTo>
                    <a:lnTo>
                      <a:pt x="99" y="494"/>
                    </a:lnTo>
                    <a:lnTo>
                      <a:pt x="84" y="580"/>
                    </a:lnTo>
                    <a:lnTo>
                      <a:pt x="95" y="625"/>
                    </a:lnTo>
                    <a:lnTo>
                      <a:pt x="154" y="681"/>
                    </a:lnTo>
                    <a:lnTo>
                      <a:pt x="275" y="729"/>
                    </a:lnTo>
                    <a:lnTo>
                      <a:pt x="340" y="751"/>
                    </a:lnTo>
                    <a:lnTo>
                      <a:pt x="407" y="762"/>
                    </a:lnTo>
                    <a:lnTo>
                      <a:pt x="505" y="803"/>
                    </a:lnTo>
                    <a:lnTo>
                      <a:pt x="578" y="830"/>
                    </a:lnTo>
                    <a:lnTo>
                      <a:pt x="583" y="881"/>
                    </a:lnTo>
                    <a:lnTo>
                      <a:pt x="546" y="919"/>
                    </a:lnTo>
                    <a:lnTo>
                      <a:pt x="502" y="930"/>
                    </a:lnTo>
                    <a:lnTo>
                      <a:pt x="436" y="896"/>
                    </a:lnTo>
                    <a:lnTo>
                      <a:pt x="282" y="815"/>
                    </a:lnTo>
                    <a:lnTo>
                      <a:pt x="154" y="759"/>
                    </a:lnTo>
                    <a:lnTo>
                      <a:pt x="66" y="696"/>
                    </a:lnTo>
                    <a:lnTo>
                      <a:pt x="7" y="640"/>
                    </a:lnTo>
                    <a:lnTo>
                      <a:pt x="0" y="572"/>
                    </a:lnTo>
                    <a:lnTo>
                      <a:pt x="32" y="483"/>
                    </a:lnTo>
                    <a:lnTo>
                      <a:pt x="99" y="349"/>
                    </a:lnTo>
                    <a:lnTo>
                      <a:pt x="161" y="238"/>
                    </a:lnTo>
                    <a:lnTo>
                      <a:pt x="238" y="123"/>
                    </a:lnTo>
                    <a:lnTo>
                      <a:pt x="297" y="55"/>
                    </a:lnTo>
                    <a:lnTo>
                      <a:pt x="370" y="22"/>
                    </a:lnTo>
                    <a:lnTo>
                      <a:pt x="340" y="2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520" name="Freeform 173"/>
              <p:cNvSpPr>
                <a:spLocks noChangeArrowheads="1"/>
              </p:cNvSpPr>
              <p:nvPr/>
            </p:nvSpPr>
            <p:spPr bwMode="auto">
              <a:xfrm>
                <a:off x="376" y="3547"/>
                <a:ext cx="101" cy="291"/>
              </a:xfrm>
              <a:custGeom>
                <a:avLst/>
                <a:gdLst>
                  <a:gd name="T0" fmla="*/ 2 w 304"/>
                  <a:gd name="T1" fmla="*/ 8 h 873"/>
                  <a:gd name="T2" fmla="*/ 3 w 304"/>
                  <a:gd name="T3" fmla="*/ 3 h 873"/>
                  <a:gd name="T4" fmla="*/ 9 w 304"/>
                  <a:gd name="T5" fmla="*/ 0 h 873"/>
                  <a:gd name="T6" fmla="*/ 13 w 304"/>
                  <a:gd name="T7" fmla="*/ 0 h 873"/>
                  <a:gd name="T8" fmla="*/ 19 w 304"/>
                  <a:gd name="T9" fmla="*/ 4 h 873"/>
                  <a:gd name="T10" fmla="*/ 25 w 304"/>
                  <a:gd name="T11" fmla="*/ 12 h 873"/>
                  <a:gd name="T12" fmla="*/ 29 w 304"/>
                  <a:gd name="T13" fmla="*/ 22 h 873"/>
                  <a:gd name="T14" fmla="*/ 31 w 304"/>
                  <a:gd name="T15" fmla="*/ 34 h 873"/>
                  <a:gd name="T16" fmla="*/ 33 w 304"/>
                  <a:gd name="T17" fmla="*/ 48 h 873"/>
                  <a:gd name="T18" fmla="*/ 34 w 304"/>
                  <a:gd name="T19" fmla="*/ 62 h 873"/>
                  <a:gd name="T20" fmla="*/ 34 w 304"/>
                  <a:gd name="T21" fmla="*/ 81 h 873"/>
                  <a:gd name="T22" fmla="*/ 31 w 304"/>
                  <a:gd name="T23" fmla="*/ 92 h 873"/>
                  <a:gd name="T24" fmla="*/ 27 w 304"/>
                  <a:gd name="T25" fmla="*/ 96 h 873"/>
                  <a:gd name="T26" fmla="*/ 19 w 304"/>
                  <a:gd name="T27" fmla="*/ 97 h 873"/>
                  <a:gd name="T28" fmla="*/ 11 w 304"/>
                  <a:gd name="T29" fmla="*/ 97 h 873"/>
                  <a:gd name="T30" fmla="*/ 7 w 304"/>
                  <a:gd name="T31" fmla="*/ 92 h 873"/>
                  <a:gd name="T32" fmla="*/ 5 w 304"/>
                  <a:gd name="T33" fmla="*/ 83 h 873"/>
                  <a:gd name="T34" fmla="*/ 2 w 304"/>
                  <a:gd name="T35" fmla="*/ 74 h 873"/>
                  <a:gd name="T36" fmla="*/ 1 w 304"/>
                  <a:gd name="T37" fmla="*/ 59 h 873"/>
                  <a:gd name="T38" fmla="*/ 0 w 304"/>
                  <a:gd name="T39" fmla="*/ 41 h 873"/>
                  <a:gd name="T40" fmla="*/ 0 w 304"/>
                  <a:gd name="T41" fmla="*/ 20 h 873"/>
                  <a:gd name="T42" fmla="*/ 2 w 304"/>
                  <a:gd name="T43" fmla="*/ 11 h 873"/>
                  <a:gd name="T44" fmla="*/ 2 w 304"/>
                  <a:gd name="T45" fmla="*/ 8 h 87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304" h="873">
                    <a:moveTo>
                      <a:pt x="18" y="68"/>
                    </a:moveTo>
                    <a:lnTo>
                      <a:pt x="30" y="23"/>
                    </a:lnTo>
                    <a:lnTo>
                      <a:pt x="77" y="0"/>
                    </a:lnTo>
                    <a:lnTo>
                      <a:pt x="120" y="0"/>
                    </a:lnTo>
                    <a:lnTo>
                      <a:pt x="176" y="34"/>
                    </a:lnTo>
                    <a:lnTo>
                      <a:pt x="228" y="112"/>
                    </a:lnTo>
                    <a:lnTo>
                      <a:pt x="264" y="194"/>
                    </a:lnTo>
                    <a:lnTo>
                      <a:pt x="282" y="305"/>
                    </a:lnTo>
                    <a:lnTo>
                      <a:pt x="298" y="435"/>
                    </a:lnTo>
                    <a:lnTo>
                      <a:pt x="304" y="561"/>
                    </a:lnTo>
                    <a:lnTo>
                      <a:pt x="304" y="725"/>
                    </a:lnTo>
                    <a:lnTo>
                      <a:pt x="282" y="825"/>
                    </a:lnTo>
                    <a:lnTo>
                      <a:pt x="242" y="862"/>
                    </a:lnTo>
                    <a:lnTo>
                      <a:pt x="172" y="873"/>
                    </a:lnTo>
                    <a:lnTo>
                      <a:pt x="99" y="870"/>
                    </a:lnTo>
                    <a:lnTo>
                      <a:pt x="62" y="825"/>
                    </a:lnTo>
                    <a:lnTo>
                      <a:pt x="41" y="748"/>
                    </a:lnTo>
                    <a:lnTo>
                      <a:pt x="22" y="670"/>
                    </a:lnTo>
                    <a:lnTo>
                      <a:pt x="7" y="528"/>
                    </a:lnTo>
                    <a:lnTo>
                      <a:pt x="0" y="369"/>
                    </a:lnTo>
                    <a:lnTo>
                      <a:pt x="0" y="182"/>
                    </a:lnTo>
                    <a:lnTo>
                      <a:pt x="18" y="101"/>
                    </a:lnTo>
                    <a:lnTo>
                      <a:pt x="18" y="6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521" name="Freeform 174"/>
              <p:cNvSpPr>
                <a:spLocks noChangeArrowheads="1"/>
              </p:cNvSpPr>
              <p:nvPr/>
            </p:nvSpPr>
            <p:spPr bwMode="auto">
              <a:xfrm>
                <a:off x="423" y="3555"/>
                <a:ext cx="155" cy="224"/>
              </a:xfrm>
              <a:custGeom>
                <a:avLst/>
                <a:gdLst>
                  <a:gd name="T0" fmla="*/ 3 w 466"/>
                  <a:gd name="T1" fmla="*/ 0 h 671"/>
                  <a:gd name="T2" fmla="*/ 13 w 466"/>
                  <a:gd name="T3" fmla="*/ 1 h 671"/>
                  <a:gd name="T4" fmla="*/ 24 w 466"/>
                  <a:gd name="T5" fmla="*/ 3 h 671"/>
                  <a:gd name="T6" fmla="*/ 36 w 466"/>
                  <a:gd name="T7" fmla="*/ 10 h 671"/>
                  <a:gd name="T8" fmla="*/ 44 w 466"/>
                  <a:gd name="T9" fmla="*/ 15 h 671"/>
                  <a:gd name="T10" fmla="*/ 49 w 466"/>
                  <a:gd name="T11" fmla="*/ 22 h 671"/>
                  <a:gd name="T12" fmla="*/ 52 w 466"/>
                  <a:gd name="T13" fmla="*/ 26 h 671"/>
                  <a:gd name="T14" fmla="*/ 47 w 466"/>
                  <a:gd name="T15" fmla="*/ 38 h 671"/>
                  <a:gd name="T16" fmla="*/ 39 w 466"/>
                  <a:gd name="T17" fmla="*/ 46 h 671"/>
                  <a:gd name="T18" fmla="*/ 30 w 466"/>
                  <a:gd name="T19" fmla="*/ 51 h 671"/>
                  <a:gd name="T20" fmla="*/ 25 w 466"/>
                  <a:gd name="T21" fmla="*/ 54 h 671"/>
                  <a:gd name="T22" fmla="*/ 16 w 466"/>
                  <a:gd name="T23" fmla="*/ 56 h 671"/>
                  <a:gd name="T24" fmla="*/ 16 w 466"/>
                  <a:gd name="T25" fmla="*/ 59 h 671"/>
                  <a:gd name="T26" fmla="*/ 22 w 466"/>
                  <a:gd name="T27" fmla="*/ 62 h 671"/>
                  <a:gd name="T28" fmla="*/ 32 w 466"/>
                  <a:gd name="T29" fmla="*/ 65 h 671"/>
                  <a:gd name="T30" fmla="*/ 41 w 466"/>
                  <a:gd name="T31" fmla="*/ 70 h 671"/>
                  <a:gd name="T32" fmla="*/ 37 w 466"/>
                  <a:gd name="T33" fmla="*/ 73 h 671"/>
                  <a:gd name="T34" fmla="*/ 33 w 466"/>
                  <a:gd name="T35" fmla="*/ 75 h 671"/>
                  <a:gd name="T36" fmla="*/ 28 w 466"/>
                  <a:gd name="T37" fmla="*/ 69 h 671"/>
                  <a:gd name="T38" fmla="*/ 20 w 466"/>
                  <a:gd name="T39" fmla="*/ 66 h 671"/>
                  <a:gd name="T40" fmla="*/ 13 w 466"/>
                  <a:gd name="T41" fmla="*/ 63 h 671"/>
                  <a:gd name="T42" fmla="*/ 13 w 466"/>
                  <a:gd name="T43" fmla="*/ 59 h 671"/>
                  <a:gd name="T44" fmla="*/ 15 w 466"/>
                  <a:gd name="T45" fmla="*/ 53 h 671"/>
                  <a:gd name="T46" fmla="*/ 19 w 466"/>
                  <a:gd name="T47" fmla="*/ 51 h 671"/>
                  <a:gd name="T48" fmla="*/ 32 w 466"/>
                  <a:gd name="T49" fmla="*/ 46 h 671"/>
                  <a:gd name="T50" fmla="*/ 39 w 466"/>
                  <a:gd name="T51" fmla="*/ 37 h 671"/>
                  <a:gd name="T52" fmla="*/ 44 w 466"/>
                  <a:gd name="T53" fmla="*/ 29 h 671"/>
                  <a:gd name="T54" fmla="*/ 43 w 466"/>
                  <a:gd name="T55" fmla="*/ 24 h 671"/>
                  <a:gd name="T56" fmla="*/ 39 w 466"/>
                  <a:gd name="T57" fmla="*/ 19 h 671"/>
                  <a:gd name="T58" fmla="*/ 29 w 466"/>
                  <a:gd name="T59" fmla="*/ 12 h 671"/>
                  <a:gd name="T60" fmla="*/ 18 w 466"/>
                  <a:gd name="T61" fmla="*/ 10 h 671"/>
                  <a:gd name="T62" fmla="*/ 10 w 466"/>
                  <a:gd name="T63" fmla="*/ 10 h 671"/>
                  <a:gd name="T64" fmla="*/ 3 w 466"/>
                  <a:gd name="T65" fmla="*/ 10 h 671"/>
                  <a:gd name="T66" fmla="*/ 0 w 466"/>
                  <a:gd name="T67" fmla="*/ 5 h 671"/>
                  <a:gd name="T68" fmla="*/ 3 w 466"/>
                  <a:gd name="T69" fmla="*/ 0 h 67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466" h="671">
                    <a:moveTo>
                      <a:pt x="26" y="0"/>
                    </a:moveTo>
                    <a:lnTo>
                      <a:pt x="121" y="12"/>
                    </a:lnTo>
                    <a:lnTo>
                      <a:pt x="220" y="30"/>
                    </a:lnTo>
                    <a:lnTo>
                      <a:pt x="323" y="90"/>
                    </a:lnTo>
                    <a:lnTo>
                      <a:pt x="396" y="134"/>
                    </a:lnTo>
                    <a:lnTo>
                      <a:pt x="443" y="198"/>
                    </a:lnTo>
                    <a:lnTo>
                      <a:pt x="466" y="235"/>
                    </a:lnTo>
                    <a:lnTo>
                      <a:pt x="421" y="344"/>
                    </a:lnTo>
                    <a:lnTo>
                      <a:pt x="351" y="410"/>
                    </a:lnTo>
                    <a:lnTo>
                      <a:pt x="267" y="458"/>
                    </a:lnTo>
                    <a:lnTo>
                      <a:pt x="223" y="488"/>
                    </a:lnTo>
                    <a:lnTo>
                      <a:pt x="147" y="503"/>
                    </a:lnTo>
                    <a:lnTo>
                      <a:pt x="143" y="532"/>
                    </a:lnTo>
                    <a:lnTo>
                      <a:pt x="202" y="559"/>
                    </a:lnTo>
                    <a:lnTo>
                      <a:pt x="286" y="582"/>
                    </a:lnTo>
                    <a:lnTo>
                      <a:pt x="366" y="626"/>
                    </a:lnTo>
                    <a:lnTo>
                      <a:pt x="334" y="659"/>
                    </a:lnTo>
                    <a:lnTo>
                      <a:pt x="300" y="671"/>
                    </a:lnTo>
                    <a:lnTo>
                      <a:pt x="253" y="622"/>
                    </a:lnTo>
                    <a:lnTo>
                      <a:pt x="180" y="592"/>
                    </a:lnTo>
                    <a:lnTo>
                      <a:pt x="121" y="570"/>
                    </a:lnTo>
                    <a:lnTo>
                      <a:pt x="121" y="526"/>
                    </a:lnTo>
                    <a:lnTo>
                      <a:pt x="132" y="477"/>
                    </a:lnTo>
                    <a:lnTo>
                      <a:pt x="169" y="458"/>
                    </a:lnTo>
                    <a:lnTo>
                      <a:pt x="286" y="410"/>
                    </a:lnTo>
                    <a:lnTo>
                      <a:pt x="351" y="336"/>
                    </a:lnTo>
                    <a:lnTo>
                      <a:pt x="399" y="258"/>
                    </a:lnTo>
                    <a:lnTo>
                      <a:pt x="388" y="220"/>
                    </a:lnTo>
                    <a:lnTo>
                      <a:pt x="351" y="175"/>
                    </a:lnTo>
                    <a:lnTo>
                      <a:pt x="264" y="112"/>
                    </a:lnTo>
                    <a:lnTo>
                      <a:pt x="158" y="90"/>
                    </a:lnTo>
                    <a:lnTo>
                      <a:pt x="88" y="86"/>
                    </a:lnTo>
                    <a:lnTo>
                      <a:pt x="26" y="86"/>
                    </a:lnTo>
                    <a:lnTo>
                      <a:pt x="0" y="45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522" name="Freeform 175"/>
              <p:cNvSpPr>
                <a:spLocks noChangeArrowheads="1"/>
              </p:cNvSpPr>
              <p:nvPr/>
            </p:nvSpPr>
            <p:spPr bwMode="auto">
              <a:xfrm>
                <a:off x="435" y="3809"/>
                <a:ext cx="189" cy="361"/>
              </a:xfrm>
              <a:custGeom>
                <a:avLst/>
                <a:gdLst>
                  <a:gd name="T0" fmla="*/ 7 w 566"/>
                  <a:gd name="T1" fmla="*/ 0 h 1084"/>
                  <a:gd name="T2" fmla="*/ 2 w 566"/>
                  <a:gd name="T3" fmla="*/ 0 h 1084"/>
                  <a:gd name="T4" fmla="*/ 0 w 566"/>
                  <a:gd name="T5" fmla="*/ 9 h 1084"/>
                  <a:gd name="T6" fmla="*/ 4 w 566"/>
                  <a:gd name="T7" fmla="*/ 14 h 1084"/>
                  <a:gd name="T8" fmla="*/ 17 w 566"/>
                  <a:gd name="T9" fmla="*/ 26 h 1084"/>
                  <a:gd name="T10" fmla="*/ 29 w 566"/>
                  <a:gd name="T11" fmla="*/ 41 h 1084"/>
                  <a:gd name="T12" fmla="*/ 36 w 566"/>
                  <a:gd name="T13" fmla="*/ 57 h 1084"/>
                  <a:gd name="T14" fmla="*/ 37 w 566"/>
                  <a:gd name="T15" fmla="*/ 67 h 1084"/>
                  <a:gd name="T16" fmla="*/ 37 w 566"/>
                  <a:gd name="T17" fmla="*/ 74 h 1084"/>
                  <a:gd name="T18" fmla="*/ 34 w 566"/>
                  <a:gd name="T19" fmla="*/ 91 h 1084"/>
                  <a:gd name="T20" fmla="*/ 29 w 566"/>
                  <a:gd name="T21" fmla="*/ 105 h 1084"/>
                  <a:gd name="T22" fmla="*/ 26 w 566"/>
                  <a:gd name="T23" fmla="*/ 113 h 1084"/>
                  <a:gd name="T24" fmla="*/ 25 w 566"/>
                  <a:gd name="T25" fmla="*/ 118 h 1084"/>
                  <a:gd name="T26" fmla="*/ 29 w 566"/>
                  <a:gd name="T27" fmla="*/ 118 h 1084"/>
                  <a:gd name="T28" fmla="*/ 34 w 566"/>
                  <a:gd name="T29" fmla="*/ 116 h 1084"/>
                  <a:gd name="T30" fmla="*/ 36 w 566"/>
                  <a:gd name="T31" fmla="*/ 117 h 1084"/>
                  <a:gd name="T32" fmla="*/ 48 w 566"/>
                  <a:gd name="T33" fmla="*/ 117 h 1084"/>
                  <a:gd name="T34" fmla="*/ 57 w 566"/>
                  <a:gd name="T35" fmla="*/ 120 h 1084"/>
                  <a:gd name="T36" fmla="*/ 60 w 566"/>
                  <a:gd name="T37" fmla="*/ 119 h 1084"/>
                  <a:gd name="T38" fmla="*/ 63 w 566"/>
                  <a:gd name="T39" fmla="*/ 112 h 1084"/>
                  <a:gd name="T40" fmla="*/ 60 w 566"/>
                  <a:gd name="T41" fmla="*/ 109 h 1084"/>
                  <a:gd name="T42" fmla="*/ 47 w 566"/>
                  <a:gd name="T43" fmla="*/ 109 h 1084"/>
                  <a:gd name="T44" fmla="*/ 37 w 566"/>
                  <a:gd name="T45" fmla="*/ 110 h 1084"/>
                  <a:gd name="T46" fmla="*/ 32 w 566"/>
                  <a:gd name="T47" fmla="*/ 112 h 1084"/>
                  <a:gd name="T48" fmla="*/ 33 w 566"/>
                  <a:gd name="T49" fmla="*/ 107 h 1084"/>
                  <a:gd name="T50" fmla="*/ 38 w 566"/>
                  <a:gd name="T51" fmla="*/ 98 h 1084"/>
                  <a:gd name="T52" fmla="*/ 42 w 566"/>
                  <a:gd name="T53" fmla="*/ 84 h 1084"/>
                  <a:gd name="T54" fmla="*/ 45 w 566"/>
                  <a:gd name="T55" fmla="*/ 73 h 1084"/>
                  <a:gd name="T56" fmla="*/ 43 w 566"/>
                  <a:gd name="T57" fmla="*/ 60 h 1084"/>
                  <a:gd name="T58" fmla="*/ 39 w 566"/>
                  <a:gd name="T59" fmla="*/ 46 h 1084"/>
                  <a:gd name="T60" fmla="*/ 32 w 566"/>
                  <a:gd name="T61" fmla="*/ 29 h 1084"/>
                  <a:gd name="T62" fmla="*/ 21 w 566"/>
                  <a:gd name="T63" fmla="*/ 15 h 1084"/>
                  <a:gd name="T64" fmla="*/ 12 w 566"/>
                  <a:gd name="T65" fmla="*/ 4 h 1084"/>
                  <a:gd name="T66" fmla="*/ 7 w 566"/>
                  <a:gd name="T67" fmla="*/ 0 h 1084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566" h="1084">
                    <a:moveTo>
                      <a:pt x="65" y="0"/>
                    </a:moveTo>
                    <a:lnTo>
                      <a:pt x="14" y="0"/>
                    </a:lnTo>
                    <a:lnTo>
                      <a:pt x="0" y="78"/>
                    </a:lnTo>
                    <a:lnTo>
                      <a:pt x="36" y="124"/>
                    </a:lnTo>
                    <a:lnTo>
                      <a:pt x="154" y="231"/>
                    </a:lnTo>
                    <a:lnTo>
                      <a:pt x="257" y="369"/>
                    </a:lnTo>
                    <a:lnTo>
                      <a:pt x="323" y="510"/>
                    </a:lnTo>
                    <a:lnTo>
                      <a:pt x="333" y="603"/>
                    </a:lnTo>
                    <a:lnTo>
                      <a:pt x="330" y="671"/>
                    </a:lnTo>
                    <a:lnTo>
                      <a:pt x="301" y="823"/>
                    </a:lnTo>
                    <a:lnTo>
                      <a:pt x="263" y="946"/>
                    </a:lnTo>
                    <a:lnTo>
                      <a:pt x="231" y="1017"/>
                    </a:lnTo>
                    <a:lnTo>
                      <a:pt x="224" y="1062"/>
                    </a:lnTo>
                    <a:lnTo>
                      <a:pt x="257" y="1062"/>
                    </a:lnTo>
                    <a:lnTo>
                      <a:pt x="308" y="1047"/>
                    </a:lnTo>
                    <a:lnTo>
                      <a:pt x="323" y="1051"/>
                    </a:lnTo>
                    <a:lnTo>
                      <a:pt x="430" y="1057"/>
                    </a:lnTo>
                    <a:lnTo>
                      <a:pt x="511" y="1084"/>
                    </a:lnTo>
                    <a:lnTo>
                      <a:pt x="539" y="1069"/>
                    </a:lnTo>
                    <a:lnTo>
                      <a:pt x="566" y="1013"/>
                    </a:lnTo>
                    <a:lnTo>
                      <a:pt x="539" y="983"/>
                    </a:lnTo>
                    <a:lnTo>
                      <a:pt x="419" y="980"/>
                    </a:lnTo>
                    <a:lnTo>
                      <a:pt x="333" y="991"/>
                    </a:lnTo>
                    <a:lnTo>
                      <a:pt x="290" y="1013"/>
                    </a:lnTo>
                    <a:lnTo>
                      <a:pt x="297" y="961"/>
                    </a:lnTo>
                    <a:lnTo>
                      <a:pt x="341" y="882"/>
                    </a:lnTo>
                    <a:lnTo>
                      <a:pt x="378" y="760"/>
                    </a:lnTo>
                    <a:lnTo>
                      <a:pt x="407" y="656"/>
                    </a:lnTo>
                    <a:lnTo>
                      <a:pt x="385" y="537"/>
                    </a:lnTo>
                    <a:lnTo>
                      <a:pt x="352" y="410"/>
                    </a:lnTo>
                    <a:lnTo>
                      <a:pt x="286" y="264"/>
                    </a:lnTo>
                    <a:lnTo>
                      <a:pt x="190" y="131"/>
                    </a:lnTo>
                    <a:lnTo>
                      <a:pt x="110" y="33"/>
                    </a:lnTo>
                    <a:lnTo>
                      <a:pt x="6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523" name="Freeform 176"/>
              <p:cNvSpPr>
                <a:spLocks noChangeArrowheads="1"/>
              </p:cNvSpPr>
              <p:nvPr/>
            </p:nvSpPr>
            <p:spPr bwMode="auto">
              <a:xfrm>
                <a:off x="316" y="3808"/>
                <a:ext cx="127" cy="368"/>
              </a:xfrm>
              <a:custGeom>
                <a:avLst/>
                <a:gdLst>
                  <a:gd name="T0" fmla="*/ 29 w 381"/>
                  <a:gd name="T1" fmla="*/ 0 h 1104"/>
                  <a:gd name="T2" fmla="*/ 24 w 381"/>
                  <a:gd name="T3" fmla="*/ 12 h 1104"/>
                  <a:gd name="T4" fmla="*/ 20 w 381"/>
                  <a:gd name="T5" fmla="*/ 28 h 1104"/>
                  <a:gd name="T6" fmla="*/ 16 w 381"/>
                  <a:gd name="T7" fmla="*/ 47 h 1104"/>
                  <a:gd name="T8" fmla="*/ 12 w 381"/>
                  <a:gd name="T9" fmla="*/ 66 h 1104"/>
                  <a:gd name="T10" fmla="*/ 12 w 381"/>
                  <a:gd name="T11" fmla="*/ 73 h 1104"/>
                  <a:gd name="T12" fmla="*/ 16 w 381"/>
                  <a:gd name="T13" fmla="*/ 86 h 1104"/>
                  <a:gd name="T14" fmla="*/ 22 w 381"/>
                  <a:gd name="T15" fmla="*/ 92 h 1104"/>
                  <a:gd name="T16" fmla="*/ 27 w 381"/>
                  <a:gd name="T17" fmla="*/ 100 h 1104"/>
                  <a:gd name="T18" fmla="*/ 31 w 381"/>
                  <a:gd name="T19" fmla="*/ 107 h 1104"/>
                  <a:gd name="T20" fmla="*/ 29 w 381"/>
                  <a:gd name="T21" fmla="*/ 109 h 1104"/>
                  <a:gd name="T22" fmla="*/ 20 w 381"/>
                  <a:gd name="T23" fmla="*/ 111 h 1104"/>
                  <a:gd name="T24" fmla="*/ 4 w 381"/>
                  <a:gd name="T25" fmla="*/ 113 h 1104"/>
                  <a:gd name="T26" fmla="*/ 0 w 381"/>
                  <a:gd name="T27" fmla="*/ 117 h 1104"/>
                  <a:gd name="T28" fmla="*/ 4 w 381"/>
                  <a:gd name="T29" fmla="*/ 120 h 1104"/>
                  <a:gd name="T30" fmla="*/ 12 w 381"/>
                  <a:gd name="T31" fmla="*/ 123 h 1104"/>
                  <a:gd name="T32" fmla="*/ 22 w 381"/>
                  <a:gd name="T33" fmla="*/ 118 h 1104"/>
                  <a:gd name="T34" fmla="*/ 29 w 381"/>
                  <a:gd name="T35" fmla="*/ 114 h 1104"/>
                  <a:gd name="T36" fmla="*/ 39 w 381"/>
                  <a:gd name="T37" fmla="*/ 113 h 1104"/>
                  <a:gd name="T38" fmla="*/ 42 w 381"/>
                  <a:gd name="T39" fmla="*/ 112 h 1104"/>
                  <a:gd name="T40" fmla="*/ 41 w 381"/>
                  <a:gd name="T41" fmla="*/ 108 h 1104"/>
                  <a:gd name="T42" fmla="*/ 31 w 381"/>
                  <a:gd name="T43" fmla="*/ 97 h 1104"/>
                  <a:gd name="T44" fmla="*/ 24 w 381"/>
                  <a:gd name="T45" fmla="*/ 86 h 1104"/>
                  <a:gd name="T46" fmla="*/ 19 w 381"/>
                  <a:gd name="T47" fmla="*/ 78 h 1104"/>
                  <a:gd name="T48" fmla="*/ 18 w 381"/>
                  <a:gd name="T49" fmla="*/ 71 h 1104"/>
                  <a:gd name="T50" fmla="*/ 21 w 381"/>
                  <a:gd name="T51" fmla="*/ 59 h 1104"/>
                  <a:gd name="T52" fmla="*/ 26 w 381"/>
                  <a:gd name="T53" fmla="*/ 46 h 1104"/>
                  <a:gd name="T54" fmla="*/ 33 w 381"/>
                  <a:gd name="T55" fmla="*/ 24 h 1104"/>
                  <a:gd name="T56" fmla="*/ 38 w 381"/>
                  <a:gd name="T57" fmla="*/ 11 h 1104"/>
                  <a:gd name="T58" fmla="*/ 37 w 381"/>
                  <a:gd name="T59" fmla="*/ 4 h 1104"/>
                  <a:gd name="T60" fmla="*/ 33 w 381"/>
                  <a:gd name="T61" fmla="*/ 0 h 1104"/>
                  <a:gd name="T62" fmla="*/ 29 w 381"/>
                  <a:gd name="T63" fmla="*/ 0 h 1104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381" h="1104">
                    <a:moveTo>
                      <a:pt x="264" y="0"/>
                    </a:moveTo>
                    <a:lnTo>
                      <a:pt x="216" y="104"/>
                    </a:lnTo>
                    <a:lnTo>
                      <a:pt x="183" y="256"/>
                    </a:lnTo>
                    <a:lnTo>
                      <a:pt x="143" y="424"/>
                    </a:lnTo>
                    <a:lnTo>
                      <a:pt x="107" y="595"/>
                    </a:lnTo>
                    <a:lnTo>
                      <a:pt x="107" y="658"/>
                    </a:lnTo>
                    <a:lnTo>
                      <a:pt x="143" y="770"/>
                    </a:lnTo>
                    <a:lnTo>
                      <a:pt x="194" y="829"/>
                    </a:lnTo>
                    <a:lnTo>
                      <a:pt x="242" y="904"/>
                    </a:lnTo>
                    <a:lnTo>
                      <a:pt x="275" y="959"/>
                    </a:lnTo>
                    <a:lnTo>
                      <a:pt x="261" y="985"/>
                    </a:lnTo>
                    <a:lnTo>
                      <a:pt x="176" y="996"/>
                    </a:lnTo>
                    <a:lnTo>
                      <a:pt x="40" y="1018"/>
                    </a:lnTo>
                    <a:lnTo>
                      <a:pt x="0" y="1053"/>
                    </a:lnTo>
                    <a:lnTo>
                      <a:pt x="34" y="1082"/>
                    </a:lnTo>
                    <a:lnTo>
                      <a:pt x="110" y="1104"/>
                    </a:lnTo>
                    <a:lnTo>
                      <a:pt x="199" y="1059"/>
                    </a:lnTo>
                    <a:lnTo>
                      <a:pt x="264" y="1030"/>
                    </a:lnTo>
                    <a:lnTo>
                      <a:pt x="348" y="1018"/>
                    </a:lnTo>
                    <a:lnTo>
                      <a:pt x="381" y="1008"/>
                    </a:lnTo>
                    <a:lnTo>
                      <a:pt x="370" y="970"/>
                    </a:lnTo>
                    <a:lnTo>
                      <a:pt x="275" y="874"/>
                    </a:lnTo>
                    <a:lnTo>
                      <a:pt x="220" y="773"/>
                    </a:lnTo>
                    <a:lnTo>
                      <a:pt x="172" y="706"/>
                    </a:lnTo>
                    <a:lnTo>
                      <a:pt x="165" y="639"/>
                    </a:lnTo>
                    <a:lnTo>
                      <a:pt x="187" y="528"/>
                    </a:lnTo>
                    <a:lnTo>
                      <a:pt x="238" y="413"/>
                    </a:lnTo>
                    <a:lnTo>
                      <a:pt x="294" y="216"/>
                    </a:lnTo>
                    <a:lnTo>
                      <a:pt x="341" y="101"/>
                    </a:lnTo>
                    <a:lnTo>
                      <a:pt x="337" y="33"/>
                    </a:lnTo>
                    <a:lnTo>
                      <a:pt x="294" y="0"/>
                    </a:lnTo>
                    <a:lnTo>
                      <a:pt x="26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515" name="Group 177"/>
            <p:cNvGrpSpPr/>
            <p:nvPr/>
          </p:nvGrpSpPr>
          <p:grpSpPr bwMode="auto">
            <a:xfrm>
              <a:off x="452" y="3217"/>
              <a:ext cx="78" cy="108"/>
              <a:chOff x="452" y="3217"/>
              <a:chExt cx="78" cy="108"/>
            </a:xfrm>
            <a:grpFill/>
          </p:grpSpPr>
          <p:sp>
            <p:nvSpPr>
              <p:cNvPr id="21516" name="Freeform 178"/>
              <p:cNvSpPr>
                <a:spLocks noChangeArrowheads="1"/>
              </p:cNvSpPr>
              <p:nvPr/>
            </p:nvSpPr>
            <p:spPr bwMode="auto">
              <a:xfrm>
                <a:off x="467" y="3217"/>
                <a:ext cx="63" cy="75"/>
              </a:xfrm>
              <a:custGeom>
                <a:avLst/>
                <a:gdLst>
                  <a:gd name="T0" fmla="*/ 2 w 189"/>
                  <a:gd name="T1" fmla="*/ 1 h 227"/>
                  <a:gd name="T2" fmla="*/ 8 w 189"/>
                  <a:gd name="T3" fmla="*/ 0 h 227"/>
                  <a:gd name="T4" fmla="*/ 14 w 189"/>
                  <a:gd name="T5" fmla="*/ 0 h 227"/>
                  <a:gd name="T6" fmla="*/ 18 w 189"/>
                  <a:gd name="T7" fmla="*/ 3 h 227"/>
                  <a:gd name="T8" fmla="*/ 21 w 189"/>
                  <a:gd name="T9" fmla="*/ 7 h 227"/>
                  <a:gd name="T10" fmla="*/ 21 w 189"/>
                  <a:gd name="T11" fmla="*/ 11 h 227"/>
                  <a:gd name="T12" fmla="*/ 18 w 189"/>
                  <a:gd name="T13" fmla="*/ 16 h 227"/>
                  <a:gd name="T14" fmla="*/ 14 w 189"/>
                  <a:gd name="T15" fmla="*/ 19 h 227"/>
                  <a:gd name="T16" fmla="*/ 8 w 189"/>
                  <a:gd name="T17" fmla="*/ 19 h 227"/>
                  <a:gd name="T18" fmla="*/ 4 w 189"/>
                  <a:gd name="T19" fmla="*/ 21 h 227"/>
                  <a:gd name="T20" fmla="*/ 3 w 189"/>
                  <a:gd name="T21" fmla="*/ 25 h 227"/>
                  <a:gd name="T22" fmla="*/ 0 w 189"/>
                  <a:gd name="T23" fmla="*/ 23 h 227"/>
                  <a:gd name="T24" fmla="*/ 1 w 189"/>
                  <a:gd name="T25" fmla="*/ 19 h 227"/>
                  <a:gd name="T26" fmla="*/ 6 w 189"/>
                  <a:gd name="T27" fmla="*/ 16 h 227"/>
                  <a:gd name="T28" fmla="*/ 13 w 189"/>
                  <a:gd name="T29" fmla="*/ 15 h 227"/>
                  <a:gd name="T30" fmla="*/ 16 w 189"/>
                  <a:gd name="T31" fmla="*/ 12 h 227"/>
                  <a:gd name="T32" fmla="*/ 17 w 189"/>
                  <a:gd name="T33" fmla="*/ 8 h 227"/>
                  <a:gd name="T34" fmla="*/ 14 w 189"/>
                  <a:gd name="T35" fmla="*/ 4 h 227"/>
                  <a:gd name="T36" fmla="*/ 9 w 189"/>
                  <a:gd name="T37" fmla="*/ 4 h 227"/>
                  <a:gd name="T38" fmla="*/ 3 w 189"/>
                  <a:gd name="T39" fmla="*/ 5 h 227"/>
                  <a:gd name="T40" fmla="*/ 1 w 189"/>
                  <a:gd name="T41" fmla="*/ 4 h 227"/>
                  <a:gd name="T42" fmla="*/ 2 w 189"/>
                  <a:gd name="T43" fmla="*/ 1 h 22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89" h="227">
                    <a:moveTo>
                      <a:pt x="22" y="11"/>
                    </a:moveTo>
                    <a:lnTo>
                      <a:pt x="73" y="0"/>
                    </a:lnTo>
                    <a:lnTo>
                      <a:pt x="122" y="4"/>
                    </a:lnTo>
                    <a:lnTo>
                      <a:pt x="166" y="25"/>
                    </a:lnTo>
                    <a:lnTo>
                      <a:pt x="189" y="67"/>
                    </a:lnTo>
                    <a:lnTo>
                      <a:pt x="189" y="100"/>
                    </a:lnTo>
                    <a:lnTo>
                      <a:pt x="166" y="144"/>
                    </a:lnTo>
                    <a:lnTo>
                      <a:pt x="129" y="171"/>
                    </a:lnTo>
                    <a:lnTo>
                      <a:pt x="73" y="171"/>
                    </a:lnTo>
                    <a:lnTo>
                      <a:pt x="40" y="193"/>
                    </a:lnTo>
                    <a:lnTo>
                      <a:pt x="29" y="227"/>
                    </a:lnTo>
                    <a:lnTo>
                      <a:pt x="0" y="215"/>
                    </a:lnTo>
                    <a:lnTo>
                      <a:pt x="11" y="171"/>
                    </a:lnTo>
                    <a:lnTo>
                      <a:pt x="51" y="144"/>
                    </a:lnTo>
                    <a:lnTo>
                      <a:pt x="118" y="138"/>
                    </a:lnTo>
                    <a:lnTo>
                      <a:pt x="144" y="111"/>
                    </a:lnTo>
                    <a:lnTo>
                      <a:pt x="151" y="70"/>
                    </a:lnTo>
                    <a:lnTo>
                      <a:pt x="122" y="33"/>
                    </a:lnTo>
                    <a:lnTo>
                      <a:pt x="78" y="33"/>
                    </a:lnTo>
                    <a:lnTo>
                      <a:pt x="29" y="45"/>
                    </a:lnTo>
                    <a:lnTo>
                      <a:pt x="11" y="33"/>
                    </a:lnTo>
                    <a:lnTo>
                      <a:pt x="22" y="1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517" name="Freeform 179"/>
              <p:cNvSpPr>
                <a:spLocks noChangeArrowheads="1"/>
              </p:cNvSpPr>
              <p:nvPr/>
            </p:nvSpPr>
            <p:spPr bwMode="auto">
              <a:xfrm>
                <a:off x="452" y="3305"/>
                <a:ext cx="20" cy="20"/>
              </a:xfrm>
              <a:custGeom>
                <a:avLst/>
                <a:gdLst>
                  <a:gd name="T0" fmla="*/ 7 w 59"/>
                  <a:gd name="T1" fmla="*/ 0 h 61"/>
                  <a:gd name="T2" fmla="*/ 3 w 59"/>
                  <a:gd name="T3" fmla="*/ 0 h 61"/>
                  <a:gd name="T4" fmla="*/ 1 w 59"/>
                  <a:gd name="T5" fmla="*/ 2 h 61"/>
                  <a:gd name="T6" fmla="*/ 0 w 59"/>
                  <a:gd name="T7" fmla="*/ 6 h 61"/>
                  <a:gd name="T8" fmla="*/ 3 w 59"/>
                  <a:gd name="T9" fmla="*/ 7 h 61"/>
                  <a:gd name="T10" fmla="*/ 6 w 59"/>
                  <a:gd name="T11" fmla="*/ 5 h 61"/>
                  <a:gd name="T12" fmla="*/ 7 w 59"/>
                  <a:gd name="T13" fmla="*/ 0 h 6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9" h="61">
                    <a:moveTo>
                      <a:pt x="59" y="3"/>
                    </a:moveTo>
                    <a:lnTo>
                      <a:pt x="29" y="0"/>
                    </a:lnTo>
                    <a:lnTo>
                      <a:pt x="9" y="22"/>
                    </a:lnTo>
                    <a:lnTo>
                      <a:pt x="0" y="58"/>
                    </a:lnTo>
                    <a:lnTo>
                      <a:pt x="29" y="61"/>
                    </a:lnTo>
                    <a:lnTo>
                      <a:pt x="53" y="45"/>
                    </a:lnTo>
                    <a:lnTo>
                      <a:pt x="59" y="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2536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7.2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图的存储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/>
      <p:bldP spid="15367" grpId="0"/>
      <p:bldP spid="1536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Text Box 139"/>
          <p:cNvSpPr txBox="1">
            <a:spLocks noChangeArrowheads="1"/>
          </p:cNvSpPr>
          <p:nvPr/>
        </p:nvSpPr>
        <p:spPr bwMode="auto">
          <a:xfrm>
            <a:off x="652780" y="2291080"/>
            <a:ext cx="8051165" cy="4603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）一维数组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VERTEX[1:n]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存放图中所有顶点的数据信息。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6524" name="Text Box 140"/>
          <p:cNvSpPr txBox="1">
            <a:spLocks noChangeArrowheads="1"/>
          </p:cNvSpPr>
          <p:nvPr/>
        </p:nvSpPr>
        <p:spPr bwMode="auto">
          <a:xfrm>
            <a:off x="674688" y="2886075"/>
            <a:ext cx="8051800" cy="82994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）二维数组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A[1:n,1:n]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存放图中所有顶点之间关系的信息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该数组被称为邻接矩阵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6525" name="Group 141"/>
          <p:cNvGrpSpPr/>
          <p:nvPr/>
        </p:nvGrpSpPr>
        <p:grpSpPr>
          <a:xfrm>
            <a:off x="1479550" y="3697288"/>
            <a:ext cx="5235575" cy="1277937"/>
            <a:chOff x="1200" y="3484"/>
            <a:chExt cx="3298" cy="805"/>
          </a:xfrm>
        </p:grpSpPr>
        <p:sp>
          <p:nvSpPr>
            <p:cNvPr id="16427" name="Text Box 142"/>
            <p:cNvSpPr txBox="1">
              <a:spLocks noChangeArrowheads="1"/>
            </p:cNvSpPr>
            <p:nvPr/>
          </p:nvSpPr>
          <p:spPr bwMode="auto">
            <a:xfrm>
              <a:off x="1200" y="3533"/>
              <a:ext cx="3298" cy="75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                    1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当顶点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400" b="1" i="0" u="none" strike="noStrike" kern="1200" cap="none" spc="0" normalizeH="0" baseline="-18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i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到顶点</a:t>
              </a:r>
              <a:r>
                <a:rPr kumimoji="0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400" b="1" i="0" u="none" strike="noStrike" kern="1200" cap="none" spc="0" normalizeH="0" baseline="-1800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j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有边时</a:t>
              </a:r>
              <a:endPara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A[</a:t>
              </a:r>
              <a:r>
                <a:rPr kumimoji="0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, j]=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                    0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当顶点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400" b="1" i="0" u="none" strike="noStrike" kern="1200" cap="none" spc="0" normalizeH="0" baseline="-18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i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到顶点</a:t>
              </a:r>
              <a:r>
                <a:rPr kumimoji="0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400" b="1" i="0" u="none" strike="noStrike" kern="1200" cap="none" spc="0" normalizeH="0" baseline="-1400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j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无边时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28" name="Text Box 143"/>
            <p:cNvSpPr txBox="1">
              <a:spLocks noChangeArrowheads="1"/>
            </p:cNvSpPr>
            <p:nvPr/>
          </p:nvSpPr>
          <p:spPr bwMode="auto">
            <a:xfrm>
              <a:off x="1872" y="3484"/>
              <a:ext cx="373" cy="69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微软雅黑" panose="020B0503020204020204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</a:t>
              </a:r>
              <a:endPara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16528" name="Group 144"/>
          <p:cNvGrpSpPr/>
          <p:nvPr/>
        </p:nvGrpSpPr>
        <p:grpSpPr>
          <a:xfrm>
            <a:off x="1123950" y="5053013"/>
            <a:ext cx="7440613" cy="1439862"/>
            <a:chOff x="723" y="3099"/>
            <a:chExt cx="4687" cy="907"/>
          </a:xfrm>
        </p:grpSpPr>
        <p:grpSp>
          <p:nvGrpSpPr>
            <p:cNvPr id="23564" name="Group 145"/>
            <p:cNvGrpSpPr/>
            <p:nvPr/>
          </p:nvGrpSpPr>
          <p:grpSpPr>
            <a:xfrm>
              <a:off x="723" y="3099"/>
              <a:ext cx="4687" cy="907"/>
              <a:chOff x="427" y="219"/>
              <a:chExt cx="4687" cy="907"/>
            </a:xfrm>
          </p:grpSpPr>
          <p:sp>
            <p:nvSpPr>
              <p:cNvPr id="16425" name="Rectangle 146"/>
              <p:cNvSpPr>
                <a:spLocks noChangeArrowheads="1"/>
              </p:cNvSpPr>
              <p:nvPr/>
            </p:nvSpPr>
            <p:spPr bwMode="auto">
              <a:xfrm>
                <a:off x="427" y="219"/>
                <a:ext cx="4687" cy="9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75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对于带权的图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, 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有</a:t>
                </a:r>
                <a:endParaRPr kumimoji="0" lang="en-US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                        </a:t>
                </a:r>
                <a:r>
                  <a:rPr kumimoji="0" lang="en-US" altLang="zh-CN" sz="2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w</a:t>
                </a:r>
                <a:r>
                  <a:rPr kumimoji="0" lang="en-US" altLang="zh-CN" sz="2400" b="1" i="0" u="none" strike="noStrike" kern="1200" cap="none" spc="0" normalizeH="0" baseline="-2000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ij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   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当顶点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v</a:t>
                </a:r>
                <a:r>
                  <a:rPr kumimoji="0" lang="en-US" altLang="zh-CN" sz="2400" b="1" i="0" u="none" strike="noStrike" kern="1200" cap="none" spc="0" normalizeH="0" baseline="-180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i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到顶点</a:t>
                </a:r>
                <a:r>
                  <a:rPr kumimoji="0" lang="en-US" altLang="zh-CN" sz="2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v</a:t>
                </a:r>
                <a:r>
                  <a:rPr kumimoji="0" lang="en-US" altLang="zh-CN" sz="2400" b="1" i="0" u="none" strike="noStrike" kern="1200" cap="none" spc="0" normalizeH="0" baseline="-1800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j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有边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,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且边的权为</a:t>
                </a:r>
                <a:r>
                  <a:rPr kumimoji="0" lang="en-US" altLang="zh-CN" sz="2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w</a:t>
                </a:r>
                <a:r>
                  <a:rPr kumimoji="0" lang="en-US" altLang="zh-CN" sz="2400" b="1" i="0" u="none" strike="noStrike" kern="1200" cap="none" spc="0" normalizeH="0" baseline="-2000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ij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    A[</a:t>
                </a:r>
                <a:r>
                  <a:rPr kumimoji="0" lang="en-US" altLang="zh-CN" sz="2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i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, j]=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                                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当顶点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v</a:t>
                </a:r>
                <a:r>
                  <a:rPr kumimoji="0" lang="en-US" altLang="zh-CN" sz="2400" b="1" i="0" u="none" strike="noStrike" kern="1200" cap="none" spc="0" normalizeH="0" baseline="-180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i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到顶点</a:t>
                </a:r>
                <a:r>
                  <a:rPr kumimoji="0" lang="en-US" altLang="zh-CN" sz="2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v</a:t>
                </a:r>
                <a:r>
                  <a:rPr kumimoji="0" lang="en-US" altLang="zh-CN" sz="2400" b="1" i="0" u="none" strike="noStrike" kern="1200" cap="none" spc="0" normalizeH="0" baseline="-1400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j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无边时</a:t>
                </a:r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26" name="Rectangle 147"/>
              <p:cNvSpPr>
                <a:spLocks noChangeArrowheads="1"/>
              </p:cNvSpPr>
              <p:nvPr/>
            </p:nvSpPr>
            <p:spPr bwMode="auto">
              <a:xfrm>
                <a:off x="1260" y="399"/>
                <a:ext cx="372" cy="6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6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微软雅黑" panose="020B050302020402020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</a:t>
                </a:r>
                <a:endPara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微软雅黑" panose="020B0503020204020204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23565" name="Group 148"/>
            <p:cNvGrpSpPr/>
            <p:nvPr/>
          </p:nvGrpSpPr>
          <p:grpSpPr>
            <a:xfrm>
              <a:off x="1872" y="3647"/>
              <a:ext cx="313" cy="330"/>
              <a:chOff x="48" y="3647"/>
              <a:chExt cx="313" cy="330"/>
            </a:xfrm>
          </p:grpSpPr>
          <p:sp>
            <p:nvSpPr>
              <p:cNvPr id="16423" name="Text Box 149"/>
              <p:cNvSpPr txBox="1">
                <a:spLocks noChangeArrowheads="1"/>
              </p:cNvSpPr>
              <p:nvPr/>
            </p:nvSpPr>
            <p:spPr bwMode="auto">
              <a:xfrm>
                <a:off x="132" y="3647"/>
                <a:ext cx="229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o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24" name="Text Box 150"/>
              <p:cNvSpPr txBox="1">
                <a:spLocks noChangeArrowheads="1"/>
              </p:cNvSpPr>
              <p:nvPr/>
            </p:nvSpPr>
            <p:spPr bwMode="auto">
              <a:xfrm>
                <a:off x="48" y="3647"/>
                <a:ext cx="229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o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1184275" y="1031875"/>
            <a:ext cx="7519988" cy="960438"/>
            <a:chOff x="1184275" y="1031221"/>
            <a:chExt cx="7520781" cy="961092"/>
          </a:xfrm>
        </p:grpSpPr>
        <p:sp>
          <p:nvSpPr>
            <p:cNvPr id="23562" name="Text Box 138"/>
            <p:cNvSpPr txBox="1"/>
            <p:nvPr/>
          </p:nvSpPr>
          <p:spPr>
            <a:xfrm>
              <a:off x="1184275" y="1503363"/>
              <a:ext cx="5638800" cy="488950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600" b="1" dirty="0"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600" b="1" dirty="0"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核心思想</a:t>
              </a:r>
              <a:r>
                <a:rPr lang="en-US" altLang="zh-CN" sz="2400" b="1" dirty="0"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: </a:t>
              </a:r>
              <a:r>
                <a:rPr lang="zh-CN" altLang="en-US" sz="2400" b="1" dirty="0"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采用两个数组存储一个图</a:t>
              </a:r>
              <a:endPara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392" name="Group 151"/>
            <p:cNvGrpSpPr/>
            <p:nvPr/>
          </p:nvGrpSpPr>
          <p:grpSpPr bwMode="auto">
            <a:xfrm>
              <a:off x="6266656" y="1031221"/>
              <a:ext cx="2438400" cy="533400"/>
              <a:chOff x="3744" y="336"/>
              <a:chExt cx="1536" cy="336"/>
            </a:xfrm>
            <a:solidFill>
              <a:srgbClr val="FFC000"/>
            </a:solidFill>
          </p:grpSpPr>
          <p:sp>
            <p:nvSpPr>
              <p:cNvPr id="16536" name="AutoShape 152"/>
              <p:cNvSpPr>
                <a:spLocks noChangeArrowheads="1"/>
              </p:cNvSpPr>
              <p:nvPr/>
            </p:nvSpPr>
            <p:spPr bwMode="auto">
              <a:xfrm>
                <a:off x="3744" y="336"/>
                <a:ext cx="1536" cy="336"/>
              </a:xfrm>
              <a:prstGeom prst="cloudCallout">
                <a:avLst>
                  <a:gd name="adj1" fmla="val -81056"/>
                  <a:gd name="adj2" fmla="val 38690"/>
                </a:avLst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20" name="Text Box 153"/>
              <p:cNvSpPr txBox="1">
                <a:spLocks noChangeArrowheads="1"/>
              </p:cNvSpPr>
              <p:nvPr/>
            </p:nvSpPr>
            <p:spPr bwMode="auto">
              <a:xfrm>
                <a:off x="3957" y="381"/>
                <a:ext cx="1082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+mn-cs"/>
                  </a:rPr>
                  <a:t>数组存储方法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23559" name="Oval 7"/>
          <p:cNvSpPr/>
          <p:nvPr/>
        </p:nvSpPr>
        <p:spPr>
          <a:xfrm>
            <a:off x="595313" y="919163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60" name="Text Box 8"/>
          <p:cNvSpPr txBox="1"/>
          <p:nvPr/>
        </p:nvSpPr>
        <p:spPr>
          <a:xfrm>
            <a:off x="914400" y="841375"/>
            <a:ext cx="344646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邻接矩阵存储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3561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7.2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图的存储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/>
      <p:bldP spid="165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43" name="Group 35"/>
          <p:cNvGrpSpPr/>
          <p:nvPr/>
        </p:nvGrpSpPr>
        <p:grpSpPr>
          <a:xfrm>
            <a:off x="5083175" y="1866900"/>
            <a:ext cx="2633663" cy="1322388"/>
            <a:chOff x="3285" y="1785"/>
            <a:chExt cx="1659" cy="833"/>
          </a:xfrm>
        </p:grpSpPr>
        <p:grpSp>
          <p:nvGrpSpPr>
            <p:cNvPr id="25667" name="Group 36"/>
            <p:cNvGrpSpPr/>
            <p:nvPr/>
          </p:nvGrpSpPr>
          <p:grpSpPr>
            <a:xfrm>
              <a:off x="3792" y="1785"/>
              <a:ext cx="1152" cy="833"/>
              <a:chOff x="3312" y="1785"/>
              <a:chExt cx="1152" cy="833"/>
            </a:xfrm>
          </p:grpSpPr>
          <p:sp>
            <p:nvSpPr>
              <p:cNvPr id="25669" name="Text Box 37"/>
              <p:cNvSpPr txBox="1"/>
              <p:nvPr/>
            </p:nvSpPr>
            <p:spPr>
              <a:xfrm>
                <a:off x="3446" y="1785"/>
                <a:ext cx="915" cy="8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0    1    1    1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eaLnBrk="1" hangingPunct="1"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1    0    1    1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eaLnBrk="1" hangingPunct="1"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1    1    0    1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eaLnBrk="1" hangingPunct="1"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1    1    1    0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670" name="Line 38"/>
              <p:cNvSpPr/>
              <p:nvPr/>
            </p:nvSpPr>
            <p:spPr>
              <a:xfrm flipH="1">
                <a:off x="3312" y="1872"/>
                <a:ext cx="0" cy="672"/>
              </a:xfrm>
              <a:prstGeom prst="line">
                <a:avLst/>
              </a:prstGeom>
              <a:ln w="31750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5671" name="Line 39"/>
              <p:cNvSpPr/>
              <p:nvPr/>
            </p:nvSpPr>
            <p:spPr>
              <a:xfrm flipH="1">
                <a:off x="4464" y="1872"/>
                <a:ext cx="0" cy="672"/>
              </a:xfrm>
              <a:prstGeom prst="line">
                <a:avLst/>
              </a:prstGeom>
              <a:ln w="31750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5672" name="Line 40"/>
              <p:cNvSpPr/>
              <p:nvPr/>
            </p:nvSpPr>
            <p:spPr>
              <a:xfrm flipV="1">
                <a:off x="3312" y="1824"/>
                <a:ext cx="96" cy="48"/>
              </a:xfrm>
              <a:prstGeom prst="line">
                <a:avLst/>
              </a:prstGeom>
              <a:ln w="31750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5673" name="Line 41"/>
              <p:cNvSpPr/>
              <p:nvPr/>
            </p:nvSpPr>
            <p:spPr>
              <a:xfrm flipV="1">
                <a:off x="4320" y="2544"/>
                <a:ext cx="144" cy="48"/>
              </a:xfrm>
              <a:prstGeom prst="line">
                <a:avLst/>
              </a:prstGeom>
              <a:ln w="31750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5674" name="Line 42"/>
              <p:cNvSpPr/>
              <p:nvPr/>
            </p:nvSpPr>
            <p:spPr>
              <a:xfrm>
                <a:off x="4368" y="1824"/>
                <a:ext cx="96" cy="48"/>
              </a:xfrm>
              <a:prstGeom prst="line">
                <a:avLst/>
              </a:prstGeom>
              <a:ln w="31750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5675" name="Line 43"/>
              <p:cNvSpPr/>
              <p:nvPr/>
            </p:nvSpPr>
            <p:spPr>
              <a:xfrm>
                <a:off x="3312" y="2544"/>
                <a:ext cx="96" cy="48"/>
              </a:xfrm>
              <a:prstGeom prst="line">
                <a:avLst/>
              </a:prstGeom>
              <a:ln w="31750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25668" name="Text Box 44"/>
            <p:cNvSpPr txBox="1"/>
            <p:nvPr/>
          </p:nvSpPr>
          <p:spPr>
            <a:xfrm>
              <a:off x="3285" y="2016"/>
              <a:ext cx="464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322638" y="1485900"/>
            <a:ext cx="1541462" cy="1767206"/>
            <a:chOff x="3987800" y="914400"/>
            <a:chExt cx="1541320" cy="1767268"/>
          </a:xfrm>
        </p:grpSpPr>
        <p:sp>
          <p:nvSpPr>
            <p:cNvPr id="25658" name="Rectangle 46"/>
            <p:cNvSpPr/>
            <p:nvPr/>
          </p:nvSpPr>
          <p:spPr>
            <a:xfrm>
              <a:off x="4748213" y="1447800"/>
              <a:ext cx="304800" cy="304800"/>
            </a:xfrm>
            <a:prstGeom prst="rect">
              <a:avLst/>
            </a:prstGeom>
            <a:noFill/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59" name="Rectangle 47"/>
            <p:cNvSpPr/>
            <p:nvPr/>
          </p:nvSpPr>
          <p:spPr>
            <a:xfrm>
              <a:off x="4748213" y="1752600"/>
              <a:ext cx="304800" cy="304800"/>
            </a:xfrm>
            <a:prstGeom prst="rect">
              <a:avLst/>
            </a:prstGeom>
            <a:noFill/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60" name="Rectangle 48"/>
            <p:cNvSpPr/>
            <p:nvPr/>
          </p:nvSpPr>
          <p:spPr>
            <a:xfrm>
              <a:off x="4748213" y="2362200"/>
              <a:ext cx="304800" cy="304800"/>
            </a:xfrm>
            <a:prstGeom prst="rect">
              <a:avLst/>
            </a:prstGeom>
            <a:noFill/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61" name="Rectangle 49"/>
            <p:cNvSpPr/>
            <p:nvPr/>
          </p:nvSpPr>
          <p:spPr>
            <a:xfrm>
              <a:off x="4748213" y="2057400"/>
              <a:ext cx="304800" cy="304800"/>
            </a:xfrm>
            <a:prstGeom prst="rect">
              <a:avLst/>
            </a:prstGeom>
            <a:noFill/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62" name="Text Box 50"/>
            <p:cNvSpPr txBox="1"/>
            <p:nvPr/>
          </p:nvSpPr>
          <p:spPr>
            <a:xfrm>
              <a:off x="4716776" y="1377828"/>
              <a:ext cx="39786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0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63" name="Text Box 51"/>
            <p:cNvSpPr txBox="1"/>
            <p:nvPr/>
          </p:nvSpPr>
          <p:spPr>
            <a:xfrm>
              <a:off x="4708412" y="1657200"/>
              <a:ext cx="39786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1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1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64" name="Text Box 52"/>
            <p:cNvSpPr txBox="1"/>
            <p:nvPr/>
          </p:nvSpPr>
          <p:spPr>
            <a:xfrm>
              <a:off x="4723018" y="1971677"/>
              <a:ext cx="39786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1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1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65" name="Text Box 53"/>
            <p:cNvSpPr txBox="1"/>
            <p:nvPr/>
          </p:nvSpPr>
          <p:spPr>
            <a:xfrm>
              <a:off x="4712648" y="2284793"/>
              <a:ext cx="473075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1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1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66" name="Text Box 54"/>
            <p:cNvSpPr txBox="1"/>
            <p:nvPr/>
          </p:nvSpPr>
          <p:spPr>
            <a:xfrm>
              <a:off x="3987800" y="914400"/>
              <a:ext cx="1541320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Vertex1[1:4]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604" name="Oval 115"/>
          <p:cNvSpPr/>
          <p:nvPr/>
        </p:nvSpPr>
        <p:spPr>
          <a:xfrm>
            <a:off x="1760538" y="1693863"/>
            <a:ext cx="371475" cy="284162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5" name="Oval 116"/>
          <p:cNvSpPr/>
          <p:nvPr/>
        </p:nvSpPr>
        <p:spPr>
          <a:xfrm>
            <a:off x="1016000" y="2401888"/>
            <a:ext cx="371475" cy="284162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6" name="Oval 117"/>
          <p:cNvSpPr/>
          <p:nvPr/>
        </p:nvSpPr>
        <p:spPr>
          <a:xfrm>
            <a:off x="1795463" y="3122613"/>
            <a:ext cx="371475" cy="282575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7" name="Oval 118"/>
          <p:cNvSpPr/>
          <p:nvPr/>
        </p:nvSpPr>
        <p:spPr>
          <a:xfrm>
            <a:off x="2568575" y="2392363"/>
            <a:ext cx="371475" cy="282575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8" name="Line 119"/>
          <p:cNvSpPr/>
          <p:nvPr/>
        </p:nvSpPr>
        <p:spPr>
          <a:xfrm flipV="1">
            <a:off x="1323975" y="1906588"/>
            <a:ext cx="511175" cy="520700"/>
          </a:xfrm>
          <a:prstGeom prst="line">
            <a:avLst/>
          </a:prstGeom>
          <a:ln w="31750" cap="flat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609" name="Line 120"/>
          <p:cNvSpPr/>
          <p:nvPr/>
        </p:nvSpPr>
        <p:spPr>
          <a:xfrm>
            <a:off x="1387475" y="2543175"/>
            <a:ext cx="1192213" cy="0"/>
          </a:xfrm>
          <a:prstGeom prst="line">
            <a:avLst/>
          </a:prstGeom>
          <a:ln w="31750" cap="flat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610" name="Line 121"/>
          <p:cNvSpPr/>
          <p:nvPr/>
        </p:nvSpPr>
        <p:spPr>
          <a:xfrm>
            <a:off x="1984375" y="1976438"/>
            <a:ext cx="0" cy="1133475"/>
          </a:xfrm>
          <a:prstGeom prst="line">
            <a:avLst/>
          </a:prstGeom>
          <a:ln w="31750" cap="flat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611" name="Line 122"/>
          <p:cNvSpPr/>
          <p:nvPr/>
        </p:nvSpPr>
        <p:spPr>
          <a:xfrm>
            <a:off x="2120900" y="1919288"/>
            <a:ext cx="484188" cy="484187"/>
          </a:xfrm>
          <a:prstGeom prst="line">
            <a:avLst/>
          </a:prstGeom>
          <a:ln w="31750" cap="flat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612" name="Line 123"/>
          <p:cNvSpPr/>
          <p:nvPr/>
        </p:nvSpPr>
        <p:spPr>
          <a:xfrm flipV="1">
            <a:off x="2132013" y="2651125"/>
            <a:ext cx="523875" cy="530225"/>
          </a:xfrm>
          <a:prstGeom prst="line">
            <a:avLst/>
          </a:prstGeom>
          <a:ln w="31750" cap="flat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613" name="Line 124"/>
          <p:cNvSpPr/>
          <p:nvPr/>
        </p:nvSpPr>
        <p:spPr>
          <a:xfrm>
            <a:off x="1336675" y="2671763"/>
            <a:ext cx="498475" cy="509587"/>
          </a:xfrm>
          <a:prstGeom prst="line">
            <a:avLst/>
          </a:prstGeom>
          <a:ln w="31750" cap="flat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614" name="Text Box 125"/>
          <p:cNvSpPr txBox="1"/>
          <p:nvPr/>
        </p:nvSpPr>
        <p:spPr>
          <a:xfrm>
            <a:off x="1751013" y="1584325"/>
            <a:ext cx="415925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15" name="Rectangle 126"/>
          <p:cNvSpPr/>
          <p:nvPr/>
        </p:nvSpPr>
        <p:spPr>
          <a:xfrm>
            <a:off x="1016000" y="2289175"/>
            <a:ext cx="415925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16" name="Rectangle 127"/>
          <p:cNvSpPr/>
          <p:nvPr/>
        </p:nvSpPr>
        <p:spPr>
          <a:xfrm>
            <a:off x="2568575" y="2281238"/>
            <a:ext cx="415925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0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17" name="Rectangle 128"/>
          <p:cNvSpPr/>
          <p:nvPr/>
        </p:nvSpPr>
        <p:spPr>
          <a:xfrm>
            <a:off x="1795463" y="3005138"/>
            <a:ext cx="415925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0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246438" y="4152900"/>
            <a:ext cx="1541462" cy="1809750"/>
            <a:chOff x="3911600" y="3581400"/>
            <a:chExt cx="1541320" cy="1809750"/>
          </a:xfrm>
        </p:grpSpPr>
        <p:sp>
          <p:nvSpPr>
            <p:cNvPr id="25649" name="Rectangle 74"/>
            <p:cNvSpPr/>
            <p:nvPr/>
          </p:nvSpPr>
          <p:spPr>
            <a:xfrm>
              <a:off x="4722813" y="4114800"/>
              <a:ext cx="304800" cy="304800"/>
            </a:xfrm>
            <a:prstGeom prst="rect">
              <a:avLst/>
            </a:prstGeom>
            <a:noFill/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50" name="Rectangle 75"/>
            <p:cNvSpPr/>
            <p:nvPr/>
          </p:nvSpPr>
          <p:spPr>
            <a:xfrm>
              <a:off x="4722813" y="4419600"/>
              <a:ext cx="304800" cy="304800"/>
            </a:xfrm>
            <a:prstGeom prst="rect">
              <a:avLst/>
            </a:prstGeom>
            <a:noFill/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51" name="Rectangle 76"/>
            <p:cNvSpPr/>
            <p:nvPr/>
          </p:nvSpPr>
          <p:spPr>
            <a:xfrm>
              <a:off x="4722813" y="5029200"/>
              <a:ext cx="304800" cy="304800"/>
            </a:xfrm>
            <a:prstGeom prst="rect">
              <a:avLst/>
            </a:prstGeom>
            <a:noFill/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52" name="Rectangle 77"/>
            <p:cNvSpPr/>
            <p:nvPr/>
          </p:nvSpPr>
          <p:spPr>
            <a:xfrm>
              <a:off x="4722813" y="4724400"/>
              <a:ext cx="304800" cy="304800"/>
            </a:xfrm>
            <a:prstGeom prst="rect">
              <a:avLst/>
            </a:prstGeom>
            <a:noFill/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53" name="Text Box 78"/>
            <p:cNvSpPr txBox="1"/>
            <p:nvPr/>
          </p:nvSpPr>
          <p:spPr>
            <a:xfrm>
              <a:off x="4682259" y="4064214"/>
              <a:ext cx="39786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0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54" name="Text Box 79"/>
            <p:cNvSpPr txBox="1"/>
            <p:nvPr/>
          </p:nvSpPr>
          <p:spPr>
            <a:xfrm>
              <a:off x="4673962" y="4343340"/>
              <a:ext cx="39786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1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1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55" name="Text Box 80"/>
            <p:cNvSpPr txBox="1"/>
            <p:nvPr/>
          </p:nvSpPr>
          <p:spPr>
            <a:xfrm>
              <a:off x="4697039" y="4659283"/>
              <a:ext cx="39786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1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1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56" name="Text Box 81"/>
            <p:cNvSpPr txBox="1"/>
            <p:nvPr/>
          </p:nvSpPr>
          <p:spPr>
            <a:xfrm>
              <a:off x="4697039" y="4994275"/>
              <a:ext cx="473075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1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1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57" name="Text Box 82"/>
            <p:cNvSpPr txBox="1"/>
            <p:nvPr/>
          </p:nvSpPr>
          <p:spPr>
            <a:xfrm>
              <a:off x="3911600" y="3581400"/>
              <a:ext cx="1541320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Vertex2[1:4]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491" name="Group 83"/>
          <p:cNvGrpSpPr/>
          <p:nvPr/>
        </p:nvGrpSpPr>
        <p:grpSpPr>
          <a:xfrm>
            <a:off x="5083175" y="4305300"/>
            <a:ext cx="2633663" cy="1570038"/>
            <a:chOff x="3285" y="3133"/>
            <a:chExt cx="1659" cy="989"/>
          </a:xfrm>
        </p:grpSpPr>
        <p:grpSp>
          <p:nvGrpSpPr>
            <p:cNvPr id="25640" name="Group 84"/>
            <p:cNvGrpSpPr/>
            <p:nvPr/>
          </p:nvGrpSpPr>
          <p:grpSpPr>
            <a:xfrm>
              <a:off x="3792" y="3133"/>
              <a:ext cx="1152" cy="989"/>
              <a:chOff x="3312" y="1750"/>
              <a:chExt cx="1152" cy="989"/>
            </a:xfrm>
          </p:grpSpPr>
          <p:sp>
            <p:nvSpPr>
              <p:cNvPr id="25642" name="Text Box 85"/>
              <p:cNvSpPr txBox="1"/>
              <p:nvPr/>
            </p:nvSpPr>
            <p:spPr>
              <a:xfrm>
                <a:off x="3446" y="1750"/>
                <a:ext cx="943" cy="98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</a:pPr>
                <a:r>
                  <a:rPr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6   </a:t>
                </a:r>
                <a:r>
                  <a:rPr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  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eaLnBrk="1" hangingPunct="1"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  </a:t>
                </a:r>
                <a:r>
                  <a:rPr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7   </a:t>
                </a:r>
                <a:r>
                  <a:rPr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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eaLnBrk="1" hangingPunct="1">
                  <a:spcBef>
                    <a:spcPct val="0"/>
                  </a:spcBef>
                </a:pPr>
                <a:r>
                  <a:rPr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    0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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eaLnBrk="1" hangingPunct="1">
                  <a:spcBef>
                    <a:spcPct val="0"/>
                  </a:spcBef>
                </a:pPr>
                <a:r>
                  <a:rPr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    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8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endPara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25643" name="Line 86"/>
              <p:cNvSpPr/>
              <p:nvPr/>
            </p:nvSpPr>
            <p:spPr>
              <a:xfrm flipH="1">
                <a:off x="3312" y="1872"/>
                <a:ext cx="0" cy="672"/>
              </a:xfrm>
              <a:prstGeom prst="line">
                <a:avLst/>
              </a:prstGeom>
              <a:ln w="31750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5644" name="Line 87"/>
              <p:cNvSpPr/>
              <p:nvPr/>
            </p:nvSpPr>
            <p:spPr>
              <a:xfrm flipH="1">
                <a:off x="4464" y="1872"/>
                <a:ext cx="0" cy="672"/>
              </a:xfrm>
              <a:prstGeom prst="line">
                <a:avLst/>
              </a:prstGeom>
              <a:ln w="31750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5645" name="Line 88"/>
              <p:cNvSpPr/>
              <p:nvPr/>
            </p:nvSpPr>
            <p:spPr>
              <a:xfrm flipV="1">
                <a:off x="3312" y="1824"/>
                <a:ext cx="96" cy="48"/>
              </a:xfrm>
              <a:prstGeom prst="line">
                <a:avLst/>
              </a:prstGeom>
              <a:ln w="31750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5646" name="Line 89"/>
              <p:cNvSpPr/>
              <p:nvPr/>
            </p:nvSpPr>
            <p:spPr>
              <a:xfrm flipV="1">
                <a:off x="4320" y="2544"/>
                <a:ext cx="144" cy="48"/>
              </a:xfrm>
              <a:prstGeom prst="line">
                <a:avLst/>
              </a:prstGeom>
              <a:ln w="31750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5647" name="Line 90"/>
              <p:cNvSpPr/>
              <p:nvPr/>
            </p:nvSpPr>
            <p:spPr>
              <a:xfrm>
                <a:off x="4368" y="1824"/>
                <a:ext cx="96" cy="48"/>
              </a:xfrm>
              <a:prstGeom prst="line">
                <a:avLst/>
              </a:prstGeom>
              <a:ln w="31750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5648" name="Line 91"/>
              <p:cNvSpPr/>
              <p:nvPr/>
            </p:nvSpPr>
            <p:spPr>
              <a:xfrm>
                <a:off x="3312" y="2544"/>
                <a:ext cx="96" cy="48"/>
              </a:xfrm>
              <a:prstGeom prst="line">
                <a:avLst/>
              </a:prstGeom>
              <a:ln w="31750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25641" name="Rectangle 92"/>
            <p:cNvSpPr/>
            <p:nvPr/>
          </p:nvSpPr>
          <p:spPr>
            <a:xfrm>
              <a:off x="3285" y="3408"/>
              <a:ext cx="464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103313" y="4359275"/>
            <a:ext cx="1925637" cy="1844675"/>
            <a:chOff x="1768475" y="3788202"/>
            <a:chExt cx="1925819" cy="1843821"/>
          </a:xfrm>
        </p:grpSpPr>
        <p:sp>
          <p:nvSpPr>
            <p:cNvPr id="25624" name="Oval 141"/>
            <p:cNvSpPr/>
            <p:nvPr/>
          </p:nvSpPr>
          <p:spPr>
            <a:xfrm>
              <a:off x="2505075" y="3890963"/>
              <a:ext cx="361950" cy="28575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25" name="Oval 142"/>
            <p:cNvSpPr/>
            <p:nvPr/>
          </p:nvSpPr>
          <p:spPr>
            <a:xfrm>
              <a:off x="1781175" y="4605338"/>
              <a:ext cx="361950" cy="28575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26" name="Oval 143"/>
            <p:cNvSpPr/>
            <p:nvPr/>
          </p:nvSpPr>
          <p:spPr>
            <a:xfrm>
              <a:off x="2505075" y="5319713"/>
              <a:ext cx="361950" cy="28575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27" name="Oval 144"/>
            <p:cNvSpPr/>
            <p:nvPr/>
          </p:nvSpPr>
          <p:spPr>
            <a:xfrm>
              <a:off x="3302000" y="4533900"/>
              <a:ext cx="361950" cy="28575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28" name="Line 145"/>
            <p:cNvSpPr/>
            <p:nvPr/>
          </p:nvSpPr>
          <p:spPr>
            <a:xfrm flipV="1">
              <a:off x="2143125" y="4676775"/>
              <a:ext cx="1230313" cy="0"/>
            </a:xfrm>
            <a:prstGeom prst="line">
              <a:avLst/>
            </a:prstGeom>
            <a:ln w="3175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lg"/>
            </a:ln>
          </p:spPr>
        </p:sp>
        <p:sp>
          <p:nvSpPr>
            <p:cNvPr id="25629" name="Line 146"/>
            <p:cNvSpPr/>
            <p:nvPr/>
          </p:nvSpPr>
          <p:spPr>
            <a:xfrm flipV="1">
              <a:off x="2833688" y="4819650"/>
              <a:ext cx="552450" cy="547688"/>
            </a:xfrm>
            <a:prstGeom prst="line">
              <a:avLst/>
            </a:prstGeom>
            <a:ln w="3175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lg"/>
            </a:ln>
          </p:spPr>
        </p:sp>
        <p:sp>
          <p:nvSpPr>
            <p:cNvPr id="25630" name="Freeform 147"/>
            <p:cNvSpPr/>
            <p:nvPr/>
          </p:nvSpPr>
          <p:spPr>
            <a:xfrm>
              <a:off x="1781175" y="3819525"/>
              <a:ext cx="723900" cy="857250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864" h="440">
                  <a:moveTo>
                    <a:pt x="0" y="440"/>
                  </a:moveTo>
                  <a:cubicBezTo>
                    <a:pt x="72" y="276"/>
                    <a:pt x="144" y="112"/>
                    <a:pt x="288" y="56"/>
                  </a:cubicBezTo>
                  <a:cubicBezTo>
                    <a:pt x="432" y="0"/>
                    <a:pt x="768" y="96"/>
                    <a:pt x="864" y="104"/>
                  </a:cubicBezTo>
                </a:path>
              </a:pathLst>
            </a:custGeom>
            <a:noFill/>
            <a:ln w="31750" cap="flat" cmpd="sng">
              <a:solidFill>
                <a:schemeClr val="accent4">
                  <a:lumMod val="75000"/>
                  <a:alpha val="100000"/>
                </a:schemeClr>
              </a:solidFill>
              <a:prstDash val="solid"/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5631" name="Freeform 148"/>
            <p:cNvSpPr/>
            <p:nvPr/>
          </p:nvSpPr>
          <p:spPr>
            <a:xfrm>
              <a:off x="2143125" y="4176713"/>
              <a:ext cx="579438" cy="714375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0" t="0" r="0" b="0"/>
              <a:pathLst>
                <a:path w="768" h="328">
                  <a:moveTo>
                    <a:pt x="0" y="240"/>
                  </a:moveTo>
                  <a:cubicBezTo>
                    <a:pt x="152" y="284"/>
                    <a:pt x="304" y="328"/>
                    <a:pt x="432" y="288"/>
                  </a:cubicBezTo>
                  <a:cubicBezTo>
                    <a:pt x="560" y="248"/>
                    <a:pt x="712" y="48"/>
                    <a:pt x="768" y="0"/>
                  </a:cubicBezTo>
                </a:path>
              </a:pathLst>
            </a:custGeom>
            <a:noFill/>
            <a:ln w="31750" cap="flat" cmpd="sng">
              <a:solidFill>
                <a:schemeClr val="accent4">
                  <a:lumMod val="75000"/>
                  <a:alpha val="100000"/>
                </a:schemeClr>
              </a:solidFill>
              <a:prstDash val="solid"/>
              <a:round/>
              <a:headEnd type="triangle" w="med" len="med"/>
              <a:tailEnd type="none" w="sm" len="sm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5632" name="Rectangle 149"/>
            <p:cNvSpPr/>
            <p:nvPr/>
          </p:nvSpPr>
          <p:spPr>
            <a:xfrm>
              <a:off x="2500312" y="3788202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33" name="Rectangle 150"/>
            <p:cNvSpPr/>
            <p:nvPr/>
          </p:nvSpPr>
          <p:spPr>
            <a:xfrm>
              <a:off x="1768475" y="4510088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34" name="Rectangle 151"/>
            <p:cNvSpPr/>
            <p:nvPr/>
          </p:nvSpPr>
          <p:spPr>
            <a:xfrm>
              <a:off x="3300594" y="4429125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35" name="Rectangle 152"/>
            <p:cNvSpPr/>
            <p:nvPr/>
          </p:nvSpPr>
          <p:spPr>
            <a:xfrm>
              <a:off x="2486025" y="5235148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36" name="Text Box 153"/>
            <p:cNvSpPr txBox="1"/>
            <p:nvPr/>
          </p:nvSpPr>
          <p:spPr>
            <a:xfrm>
              <a:off x="1997075" y="3910013"/>
              <a:ext cx="311150" cy="3968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37" name="Text Box 154"/>
            <p:cNvSpPr txBox="1"/>
            <p:nvPr/>
          </p:nvSpPr>
          <p:spPr>
            <a:xfrm>
              <a:off x="2273300" y="4230688"/>
              <a:ext cx="311150" cy="3968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38" name="Text Box 155"/>
            <p:cNvSpPr txBox="1"/>
            <p:nvPr/>
          </p:nvSpPr>
          <p:spPr>
            <a:xfrm>
              <a:off x="2724150" y="4346575"/>
              <a:ext cx="311150" cy="3968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39" name="Text Box 156"/>
            <p:cNvSpPr txBox="1"/>
            <p:nvPr/>
          </p:nvSpPr>
          <p:spPr>
            <a:xfrm>
              <a:off x="2741613" y="4822825"/>
              <a:ext cx="311150" cy="3968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621" name="Oval 7"/>
          <p:cNvSpPr/>
          <p:nvPr/>
        </p:nvSpPr>
        <p:spPr>
          <a:xfrm>
            <a:off x="595313" y="919163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22" name="Text Box 8"/>
          <p:cNvSpPr txBox="1"/>
          <p:nvPr/>
        </p:nvSpPr>
        <p:spPr>
          <a:xfrm>
            <a:off x="914400" y="841375"/>
            <a:ext cx="344646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邻接矩阵存储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5623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7.2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图的存储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8" name="Text Box 86"/>
          <p:cNvSpPr txBox="1"/>
          <p:nvPr/>
        </p:nvSpPr>
        <p:spPr>
          <a:xfrm>
            <a:off x="1306513" y="2235200"/>
            <a:ext cx="746760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(1)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无向图的邻接矩阵一定是一个对称矩阵。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8519" name="Text Box 87"/>
          <p:cNvSpPr txBox="1"/>
          <p:nvPr/>
        </p:nvSpPr>
        <p:spPr>
          <a:xfrm>
            <a:off x="1304925" y="2947988"/>
            <a:ext cx="740473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(2)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不带权的有向图的邻接矩阵一般是一个稀疏矩阵。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8520" name="Text Box 88"/>
          <p:cNvSpPr txBox="1"/>
          <p:nvPr/>
        </p:nvSpPr>
        <p:spPr>
          <a:xfrm>
            <a:off x="1304925" y="3675063"/>
            <a:ext cx="7267575" cy="9398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15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(3)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无向图的邻接矩阵的第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行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或第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列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非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或非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元素的个数为第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个顶点的度数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8521" name="Text Box 89"/>
          <p:cNvSpPr txBox="1"/>
          <p:nvPr/>
        </p:nvSpPr>
        <p:spPr>
          <a:xfrm>
            <a:off x="1308100" y="4813300"/>
            <a:ext cx="7264400" cy="136461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15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(4)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有向图的邻接矩阵的第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行非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或非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元素的个数为第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个顶点的出度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;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第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列非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或非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元素的个数为第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个顶点的入度。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6630" name="Oval 7"/>
          <p:cNvSpPr/>
          <p:nvPr/>
        </p:nvSpPr>
        <p:spPr>
          <a:xfrm>
            <a:off x="595313" y="919163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6631" name="Text Box 8"/>
          <p:cNvSpPr txBox="1"/>
          <p:nvPr/>
        </p:nvSpPr>
        <p:spPr>
          <a:xfrm>
            <a:off x="914400" y="841375"/>
            <a:ext cx="344646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邻接矩阵存储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6632" name="矩形 2"/>
          <p:cNvSpPr/>
          <p:nvPr/>
        </p:nvSpPr>
        <p:spPr>
          <a:xfrm>
            <a:off x="1023938" y="1801813"/>
            <a:ext cx="7680325" cy="4552950"/>
          </a:xfrm>
          <a:prstGeom prst="rect">
            <a:avLst/>
          </a:prstGeom>
          <a:noFill/>
          <a:ln w="50800" cap="flat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33" name="矩形 1"/>
          <p:cNvSpPr/>
          <p:nvPr/>
        </p:nvSpPr>
        <p:spPr>
          <a:xfrm>
            <a:off x="701675" y="1527175"/>
            <a:ext cx="1487488" cy="584200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特 点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6634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7.2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图的存储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18" grpId="0"/>
      <p:bldP spid="18519" grpId="0"/>
      <p:bldP spid="18520" grpId="0"/>
      <p:bldP spid="185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9" name="Rectangle 5"/>
          <p:cNvSpPr>
            <a:spLocks noChangeArrowheads="1"/>
          </p:cNvSpPr>
          <p:nvPr/>
        </p:nvSpPr>
        <p:spPr bwMode="auto">
          <a:xfrm>
            <a:off x="155575" y="1954213"/>
            <a:ext cx="7234238" cy="223266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typedef struct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vextype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Vexs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Vnum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];  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顶点的信息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int arcs[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Vnum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Vnum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];  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邻接矩阵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} graph;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39270" name="Rectangle 6"/>
          <p:cNvSpPr>
            <a:spLocks noChangeArrowheads="1"/>
          </p:cNvSpPr>
          <p:nvPr/>
        </p:nvSpPr>
        <p:spPr bwMode="auto">
          <a:xfrm>
            <a:off x="411163" y="4371975"/>
            <a:ext cx="8321675" cy="142049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2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若图中每个顶点只含一个编号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，则只需一个二维数组表示图的邻接矩阵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: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int arcs[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Vnum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][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Vnum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];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7652" name="Oval 7"/>
          <p:cNvSpPr/>
          <p:nvPr/>
        </p:nvSpPr>
        <p:spPr>
          <a:xfrm>
            <a:off x="595313" y="919163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7653" name="Text Box 8"/>
          <p:cNvSpPr txBox="1"/>
          <p:nvPr/>
        </p:nvSpPr>
        <p:spPr>
          <a:xfrm>
            <a:off x="914400" y="841375"/>
            <a:ext cx="344646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邻接矩阵存储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7654" name="矩形 1"/>
          <p:cNvSpPr/>
          <p:nvPr/>
        </p:nvSpPr>
        <p:spPr>
          <a:xfrm>
            <a:off x="1036638" y="1530350"/>
            <a:ext cx="378904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#define Vnum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图的顶点数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7655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7.2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图的存储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9" grpId="0"/>
      <p:bldP spid="139270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"/>
          <p:cNvSpPr>
            <a:spLocks noChangeArrowheads="1"/>
          </p:cNvSpPr>
          <p:nvPr/>
        </p:nvSpPr>
        <p:spPr bwMode="auto">
          <a:xfrm>
            <a:off x="382588" y="1374775"/>
            <a:ext cx="8469313" cy="9772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2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思想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首先将矩阵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的每个元素都初始化为∞然后，读入边及权值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j,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W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ij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的相应元素置成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W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ij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29030" name="Rectangle 6"/>
          <p:cNvSpPr>
            <a:spLocks noChangeArrowheads="1"/>
          </p:cNvSpPr>
          <p:nvPr/>
        </p:nvSpPr>
        <p:spPr bwMode="auto">
          <a:xfrm>
            <a:off x="893763" y="2189163"/>
            <a:ext cx="6445250" cy="44481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void build-graph(graph &amp;ga)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{    for (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=0;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&lt;n;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++)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scanf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(“%d”,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ga.Vexs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[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]);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676" name="Oval 7"/>
          <p:cNvSpPr/>
          <p:nvPr/>
        </p:nvSpPr>
        <p:spPr>
          <a:xfrm>
            <a:off x="595313" y="919163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8677" name="Text Box 8"/>
          <p:cNvSpPr txBox="1"/>
          <p:nvPr/>
        </p:nvSpPr>
        <p:spPr>
          <a:xfrm>
            <a:off x="914400" y="841375"/>
            <a:ext cx="344646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邻接矩阵存储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39838" y="3429000"/>
            <a:ext cx="6418262" cy="13468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for (i=0; i&lt;n; i++)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for (j=0; j&lt;n; j++)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ga.arcs[i][j]=maxint;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09675" y="4768850"/>
            <a:ext cx="6764338" cy="13468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for (k=0; k&lt;e; k++)   //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读入边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(i,j)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和权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{    scanf(“%d,%d,%d”, i, j, w);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ga.arcs[i][j]=w;   ga.arcs[j][i]=w;}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680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7.2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图的存储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0" grpId="0" bldLvl="0" animBg="1"/>
      <p:bldP spid="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4" name="Text Box 108"/>
          <p:cNvSpPr txBox="1">
            <a:spLocks noChangeArrowheads="1"/>
          </p:cNvSpPr>
          <p:nvPr/>
        </p:nvSpPr>
        <p:spPr bwMode="auto">
          <a:xfrm>
            <a:off x="914400" y="1185228"/>
            <a:ext cx="7829550" cy="47561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核心思想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对具有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个顶点的图建立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个线性链表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存储该图。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9565" name="Text Box 109"/>
          <p:cNvSpPr txBox="1">
            <a:spLocks noChangeArrowheads="1"/>
          </p:cNvSpPr>
          <p:nvPr/>
        </p:nvSpPr>
        <p:spPr bwMode="auto">
          <a:xfrm>
            <a:off x="595313" y="1682115"/>
            <a:ext cx="8148638" cy="86931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）每一个链表前面设置一个头结点，用来存放一个顶点的数据信息，称之为顶点结点。其结构为：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9566" name="Group 110"/>
          <p:cNvGrpSpPr/>
          <p:nvPr/>
        </p:nvGrpSpPr>
        <p:grpSpPr bwMode="auto">
          <a:xfrm>
            <a:off x="3505200" y="2544445"/>
            <a:ext cx="2057400" cy="304800"/>
            <a:chOff x="2112" y="1824"/>
            <a:chExt cx="1296" cy="192"/>
          </a:xfrm>
          <a:solidFill>
            <a:srgbClr val="FFC000"/>
          </a:solidFill>
        </p:grpSpPr>
        <p:sp>
          <p:nvSpPr>
            <p:cNvPr id="25629" name="Rectangle 111"/>
            <p:cNvSpPr>
              <a:spLocks noChangeArrowheads="1"/>
            </p:cNvSpPr>
            <p:nvPr/>
          </p:nvSpPr>
          <p:spPr bwMode="auto">
            <a:xfrm>
              <a:off x="2112" y="1824"/>
              <a:ext cx="720" cy="192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vertex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630" name="Rectangle 112"/>
            <p:cNvSpPr>
              <a:spLocks noChangeArrowheads="1"/>
            </p:cNvSpPr>
            <p:nvPr/>
          </p:nvSpPr>
          <p:spPr bwMode="auto">
            <a:xfrm>
              <a:off x="2832" y="1824"/>
              <a:ext cx="576" cy="192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link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9569" name="Text Box 113"/>
          <p:cNvSpPr txBox="1">
            <a:spLocks noChangeArrowheads="1"/>
          </p:cNvSpPr>
          <p:nvPr/>
        </p:nvSpPr>
        <p:spPr bwMode="auto">
          <a:xfrm>
            <a:off x="1023938" y="2894965"/>
            <a:ext cx="5854065" cy="70675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其中，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vertex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域存放某个顶点的数据信息；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    link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域存放某个链表中第一个结点的地址。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9570" name="Text Box 114"/>
          <p:cNvSpPr txBox="1">
            <a:spLocks noChangeArrowheads="1"/>
          </p:cNvSpPr>
          <p:nvPr/>
        </p:nvSpPr>
        <p:spPr bwMode="auto">
          <a:xfrm>
            <a:off x="595313" y="3930015"/>
            <a:ext cx="8108950" cy="86931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）第</a:t>
            </a:r>
            <a:r>
              <a:rPr kumimoji="0" lang="en-US" altLang="zh-CN" sz="23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个链表中的每一个链结点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称之为边结点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表示以第</a:t>
            </a:r>
            <a:r>
              <a:rPr kumimoji="0" lang="en-US" altLang="zh-CN" sz="23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个顶点为出发点的一条边。边结点的构造为：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9571" name="Group 115"/>
          <p:cNvGrpSpPr/>
          <p:nvPr/>
        </p:nvGrpSpPr>
        <p:grpSpPr bwMode="auto">
          <a:xfrm>
            <a:off x="3048000" y="4863465"/>
            <a:ext cx="3200400" cy="381000"/>
            <a:chOff x="1920" y="3216"/>
            <a:chExt cx="2016" cy="192"/>
          </a:xfrm>
          <a:solidFill>
            <a:srgbClr val="FFC000"/>
          </a:solidFill>
        </p:grpSpPr>
        <p:sp>
          <p:nvSpPr>
            <p:cNvPr id="25626" name="Rectangle 116"/>
            <p:cNvSpPr>
              <a:spLocks noChangeArrowheads="1"/>
            </p:cNvSpPr>
            <p:nvPr/>
          </p:nvSpPr>
          <p:spPr bwMode="auto">
            <a:xfrm>
              <a:off x="3360" y="3216"/>
              <a:ext cx="576" cy="192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next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627" name="Rectangle 117"/>
            <p:cNvSpPr>
              <a:spLocks noChangeArrowheads="1"/>
            </p:cNvSpPr>
            <p:nvPr/>
          </p:nvSpPr>
          <p:spPr bwMode="auto">
            <a:xfrm>
              <a:off x="2640" y="3216"/>
              <a:ext cx="720" cy="192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weight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628" name="Rectangle 118"/>
            <p:cNvSpPr>
              <a:spLocks noChangeArrowheads="1"/>
            </p:cNvSpPr>
            <p:nvPr/>
          </p:nvSpPr>
          <p:spPr bwMode="auto">
            <a:xfrm>
              <a:off x="1920" y="3216"/>
              <a:ext cx="720" cy="192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adjvex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9575" name="Text Box 119"/>
          <p:cNvSpPr txBox="1"/>
          <p:nvPr/>
        </p:nvSpPr>
        <p:spPr>
          <a:xfrm>
            <a:off x="1023938" y="5295265"/>
            <a:ext cx="7799387" cy="13220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其中，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next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域为指针域；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 weight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域为权值域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若图不带权，则无此域）；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 adjvex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域存放以第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个顶点为出发点的一条边的另一端点在头结点数组中的位置。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9576" name="Text Box 120"/>
          <p:cNvSpPr txBox="1">
            <a:spLocks noChangeArrowheads="1"/>
          </p:cNvSpPr>
          <p:nvPr/>
        </p:nvSpPr>
        <p:spPr bwMode="auto">
          <a:xfrm>
            <a:off x="1065213" y="3569653"/>
            <a:ext cx="43434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个头结点之间为一数组结构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9706" name="Oval 7"/>
          <p:cNvSpPr/>
          <p:nvPr/>
        </p:nvSpPr>
        <p:spPr>
          <a:xfrm>
            <a:off x="636588" y="701675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9707" name="Text Box 8"/>
          <p:cNvSpPr txBox="1"/>
          <p:nvPr/>
        </p:nvSpPr>
        <p:spPr>
          <a:xfrm>
            <a:off x="914400" y="617855"/>
            <a:ext cx="30384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邻接表存储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9708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7.2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图的存储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4" grpId="0" bldLvl="0" animBg="1"/>
      <p:bldP spid="19565" grpId="0"/>
      <p:bldP spid="19569" grpId="0"/>
      <p:bldP spid="19570" grpId="0"/>
      <p:bldP spid="19575" grpId="0"/>
      <p:bldP spid="1957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99" name="Group 319"/>
          <p:cNvGrpSpPr/>
          <p:nvPr/>
        </p:nvGrpSpPr>
        <p:grpSpPr bwMode="auto">
          <a:xfrm>
            <a:off x="3944938" y="3094039"/>
            <a:ext cx="3865562" cy="1471613"/>
            <a:chOff x="2492" y="1584"/>
            <a:chExt cx="2435" cy="927"/>
          </a:xfrm>
          <a:solidFill>
            <a:srgbClr val="CCFFFF"/>
          </a:solidFill>
        </p:grpSpPr>
        <p:grpSp>
          <p:nvGrpSpPr>
            <p:cNvPr id="29825" name="Group 101"/>
            <p:cNvGrpSpPr/>
            <p:nvPr/>
          </p:nvGrpSpPr>
          <p:grpSpPr bwMode="auto">
            <a:xfrm>
              <a:off x="2662" y="1680"/>
              <a:ext cx="432" cy="768"/>
              <a:chOff x="2688" y="720"/>
              <a:chExt cx="432" cy="768"/>
            </a:xfrm>
            <a:grpFill/>
          </p:grpSpPr>
          <p:grpSp>
            <p:nvGrpSpPr>
              <p:cNvPr id="29867" name="Group 102"/>
              <p:cNvGrpSpPr/>
              <p:nvPr/>
            </p:nvGrpSpPr>
            <p:grpSpPr bwMode="auto">
              <a:xfrm>
                <a:off x="2688" y="720"/>
                <a:ext cx="432" cy="192"/>
                <a:chOff x="2688" y="720"/>
                <a:chExt cx="432" cy="192"/>
              </a:xfrm>
              <a:grpFill/>
            </p:grpSpPr>
            <p:sp>
              <p:nvSpPr>
                <p:cNvPr id="29877" name="Rectangle 103"/>
                <p:cNvSpPr>
                  <a:spLocks noChangeArrowheads="1"/>
                </p:cNvSpPr>
                <p:nvPr/>
              </p:nvSpPr>
              <p:spPr bwMode="auto">
                <a:xfrm>
                  <a:off x="2688" y="720"/>
                  <a:ext cx="240" cy="192"/>
                </a:xfrm>
                <a:prstGeom prst="rect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878" name="Rectangle 104"/>
                <p:cNvSpPr>
                  <a:spLocks noChangeArrowheads="1"/>
                </p:cNvSpPr>
                <p:nvPr/>
              </p:nvSpPr>
              <p:spPr bwMode="auto">
                <a:xfrm>
                  <a:off x="2928" y="720"/>
                  <a:ext cx="192" cy="192"/>
                </a:xfrm>
                <a:prstGeom prst="rect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868" name="Group 105"/>
              <p:cNvGrpSpPr/>
              <p:nvPr/>
            </p:nvGrpSpPr>
            <p:grpSpPr bwMode="auto">
              <a:xfrm>
                <a:off x="2688" y="912"/>
                <a:ext cx="432" cy="192"/>
                <a:chOff x="2688" y="720"/>
                <a:chExt cx="432" cy="192"/>
              </a:xfrm>
              <a:grpFill/>
            </p:grpSpPr>
            <p:sp>
              <p:nvSpPr>
                <p:cNvPr id="29875" name="Rectangle 106"/>
                <p:cNvSpPr>
                  <a:spLocks noChangeArrowheads="1"/>
                </p:cNvSpPr>
                <p:nvPr/>
              </p:nvSpPr>
              <p:spPr bwMode="auto">
                <a:xfrm>
                  <a:off x="2688" y="720"/>
                  <a:ext cx="240" cy="192"/>
                </a:xfrm>
                <a:prstGeom prst="rect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876" name="Rectangle 107"/>
                <p:cNvSpPr>
                  <a:spLocks noChangeArrowheads="1"/>
                </p:cNvSpPr>
                <p:nvPr/>
              </p:nvSpPr>
              <p:spPr bwMode="auto">
                <a:xfrm>
                  <a:off x="2928" y="720"/>
                  <a:ext cx="192" cy="192"/>
                </a:xfrm>
                <a:prstGeom prst="rect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869" name="Group 108"/>
              <p:cNvGrpSpPr/>
              <p:nvPr/>
            </p:nvGrpSpPr>
            <p:grpSpPr bwMode="auto">
              <a:xfrm>
                <a:off x="2688" y="1104"/>
                <a:ext cx="432" cy="192"/>
                <a:chOff x="2688" y="720"/>
                <a:chExt cx="432" cy="192"/>
              </a:xfrm>
              <a:grpFill/>
            </p:grpSpPr>
            <p:sp>
              <p:nvSpPr>
                <p:cNvPr id="29873" name="Rectangle 109"/>
                <p:cNvSpPr>
                  <a:spLocks noChangeArrowheads="1"/>
                </p:cNvSpPr>
                <p:nvPr/>
              </p:nvSpPr>
              <p:spPr bwMode="auto">
                <a:xfrm>
                  <a:off x="2688" y="720"/>
                  <a:ext cx="240" cy="192"/>
                </a:xfrm>
                <a:prstGeom prst="rect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874" name="Rectangle 110"/>
                <p:cNvSpPr>
                  <a:spLocks noChangeArrowheads="1"/>
                </p:cNvSpPr>
                <p:nvPr/>
              </p:nvSpPr>
              <p:spPr bwMode="auto">
                <a:xfrm>
                  <a:off x="2928" y="720"/>
                  <a:ext cx="192" cy="192"/>
                </a:xfrm>
                <a:prstGeom prst="rect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870" name="Group 111"/>
              <p:cNvGrpSpPr/>
              <p:nvPr/>
            </p:nvGrpSpPr>
            <p:grpSpPr bwMode="auto">
              <a:xfrm>
                <a:off x="2688" y="1296"/>
                <a:ext cx="432" cy="192"/>
                <a:chOff x="2688" y="720"/>
                <a:chExt cx="432" cy="192"/>
              </a:xfrm>
              <a:grpFill/>
            </p:grpSpPr>
            <p:sp>
              <p:nvSpPr>
                <p:cNvPr id="29871" name="Rectangle 112"/>
                <p:cNvSpPr>
                  <a:spLocks noChangeArrowheads="1"/>
                </p:cNvSpPr>
                <p:nvPr/>
              </p:nvSpPr>
              <p:spPr bwMode="auto">
                <a:xfrm>
                  <a:off x="2688" y="720"/>
                  <a:ext cx="240" cy="192"/>
                </a:xfrm>
                <a:prstGeom prst="rect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872" name="Rectangle 113"/>
                <p:cNvSpPr>
                  <a:spLocks noChangeArrowheads="1"/>
                </p:cNvSpPr>
                <p:nvPr/>
              </p:nvSpPr>
              <p:spPr bwMode="auto">
                <a:xfrm>
                  <a:off x="2928" y="720"/>
                  <a:ext cx="192" cy="192"/>
                </a:xfrm>
                <a:prstGeom prst="rect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9826" name="Group 114"/>
            <p:cNvGrpSpPr/>
            <p:nvPr/>
          </p:nvGrpSpPr>
          <p:grpSpPr bwMode="auto">
            <a:xfrm>
              <a:off x="2492" y="1638"/>
              <a:ext cx="188" cy="817"/>
              <a:chOff x="2304" y="2598"/>
              <a:chExt cx="188" cy="817"/>
            </a:xfrm>
            <a:grpFill/>
          </p:grpSpPr>
          <p:sp>
            <p:nvSpPr>
              <p:cNvPr id="29863" name="Text Box 115"/>
              <p:cNvSpPr txBox="1">
                <a:spLocks noChangeArrowheads="1"/>
              </p:cNvSpPr>
              <p:nvPr/>
            </p:nvSpPr>
            <p:spPr bwMode="auto">
              <a:xfrm>
                <a:off x="2304" y="2598"/>
                <a:ext cx="188" cy="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1800" b="1"/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64" name="Text Box 116"/>
              <p:cNvSpPr txBox="1">
                <a:spLocks noChangeArrowheads="1"/>
              </p:cNvSpPr>
              <p:nvPr/>
            </p:nvSpPr>
            <p:spPr bwMode="auto">
              <a:xfrm>
                <a:off x="2304" y="2790"/>
                <a:ext cx="188" cy="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1800" b="1">
                    <a:solidFill>
                      <a:schemeClr val="bg1"/>
                    </a:solidFill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65" name="Text Box 117"/>
              <p:cNvSpPr txBox="1">
                <a:spLocks noChangeArrowheads="1"/>
              </p:cNvSpPr>
              <p:nvPr/>
            </p:nvSpPr>
            <p:spPr bwMode="auto">
              <a:xfrm>
                <a:off x="2304" y="2982"/>
                <a:ext cx="188" cy="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1800" b="1">
                    <a:solidFill>
                      <a:schemeClr val="bg1"/>
                    </a:solidFill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66" name="Text Box 118"/>
              <p:cNvSpPr txBox="1">
                <a:spLocks noChangeArrowheads="1"/>
              </p:cNvSpPr>
              <p:nvPr/>
            </p:nvSpPr>
            <p:spPr bwMode="auto">
              <a:xfrm>
                <a:off x="2304" y="3175"/>
                <a:ext cx="188" cy="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1800" b="1">
                    <a:solidFill>
                      <a:schemeClr val="bg1"/>
                    </a:solidFill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827" name="Group 119"/>
            <p:cNvGrpSpPr/>
            <p:nvPr/>
          </p:nvGrpSpPr>
          <p:grpSpPr bwMode="auto">
            <a:xfrm>
              <a:off x="3430" y="2304"/>
              <a:ext cx="624" cy="144"/>
              <a:chOff x="4032" y="3216"/>
              <a:chExt cx="624" cy="144"/>
            </a:xfrm>
            <a:grpFill/>
          </p:grpSpPr>
          <p:sp>
            <p:nvSpPr>
              <p:cNvPr id="29860" name="Rectangle 120"/>
              <p:cNvSpPr>
                <a:spLocks noChangeArrowheads="1"/>
              </p:cNvSpPr>
              <p:nvPr/>
            </p:nvSpPr>
            <p:spPr bwMode="auto">
              <a:xfrm>
                <a:off x="4224" y="3216"/>
                <a:ext cx="267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61" name="Rectangle 121"/>
              <p:cNvSpPr>
                <a:spLocks noChangeArrowheads="1"/>
              </p:cNvSpPr>
              <p:nvPr/>
            </p:nvSpPr>
            <p:spPr bwMode="auto">
              <a:xfrm>
                <a:off x="4491" y="3216"/>
                <a:ext cx="165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62" name="Rectangle 122"/>
              <p:cNvSpPr>
                <a:spLocks noChangeArrowheads="1"/>
              </p:cNvSpPr>
              <p:nvPr/>
            </p:nvSpPr>
            <p:spPr bwMode="auto">
              <a:xfrm>
                <a:off x="4032" y="3216"/>
                <a:ext cx="192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828" name="Group 123"/>
            <p:cNvGrpSpPr/>
            <p:nvPr/>
          </p:nvGrpSpPr>
          <p:grpSpPr bwMode="auto">
            <a:xfrm>
              <a:off x="4294" y="1920"/>
              <a:ext cx="624" cy="144"/>
              <a:chOff x="4032" y="3216"/>
              <a:chExt cx="624" cy="144"/>
            </a:xfrm>
            <a:grpFill/>
          </p:grpSpPr>
          <p:sp>
            <p:nvSpPr>
              <p:cNvPr id="29857" name="Rectangle 124"/>
              <p:cNvSpPr>
                <a:spLocks noChangeArrowheads="1"/>
              </p:cNvSpPr>
              <p:nvPr/>
            </p:nvSpPr>
            <p:spPr bwMode="auto">
              <a:xfrm>
                <a:off x="4224" y="3216"/>
                <a:ext cx="267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58" name="Rectangle 125"/>
              <p:cNvSpPr>
                <a:spLocks noChangeArrowheads="1"/>
              </p:cNvSpPr>
              <p:nvPr/>
            </p:nvSpPr>
            <p:spPr bwMode="auto">
              <a:xfrm>
                <a:off x="4491" y="3216"/>
                <a:ext cx="165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59" name="Rectangle 126"/>
              <p:cNvSpPr>
                <a:spLocks noChangeArrowheads="1"/>
              </p:cNvSpPr>
              <p:nvPr/>
            </p:nvSpPr>
            <p:spPr bwMode="auto">
              <a:xfrm>
                <a:off x="4032" y="3216"/>
                <a:ext cx="192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829" name="Group 127"/>
            <p:cNvGrpSpPr/>
            <p:nvPr/>
          </p:nvGrpSpPr>
          <p:grpSpPr bwMode="auto">
            <a:xfrm>
              <a:off x="3430" y="1920"/>
              <a:ext cx="624" cy="144"/>
              <a:chOff x="4032" y="3216"/>
              <a:chExt cx="624" cy="144"/>
            </a:xfrm>
            <a:grpFill/>
          </p:grpSpPr>
          <p:sp>
            <p:nvSpPr>
              <p:cNvPr id="29854" name="Rectangle 128"/>
              <p:cNvSpPr>
                <a:spLocks noChangeArrowheads="1"/>
              </p:cNvSpPr>
              <p:nvPr/>
            </p:nvSpPr>
            <p:spPr bwMode="auto">
              <a:xfrm>
                <a:off x="4224" y="3216"/>
                <a:ext cx="267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55" name="Rectangle 129"/>
              <p:cNvSpPr>
                <a:spLocks noChangeArrowheads="1"/>
              </p:cNvSpPr>
              <p:nvPr/>
            </p:nvSpPr>
            <p:spPr bwMode="auto">
              <a:xfrm>
                <a:off x="4491" y="3216"/>
                <a:ext cx="165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56" name="Rectangle 130"/>
              <p:cNvSpPr>
                <a:spLocks noChangeArrowheads="1"/>
              </p:cNvSpPr>
              <p:nvPr/>
            </p:nvSpPr>
            <p:spPr bwMode="auto">
              <a:xfrm>
                <a:off x="4032" y="3216"/>
                <a:ext cx="192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830" name="Group 131"/>
            <p:cNvGrpSpPr/>
            <p:nvPr/>
          </p:nvGrpSpPr>
          <p:grpSpPr bwMode="auto">
            <a:xfrm>
              <a:off x="3430" y="1680"/>
              <a:ext cx="624" cy="144"/>
              <a:chOff x="4032" y="3216"/>
              <a:chExt cx="624" cy="144"/>
            </a:xfrm>
            <a:grpFill/>
          </p:grpSpPr>
          <p:sp>
            <p:nvSpPr>
              <p:cNvPr id="29851" name="Rectangle 132"/>
              <p:cNvSpPr>
                <a:spLocks noChangeArrowheads="1"/>
              </p:cNvSpPr>
              <p:nvPr/>
            </p:nvSpPr>
            <p:spPr bwMode="auto">
              <a:xfrm>
                <a:off x="4224" y="3216"/>
                <a:ext cx="267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52" name="Rectangle 133"/>
              <p:cNvSpPr>
                <a:spLocks noChangeArrowheads="1"/>
              </p:cNvSpPr>
              <p:nvPr/>
            </p:nvSpPr>
            <p:spPr bwMode="auto">
              <a:xfrm>
                <a:off x="4491" y="3216"/>
                <a:ext cx="165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53" name="Rectangle 134"/>
              <p:cNvSpPr>
                <a:spLocks noChangeArrowheads="1"/>
              </p:cNvSpPr>
              <p:nvPr/>
            </p:nvSpPr>
            <p:spPr bwMode="auto">
              <a:xfrm>
                <a:off x="4032" y="3216"/>
                <a:ext cx="192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831" name="Text Box 135"/>
            <p:cNvSpPr txBox="1">
              <a:spLocks noChangeArrowheads="1"/>
            </p:cNvSpPr>
            <p:nvPr/>
          </p:nvSpPr>
          <p:spPr bwMode="auto">
            <a:xfrm>
              <a:off x="2662" y="1584"/>
              <a:ext cx="264" cy="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000" b="1" i="0" u="none" strike="noStrike" kern="1200" cap="none" spc="0" normalizeH="0" baseline="-20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1" i="0" u="none" strike="noStrike" kern="1200" cap="none" spc="0" normalizeH="0" baseline="-2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832" name="Text Box 136"/>
            <p:cNvSpPr txBox="1">
              <a:spLocks noChangeArrowheads="1"/>
            </p:cNvSpPr>
            <p:nvPr/>
          </p:nvSpPr>
          <p:spPr bwMode="auto">
            <a:xfrm>
              <a:off x="2662" y="1776"/>
              <a:ext cx="276" cy="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400" b="1" i="0" u="none" strike="noStrike" kern="1200" cap="none" spc="0" normalizeH="0" baseline="-18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400" b="1" i="0" u="none" strike="noStrike" kern="1200" cap="none" spc="0" normalizeH="0" baseline="-18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833" name="Text Box 137"/>
            <p:cNvSpPr txBox="1">
              <a:spLocks noChangeArrowheads="1"/>
            </p:cNvSpPr>
            <p:nvPr/>
          </p:nvSpPr>
          <p:spPr bwMode="auto">
            <a:xfrm>
              <a:off x="2662" y="1968"/>
              <a:ext cx="276" cy="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400" b="1" i="0" u="none" strike="noStrike" kern="1200" cap="none" spc="0" normalizeH="0" baseline="-18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2400" b="1" i="0" u="none" strike="noStrike" kern="1200" cap="none" spc="0" normalizeH="0" baseline="-18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834" name="Text Box 138"/>
            <p:cNvSpPr txBox="1">
              <a:spLocks noChangeArrowheads="1"/>
            </p:cNvSpPr>
            <p:nvPr/>
          </p:nvSpPr>
          <p:spPr bwMode="auto">
            <a:xfrm>
              <a:off x="2662" y="2160"/>
              <a:ext cx="276" cy="2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400" b="1" i="0" u="none" strike="noStrike" kern="1200" cap="none" spc="0" normalizeH="0" baseline="-18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2400" b="1" i="0" u="none" strike="noStrike" kern="1200" cap="none" spc="0" normalizeH="0" baseline="-18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835" name="Line 139"/>
            <p:cNvSpPr>
              <a:spLocks noChangeShapeType="1"/>
            </p:cNvSpPr>
            <p:nvPr/>
          </p:nvSpPr>
          <p:spPr bwMode="auto">
            <a:xfrm>
              <a:off x="3046" y="1768"/>
              <a:ext cx="384" cy="0"/>
            </a:xfrm>
            <a:prstGeom prst="line">
              <a:avLst/>
            </a:prstGeom>
            <a:grpFill/>
            <a:ln w="28575" cap="sq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36" name="Line 140"/>
            <p:cNvSpPr>
              <a:spLocks noChangeShapeType="1"/>
            </p:cNvSpPr>
            <p:nvPr/>
          </p:nvSpPr>
          <p:spPr bwMode="auto">
            <a:xfrm>
              <a:off x="3046" y="2000"/>
              <a:ext cx="384" cy="0"/>
            </a:xfrm>
            <a:prstGeom prst="line">
              <a:avLst/>
            </a:prstGeom>
            <a:solidFill>
              <a:srgbClr val="CCFFFF"/>
            </a:solidFill>
            <a:ln w="28575" cap="sq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>
              <a:noAutofit/>
            </a:bodyPr>
            <a:lstStyle/>
            <a:p>
              <a:pPr lvl="0" algn="l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effectLst/>
                <a:uLnTx/>
                <a:uFillTx/>
                <a:sym typeface="+mn-ea"/>
              </a:endParaRPr>
            </a:p>
          </p:txBody>
        </p:sp>
        <p:sp>
          <p:nvSpPr>
            <p:cNvPr id="29837" name="Line 141"/>
            <p:cNvSpPr>
              <a:spLocks noChangeShapeType="1"/>
            </p:cNvSpPr>
            <p:nvPr/>
          </p:nvSpPr>
          <p:spPr bwMode="auto">
            <a:xfrm>
              <a:off x="3046" y="2368"/>
              <a:ext cx="384" cy="0"/>
            </a:xfrm>
            <a:prstGeom prst="line">
              <a:avLst/>
            </a:prstGeom>
            <a:solidFill>
              <a:srgbClr val="CCFFFF"/>
            </a:solidFill>
            <a:ln w="28575" cap="sq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>
              <a:noAutofit/>
            </a:bodyPr>
            <a:lstStyle/>
            <a:p>
              <a:pPr lvl="0" algn="l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effectLst/>
                <a:uLnTx/>
                <a:uFillTx/>
                <a:sym typeface="+mn-ea"/>
              </a:endParaRPr>
            </a:p>
          </p:txBody>
        </p:sp>
        <p:sp>
          <p:nvSpPr>
            <p:cNvPr id="29838" name="Line 142"/>
            <p:cNvSpPr>
              <a:spLocks noChangeShapeType="1"/>
            </p:cNvSpPr>
            <p:nvPr/>
          </p:nvSpPr>
          <p:spPr bwMode="auto">
            <a:xfrm>
              <a:off x="3947" y="1986"/>
              <a:ext cx="336" cy="0"/>
            </a:xfrm>
            <a:prstGeom prst="line">
              <a:avLst/>
            </a:prstGeom>
            <a:solidFill>
              <a:srgbClr val="CCFFFF"/>
            </a:solidFill>
            <a:ln w="28575" cap="sq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>
              <a:noAutofit/>
            </a:bodyPr>
            <a:lstStyle/>
            <a:p>
              <a:pPr lvl="0" algn="l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effectLst/>
                <a:uLnTx/>
                <a:uFillTx/>
                <a:sym typeface="+mn-ea"/>
              </a:endParaRPr>
            </a:p>
          </p:txBody>
        </p:sp>
        <p:sp>
          <p:nvSpPr>
            <p:cNvPr id="29839" name="Text Box 143"/>
            <p:cNvSpPr txBox="1">
              <a:spLocks noChangeArrowheads="1"/>
            </p:cNvSpPr>
            <p:nvPr/>
          </p:nvSpPr>
          <p:spPr bwMode="auto">
            <a:xfrm>
              <a:off x="3670" y="1632"/>
              <a:ext cx="189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1800" b="1"/>
              </a:lvl1pPr>
              <a:lvl2pPr marL="742950" indent="-285750">
                <a:spcBef>
                  <a:spcPct val="20000"/>
                </a:spcBef>
                <a:buChar char="–"/>
                <a:defRPr sz="2800"/>
              </a:lvl2pPr>
              <a:lvl3pPr marL="1143000" indent="-228600">
                <a:spcBef>
                  <a:spcPct val="20000"/>
                </a:spcBef>
                <a:buChar char="•"/>
              </a:lvl3pPr>
              <a:lvl4pPr marL="1600200" indent="-228600">
                <a:spcBef>
                  <a:spcPct val="20000"/>
                </a:spcBef>
                <a:buChar char="–"/>
                <a:defRPr sz="2000"/>
              </a:lvl4pPr>
              <a:lvl5pPr marL="2057400" indent="-228600">
                <a:spcBef>
                  <a:spcPct val="20000"/>
                </a:spcBef>
                <a:buChar char="»"/>
                <a:defRPr sz="2000"/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840" name="Text Box 144"/>
            <p:cNvSpPr txBox="1">
              <a:spLocks noChangeArrowheads="1"/>
            </p:cNvSpPr>
            <p:nvPr/>
          </p:nvSpPr>
          <p:spPr bwMode="auto">
            <a:xfrm>
              <a:off x="4534" y="1872"/>
              <a:ext cx="189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1800" b="1"/>
              </a:lvl1pPr>
              <a:lvl2pPr marL="742950" indent="-285750">
                <a:spcBef>
                  <a:spcPct val="20000"/>
                </a:spcBef>
                <a:buChar char="–"/>
                <a:defRPr sz="2800"/>
              </a:lvl2pPr>
              <a:lvl3pPr marL="1143000" indent="-228600">
                <a:spcBef>
                  <a:spcPct val="20000"/>
                </a:spcBef>
                <a:buChar char="•"/>
              </a:lvl3pPr>
              <a:lvl4pPr marL="1600200" indent="-228600">
                <a:spcBef>
                  <a:spcPct val="20000"/>
                </a:spcBef>
                <a:buChar char="–"/>
                <a:defRPr sz="2000"/>
              </a:lvl4pPr>
              <a:lvl5pPr marL="2057400" indent="-228600">
                <a:spcBef>
                  <a:spcPct val="20000"/>
                </a:spcBef>
                <a:buChar char="»"/>
                <a:defRPr sz="2000"/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841" name="Rectangle 145"/>
            <p:cNvSpPr>
              <a:spLocks noChangeArrowheads="1"/>
            </p:cNvSpPr>
            <p:nvPr/>
          </p:nvSpPr>
          <p:spPr bwMode="auto">
            <a:xfrm>
              <a:off x="3666" y="2256"/>
              <a:ext cx="189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842" name="Rectangle 146"/>
            <p:cNvSpPr>
              <a:spLocks noChangeArrowheads="1"/>
            </p:cNvSpPr>
            <p:nvPr/>
          </p:nvSpPr>
          <p:spPr bwMode="auto">
            <a:xfrm>
              <a:off x="3659" y="1861"/>
              <a:ext cx="189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843" name="Rectangle 147"/>
            <p:cNvSpPr>
              <a:spLocks noChangeArrowheads="1"/>
            </p:cNvSpPr>
            <p:nvPr/>
          </p:nvSpPr>
          <p:spPr bwMode="auto">
            <a:xfrm>
              <a:off x="3430" y="1872"/>
              <a:ext cx="189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844" name="Rectangle 148"/>
            <p:cNvSpPr>
              <a:spLocks noChangeArrowheads="1"/>
            </p:cNvSpPr>
            <p:nvPr/>
          </p:nvSpPr>
          <p:spPr bwMode="auto">
            <a:xfrm>
              <a:off x="3430" y="1632"/>
              <a:ext cx="189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845" name="Rectangle 149"/>
            <p:cNvSpPr>
              <a:spLocks noChangeArrowheads="1"/>
            </p:cNvSpPr>
            <p:nvPr/>
          </p:nvSpPr>
          <p:spPr bwMode="auto">
            <a:xfrm>
              <a:off x="4294" y="1869"/>
              <a:ext cx="189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846" name="Rectangle 150"/>
            <p:cNvSpPr>
              <a:spLocks noChangeArrowheads="1"/>
            </p:cNvSpPr>
            <p:nvPr/>
          </p:nvSpPr>
          <p:spPr bwMode="auto">
            <a:xfrm>
              <a:off x="3430" y="2246"/>
              <a:ext cx="189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847" name="Rectangle 151"/>
            <p:cNvSpPr>
              <a:spLocks noChangeArrowheads="1"/>
            </p:cNvSpPr>
            <p:nvPr/>
          </p:nvSpPr>
          <p:spPr bwMode="auto">
            <a:xfrm>
              <a:off x="2902" y="2054"/>
              <a:ext cx="201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848" name="Rectangle 152"/>
            <p:cNvSpPr>
              <a:spLocks noChangeArrowheads="1"/>
            </p:cNvSpPr>
            <p:nvPr/>
          </p:nvSpPr>
          <p:spPr bwMode="auto">
            <a:xfrm>
              <a:off x="3882" y="1651"/>
              <a:ext cx="201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849" name="Rectangle 153"/>
            <p:cNvSpPr>
              <a:spLocks noChangeArrowheads="1"/>
            </p:cNvSpPr>
            <p:nvPr/>
          </p:nvSpPr>
          <p:spPr bwMode="auto">
            <a:xfrm>
              <a:off x="4726" y="1910"/>
              <a:ext cx="201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850" name="Rectangle 154"/>
            <p:cNvSpPr>
              <a:spLocks noChangeArrowheads="1"/>
            </p:cNvSpPr>
            <p:nvPr/>
          </p:nvSpPr>
          <p:spPr bwMode="auto">
            <a:xfrm>
              <a:off x="3862" y="2278"/>
              <a:ext cx="201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0635" name="Text Box 155"/>
          <p:cNvSpPr txBox="1"/>
          <p:nvPr/>
        </p:nvSpPr>
        <p:spPr>
          <a:xfrm>
            <a:off x="622300" y="5383213"/>
            <a:ext cx="7983538" cy="44513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spcAft>
                <a:spcPct val="20000"/>
              </a:spcAft>
            </a:pPr>
            <a:r>
              <a:rPr lang="en-US" altLang="zh-CN" sz="23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(1) </a:t>
            </a:r>
            <a:r>
              <a:rPr lang="zh-CN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无向图的第</a:t>
            </a:r>
            <a:r>
              <a:rPr lang="en-US" altLang="zh-CN" sz="23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lang="zh-CN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个链表中边结点的个数是第</a:t>
            </a:r>
            <a:r>
              <a:rPr lang="en-US" altLang="zh-CN" sz="23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lang="zh-CN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个顶点度数。</a:t>
            </a:r>
            <a:endParaRPr lang="zh-CN" altLang="en-US" sz="23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0636" name="Text Box 156"/>
          <p:cNvSpPr txBox="1"/>
          <p:nvPr/>
        </p:nvSpPr>
        <p:spPr>
          <a:xfrm>
            <a:off x="815975" y="5919788"/>
            <a:ext cx="7789863" cy="44513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</a:pPr>
            <a:r>
              <a:rPr lang="en-US" altLang="zh-CN" sz="23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(2) </a:t>
            </a:r>
            <a:r>
              <a:rPr lang="zh-CN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有向图的第</a:t>
            </a:r>
            <a:r>
              <a:rPr lang="en-US" altLang="zh-CN" sz="23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lang="zh-CN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个链表中边结点的个数是第</a:t>
            </a:r>
            <a:r>
              <a:rPr lang="en-US" altLang="zh-CN" sz="23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lang="zh-CN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个顶点的出度。</a:t>
            </a:r>
            <a:endParaRPr lang="zh-CN" altLang="en-US" sz="23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20797" name="Group 317"/>
          <p:cNvGrpSpPr/>
          <p:nvPr/>
        </p:nvGrpSpPr>
        <p:grpSpPr bwMode="auto">
          <a:xfrm>
            <a:off x="3933825" y="1281113"/>
            <a:ext cx="4516438" cy="1436688"/>
            <a:chOff x="2492" y="336"/>
            <a:chExt cx="2845" cy="905"/>
          </a:xfrm>
          <a:solidFill>
            <a:srgbClr val="CCFFFF"/>
          </a:solidFill>
        </p:grpSpPr>
        <p:grpSp>
          <p:nvGrpSpPr>
            <p:cNvPr id="29741" name="Group 162"/>
            <p:cNvGrpSpPr/>
            <p:nvPr/>
          </p:nvGrpSpPr>
          <p:grpSpPr bwMode="auto">
            <a:xfrm>
              <a:off x="2674" y="432"/>
              <a:ext cx="432" cy="192"/>
              <a:chOff x="2688" y="720"/>
              <a:chExt cx="432" cy="192"/>
            </a:xfrm>
            <a:grpFill/>
          </p:grpSpPr>
          <p:sp>
            <p:nvSpPr>
              <p:cNvPr id="29823" name="Rectangle 163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24" name="Rectangle 164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742" name="Group 165"/>
            <p:cNvGrpSpPr/>
            <p:nvPr/>
          </p:nvGrpSpPr>
          <p:grpSpPr bwMode="auto">
            <a:xfrm>
              <a:off x="2674" y="624"/>
              <a:ext cx="432" cy="192"/>
              <a:chOff x="2688" y="720"/>
              <a:chExt cx="432" cy="192"/>
            </a:xfrm>
            <a:grpFill/>
          </p:grpSpPr>
          <p:sp>
            <p:nvSpPr>
              <p:cNvPr id="29821" name="Rectangle 166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22" name="Rectangle 167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743" name="Group 168"/>
            <p:cNvGrpSpPr/>
            <p:nvPr/>
          </p:nvGrpSpPr>
          <p:grpSpPr bwMode="auto">
            <a:xfrm>
              <a:off x="2674" y="816"/>
              <a:ext cx="432" cy="192"/>
              <a:chOff x="2688" y="720"/>
              <a:chExt cx="432" cy="192"/>
            </a:xfrm>
            <a:grpFill/>
          </p:grpSpPr>
          <p:sp>
            <p:nvSpPr>
              <p:cNvPr id="29819" name="Rectangle 169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20" name="Rectangle 170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744" name="Group 171"/>
            <p:cNvGrpSpPr/>
            <p:nvPr/>
          </p:nvGrpSpPr>
          <p:grpSpPr bwMode="auto">
            <a:xfrm>
              <a:off x="2674" y="1008"/>
              <a:ext cx="432" cy="192"/>
              <a:chOff x="2688" y="720"/>
              <a:chExt cx="432" cy="192"/>
            </a:xfrm>
            <a:grpFill/>
          </p:grpSpPr>
          <p:sp>
            <p:nvSpPr>
              <p:cNvPr id="29817" name="Rectangle 172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18" name="Rectangle 173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745" name="Line 174"/>
            <p:cNvSpPr>
              <a:spLocks noChangeShapeType="1"/>
            </p:cNvSpPr>
            <p:nvPr/>
          </p:nvSpPr>
          <p:spPr bwMode="auto">
            <a:xfrm>
              <a:off x="3010" y="504"/>
              <a:ext cx="336" cy="0"/>
            </a:xfrm>
            <a:prstGeom prst="line">
              <a:avLst/>
            </a:prstGeom>
            <a:grpFill/>
            <a:ln w="28575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9746" name="Group 175"/>
            <p:cNvGrpSpPr/>
            <p:nvPr/>
          </p:nvGrpSpPr>
          <p:grpSpPr bwMode="auto">
            <a:xfrm>
              <a:off x="4848" y="432"/>
              <a:ext cx="480" cy="144"/>
              <a:chOff x="2688" y="720"/>
              <a:chExt cx="432" cy="192"/>
            </a:xfrm>
            <a:grpFill/>
          </p:grpSpPr>
          <p:sp>
            <p:nvSpPr>
              <p:cNvPr id="29815" name="Rectangle 176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16" name="Rectangle 177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747" name="Group 178"/>
            <p:cNvGrpSpPr/>
            <p:nvPr/>
          </p:nvGrpSpPr>
          <p:grpSpPr bwMode="auto">
            <a:xfrm>
              <a:off x="4080" y="432"/>
              <a:ext cx="480" cy="144"/>
              <a:chOff x="2688" y="720"/>
              <a:chExt cx="432" cy="192"/>
            </a:xfrm>
            <a:grpFill/>
          </p:grpSpPr>
          <p:sp>
            <p:nvSpPr>
              <p:cNvPr id="29813" name="Rectangle 179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14" name="Rectangle 180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748" name="Group 181"/>
            <p:cNvGrpSpPr/>
            <p:nvPr/>
          </p:nvGrpSpPr>
          <p:grpSpPr bwMode="auto">
            <a:xfrm>
              <a:off x="3360" y="432"/>
              <a:ext cx="480" cy="144"/>
              <a:chOff x="2688" y="720"/>
              <a:chExt cx="432" cy="192"/>
            </a:xfrm>
            <a:grpFill/>
          </p:grpSpPr>
          <p:sp>
            <p:nvSpPr>
              <p:cNvPr id="29811" name="Rectangle 182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12" name="Rectangle 183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749" name="Line 184"/>
            <p:cNvSpPr>
              <a:spLocks noChangeShapeType="1"/>
            </p:cNvSpPr>
            <p:nvPr/>
          </p:nvSpPr>
          <p:spPr bwMode="auto">
            <a:xfrm>
              <a:off x="3744" y="504"/>
              <a:ext cx="336" cy="0"/>
            </a:xfrm>
            <a:prstGeom prst="line">
              <a:avLst/>
            </a:prstGeom>
            <a:solidFill>
              <a:srgbClr val="CCFFFF"/>
            </a:solidFill>
            <a:ln w="28575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>
              <a:noAutofit/>
            </a:bodyPr>
            <a:lstStyle/>
            <a:p>
              <a:pPr lvl="0" algn="l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effectLst/>
                <a:uLnTx/>
                <a:uFillTx/>
                <a:sym typeface="+mn-ea"/>
              </a:endParaRPr>
            </a:p>
          </p:txBody>
        </p:sp>
        <p:sp>
          <p:nvSpPr>
            <p:cNvPr id="29750" name="Line 185"/>
            <p:cNvSpPr>
              <a:spLocks noChangeShapeType="1"/>
            </p:cNvSpPr>
            <p:nvPr/>
          </p:nvSpPr>
          <p:spPr bwMode="auto">
            <a:xfrm>
              <a:off x="4512" y="504"/>
              <a:ext cx="336" cy="0"/>
            </a:xfrm>
            <a:prstGeom prst="line">
              <a:avLst/>
            </a:prstGeom>
            <a:solidFill>
              <a:srgbClr val="CCFFFF"/>
            </a:solidFill>
            <a:ln w="28575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>
              <a:noAutofit/>
            </a:bodyPr>
            <a:lstStyle/>
            <a:p>
              <a:pPr lvl="0" algn="l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effectLst/>
                <a:uLnTx/>
                <a:uFillTx/>
                <a:sym typeface="+mn-ea"/>
              </a:endParaRPr>
            </a:p>
          </p:txBody>
        </p:sp>
        <p:sp>
          <p:nvSpPr>
            <p:cNvPr id="29751" name="Text Box 186"/>
            <p:cNvSpPr txBox="1">
              <a:spLocks noChangeArrowheads="1"/>
            </p:cNvSpPr>
            <p:nvPr/>
          </p:nvSpPr>
          <p:spPr bwMode="auto">
            <a:xfrm>
              <a:off x="5136" y="384"/>
              <a:ext cx="201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1800" b="1"/>
              </a:lvl1pPr>
              <a:lvl2pPr marL="742950" indent="-285750">
                <a:spcBef>
                  <a:spcPct val="20000"/>
                </a:spcBef>
                <a:buChar char="–"/>
                <a:defRPr sz="2800"/>
              </a:lvl2pPr>
              <a:lvl3pPr marL="1143000" indent="-228600">
                <a:spcBef>
                  <a:spcPct val="20000"/>
                </a:spcBef>
                <a:buChar char="•"/>
              </a:lvl3pPr>
              <a:lvl4pPr marL="1600200" indent="-228600">
                <a:spcBef>
                  <a:spcPct val="20000"/>
                </a:spcBef>
                <a:buChar char="–"/>
                <a:defRPr sz="2000"/>
              </a:lvl4pPr>
              <a:lvl5pPr marL="2057400" indent="-228600">
                <a:spcBef>
                  <a:spcPct val="20000"/>
                </a:spcBef>
                <a:buChar char="»"/>
                <a:defRPr sz="2000"/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9752" name="Group 188"/>
            <p:cNvGrpSpPr/>
            <p:nvPr/>
          </p:nvGrpSpPr>
          <p:grpSpPr bwMode="auto">
            <a:xfrm>
              <a:off x="4834" y="624"/>
              <a:ext cx="480" cy="144"/>
              <a:chOff x="2688" y="720"/>
              <a:chExt cx="432" cy="192"/>
            </a:xfrm>
            <a:grpFill/>
          </p:grpSpPr>
          <p:sp>
            <p:nvSpPr>
              <p:cNvPr id="29809" name="Rectangle 189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10" name="Rectangle 190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753" name="Group 191"/>
            <p:cNvGrpSpPr/>
            <p:nvPr/>
          </p:nvGrpSpPr>
          <p:grpSpPr bwMode="auto">
            <a:xfrm>
              <a:off x="4066" y="624"/>
              <a:ext cx="480" cy="144"/>
              <a:chOff x="2688" y="720"/>
              <a:chExt cx="432" cy="192"/>
            </a:xfrm>
            <a:grpFill/>
          </p:grpSpPr>
          <p:sp>
            <p:nvSpPr>
              <p:cNvPr id="29807" name="Rectangle 192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08" name="Rectangle 193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754" name="Group 194"/>
            <p:cNvGrpSpPr/>
            <p:nvPr/>
          </p:nvGrpSpPr>
          <p:grpSpPr bwMode="auto">
            <a:xfrm>
              <a:off x="3360" y="624"/>
              <a:ext cx="480" cy="144"/>
              <a:chOff x="2688" y="720"/>
              <a:chExt cx="432" cy="192"/>
            </a:xfrm>
            <a:grpFill/>
          </p:grpSpPr>
          <p:sp>
            <p:nvSpPr>
              <p:cNvPr id="29805" name="Rectangle 195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06" name="Rectangle 196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755" name="Line 197"/>
            <p:cNvSpPr>
              <a:spLocks noChangeShapeType="1"/>
            </p:cNvSpPr>
            <p:nvPr/>
          </p:nvSpPr>
          <p:spPr bwMode="auto">
            <a:xfrm>
              <a:off x="3730" y="696"/>
              <a:ext cx="336" cy="0"/>
            </a:xfrm>
            <a:prstGeom prst="line">
              <a:avLst/>
            </a:prstGeom>
            <a:solidFill>
              <a:srgbClr val="CCFFFF"/>
            </a:solidFill>
            <a:ln w="28575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>
              <a:noAutofit/>
            </a:bodyPr>
            <a:lstStyle/>
            <a:p>
              <a:pPr lvl="0" algn="l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effectLst/>
                <a:uLnTx/>
                <a:uFillTx/>
                <a:sym typeface="+mn-ea"/>
              </a:endParaRPr>
            </a:p>
          </p:txBody>
        </p:sp>
        <p:sp>
          <p:nvSpPr>
            <p:cNvPr id="29756" name="Line 198"/>
            <p:cNvSpPr>
              <a:spLocks noChangeShapeType="1"/>
            </p:cNvSpPr>
            <p:nvPr/>
          </p:nvSpPr>
          <p:spPr bwMode="auto">
            <a:xfrm>
              <a:off x="4498" y="696"/>
              <a:ext cx="336" cy="0"/>
            </a:xfrm>
            <a:prstGeom prst="line">
              <a:avLst/>
            </a:prstGeom>
            <a:solidFill>
              <a:srgbClr val="CCFFFF"/>
            </a:solidFill>
            <a:ln w="28575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>
              <a:noAutofit/>
            </a:bodyPr>
            <a:lstStyle/>
            <a:p>
              <a:pPr lvl="0" algn="l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effectLst/>
                <a:uLnTx/>
                <a:uFillTx/>
                <a:sym typeface="+mn-ea"/>
              </a:endParaRPr>
            </a:p>
          </p:txBody>
        </p:sp>
        <p:sp>
          <p:nvSpPr>
            <p:cNvPr id="29757" name="Text Box 199"/>
            <p:cNvSpPr txBox="1">
              <a:spLocks noChangeArrowheads="1"/>
            </p:cNvSpPr>
            <p:nvPr/>
          </p:nvSpPr>
          <p:spPr bwMode="auto">
            <a:xfrm>
              <a:off x="5122" y="576"/>
              <a:ext cx="201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1800" b="1"/>
              </a:lvl1pPr>
              <a:lvl2pPr marL="742950" indent="-285750">
                <a:spcBef>
                  <a:spcPct val="20000"/>
                </a:spcBef>
                <a:buChar char="–"/>
                <a:defRPr sz="2800"/>
              </a:lvl2pPr>
              <a:lvl3pPr marL="1143000" indent="-228600">
                <a:spcBef>
                  <a:spcPct val="20000"/>
                </a:spcBef>
                <a:buChar char="•"/>
              </a:lvl3pPr>
              <a:lvl4pPr marL="1600200" indent="-228600">
                <a:spcBef>
                  <a:spcPct val="20000"/>
                </a:spcBef>
                <a:buChar char="–"/>
                <a:defRPr sz="2000"/>
              </a:lvl4pPr>
              <a:lvl5pPr marL="2057400" indent="-228600">
                <a:spcBef>
                  <a:spcPct val="20000"/>
                </a:spcBef>
                <a:buChar char="»"/>
                <a:defRPr sz="2000"/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9758" name="Group 201"/>
            <p:cNvGrpSpPr/>
            <p:nvPr/>
          </p:nvGrpSpPr>
          <p:grpSpPr bwMode="auto">
            <a:xfrm>
              <a:off x="4834" y="816"/>
              <a:ext cx="480" cy="144"/>
              <a:chOff x="2688" y="720"/>
              <a:chExt cx="432" cy="192"/>
            </a:xfrm>
            <a:grpFill/>
          </p:grpSpPr>
          <p:sp>
            <p:nvSpPr>
              <p:cNvPr id="29803" name="Rectangle 202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04" name="Rectangle 203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759" name="Group 204"/>
            <p:cNvGrpSpPr/>
            <p:nvPr/>
          </p:nvGrpSpPr>
          <p:grpSpPr bwMode="auto">
            <a:xfrm>
              <a:off x="4066" y="816"/>
              <a:ext cx="480" cy="144"/>
              <a:chOff x="2688" y="720"/>
              <a:chExt cx="432" cy="192"/>
            </a:xfrm>
            <a:grpFill/>
          </p:grpSpPr>
          <p:sp>
            <p:nvSpPr>
              <p:cNvPr id="29801" name="Rectangle 205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02" name="Rectangle 206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760" name="Group 207"/>
            <p:cNvGrpSpPr/>
            <p:nvPr/>
          </p:nvGrpSpPr>
          <p:grpSpPr bwMode="auto">
            <a:xfrm>
              <a:off x="3346" y="816"/>
              <a:ext cx="480" cy="144"/>
              <a:chOff x="2688" y="720"/>
              <a:chExt cx="432" cy="192"/>
            </a:xfrm>
            <a:grpFill/>
          </p:grpSpPr>
          <p:sp>
            <p:nvSpPr>
              <p:cNvPr id="29799" name="Rectangle 208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800" name="Rectangle 209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761" name="Line 210"/>
            <p:cNvSpPr>
              <a:spLocks noChangeShapeType="1"/>
            </p:cNvSpPr>
            <p:nvPr/>
          </p:nvSpPr>
          <p:spPr bwMode="auto">
            <a:xfrm>
              <a:off x="3730" y="896"/>
              <a:ext cx="336" cy="0"/>
            </a:xfrm>
            <a:prstGeom prst="line">
              <a:avLst/>
            </a:prstGeom>
            <a:solidFill>
              <a:srgbClr val="CCFFFF"/>
            </a:solidFill>
            <a:ln w="28575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>
              <a:noAutofit/>
            </a:bodyPr>
            <a:lstStyle/>
            <a:p>
              <a:pPr lvl="0" algn="l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effectLst/>
                <a:uLnTx/>
                <a:uFillTx/>
                <a:sym typeface="+mn-ea"/>
              </a:endParaRPr>
            </a:p>
          </p:txBody>
        </p:sp>
        <p:sp>
          <p:nvSpPr>
            <p:cNvPr id="29762" name="Line 211"/>
            <p:cNvSpPr>
              <a:spLocks noChangeShapeType="1"/>
            </p:cNvSpPr>
            <p:nvPr/>
          </p:nvSpPr>
          <p:spPr bwMode="auto">
            <a:xfrm>
              <a:off x="4498" y="896"/>
              <a:ext cx="336" cy="0"/>
            </a:xfrm>
            <a:prstGeom prst="line">
              <a:avLst/>
            </a:prstGeom>
            <a:solidFill>
              <a:srgbClr val="CCFFFF"/>
            </a:solidFill>
            <a:ln w="28575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>
              <a:noAutofit/>
            </a:bodyPr>
            <a:lstStyle/>
            <a:p>
              <a:pPr lvl="0" algn="l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effectLst/>
                <a:uLnTx/>
                <a:uFillTx/>
                <a:sym typeface="+mn-ea"/>
              </a:endParaRPr>
            </a:p>
          </p:txBody>
        </p:sp>
        <p:sp>
          <p:nvSpPr>
            <p:cNvPr id="29763" name="Text Box 212"/>
            <p:cNvSpPr txBox="1">
              <a:spLocks noChangeArrowheads="1"/>
            </p:cNvSpPr>
            <p:nvPr/>
          </p:nvSpPr>
          <p:spPr bwMode="auto">
            <a:xfrm>
              <a:off x="5122" y="768"/>
              <a:ext cx="201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1800" b="1"/>
              </a:lvl1pPr>
              <a:lvl2pPr marL="742950" indent="-285750">
                <a:spcBef>
                  <a:spcPct val="20000"/>
                </a:spcBef>
                <a:buChar char="–"/>
                <a:defRPr sz="2800"/>
              </a:lvl2pPr>
              <a:lvl3pPr marL="1143000" indent="-228600">
                <a:spcBef>
                  <a:spcPct val="20000"/>
                </a:spcBef>
                <a:buChar char="•"/>
              </a:lvl3pPr>
              <a:lvl4pPr marL="1600200" indent="-228600">
                <a:spcBef>
                  <a:spcPct val="20000"/>
                </a:spcBef>
                <a:buChar char="–"/>
                <a:defRPr sz="2000"/>
              </a:lvl4pPr>
              <a:lvl5pPr marL="2057400" indent="-228600">
                <a:spcBef>
                  <a:spcPct val="20000"/>
                </a:spcBef>
                <a:buChar char="»"/>
                <a:defRPr sz="2000"/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9764" name="Group 214"/>
            <p:cNvGrpSpPr/>
            <p:nvPr/>
          </p:nvGrpSpPr>
          <p:grpSpPr bwMode="auto">
            <a:xfrm>
              <a:off x="4834" y="1056"/>
              <a:ext cx="480" cy="144"/>
              <a:chOff x="2688" y="720"/>
              <a:chExt cx="432" cy="192"/>
            </a:xfrm>
            <a:grpFill/>
          </p:grpSpPr>
          <p:sp>
            <p:nvSpPr>
              <p:cNvPr id="29797" name="Rectangle 215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798" name="Rectangle 216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765" name="Group 217"/>
            <p:cNvGrpSpPr/>
            <p:nvPr/>
          </p:nvGrpSpPr>
          <p:grpSpPr bwMode="auto">
            <a:xfrm>
              <a:off x="4066" y="1056"/>
              <a:ext cx="480" cy="144"/>
              <a:chOff x="2688" y="720"/>
              <a:chExt cx="432" cy="192"/>
            </a:xfrm>
            <a:grpFill/>
          </p:grpSpPr>
          <p:sp>
            <p:nvSpPr>
              <p:cNvPr id="29795" name="Rectangle 218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796" name="Rectangle 219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9766" name="Group 220"/>
            <p:cNvGrpSpPr/>
            <p:nvPr/>
          </p:nvGrpSpPr>
          <p:grpSpPr bwMode="auto">
            <a:xfrm>
              <a:off x="3346" y="1056"/>
              <a:ext cx="480" cy="144"/>
              <a:chOff x="2688" y="720"/>
              <a:chExt cx="432" cy="192"/>
            </a:xfrm>
            <a:grpFill/>
          </p:grpSpPr>
          <p:sp>
            <p:nvSpPr>
              <p:cNvPr id="29793" name="Rectangle 221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794" name="Rectangle 222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767" name="Line 223"/>
            <p:cNvSpPr>
              <a:spLocks noChangeShapeType="1"/>
            </p:cNvSpPr>
            <p:nvPr/>
          </p:nvSpPr>
          <p:spPr bwMode="auto">
            <a:xfrm>
              <a:off x="3730" y="1136"/>
              <a:ext cx="336" cy="0"/>
            </a:xfrm>
            <a:prstGeom prst="line">
              <a:avLst/>
            </a:prstGeom>
            <a:solidFill>
              <a:srgbClr val="CCFFFF"/>
            </a:solidFill>
            <a:ln w="28575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>
              <a:noAutofit/>
            </a:bodyPr>
            <a:lstStyle/>
            <a:p>
              <a:pPr lvl="0" algn="l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effectLst/>
                <a:uLnTx/>
                <a:uFillTx/>
                <a:sym typeface="+mn-ea"/>
              </a:endParaRPr>
            </a:p>
          </p:txBody>
        </p:sp>
        <p:sp>
          <p:nvSpPr>
            <p:cNvPr id="29768" name="Line 224"/>
            <p:cNvSpPr>
              <a:spLocks noChangeShapeType="1"/>
            </p:cNvSpPr>
            <p:nvPr/>
          </p:nvSpPr>
          <p:spPr bwMode="auto">
            <a:xfrm>
              <a:off x="4498" y="1136"/>
              <a:ext cx="336" cy="0"/>
            </a:xfrm>
            <a:prstGeom prst="line">
              <a:avLst/>
            </a:prstGeom>
            <a:solidFill>
              <a:srgbClr val="CCFFFF"/>
            </a:solidFill>
            <a:ln w="28575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>
              <a:noAutofit/>
            </a:bodyPr>
            <a:lstStyle/>
            <a:p>
              <a:pPr lvl="0" algn="l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effectLst/>
                <a:uLnTx/>
                <a:uFillTx/>
                <a:sym typeface="+mn-ea"/>
              </a:endParaRPr>
            </a:p>
          </p:txBody>
        </p:sp>
        <p:sp>
          <p:nvSpPr>
            <p:cNvPr id="29769" name="Text Box 225"/>
            <p:cNvSpPr txBox="1">
              <a:spLocks noChangeArrowheads="1"/>
            </p:cNvSpPr>
            <p:nvPr/>
          </p:nvSpPr>
          <p:spPr bwMode="auto">
            <a:xfrm>
              <a:off x="5122" y="1008"/>
              <a:ext cx="201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1800" b="1"/>
              </a:lvl1pPr>
              <a:lvl2pPr marL="742950" indent="-285750">
                <a:spcBef>
                  <a:spcPct val="20000"/>
                </a:spcBef>
                <a:buChar char="–"/>
                <a:defRPr sz="2800"/>
              </a:lvl2pPr>
              <a:lvl3pPr marL="1143000" indent="-228600">
                <a:spcBef>
                  <a:spcPct val="20000"/>
                </a:spcBef>
                <a:buChar char="•"/>
              </a:lvl3pPr>
              <a:lvl4pPr marL="1600200" indent="-228600">
                <a:spcBef>
                  <a:spcPct val="20000"/>
                </a:spcBef>
                <a:buChar char="–"/>
                <a:defRPr sz="2000"/>
              </a:lvl4pPr>
              <a:lvl5pPr marL="2057400" indent="-228600">
                <a:spcBef>
                  <a:spcPct val="20000"/>
                </a:spcBef>
                <a:buChar char="»"/>
                <a:defRPr sz="2000"/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70" name="Line 226"/>
            <p:cNvSpPr>
              <a:spLocks noChangeShapeType="1"/>
            </p:cNvSpPr>
            <p:nvPr/>
          </p:nvSpPr>
          <p:spPr bwMode="auto">
            <a:xfrm>
              <a:off x="3010" y="704"/>
              <a:ext cx="336" cy="0"/>
            </a:xfrm>
            <a:prstGeom prst="line">
              <a:avLst/>
            </a:prstGeom>
            <a:solidFill>
              <a:srgbClr val="CCFFFF"/>
            </a:solidFill>
            <a:ln w="28575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>
              <a:noAutofit/>
            </a:bodyPr>
            <a:lstStyle/>
            <a:p>
              <a:pPr lvl="0" algn="l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effectLst/>
                <a:uLnTx/>
                <a:uFillTx/>
                <a:sym typeface="+mn-ea"/>
              </a:endParaRPr>
            </a:p>
          </p:txBody>
        </p:sp>
        <p:sp>
          <p:nvSpPr>
            <p:cNvPr id="29771" name="Line 227"/>
            <p:cNvSpPr>
              <a:spLocks noChangeShapeType="1"/>
            </p:cNvSpPr>
            <p:nvPr/>
          </p:nvSpPr>
          <p:spPr bwMode="auto">
            <a:xfrm>
              <a:off x="3010" y="896"/>
              <a:ext cx="336" cy="0"/>
            </a:xfrm>
            <a:prstGeom prst="line">
              <a:avLst/>
            </a:prstGeom>
            <a:solidFill>
              <a:srgbClr val="CCFFFF"/>
            </a:solidFill>
            <a:ln w="28575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>
              <a:noAutofit/>
            </a:bodyPr>
            <a:lstStyle/>
            <a:p>
              <a:pPr lvl="0" algn="l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effectLst/>
                <a:uLnTx/>
                <a:uFillTx/>
                <a:sym typeface="+mn-ea"/>
              </a:endParaRPr>
            </a:p>
          </p:txBody>
        </p:sp>
        <p:sp>
          <p:nvSpPr>
            <p:cNvPr id="29772" name="Line 228"/>
            <p:cNvSpPr>
              <a:spLocks noChangeShapeType="1"/>
            </p:cNvSpPr>
            <p:nvPr/>
          </p:nvSpPr>
          <p:spPr bwMode="auto">
            <a:xfrm>
              <a:off x="3010" y="1125"/>
              <a:ext cx="336" cy="0"/>
            </a:xfrm>
            <a:prstGeom prst="line">
              <a:avLst/>
            </a:prstGeom>
            <a:solidFill>
              <a:srgbClr val="CCFFFF"/>
            </a:solidFill>
            <a:ln w="28575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>
              <a:noAutofit/>
            </a:bodyPr>
            <a:lstStyle/>
            <a:p>
              <a:pPr lvl="0" algn="l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effectLst/>
                <a:uLnTx/>
                <a:uFillTx/>
                <a:sym typeface="+mn-ea"/>
              </a:endParaRPr>
            </a:p>
          </p:txBody>
        </p:sp>
        <p:sp>
          <p:nvSpPr>
            <p:cNvPr id="29773" name="Text Box 229"/>
            <p:cNvSpPr txBox="1">
              <a:spLocks noChangeArrowheads="1"/>
            </p:cNvSpPr>
            <p:nvPr/>
          </p:nvSpPr>
          <p:spPr bwMode="auto">
            <a:xfrm>
              <a:off x="2507" y="408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1800" b="1"/>
              </a:lvl1pPr>
              <a:lvl2pPr marL="742950" indent="-285750">
                <a:spcBef>
                  <a:spcPct val="20000"/>
                </a:spcBef>
                <a:buChar char="–"/>
                <a:defRPr sz="2800"/>
              </a:lvl2pPr>
              <a:lvl3pPr marL="1143000" indent="-228600">
                <a:spcBef>
                  <a:spcPct val="20000"/>
                </a:spcBef>
                <a:buChar char="•"/>
              </a:lvl3pPr>
              <a:lvl4pPr marL="1600200" indent="-228600">
                <a:spcBef>
                  <a:spcPct val="20000"/>
                </a:spcBef>
                <a:buChar char="–"/>
                <a:defRPr sz="2000"/>
              </a:lvl4pPr>
              <a:lvl5pPr marL="2057400" indent="-228600">
                <a:spcBef>
                  <a:spcPct val="20000"/>
                </a:spcBef>
                <a:buChar char="»"/>
                <a:defRPr sz="2000"/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74" name="Text Box 230"/>
            <p:cNvSpPr txBox="1">
              <a:spLocks noChangeArrowheads="1"/>
            </p:cNvSpPr>
            <p:nvPr/>
          </p:nvSpPr>
          <p:spPr bwMode="auto">
            <a:xfrm>
              <a:off x="2500" y="600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1800" b="1">
                  <a:solidFill>
                    <a:schemeClr val="bg1"/>
                  </a:solidFill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/>
              </a:lvl2pPr>
              <a:lvl3pPr marL="1143000" indent="-228600">
                <a:spcBef>
                  <a:spcPct val="20000"/>
                </a:spcBef>
                <a:buChar char="•"/>
              </a:lvl3pPr>
              <a:lvl4pPr marL="1600200" indent="-228600">
                <a:spcBef>
                  <a:spcPct val="20000"/>
                </a:spcBef>
                <a:buChar char="–"/>
                <a:defRPr sz="2000"/>
              </a:lvl4pPr>
              <a:lvl5pPr marL="2057400" indent="-228600">
                <a:spcBef>
                  <a:spcPct val="20000"/>
                </a:spcBef>
                <a:buChar char="»"/>
                <a:defRPr sz="2000"/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75" name="Text Box 231"/>
            <p:cNvSpPr txBox="1">
              <a:spLocks noChangeArrowheads="1"/>
            </p:cNvSpPr>
            <p:nvPr/>
          </p:nvSpPr>
          <p:spPr bwMode="auto">
            <a:xfrm>
              <a:off x="2492" y="792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1800" b="1">
                  <a:solidFill>
                    <a:schemeClr val="bg1"/>
                  </a:solidFill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/>
              </a:lvl2pPr>
              <a:lvl3pPr marL="1143000" indent="-228600">
                <a:spcBef>
                  <a:spcPct val="20000"/>
                </a:spcBef>
                <a:buChar char="•"/>
              </a:lvl3pPr>
              <a:lvl4pPr marL="1600200" indent="-228600">
                <a:spcBef>
                  <a:spcPct val="20000"/>
                </a:spcBef>
                <a:buChar char="–"/>
                <a:defRPr sz="2000"/>
              </a:lvl4pPr>
              <a:lvl5pPr marL="2057400" indent="-228600">
                <a:spcBef>
                  <a:spcPct val="20000"/>
                </a:spcBef>
                <a:buChar char="»"/>
                <a:defRPr sz="2000"/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76" name="Text Box 232"/>
            <p:cNvSpPr txBox="1">
              <a:spLocks noChangeArrowheads="1"/>
            </p:cNvSpPr>
            <p:nvPr/>
          </p:nvSpPr>
          <p:spPr bwMode="auto">
            <a:xfrm>
              <a:off x="2499" y="975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1800" b="1">
                  <a:solidFill>
                    <a:schemeClr val="bg1"/>
                  </a:solidFill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/>
              </a:lvl2pPr>
              <a:lvl3pPr marL="1143000" indent="-228600">
                <a:spcBef>
                  <a:spcPct val="20000"/>
                </a:spcBef>
                <a:buChar char="•"/>
              </a:lvl3pPr>
              <a:lvl4pPr marL="1600200" indent="-228600">
                <a:spcBef>
                  <a:spcPct val="20000"/>
                </a:spcBef>
                <a:buChar char="–"/>
                <a:defRPr sz="2000"/>
              </a:lvl4pPr>
              <a:lvl5pPr marL="2057400" indent="-228600">
                <a:spcBef>
                  <a:spcPct val="20000"/>
                </a:spcBef>
                <a:buChar char="»"/>
                <a:defRPr sz="2000"/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77" name="Text Box 233"/>
            <p:cNvSpPr txBox="1">
              <a:spLocks noChangeArrowheads="1"/>
            </p:cNvSpPr>
            <p:nvPr/>
          </p:nvSpPr>
          <p:spPr bwMode="auto">
            <a:xfrm>
              <a:off x="2674" y="336"/>
              <a:ext cx="308" cy="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400" b="1" i="0" u="none" strike="noStrike" kern="1200" cap="none" spc="0" normalizeH="0" baseline="-18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1 </a:t>
              </a:r>
              <a:endParaRPr kumimoji="0" lang="en-US" altLang="zh-CN" sz="2400" b="1" i="0" u="none" strike="noStrike" kern="1200" cap="none" spc="0" normalizeH="0" baseline="-18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78" name="Rectangle 234"/>
            <p:cNvSpPr>
              <a:spLocks noChangeArrowheads="1"/>
            </p:cNvSpPr>
            <p:nvPr/>
          </p:nvSpPr>
          <p:spPr bwMode="auto">
            <a:xfrm>
              <a:off x="2686" y="720"/>
              <a:ext cx="276" cy="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400" b="1" i="0" u="none" strike="noStrike" kern="1200" cap="none" spc="0" normalizeH="0" baseline="-16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2400" b="1" i="0" u="none" strike="noStrike" kern="1200" cap="none" spc="0" normalizeH="0" baseline="-16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79" name="Rectangle 235"/>
            <p:cNvSpPr>
              <a:spLocks noChangeArrowheads="1"/>
            </p:cNvSpPr>
            <p:nvPr/>
          </p:nvSpPr>
          <p:spPr bwMode="auto">
            <a:xfrm>
              <a:off x="2686" y="528"/>
              <a:ext cx="276" cy="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400" b="1" i="0" u="none" strike="noStrike" kern="1200" cap="none" spc="0" normalizeH="0" baseline="-18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400" b="1" i="0" u="none" strike="noStrike" kern="1200" cap="none" spc="0" normalizeH="0" baseline="-18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80" name="Rectangle 236"/>
            <p:cNvSpPr>
              <a:spLocks noChangeArrowheads="1"/>
            </p:cNvSpPr>
            <p:nvPr/>
          </p:nvSpPr>
          <p:spPr bwMode="auto">
            <a:xfrm>
              <a:off x="2677" y="934"/>
              <a:ext cx="276" cy="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400" b="1" i="0" u="none" strike="noStrike" kern="1200" cap="none" spc="0" normalizeH="0" baseline="-18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2400" b="1" i="0" u="none" strike="noStrike" kern="1200" cap="none" spc="0" normalizeH="0" baseline="-18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81" name="Text Box 237"/>
            <p:cNvSpPr txBox="1">
              <a:spLocks noChangeArrowheads="1"/>
            </p:cNvSpPr>
            <p:nvPr/>
          </p:nvSpPr>
          <p:spPr bwMode="auto">
            <a:xfrm>
              <a:off x="3386" y="384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82" name="Text Box 238"/>
            <p:cNvSpPr txBox="1">
              <a:spLocks noChangeArrowheads="1"/>
            </p:cNvSpPr>
            <p:nvPr/>
          </p:nvSpPr>
          <p:spPr bwMode="auto">
            <a:xfrm>
              <a:off x="4882" y="1008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1800" b="1"/>
              </a:lvl1pPr>
              <a:lvl2pPr marL="742950" indent="-285750">
                <a:spcBef>
                  <a:spcPct val="20000"/>
                </a:spcBef>
                <a:buChar char="–"/>
                <a:defRPr sz="2800"/>
              </a:lvl2pPr>
              <a:lvl3pPr marL="1143000" indent="-228600">
                <a:spcBef>
                  <a:spcPct val="20000"/>
                </a:spcBef>
                <a:buChar char="•"/>
              </a:lvl3pPr>
              <a:lvl4pPr marL="1600200" indent="-228600">
                <a:spcBef>
                  <a:spcPct val="20000"/>
                </a:spcBef>
                <a:buChar char="–"/>
                <a:defRPr sz="2000"/>
              </a:lvl4pPr>
              <a:lvl5pPr marL="2057400" indent="-228600">
                <a:spcBef>
                  <a:spcPct val="20000"/>
                </a:spcBef>
                <a:buChar char="»"/>
                <a:defRPr sz="2000"/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83" name="Rectangle 239"/>
            <p:cNvSpPr>
              <a:spLocks noChangeArrowheads="1"/>
            </p:cNvSpPr>
            <p:nvPr/>
          </p:nvSpPr>
          <p:spPr bwMode="auto">
            <a:xfrm>
              <a:off x="4882" y="393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84" name="Rectangle 240"/>
            <p:cNvSpPr>
              <a:spLocks noChangeArrowheads="1"/>
            </p:cNvSpPr>
            <p:nvPr/>
          </p:nvSpPr>
          <p:spPr bwMode="auto">
            <a:xfrm>
              <a:off x="4118" y="384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85" name="Rectangle 241"/>
            <p:cNvSpPr>
              <a:spLocks noChangeArrowheads="1"/>
            </p:cNvSpPr>
            <p:nvPr/>
          </p:nvSpPr>
          <p:spPr bwMode="auto">
            <a:xfrm>
              <a:off x="4114" y="576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86" name="Rectangle 242"/>
            <p:cNvSpPr>
              <a:spLocks noChangeArrowheads="1"/>
            </p:cNvSpPr>
            <p:nvPr/>
          </p:nvSpPr>
          <p:spPr bwMode="auto">
            <a:xfrm>
              <a:off x="4114" y="768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87" name="Rectangle 243"/>
            <p:cNvSpPr>
              <a:spLocks noChangeArrowheads="1"/>
            </p:cNvSpPr>
            <p:nvPr/>
          </p:nvSpPr>
          <p:spPr bwMode="auto">
            <a:xfrm>
              <a:off x="4882" y="576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88" name="Rectangle 244"/>
            <p:cNvSpPr>
              <a:spLocks noChangeArrowheads="1"/>
            </p:cNvSpPr>
            <p:nvPr/>
          </p:nvSpPr>
          <p:spPr bwMode="auto">
            <a:xfrm>
              <a:off x="3398" y="576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89" name="Rectangle 245"/>
            <p:cNvSpPr>
              <a:spLocks noChangeArrowheads="1"/>
            </p:cNvSpPr>
            <p:nvPr/>
          </p:nvSpPr>
          <p:spPr bwMode="auto">
            <a:xfrm>
              <a:off x="3394" y="777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90" name="Rectangle 246"/>
            <p:cNvSpPr>
              <a:spLocks noChangeArrowheads="1"/>
            </p:cNvSpPr>
            <p:nvPr/>
          </p:nvSpPr>
          <p:spPr bwMode="auto">
            <a:xfrm>
              <a:off x="4882" y="768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91" name="Rectangle 247"/>
            <p:cNvSpPr>
              <a:spLocks noChangeArrowheads="1"/>
            </p:cNvSpPr>
            <p:nvPr/>
          </p:nvSpPr>
          <p:spPr bwMode="auto">
            <a:xfrm>
              <a:off x="4114" y="1008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92" name="Rectangle 248"/>
            <p:cNvSpPr>
              <a:spLocks noChangeArrowheads="1"/>
            </p:cNvSpPr>
            <p:nvPr/>
          </p:nvSpPr>
          <p:spPr bwMode="auto">
            <a:xfrm>
              <a:off x="3394" y="1008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726" name="组合 1"/>
          <p:cNvGrpSpPr/>
          <p:nvPr/>
        </p:nvGrpSpPr>
        <p:grpSpPr>
          <a:xfrm>
            <a:off x="1068388" y="1273175"/>
            <a:ext cx="1935162" cy="1800225"/>
            <a:chOff x="1068572" y="1184735"/>
            <a:chExt cx="1935406" cy="1799617"/>
          </a:xfrm>
        </p:grpSpPr>
        <p:sp>
          <p:nvSpPr>
            <p:cNvPr id="30750" name="Oval 287"/>
            <p:cNvSpPr/>
            <p:nvPr/>
          </p:nvSpPr>
          <p:spPr>
            <a:xfrm>
              <a:off x="1825625" y="1279984"/>
              <a:ext cx="371475" cy="284163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51" name="Oval 288"/>
            <p:cNvSpPr/>
            <p:nvPr/>
          </p:nvSpPr>
          <p:spPr>
            <a:xfrm>
              <a:off x="1081088" y="1988009"/>
              <a:ext cx="371475" cy="284163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52" name="Oval 289"/>
            <p:cNvSpPr/>
            <p:nvPr/>
          </p:nvSpPr>
          <p:spPr>
            <a:xfrm>
              <a:off x="1825625" y="2697622"/>
              <a:ext cx="371475" cy="28257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53" name="Oval 290"/>
            <p:cNvSpPr/>
            <p:nvPr/>
          </p:nvSpPr>
          <p:spPr>
            <a:xfrm>
              <a:off x="2619375" y="1953083"/>
              <a:ext cx="371475" cy="28257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54" name="Line 291"/>
            <p:cNvSpPr/>
            <p:nvPr/>
          </p:nvSpPr>
          <p:spPr>
            <a:xfrm flipV="1">
              <a:off x="1389063" y="1492709"/>
              <a:ext cx="511175" cy="520700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755" name="Line 292"/>
            <p:cNvSpPr/>
            <p:nvPr/>
          </p:nvSpPr>
          <p:spPr>
            <a:xfrm>
              <a:off x="1452563" y="2129297"/>
              <a:ext cx="1192212" cy="0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756" name="Line 293"/>
            <p:cNvSpPr/>
            <p:nvPr/>
          </p:nvSpPr>
          <p:spPr>
            <a:xfrm>
              <a:off x="2049463" y="1562559"/>
              <a:ext cx="0" cy="1133475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757" name="Line 294"/>
            <p:cNvSpPr/>
            <p:nvPr/>
          </p:nvSpPr>
          <p:spPr>
            <a:xfrm>
              <a:off x="2185988" y="1505409"/>
              <a:ext cx="484187" cy="484188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758" name="Line 295"/>
            <p:cNvSpPr/>
            <p:nvPr/>
          </p:nvSpPr>
          <p:spPr>
            <a:xfrm flipV="1">
              <a:off x="2197100" y="2238834"/>
              <a:ext cx="536575" cy="528638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759" name="Line 296"/>
            <p:cNvSpPr/>
            <p:nvPr/>
          </p:nvSpPr>
          <p:spPr>
            <a:xfrm>
              <a:off x="1401763" y="2257884"/>
              <a:ext cx="498475" cy="509588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760" name="Text Box 297"/>
            <p:cNvSpPr txBox="1"/>
            <p:nvPr/>
          </p:nvSpPr>
          <p:spPr>
            <a:xfrm>
              <a:off x="1815491" y="1184735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61" name="Rectangle 298"/>
            <p:cNvSpPr/>
            <p:nvPr/>
          </p:nvSpPr>
          <p:spPr>
            <a:xfrm>
              <a:off x="1068572" y="1879206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62" name="Rectangle 299"/>
            <p:cNvSpPr/>
            <p:nvPr/>
          </p:nvSpPr>
          <p:spPr>
            <a:xfrm>
              <a:off x="2610278" y="1846721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63" name="Rectangle 300"/>
            <p:cNvSpPr/>
            <p:nvPr/>
          </p:nvSpPr>
          <p:spPr>
            <a:xfrm>
              <a:off x="1825626" y="2587477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798" name="Group 318"/>
          <p:cNvGrpSpPr/>
          <p:nvPr/>
        </p:nvGrpSpPr>
        <p:grpSpPr>
          <a:xfrm>
            <a:off x="1090613" y="3095625"/>
            <a:ext cx="1925637" cy="1808163"/>
            <a:chOff x="729" y="1634"/>
            <a:chExt cx="1213" cy="1139"/>
          </a:xfrm>
        </p:grpSpPr>
        <p:sp>
          <p:nvSpPr>
            <p:cNvPr id="30734" name="Oval 301"/>
            <p:cNvSpPr/>
            <p:nvPr/>
          </p:nvSpPr>
          <p:spPr>
            <a:xfrm>
              <a:off x="1193" y="1693"/>
              <a:ext cx="228" cy="18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35" name="Oval 302"/>
            <p:cNvSpPr/>
            <p:nvPr/>
          </p:nvSpPr>
          <p:spPr>
            <a:xfrm>
              <a:off x="737" y="2143"/>
              <a:ext cx="228" cy="18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36" name="Oval 303"/>
            <p:cNvSpPr/>
            <p:nvPr/>
          </p:nvSpPr>
          <p:spPr>
            <a:xfrm>
              <a:off x="1193" y="2593"/>
              <a:ext cx="228" cy="18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37" name="Oval 304"/>
            <p:cNvSpPr/>
            <p:nvPr/>
          </p:nvSpPr>
          <p:spPr>
            <a:xfrm>
              <a:off x="1695" y="2098"/>
              <a:ext cx="228" cy="18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38" name="Line 305"/>
            <p:cNvSpPr/>
            <p:nvPr/>
          </p:nvSpPr>
          <p:spPr>
            <a:xfrm flipV="1">
              <a:off x="965" y="2188"/>
              <a:ext cx="775" cy="0"/>
            </a:xfrm>
            <a:prstGeom prst="line">
              <a:avLst/>
            </a:prstGeom>
            <a:ln w="3175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lg"/>
            </a:ln>
          </p:spPr>
        </p:sp>
        <p:sp>
          <p:nvSpPr>
            <p:cNvPr id="30739" name="Line 306"/>
            <p:cNvSpPr/>
            <p:nvPr/>
          </p:nvSpPr>
          <p:spPr>
            <a:xfrm flipV="1">
              <a:off x="1400" y="2270"/>
              <a:ext cx="348" cy="353"/>
            </a:xfrm>
            <a:prstGeom prst="line">
              <a:avLst/>
            </a:prstGeom>
            <a:ln w="3175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lg"/>
            </a:ln>
          </p:spPr>
        </p:sp>
        <p:sp>
          <p:nvSpPr>
            <p:cNvPr id="30740" name="Freeform 307"/>
            <p:cNvSpPr/>
            <p:nvPr/>
          </p:nvSpPr>
          <p:spPr>
            <a:xfrm>
              <a:off x="737" y="1648"/>
              <a:ext cx="456" cy="540"/>
            </a:xfrm>
            <a:custGeom>
              <a:avLst/>
              <a:gdLst/>
              <a:ahLst/>
              <a:cxnLst>
                <a:cxn ang="0">
                  <a:pos x="0" y="3414"/>
                </a:cxn>
                <a:cxn ang="0">
                  <a:pos x="1" y="438"/>
                </a:cxn>
                <a:cxn ang="0">
                  <a:pos x="2" y="810"/>
                </a:cxn>
              </a:cxnLst>
              <a:rect l="0" t="0" r="0" b="0"/>
              <a:pathLst>
                <a:path w="864" h="440">
                  <a:moveTo>
                    <a:pt x="0" y="440"/>
                  </a:moveTo>
                  <a:cubicBezTo>
                    <a:pt x="72" y="276"/>
                    <a:pt x="144" y="112"/>
                    <a:pt x="288" y="56"/>
                  </a:cubicBezTo>
                  <a:cubicBezTo>
                    <a:pt x="432" y="0"/>
                    <a:pt x="768" y="96"/>
                    <a:pt x="864" y="104"/>
                  </a:cubicBezTo>
                </a:path>
              </a:pathLst>
            </a:custGeom>
            <a:noFill/>
            <a:ln w="31750" cap="flat" cmpd="sng">
              <a:solidFill>
                <a:schemeClr val="accent4">
                  <a:lumMod val="75000"/>
                  <a:alpha val="100000"/>
                </a:schemeClr>
              </a:solidFill>
              <a:prstDash val="solid"/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0741" name="Freeform 308"/>
            <p:cNvSpPr/>
            <p:nvPr/>
          </p:nvSpPr>
          <p:spPr>
            <a:xfrm>
              <a:off x="965" y="1873"/>
              <a:ext cx="365" cy="450"/>
            </a:xfrm>
            <a:custGeom>
              <a:avLst/>
              <a:gdLst/>
              <a:ahLst/>
              <a:cxnLst>
                <a:cxn ang="0">
                  <a:pos x="0" y="5659"/>
                </a:cxn>
                <a:cxn ang="0">
                  <a:pos x="0" y="6810"/>
                </a:cxn>
                <a:cxn ang="0">
                  <a:pos x="0" y="0"/>
                </a:cxn>
              </a:cxnLst>
              <a:rect l="0" t="0" r="0" b="0"/>
              <a:pathLst>
                <a:path w="768" h="328">
                  <a:moveTo>
                    <a:pt x="0" y="240"/>
                  </a:moveTo>
                  <a:cubicBezTo>
                    <a:pt x="152" y="284"/>
                    <a:pt x="304" y="328"/>
                    <a:pt x="432" y="288"/>
                  </a:cubicBezTo>
                  <a:cubicBezTo>
                    <a:pt x="560" y="248"/>
                    <a:pt x="712" y="48"/>
                    <a:pt x="768" y="0"/>
                  </a:cubicBezTo>
                </a:path>
              </a:pathLst>
            </a:custGeom>
            <a:noFill/>
            <a:ln w="31750" cap="flat" cmpd="sng">
              <a:solidFill>
                <a:schemeClr val="accent4">
                  <a:lumMod val="75000"/>
                  <a:alpha val="100000"/>
                </a:schemeClr>
              </a:solidFill>
              <a:prstDash val="solid"/>
              <a:round/>
              <a:headEnd type="triangle" w="med" len="med"/>
              <a:tailEnd type="none" w="sm" len="sm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0742" name="Rectangle 309"/>
            <p:cNvSpPr/>
            <p:nvPr/>
          </p:nvSpPr>
          <p:spPr>
            <a:xfrm>
              <a:off x="1195" y="1634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43" name="Rectangle 310"/>
            <p:cNvSpPr/>
            <p:nvPr/>
          </p:nvSpPr>
          <p:spPr>
            <a:xfrm>
              <a:off x="729" y="2069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44" name="Rectangle 311"/>
            <p:cNvSpPr/>
            <p:nvPr/>
          </p:nvSpPr>
          <p:spPr>
            <a:xfrm>
              <a:off x="1694" y="2032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45" name="Rectangle 312"/>
            <p:cNvSpPr/>
            <p:nvPr/>
          </p:nvSpPr>
          <p:spPr>
            <a:xfrm>
              <a:off x="1186" y="2520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46" name="Text Box 313"/>
            <p:cNvSpPr txBox="1"/>
            <p:nvPr/>
          </p:nvSpPr>
          <p:spPr>
            <a:xfrm>
              <a:off x="873" y="1705"/>
              <a:ext cx="196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47" name="Text Box 314"/>
            <p:cNvSpPr txBox="1"/>
            <p:nvPr/>
          </p:nvSpPr>
          <p:spPr>
            <a:xfrm>
              <a:off x="1047" y="1907"/>
              <a:ext cx="196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48" name="Text Box 315"/>
            <p:cNvSpPr txBox="1"/>
            <p:nvPr/>
          </p:nvSpPr>
          <p:spPr>
            <a:xfrm>
              <a:off x="1331" y="1980"/>
              <a:ext cx="196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49" name="Text Box 316"/>
            <p:cNvSpPr txBox="1"/>
            <p:nvPr/>
          </p:nvSpPr>
          <p:spPr>
            <a:xfrm>
              <a:off x="1342" y="2280"/>
              <a:ext cx="196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728" name="Oval 7"/>
          <p:cNvSpPr/>
          <p:nvPr/>
        </p:nvSpPr>
        <p:spPr>
          <a:xfrm>
            <a:off x="595313" y="838200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0729" name="Text Box 8"/>
          <p:cNvSpPr txBox="1"/>
          <p:nvPr/>
        </p:nvSpPr>
        <p:spPr>
          <a:xfrm>
            <a:off x="913130" y="754380"/>
            <a:ext cx="30384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邻接表存储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55625" y="4805363"/>
            <a:ext cx="8148638" cy="1704975"/>
            <a:chOff x="555433" y="4805628"/>
            <a:chExt cx="8148830" cy="1705137"/>
          </a:xfrm>
        </p:grpSpPr>
        <p:sp>
          <p:nvSpPr>
            <p:cNvPr id="30732" name="矩形 2"/>
            <p:cNvSpPr/>
            <p:nvPr/>
          </p:nvSpPr>
          <p:spPr>
            <a:xfrm>
              <a:off x="841945" y="5060867"/>
              <a:ext cx="7862318" cy="1449898"/>
            </a:xfrm>
            <a:prstGeom prst="rect">
              <a:avLst/>
            </a:prstGeom>
            <a:noFill/>
            <a:ln w="50800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33" name="矩形 1"/>
            <p:cNvSpPr/>
            <p:nvPr/>
          </p:nvSpPr>
          <p:spPr>
            <a:xfrm>
              <a:off x="555433" y="4805628"/>
              <a:ext cx="1085850" cy="491241"/>
            </a:xfrm>
            <a:prstGeom prst="rect">
              <a:avLst/>
            </a:prstGeom>
            <a:solidFill>
              <a:srgbClr val="FFC000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zh-CN" alt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特 点</a:t>
              </a:r>
              <a:endPara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0731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7.2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图的存储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35" grpId="0"/>
      <p:bldP spid="2063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10" name="Text Box 182"/>
          <p:cNvSpPr txBox="1">
            <a:spLocks noChangeArrowheads="1"/>
          </p:cNvSpPr>
          <p:nvPr/>
        </p:nvSpPr>
        <p:spPr bwMode="auto">
          <a:xfrm>
            <a:off x="1023938" y="1945640"/>
            <a:ext cx="7369175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#define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Vnum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图的顶点数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2771" name="Oval 7"/>
          <p:cNvSpPr/>
          <p:nvPr/>
        </p:nvSpPr>
        <p:spPr>
          <a:xfrm>
            <a:off x="595313" y="838200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2772" name="Text Box 8"/>
          <p:cNvSpPr txBox="1"/>
          <p:nvPr/>
        </p:nvSpPr>
        <p:spPr>
          <a:xfrm>
            <a:off x="914400" y="781050"/>
            <a:ext cx="30384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邻接表存储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2773" name="文本框 1"/>
          <p:cNvSpPr txBox="1"/>
          <p:nvPr/>
        </p:nvSpPr>
        <p:spPr>
          <a:xfrm>
            <a:off x="595313" y="1349375"/>
            <a:ext cx="36023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）邻接表的类型定义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30288" y="2332990"/>
            <a:ext cx="7369175" cy="1938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typedef struct EdgeNode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{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int adjvex;   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//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该弧所指向的顶点的位置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struct EdgeNode *next;  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//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指向下一条弧的指针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} EdgeNode;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23938" y="4264978"/>
            <a:ext cx="7693025" cy="1938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typedef struct Vnode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{  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VertexType vertex;   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EdgeNode *link;  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//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指向第一条依附该顶点的弧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} AdjList[Vnum];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2776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7.2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图的存储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110" grpId="0"/>
      <p:bldP spid="3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604838" y="1814513"/>
            <a:ext cx="8099425" cy="17532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2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思想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: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(1)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将邻接表表头数组初始化，第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个表头的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vertex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为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link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NULL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3795" name="Oval 7"/>
          <p:cNvSpPr/>
          <p:nvPr/>
        </p:nvSpPr>
        <p:spPr>
          <a:xfrm>
            <a:off x="595313" y="838200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3796" name="Text Box 8"/>
          <p:cNvSpPr txBox="1"/>
          <p:nvPr/>
        </p:nvSpPr>
        <p:spPr>
          <a:xfrm>
            <a:off x="914400" y="781050"/>
            <a:ext cx="30384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邻接表存储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3797" name="文本框 11"/>
          <p:cNvSpPr txBox="1"/>
          <p:nvPr/>
        </p:nvSpPr>
        <p:spPr>
          <a:xfrm>
            <a:off x="595313" y="1349375"/>
            <a:ext cx="28911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）邻接表的建立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95313" y="3503613"/>
            <a:ext cx="8099425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(2)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读入顶点对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&lt;i, j&gt;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或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(i, j)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，产生一个表结点，将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j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放入到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adjvex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域，将该结点链到表头的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link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域上。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3799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7.2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图的存储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9" grpId="0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矩形 140306"/>
          <p:cNvSpPr/>
          <p:nvPr/>
        </p:nvSpPr>
        <p:spPr>
          <a:xfrm>
            <a:off x="68263" y="1308100"/>
            <a:ext cx="9009062" cy="55499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0294" name="组合 140293"/>
          <p:cNvGrpSpPr/>
          <p:nvPr/>
        </p:nvGrpSpPr>
        <p:grpSpPr>
          <a:xfrm>
            <a:off x="161925" y="3880168"/>
            <a:ext cx="1035050" cy="1362075"/>
            <a:chOff x="5705879" y="4305728"/>
            <a:chExt cx="1034804" cy="1362208"/>
          </a:xfrm>
        </p:grpSpPr>
        <p:grpSp>
          <p:nvGrpSpPr>
            <p:cNvPr id="34878" name="Group 162"/>
            <p:cNvGrpSpPr/>
            <p:nvPr/>
          </p:nvGrpSpPr>
          <p:grpSpPr>
            <a:xfrm>
              <a:off x="5994804" y="4354836"/>
              <a:ext cx="685800" cy="304800"/>
              <a:chOff x="2688" y="720"/>
              <a:chExt cx="432" cy="192"/>
            </a:xfrm>
          </p:grpSpPr>
          <p:sp>
            <p:nvSpPr>
              <p:cNvPr id="34898" name="Rectangle 163"/>
              <p:cNvSpPr/>
              <p:nvPr/>
            </p:nvSpPr>
            <p:spPr>
              <a:xfrm>
                <a:off x="2688" y="720"/>
                <a:ext cx="240" cy="192"/>
              </a:xfrm>
              <a:prstGeom prst="rect">
                <a:avLst/>
              </a:prstGeom>
              <a:solidFill>
                <a:srgbClr val="CCFFFF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</a:pPr>
                <a:endPara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99" name="Rectangle 164"/>
              <p:cNvSpPr/>
              <p:nvPr/>
            </p:nvSpPr>
            <p:spPr>
              <a:xfrm>
                <a:off x="2928" y="720"/>
                <a:ext cx="192" cy="192"/>
              </a:xfrm>
              <a:prstGeom prst="rect">
                <a:avLst/>
              </a:prstGeom>
              <a:solidFill>
                <a:srgbClr val="CCFFFF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</a:pPr>
                <a:endPara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4879" name="Group 165"/>
            <p:cNvGrpSpPr/>
            <p:nvPr/>
          </p:nvGrpSpPr>
          <p:grpSpPr>
            <a:xfrm>
              <a:off x="5994804" y="4659636"/>
              <a:ext cx="685800" cy="304800"/>
              <a:chOff x="2688" y="720"/>
              <a:chExt cx="432" cy="192"/>
            </a:xfrm>
          </p:grpSpPr>
          <p:sp>
            <p:nvSpPr>
              <p:cNvPr id="34896" name="Rectangle 166"/>
              <p:cNvSpPr/>
              <p:nvPr/>
            </p:nvSpPr>
            <p:spPr>
              <a:xfrm>
                <a:off x="2688" y="720"/>
                <a:ext cx="240" cy="192"/>
              </a:xfrm>
              <a:prstGeom prst="rect">
                <a:avLst/>
              </a:prstGeom>
              <a:solidFill>
                <a:srgbClr val="CCFFFF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</a:pPr>
                <a:endPara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97" name="Rectangle 167"/>
              <p:cNvSpPr/>
              <p:nvPr/>
            </p:nvSpPr>
            <p:spPr>
              <a:xfrm>
                <a:off x="2928" y="720"/>
                <a:ext cx="192" cy="192"/>
              </a:xfrm>
              <a:prstGeom prst="rect">
                <a:avLst/>
              </a:prstGeom>
              <a:solidFill>
                <a:srgbClr val="CCFFFF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</a:pPr>
                <a:endPara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4880" name="Group 168"/>
            <p:cNvGrpSpPr/>
            <p:nvPr/>
          </p:nvGrpSpPr>
          <p:grpSpPr>
            <a:xfrm>
              <a:off x="5994804" y="4964436"/>
              <a:ext cx="685800" cy="304800"/>
              <a:chOff x="2688" y="720"/>
              <a:chExt cx="432" cy="192"/>
            </a:xfrm>
          </p:grpSpPr>
          <p:sp>
            <p:nvSpPr>
              <p:cNvPr id="34894" name="Rectangle 169"/>
              <p:cNvSpPr/>
              <p:nvPr/>
            </p:nvSpPr>
            <p:spPr>
              <a:xfrm>
                <a:off x="2688" y="720"/>
                <a:ext cx="240" cy="192"/>
              </a:xfrm>
              <a:prstGeom prst="rect">
                <a:avLst/>
              </a:prstGeom>
              <a:solidFill>
                <a:srgbClr val="CCFFFF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</a:pPr>
                <a:endPara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95" name="Rectangle 170"/>
              <p:cNvSpPr/>
              <p:nvPr/>
            </p:nvSpPr>
            <p:spPr>
              <a:xfrm>
                <a:off x="2928" y="720"/>
                <a:ext cx="192" cy="192"/>
              </a:xfrm>
              <a:prstGeom prst="rect">
                <a:avLst/>
              </a:prstGeom>
              <a:solidFill>
                <a:srgbClr val="CCFFFF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</a:pPr>
                <a:endPara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4881" name="Group 171"/>
            <p:cNvGrpSpPr/>
            <p:nvPr/>
          </p:nvGrpSpPr>
          <p:grpSpPr>
            <a:xfrm>
              <a:off x="5994804" y="5269236"/>
              <a:ext cx="685800" cy="304800"/>
              <a:chOff x="2688" y="720"/>
              <a:chExt cx="432" cy="192"/>
            </a:xfrm>
          </p:grpSpPr>
          <p:sp>
            <p:nvSpPr>
              <p:cNvPr id="34892" name="Rectangle 172"/>
              <p:cNvSpPr/>
              <p:nvPr/>
            </p:nvSpPr>
            <p:spPr>
              <a:xfrm>
                <a:off x="2688" y="720"/>
                <a:ext cx="240" cy="192"/>
              </a:xfrm>
              <a:prstGeom prst="rect">
                <a:avLst/>
              </a:prstGeom>
              <a:solidFill>
                <a:srgbClr val="CCFFFF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</a:pPr>
                <a:endPara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93" name="Rectangle 173"/>
              <p:cNvSpPr/>
              <p:nvPr/>
            </p:nvSpPr>
            <p:spPr>
              <a:xfrm>
                <a:off x="2928" y="720"/>
                <a:ext cx="192" cy="192"/>
              </a:xfrm>
              <a:prstGeom prst="rect">
                <a:avLst/>
              </a:prstGeom>
              <a:solidFill>
                <a:srgbClr val="CCFFFF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</a:pPr>
                <a:endPara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4882" name="Text Box 229"/>
            <p:cNvSpPr txBox="1"/>
            <p:nvPr/>
          </p:nvSpPr>
          <p:spPr>
            <a:xfrm>
              <a:off x="5729692" y="4316736"/>
              <a:ext cx="29845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83" name="Text Box 230"/>
            <p:cNvSpPr txBox="1"/>
            <p:nvPr/>
          </p:nvSpPr>
          <p:spPr>
            <a:xfrm>
              <a:off x="5718579" y="4621536"/>
              <a:ext cx="29845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84" name="Text Box 231"/>
            <p:cNvSpPr txBox="1"/>
            <p:nvPr/>
          </p:nvSpPr>
          <p:spPr>
            <a:xfrm>
              <a:off x="5705879" y="4926336"/>
              <a:ext cx="29845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85" name="Text Box 232"/>
            <p:cNvSpPr txBox="1"/>
            <p:nvPr/>
          </p:nvSpPr>
          <p:spPr>
            <a:xfrm>
              <a:off x="5716992" y="5216849"/>
              <a:ext cx="29845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86" name="Rectangle 245"/>
            <p:cNvSpPr/>
            <p:nvPr/>
          </p:nvSpPr>
          <p:spPr>
            <a:xfrm>
              <a:off x="6020204" y="4305728"/>
              <a:ext cx="29845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87" name="Rectangle 245"/>
            <p:cNvSpPr/>
            <p:nvPr/>
          </p:nvSpPr>
          <p:spPr>
            <a:xfrm>
              <a:off x="6028671" y="4640586"/>
              <a:ext cx="29845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88" name="Rectangle 245"/>
            <p:cNvSpPr/>
            <p:nvPr/>
          </p:nvSpPr>
          <p:spPr>
            <a:xfrm>
              <a:off x="6039769" y="4941417"/>
              <a:ext cx="29845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89" name="Rectangle 245"/>
            <p:cNvSpPr/>
            <p:nvPr/>
          </p:nvSpPr>
          <p:spPr>
            <a:xfrm>
              <a:off x="6028671" y="5218510"/>
              <a:ext cx="29845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90" name="Text Box 186"/>
            <p:cNvSpPr txBox="1"/>
            <p:nvPr/>
          </p:nvSpPr>
          <p:spPr>
            <a:xfrm flipH="1">
              <a:off x="6350650" y="4617832"/>
              <a:ext cx="390033" cy="46166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^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91" name="Text Box 186"/>
            <p:cNvSpPr txBox="1"/>
            <p:nvPr/>
          </p:nvSpPr>
          <p:spPr>
            <a:xfrm>
              <a:off x="6336310" y="5206271"/>
              <a:ext cx="301923" cy="46166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^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2" name="Text Box 186"/>
          <p:cNvSpPr txBox="1"/>
          <p:nvPr/>
        </p:nvSpPr>
        <p:spPr>
          <a:xfrm>
            <a:off x="812800" y="3903980"/>
            <a:ext cx="3606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181"/>
          <p:cNvGrpSpPr/>
          <p:nvPr/>
        </p:nvGrpSpPr>
        <p:grpSpPr bwMode="auto">
          <a:xfrm>
            <a:off x="1539875" y="3929380"/>
            <a:ext cx="762000" cy="228600"/>
            <a:chOff x="2688" y="720"/>
            <a:chExt cx="432" cy="192"/>
          </a:xfrm>
          <a:solidFill>
            <a:srgbClr val="CCFFFF"/>
          </a:solidFill>
        </p:grpSpPr>
        <p:sp>
          <p:nvSpPr>
            <p:cNvPr id="33859" name="Rectangle 182"/>
            <p:cNvSpPr>
              <a:spLocks noChangeArrowheads="1"/>
            </p:cNvSpPr>
            <p:nvPr/>
          </p:nvSpPr>
          <p:spPr bwMode="auto">
            <a:xfrm>
              <a:off x="2688" y="720"/>
              <a:ext cx="240" cy="192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860" name="Rectangle 183"/>
            <p:cNvSpPr>
              <a:spLocks noChangeArrowheads="1"/>
            </p:cNvSpPr>
            <p:nvPr/>
          </p:nvSpPr>
          <p:spPr bwMode="auto">
            <a:xfrm>
              <a:off x="2928" y="720"/>
              <a:ext cx="192" cy="192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1519238" y="3570605"/>
            <a:ext cx="312737" cy="369888"/>
            <a:chOff x="4537126" y="1571923"/>
            <a:chExt cx="312031" cy="369094"/>
          </a:xfrm>
        </p:grpSpPr>
        <p:sp>
          <p:nvSpPr>
            <p:cNvPr id="34876" name="文本框 2"/>
            <p:cNvSpPr txBox="1"/>
            <p:nvPr/>
          </p:nvSpPr>
          <p:spPr>
            <a:xfrm>
              <a:off x="4537126" y="1571923"/>
              <a:ext cx="312031" cy="3690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877" name="直接箭头连接符 128"/>
            <p:cNvCxnSpPr/>
            <p:nvPr/>
          </p:nvCxnSpPr>
          <p:spPr>
            <a:xfrm>
              <a:off x="4827746" y="1658116"/>
              <a:ext cx="0" cy="234409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34823" name="文本框 6"/>
          <p:cNvSpPr txBox="1"/>
          <p:nvPr/>
        </p:nvSpPr>
        <p:spPr>
          <a:xfrm>
            <a:off x="506413" y="544830"/>
            <a:ext cx="28911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）邻接表的建立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219450" y="459105"/>
            <a:ext cx="3814763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从前往后建立邻接表</a:t>
            </a:r>
            <a:endParaRPr lang="zh-CN" altLang="en-US" sz="2400" b="1" dirty="0">
              <a:solidFill>
                <a:srgbClr val="FF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34825" name="组合 13"/>
          <p:cNvGrpSpPr/>
          <p:nvPr/>
        </p:nvGrpSpPr>
        <p:grpSpPr>
          <a:xfrm>
            <a:off x="627063" y="1132205"/>
            <a:ext cx="1935162" cy="1816100"/>
            <a:chOff x="6508201" y="1131536"/>
            <a:chExt cx="1935162" cy="1816376"/>
          </a:xfrm>
        </p:grpSpPr>
        <p:sp>
          <p:nvSpPr>
            <p:cNvPr id="34865" name="Oval 287"/>
            <p:cNvSpPr/>
            <p:nvPr/>
          </p:nvSpPr>
          <p:spPr>
            <a:xfrm>
              <a:off x="7252738" y="1203001"/>
              <a:ext cx="371475" cy="284163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66" name="Oval 288"/>
            <p:cNvSpPr/>
            <p:nvPr/>
          </p:nvSpPr>
          <p:spPr>
            <a:xfrm>
              <a:off x="6508201" y="1911026"/>
              <a:ext cx="371475" cy="284163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67" name="Oval 289"/>
            <p:cNvSpPr/>
            <p:nvPr/>
          </p:nvSpPr>
          <p:spPr>
            <a:xfrm>
              <a:off x="7276592" y="2609576"/>
              <a:ext cx="371475" cy="28257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68" name="Oval 290"/>
            <p:cNvSpPr/>
            <p:nvPr/>
          </p:nvSpPr>
          <p:spPr>
            <a:xfrm>
              <a:off x="8071888" y="1841176"/>
              <a:ext cx="371475" cy="28257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69" name="Line 291"/>
            <p:cNvSpPr/>
            <p:nvPr/>
          </p:nvSpPr>
          <p:spPr>
            <a:xfrm flipV="1">
              <a:off x="6816177" y="1428426"/>
              <a:ext cx="509418" cy="508000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arrow" w="sm" len="sm"/>
              <a:tailEnd type="none" w="sm" len="sm"/>
            </a:ln>
          </p:spPr>
        </p:sp>
        <p:sp>
          <p:nvSpPr>
            <p:cNvPr id="34870" name="Line 293"/>
            <p:cNvSpPr/>
            <p:nvPr/>
          </p:nvSpPr>
          <p:spPr>
            <a:xfrm>
              <a:off x="7440796" y="1472906"/>
              <a:ext cx="0" cy="1133475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arrow" w="sm" len="sm"/>
            </a:ln>
          </p:spPr>
        </p:sp>
        <p:sp>
          <p:nvSpPr>
            <p:cNvPr id="34871" name="Line 294"/>
            <p:cNvSpPr/>
            <p:nvPr/>
          </p:nvSpPr>
          <p:spPr>
            <a:xfrm>
              <a:off x="7565645" y="1416926"/>
              <a:ext cx="531644" cy="495688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arrow" w="sm" len="sm"/>
              <a:tailEnd type="none" w="sm" len="sm"/>
            </a:ln>
          </p:spPr>
        </p:sp>
        <p:sp>
          <p:nvSpPr>
            <p:cNvPr id="34872" name="Text Box 297"/>
            <p:cNvSpPr txBox="1"/>
            <p:nvPr/>
          </p:nvSpPr>
          <p:spPr>
            <a:xfrm>
              <a:off x="7282564" y="1131536"/>
              <a:ext cx="31290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73" name="Rectangle 298"/>
            <p:cNvSpPr/>
            <p:nvPr/>
          </p:nvSpPr>
          <p:spPr>
            <a:xfrm>
              <a:off x="6544523" y="1850650"/>
              <a:ext cx="31290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74" name="Rectangle 299"/>
            <p:cNvSpPr/>
            <p:nvPr/>
          </p:nvSpPr>
          <p:spPr>
            <a:xfrm>
              <a:off x="8130457" y="1782408"/>
              <a:ext cx="31290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75" name="Rectangle 300"/>
            <p:cNvSpPr/>
            <p:nvPr/>
          </p:nvSpPr>
          <p:spPr>
            <a:xfrm>
              <a:off x="7311307" y="2547802"/>
              <a:ext cx="31290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Line 174"/>
          <p:cNvSpPr/>
          <p:nvPr/>
        </p:nvSpPr>
        <p:spPr>
          <a:xfrm>
            <a:off x="984250" y="4043680"/>
            <a:ext cx="533400" cy="0"/>
          </a:xfrm>
          <a:prstGeom prst="line">
            <a:avLst/>
          </a:prstGeom>
          <a:ln w="28575" cap="flat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grpSp>
        <p:nvGrpSpPr>
          <p:cNvPr id="37" name="Group 175"/>
          <p:cNvGrpSpPr/>
          <p:nvPr/>
        </p:nvGrpSpPr>
        <p:grpSpPr bwMode="auto">
          <a:xfrm>
            <a:off x="2705100" y="3937318"/>
            <a:ext cx="762000" cy="228600"/>
            <a:chOff x="2688" y="720"/>
            <a:chExt cx="432" cy="192"/>
          </a:xfrm>
          <a:solidFill>
            <a:srgbClr val="CCFFFF"/>
          </a:solidFill>
        </p:grpSpPr>
        <p:sp>
          <p:nvSpPr>
            <p:cNvPr id="33844" name="Rectangle 176"/>
            <p:cNvSpPr>
              <a:spLocks noChangeArrowheads="1"/>
            </p:cNvSpPr>
            <p:nvPr/>
          </p:nvSpPr>
          <p:spPr bwMode="auto">
            <a:xfrm>
              <a:off x="2688" y="720"/>
              <a:ext cx="240" cy="192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845" name="Rectangle 177"/>
            <p:cNvSpPr>
              <a:spLocks noChangeArrowheads="1"/>
            </p:cNvSpPr>
            <p:nvPr/>
          </p:nvSpPr>
          <p:spPr bwMode="auto">
            <a:xfrm>
              <a:off x="2928" y="720"/>
              <a:ext cx="192" cy="192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0" name="Line 184"/>
          <p:cNvSpPr/>
          <p:nvPr/>
        </p:nvSpPr>
        <p:spPr>
          <a:xfrm>
            <a:off x="2149475" y="4043680"/>
            <a:ext cx="533400" cy="0"/>
          </a:xfrm>
          <a:prstGeom prst="line">
            <a:avLst/>
          </a:prstGeom>
          <a:ln w="28575" cap="flat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2" name="Text Box 186"/>
          <p:cNvSpPr txBox="1"/>
          <p:nvPr/>
        </p:nvSpPr>
        <p:spPr>
          <a:xfrm>
            <a:off x="3108325" y="3853180"/>
            <a:ext cx="3606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 Box 237"/>
          <p:cNvSpPr txBox="1"/>
          <p:nvPr/>
        </p:nvSpPr>
        <p:spPr>
          <a:xfrm>
            <a:off x="1581150" y="3853180"/>
            <a:ext cx="381000" cy="3683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ectangle 239"/>
          <p:cNvSpPr/>
          <p:nvPr/>
        </p:nvSpPr>
        <p:spPr>
          <a:xfrm>
            <a:off x="2744788" y="3857943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Text Box 186"/>
          <p:cNvSpPr txBox="1"/>
          <p:nvPr/>
        </p:nvSpPr>
        <p:spPr>
          <a:xfrm>
            <a:off x="793750" y="4513580"/>
            <a:ext cx="3606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239713" y="5364480"/>
            <a:ext cx="162083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输入：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4 3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1158875" y="5716905"/>
            <a:ext cx="62706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1 2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33" name="Text Box 186"/>
          <p:cNvSpPr txBox="1"/>
          <p:nvPr/>
        </p:nvSpPr>
        <p:spPr>
          <a:xfrm>
            <a:off x="1970088" y="3862705"/>
            <a:ext cx="3606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4" name="组合 133"/>
          <p:cNvGrpSpPr/>
          <p:nvPr/>
        </p:nvGrpSpPr>
        <p:grpSpPr>
          <a:xfrm>
            <a:off x="722313" y="3557905"/>
            <a:ext cx="314325" cy="368300"/>
            <a:chOff x="4537126" y="1571923"/>
            <a:chExt cx="312906" cy="369332"/>
          </a:xfrm>
        </p:grpSpPr>
        <p:sp>
          <p:nvSpPr>
            <p:cNvPr id="34863" name="文本框 104"/>
            <p:cNvSpPr txBox="1"/>
            <p:nvPr/>
          </p:nvSpPr>
          <p:spPr>
            <a:xfrm>
              <a:off x="4537126" y="1571923"/>
              <a:ext cx="31290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864" name="直接箭头连接符 135"/>
            <p:cNvCxnSpPr/>
            <p:nvPr/>
          </p:nvCxnSpPr>
          <p:spPr>
            <a:xfrm>
              <a:off x="4811952" y="1626566"/>
              <a:ext cx="0" cy="285223"/>
            </a:xfrm>
            <a:prstGeom prst="straightConnector1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cxnSp>
      </p:grpSp>
      <p:cxnSp>
        <p:nvCxnSpPr>
          <p:cNvPr id="140296" name="直接连接符 140295"/>
          <p:cNvCxnSpPr/>
          <p:nvPr/>
        </p:nvCxnSpPr>
        <p:spPr>
          <a:xfrm>
            <a:off x="288925" y="1083310"/>
            <a:ext cx="8788400" cy="0"/>
          </a:xfrm>
          <a:prstGeom prst="line">
            <a:avLst/>
          </a:prstGeom>
          <a:ln w="76200" cap="flat" cmpd="dbl">
            <a:solidFill>
              <a:srgbClr val="00B0F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40300" name="直接连接符 140299"/>
          <p:cNvCxnSpPr/>
          <p:nvPr/>
        </p:nvCxnSpPr>
        <p:spPr>
          <a:xfrm>
            <a:off x="3557588" y="1127125"/>
            <a:ext cx="12700" cy="5586413"/>
          </a:xfrm>
          <a:prstGeom prst="line">
            <a:avLst/>
          </a:prstGeom>
          <a:ln w="76200" cap="flat" cmpd="dbl">
            <a:solidFill>
              <a:srgbClr val="00B0F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40302" name="直接连接符 140301"/>
          <p:cNvCxnSpPr/>
          <p:nvPr/>
        </p:nvCxnSpPr>
        <p:spPr>
          <a:xfrm>
            <a:off x="153988" y="3478213"/>
            <a:ext cx="3416300" cy="0"/>
          </a:xfrm>
          <a:prstGeom prst="line">
            <a:avLst/>
          </a:prstGeom>
          <a:ln w="76200" cap="flat" cmpd="dbl">
            <a:solidFill>
              <a:srgbClr val="FFC00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52" name="矩形 151"/>
          <p:cNvSpPr/>
          <p:nvPr/>
        </p:nvSpPr>
        <p:spPr>
          <a:xfrm>
            <a:off x="1704975" y="5718493"/>
            <a:ext cx="62706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1 4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53" name="组合 152"/>
          <p:cNvGrpSpPr/>
          <p:nvPr/>
        </p:nvGrpSpPr>
        <p:grpSpPr>
          <a:xfrm>
            <a:off x="2705100" y="3562668"/>
            <a:ext cx="312738" cy="369887"/>
            <a:chOff x="4537126" y="1571923"/>
            <a:chExt cx="313423" cy="370367"/>
          </a:xfrm>
        </p:grpSpPr>
        <p:sp>
          <p:nvSpPr>
            <p:cNvPr id="34861" name="文本框 2"/>
            <p:cNvSpPr txBox="1"/>
            <p:nvPr/>
          </p:nvSpPr>
          <p:spPr>
            <a:xfrm>
              <a:off x="4537126" y="1571923"/>
              <a:ext cx="313423" cy="37036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862" name="直接箭头连接符 154"/>
            <p:cNvCxnSpPr/>
            <p:nvPr/>
          </p:nvCxnSpPr>
          <p:spPr>
            <a:xfrm>
              <a:off x="4827746" y="1658116"/>
              <a:ext cx="0" cy="234409"/>
            </a:xfrm>
            <a:prstGeom prst="straightConnector1">
              <a:avLst/>
            </a:prstGeom>
            <a:ln w="28575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156" name="矩形 155"/>
          <p:cNvSpPr/>
          <p:nvPr/>
        </p:nvSpPr>
        <p:spPr>
          <a:xfrm>
            <a:off x="2286000" y="5716905"/>
            <a:ext cx="9366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3 1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57" name="Group 175"/>
          <p:cNvGrpSpPr/>
          <p:nvPr/>
        </p:nvGrpSpPr>
        <p:grpSpPr bwMode="auto">
          <a:xfrm>
            <a:off x="1536700" y="4561205"/>
            <a:ext cx="762000" cy="228600"/>
            <a:chOff x="2688" y="720"/>
            <a:chExt cx="432" cy="192"/>
          </a:xfrm>
          <a:solidFill>
            <a:srgbClr val="CCFFFF"/>
          </a:solidFill>
        </p:grpSpPr>
        <p:sp>
          <p:nvSpPr>
            <p:cNvPr id="33838" name="Rectangle 176"/>
            <p:cNvSpPr>
              <a:spLocks noChangeArrowheads="1"/>
            </p:cNvSpPr>
            <p:nvPr/>
          </p:nvSpPr>
          <p:spPr bwMode="auto">
            <a:xfrm>
              <a:off x="2688" y="720"/>
              <a:ext cx="240" cy="192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839" name="Rectangle 177"/>
            <p:cNvSpPr>
              <a:spLocks noChangeArrowheads="1"/>
            </p:cNvSpPr>
            <p:nvPr/>
          </p:nvSpPr>
          <p:spPr bwMode="auto">
            <a:xfrm>
              <a:off x="2928" y="720"/>
              <a:ext cx="192" cy="192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60" name="Text Box 186"/>
          <p:cNvSpPr txBox="1"/>
          <p:nvPr/>
        </p:nvSpPr>
        <p:spPr>
          <a:xfrm>
            <a:off x="1939925" y="4477068"/>
            <a:ext cx="3606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Rectangle 239"/>
          <p:cNvSpPr/>
          <p:nvPr/>
        </p:nvSpPr>
        <p:spPr>
          <a:xfrm>
            <a:off x="1576388" y="4491355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2" name="组合 161"/>
          <p:cNvGrpSpPr/>
          <p:nvPr/>
        </p:nvGrpSpPr>
        <p:grpSpPr>
          <a:xfrm>
            <a:off x="1536700" y="4184968"/>
            <a:ext cx="312738" cy="369887"/>
            <a:chOff x="4537126" y="1571923"/>
            <a:chExt cx="313423" cy="369095"/>
          </a:xfrm>
        </p:grpSpPr>
        <p:sp>
          <p:nvSpPr>
            <p:cNvPr id="34859" name="文本框 2"/>
            <p:cNvSpPr txBox="1"/>
            <p:nvPr/>
          </p:nvSpPr>
          <p:spPr>
            <a:xfrm>
              <a:off x="4537126" y="1571923"/>
              <a:ext cx="313423" cy="3690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860" name="直接箭头连接符 163"/>
            <p:cNvCxnSpPr/>
            <p:nvPr/>
          </p:nvCxnSpPr>
          <p:spPr>
            <a:xfrm>
              <a:off x="4827746" y="1658116"/>
              <a:ext cx="0" cy="234409"/>
            </a:xfrm>
            <a:prstGeom prst="straightConnector1">
              <a:avLst/>
            </a:prstGeom>
            <a:ln w="25400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</p:grpSp>
      <p:grpSp>
        <p:nvGrpSpPr>
          <p:cNvPr id="165" name="组合 164"/>
          <p:cNvGrpSpPr/>
          <p:nvPr/>
        </p:nvGrpSpPr>
        <p:grpSpPr>
          <a:xfrm>
            <a:off x="849313" y="4369118"/>
            <a:ext cx="312737" cy="369887"/>
            <a:chOff x="4537126" y="1571923"/>
            <a:chExt cx="312906" cy="369332"/>
          </a:xfrm>
        </p:grpSpPr>
        <p:sp>
          <p:nvSpPr>
            <p:cNvPr id="34857" name="文本框 104"/>
            <p:cNvSpPr txBox="1"/>
            <p:nvPr/>
          </p:nvSpPr>
          <p:spPr>
            <a:xfrm>
              <a:off x="4537126" y="1571923"/>
              <a:ext cx="31290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858" name="直接箭头连接符 166"/>
            <p:cNvCxnSpPr/>
            <p:nvPr/>
          </p:nvCxnSpPr>
          <p:spPr>
            <a:xfrm>
              <a:off x="4811952" y="1626566"/>
              <a:ext cx="0" cy="285223"/>
            </a:xfrm>
            <a:prstGeom prst="straightConnector1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168" name="Line 184"/>
          <p:cNvSpPr/>
          <p:nvPr/>
        </p:nvSpPr>
        <p:spPr>
          <a:xfrm>
            <a:off x="1001713" y="4673918"/>
            <a:ext cx="533400" cy="0"/>
          </a:xfrm>
          <a:prstGeom prst="line">
            <a:avLst/>
          </a:prstGeom>
          <a:ln w="28575" cap="flat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96" name="Text Box 4"/>
          <p:cNvSpPr txBox="1">
            <a:spLocks noChangeArrowheads="1"/>
          </p:cNvSpPr>
          <p:nvPr/>
        </p:nvSpPr>
        <p:spPr bwMode="auto">
          <a:xfrm>
            <a:off x="3608070" y="995045"/>
            <a:ext cx="5280025" cy="570484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void build-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adjlist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AdjList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&amp;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ga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{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scanf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(“%d,%d”,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n,e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);  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2911475" y="1686243"/>
            <a:ext cx="6197600" cy="11988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for (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=1;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&lt;=n 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++ )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{    ga[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].vertex=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;  ga[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].link=NULL;  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3043238" y="2449830"/>
            <a:ext cx="5065713" cy="829945"/>
          </a:xfrm>
          <a:prstGeom prst="rect">
            <a:avLst/>
          </a:prstGeom>
        </p:spPr>
        <p:txBody>
          <a:bodyPr>
            <a:spAutoFit/>
          </a:bodyPr>
          <a:lstStyle/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for ( k=1; k&lt;=e; k++ 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{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scanf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(“%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d,%d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”,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  j);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4297363" y="4612005"/>
            <a:ext cx="4562475" cy="19380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else {  while (q-&gt;next!=NULL)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             q=q-&gt;next;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         q-&gt;next=p; 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4787900" y="3122930"/>
            <a:ext cx="4130675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p=new EdgeNode;</a:t>
            </a:r>
            <a:endParaRPr lang="en-US" altLang="zh-CN" b="1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2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p-&gt;adjvex=j;   p-&gt;next=NULL;</a:t>
            </a:r>
            <a:endParaRPr lang="en-US" altLang="zh-CN" b="1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4714875" y="3842068"/>
            <a:ext cx="206946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q=ga[i].link; 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4787900" y="4262755"/>
            <a:ext cx="415099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eaLnBrk="1" hangingPunct="1"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if (q==NULL)     ga[i].link=p;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4856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7.2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图的存储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4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3.7037E-6 L 0.08993 -0.00069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122" grpId="1"/>
      <p:bldP spid="11" grpId="0"/>
      <p:bldP spid="42" grpId="0"/>
      <p:bldP spid="72" grpId="0"/>
      <p:bldP spid="74" grpId="0"/>
      <p:bldP spid="120" grpId="0"/>
      <p:bldP spid="120" grpId="1"/>
      <p:bldP spid="125" grpId="0"/>
      <p:bldP spid="126" grpId="0"/>
      <p:bldP spid="133" grpId="0"/>
      <p:bldP spid="133" grpId="1"/>
      <p:bldP spid="152" grpId="0"/>
      <p:bldP spid="156" grpId="0"/>
      <p:bldP spid="160" grpId="0"/>
      <p:bldP spid="161" grpId="0"/>
      <p:bldP spid="96" grpId="0" bldLvl="0" animBg="1"/>
      <p:bldP spid="97" grpId="0"/>
      <p:bldP spid="98" grpId="0"/>
      <p:bldP spid="99" grpId="0"/>
      <p:bldP spid="100" grpId="0"/>
      <p:bldP spid="101" grpId="0"/>
      <p:bldP spid="10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矩形 11"/>
          <p:cNvSpPr/>
          <p:nvPr/>
        </p:nvSpPr>
        <p:spPr>
          <a:xfrm>
            <a:off x="1588" y="1249363"/>
            <a:ext cx="9144000" cy="56149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2" name="Text Box 4"/>
          <p:cNvSpPr txBox="1">
            <a:spLocks noChangeArrowheads="1"/>
          </p:cNvSpPr>
          <p:nvPr/>
        </p:nvSpPr>
        <p:spPr bwMode="auto">
          <a:xfrm>
            <a:off x="3590925" y="1192213"/>
            <a:ext cx="5689600" cy="526224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void build-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adjlist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(AdjList &amp;ga)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{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scanf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(“%d,%d”,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n,e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);  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5844" name="文本框 6"/>
          <p:cNvSpPr txBox="1"/>
          <p:nvPr/>
        </p:nvSpPr>
        <p:spPr>
          <a:xfrm>
            <a:off x="496888" y="687388"/>
            <a:ext cx="28911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）邻接表的建立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963988" y="2327275"/>
            <a:ext cx="5081588" cy="11988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for (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=1;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&lt;=n 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++ )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{    ga[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].vertex=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; ga[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].link=NULL;  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019550" y="3135313"/>
            <a:ext cx="3802063" cy="11988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for ( k=1; k&lt;=e; k++ 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{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scanf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(“%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d,%d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”,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  j);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457700" y="3924300"/>
            <a:ext cx="4170363" cy="212280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p=new EdgeNode;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p-&gt;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adjvex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=j;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p-&gt;next=NULL;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ga[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].link=p;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351213" y="592138"/>
            <a:ext cx="3814762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从后往前建立邻接表</a:t>
            </a:r>
            <a:endParaRPr lang="zh-CN" altLang="en-US" sz="2400" b="1" dirty="0">
              <a:solidFill>
                <a:srgbClr val="FF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95263" y="1200150"/>
            <a:ext cx="8788400" cy="0"/>
          </a:xfrm>
          <a:prstGeom prst="line">
            <a:avLst/>
          </a:prstGeom>
          <a:ln w="76200" cap="flat" cmpd="dbl">
            <a:solidFill>
              <a:srgbClr val="00B0F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5" name="直接连接符 14"/>
          <p:cNvCxnSpPr/>
          <p:nvPr/>
        </p:nvCxnSpPr>
        <p:spPr>
          <a:xfrm>
            <a:off x="3614738" y="1212850"/>
            <a:ext cx="12700" cy="5586413"/>
          </a:xfrm>
          <a:prstGeom prst="line">
            <a:avLst/>
          </a:prstGeom>
          <a:ln w="76200" cap="flat" cmpd="dbl">
            <a:solidFill>
              <a:srgbClr val="00B0F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6" name="直接连接符 15"/>
          <p:cNvCxnSpPr/>
          <p:nvPr/>
        </p:nvCxnSpPr>
        <p:spPr>
          <a:xfrm>
            <a:off x="60325" y="3430588"/>
            <a:ext cx="3511550" cy="0"/>
          </a:xfrm>
          <a:prstGeom prst="line">
            <a:avLst/>
          </a:prstGeom>
          <a:ln w="76200" cap="flat" cmpd="dbl">
            <a:solidFill>
              <a:srgbClr val="FFC00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35852" name="组合 16"/>
          <p:cNvGrpSpPr/>
          <p:nvPr/>
        </p:nvGrpSpPr>
        <p:grpSpPr>
          <a:xfrm>
            <a:off x="604838" y="1357313"/>
            <a:ext cx="1935162" cy="1814512"/>
            <a:chOff x="6508201" y="1129888"/>
            <a:chExt cx="1935162" cy="1814709"/>
          </a:xfrm>
        </p:grpSpPr>
        <p:sp>
          <p:nvSpPr>
            <p:cNvPr id="35883" name="Oval 287"/>
            <p:cNvSpPr/>
            <p:nvPr/>
          </p:nvSpPr>
          <p:spPr>
            <a:xfrm>
              <a:off x="7252738" y="1203001"/>
              <a:ext cx="371475" cy="284163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84" name="Oval 288"/>
            <p:cNvSpPr/>
            <p:nvPr/>
          </p:nvSpPr>
          <p:spPr>
            <a:xfrm>
              <a:off x="6508201" y="1911026"/>
              <a:ext cx="371475" cy="284163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85" name="Oval 289"/>
            <p:cNvSpPr/>
            <p:nvPr/>
          </p:nvSpPr>
          <p:spPr>
            <a:xfrm>
              <a:off x="7252738" y="2620639"/>
              <a:ext cx="371475" cy="28257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86" name="Oval 290"/>
            <p:cNvSpPr/>
            <p:nvPr/>
          </p:nvSpPr>
          <p:spPr>
            <a:xfrm>
              <a:off x="8071888" y="1841176"/>
              <a:ext cx="371475" cy="28257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87" name="Line 291"/>
            <p:cNvSpPr/>
            <p:nvPr/>
          </p:nvSpPr>
          <p:spPr>
            <a:xfrm flipV="1">
              <a:off x="6816177" y="1428426"/>
              <a:ext cx="509418" cy="508000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arrow" w="sm" len="sm"/>
              <a:tailEnd type="none" w="sm" len="sm"/>
            </a:ln>
          </p:spPr>
        </p:sp>
        <p:sp>
          <p:nvSpPr>
            <p:cNvPr id="35888" name="Line 293"/>
            <p:cNvSpPr/>
            <p:nvPr/>
          </p:nvSpPr>
          <p:spPr>
            <a:xfrm>
              <a:off x="7476576" y="1485576"/>
              <a:ext cx="0" cy="1133475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arrow" w="sm" len="sm"/>
            </a:ln>
          </p:spPr>
        </p:sp>
        <p:sp>
          <p:nvSpPr>
            <p:cNvPr id="35889" name="Line 294"/>
            <p:cNvSpPr/>
            <p:nvPr/>
          </p:nvSpPr>
          <p:spPr>
            <a:xfrm>
              <a:off x="7565645" y="1416926"/>
              <a:ext cx="531644" cy="495688"/>
            </a:xfrm>
            <a:prstGeom prst="line">
              <a:avLst/>
            </a:prstGeom>
            <a:ln w="31750" cap="flat" cmpd="sng">
              <a:solidFill>
                <a:schemeClr val="accent4">
                  <a:lumMod val="75000"/>
                </a:schemeClr>
              </a:solidFill>
              <a:prstDash val="solid"/>
              <a:headEnd type="arrow" w="sm" len="sm"/>
              <a:tailEnd type="none" w="sm" len="sm"/>
            </a:ln>
          </p:spPr>
        </p:sp>
        <p:sp>
          <p:nvSpPr>
            <p:cNvPr id="35890" name="Text Box 297"/>
            <p:cNvSpPr txBox="1"/>
            <p:nvPr/>
          </p:nvSpPr>
          <p:spPr>
            <a:xfrm>
              <a:off x="7292455" y="1129888"/>
              <a:ext cx="31290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91" name="Rectangle 298"/>
            <p:cNvSpPr/>
            <p:nvPr/>
          </p:nvSpPr>
          <p:spPr>
            <a:xfrm>
              <a:off x="6559711" y="1852258"/>
              <a:ext cx="31290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92" name="Rectangle 299"/>
            <p:cNvSpPr/>
            <p:nvPr/>
          </p:nvSpPr>
          <p:spPr>
            <a:xfrm>
              <a:off x="8116339" y="1766562"/>
              <a:ext cx="31290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93" name="Rectangle 300"/>
            <p:cNvSpPr/>
            <p:nvPr/>
          </p:nvSpPr>
          <p:spPr>
            <a:xfrm>
              <a:off x="7286349" y="2544487"/>
              <a:ext cx="31290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组合 28"/>
          <p:cNvGrpSpPr/>
          <p:nvPr/>
        </p:nvGrpSpPr>
        <p:grpSpPr bwMode="auto">
          <a:xfrm>
            <a:off x="161925" y="4106863"/>
            <a:ext cx="974725" cy="1279370"/>
            <a:chOff x="5705879" y="4305728"/>
            <a:chExt cx="974725" cy="1279495"/>
          </a:xfrm>
          <a:solidFill>
            <a:srgbClr val="CCFFFF"/>
          </a:solidFill>
        </p:grpSpPr>
        <p:grpSp>
          <p:nvGrpSpPr>
            <p:cNvPr id="34866" name="Group 162"/>
            <p:cNvGrpSpPr/>
            <p:nvPr/>
          </p:nvGrpSpPr>
          <p:grpSpPr bwMode="auto">
            <a:xfrm>
              <a:off x="5994804" y="4354836"/>
              <a:ext cx="685800" cy="304800"/>
              <a:chOff x="2688" y="720"/>
              <a:chExt cx="432" cy="192"/>
            </a:xfrm>
            <a:grpFill/>
          </p:grpSpPr>
          <p:sp>
            <p:nvSpPr>
              <p:cNvPr id="34886" name="Rectangle 163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87" name="Rectangle 164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4867" name="Group 165"/>
            <p:cNvGrpSpPr/>
            <p:nvPr/>
          </p:nvGrpSpPr>
          <p:grpSpPr bwMode="auto">
            <a:xfrm>
              <a:off x="5994804" y="4659636"/>
              <a:ext cx="685800" cy="304800"/>
              <a:chOff x="2688" y="720"/>
              <a:chExt cx="432" cy="192"/>
            </a:xfrm>
            <a:grpFill/>
          </p:grpSpPr>
          <p:sp>
            <p:nvSpPr>
              <p:cNvPr id="34884" name="Rectangle 166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85" name="Rectangle 167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4868" name="Group 168"/>
            <p:cNvGrpSpPr/>
            <p:nvPr/>
          </p:nvGrpSpPr>
          <p:grpSpPr bwMode="auto">
            <a:xfrm>
              <a:off x="5994804" y="4964436"/>
              <a:ext cx="685800" cy="304800"/>
              <a:chOff x="2688" y="720"/>
              <a:chExt cx="432" cy="192"/>
            </a:xfrm>
            <a:grpFill/>
          </p:grpSpPr>
          <p:sp>
            <p:nvSpPr>
              <p:cNvPr id="34882" name="Rectangle 169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83" name="Rectangle 170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4869" name="Group 171"/>
            <p:cNvGrpSpPr/>
            <p:nvPr/>
          </p:nvGrpSpPr>
          <p:grpSpPr bwMode="auto">
            <a:xfrm>
              <a:off x="5994804" y="5269236"/>
              <a:ext cx="685800" cy="304800"/>
              <a:chOff x="2688" y="720"/>
              <a:chExt cx="432" cy="192"/>
            </a:xfrm>
            <a:grpFill/>
          </p:grpSpPr>
          <p:sp>
            <p:nvSpPr>
              <p:cNvPr id="34880" name="Rectangle 172"/>
              <p:cNvSpPr>
                <a:spLocks noChangeArrowheads="1"/>
              </p:cNvSpPr>
              <p:nvPr/>
            </p:nvSpPr>
            <p:spPr bwMode="auto">
              <a:xfrm>
                <a:off x="2688" y="720"/>
                <a:ext cx="240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81" name="Rectangle 173"/>
              <p:cNvSpPr>
                <a:spLocks noChangeArrowheads="1"/>
              </p:cNvSpPr>
              <p:nvPr/>
            </p:nvSpPr>
            <p:spPr bwMode="auto">
              <a:xfrm>
                <a:off x="2928" y="720"/>
                <a:ext cx="192" cy="192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4870" name="Text Box 229"/>
            <p:cNvSpPr txBox="1">
              <a:spLocks noChangeArrowheads="1"/>
            </p:cNvSpPr>
            <p:nvPr/>
          </p:nvSpPr>
          <p:spPr bwMode="auto">
            <a:xfrm>
              <a:off x="5729692" y="4316736"/>
              <a:ext cx="2984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871" name="Text Box 230"/>
            <p:cNvSpPr txBox="1">
              <a:spLocks noChangeArrowheads="1"/>
            </p:cNvSpPr>
            <p:nvPr/>
          </p:nvSpPr>
          <p:spPr bwMode="auto">
            <a:xfrm>
              <a:off x="5718579" y="4621536"/>
              <a:ext cx="2984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1800" b="1">
                  <a:solidFill>
                    <a:schemeClr val="bg1"/>
                  </a:solidFill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/>
              </a:lvl2pPr>
              <a:lvl3pPr marL="1143000" indent="-228600">
                <a:spcBef>
                  <a:spcPct val="20000"/>
                </a:spcBef>
                <a:buChar char="•"/>
              </a:lvl3pPr>
              <a:lvl4pPr marL="1600200" indent="-228600">
                <a:spcBef>
                  <a:spcPct val="20000"/>
                </a:spcBef>
                <a:buChar char="–"/>
                <a:defRPr sz="2000"/>
              </a:lvl4pPr>
              <a:lvl5pPr marL="2057400" indent="-228600">
                <a:spcBef>
                  <a:spcPct val="20000"/>
                </a:spcBef>
                <a:buChar char="»"/>
                <a:defRPr sz="2000"/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872" name="Text Box 231"/>
            <p:cNvSpPr txBox="1">
              <a:spLocks noChangeArrowheads="1"/>
            </p:cNvSpPr>
            <p:nvPr/>
          </p:nvSpPr>
          <p:spPr bwMode="auto">
            <a:xfrm>
              <a:off x="5705879" y="4926336"/>
              <a:ext cx="2984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1800" b="1">
                  <a:solidFill>
                    <a:schemeClr val="bg1"/>
                  </a:solidFill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/>
              </a:lvl2pPr>
              <a:lvl3pPr marL="1143000" indent="-228600">
                <a:spcBef>
                  <a:spcPct val="20000"/>
                </a:spcBef>
                <a:buChar char="•"/>
              </a:lvl3pPr>
              <a:lvl4pPr marL="1600200" indent="-228600">
                <a:spcBef>
                  <a:spcPct val="20000"/>
                </a:spcBef>
                <a:buChar char="–"/>
                <a:defRPr sz="2000"/>
              </a:lvl4pPr>
              <a:lvl5pPr marL="2057400" indent="-228600">
                <a:spcBef>
                  <a:spcPct val="20000"/>
                </a:spcBef>
                <a:buChar char="»"/>
                <a:defRPr sz="2000"/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873" name="Text Box 232"/>
            <p:cNvSpPr txBox="1">
              <a:spLocks noChangeArrowheads="1"/>
            </p:cNvSpPr>
            <p:nvPr/>
          </p:nvSpPr>
          <p:spPr bwMode="auto">
            <a:xfrm>
              <a:off x="5716992" y="5216849"/>
              <a:ext cx="2984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1800" b="1">
                  <a:solidFill>
                    <a:schemeClr val="bg1"/>
                  </a:solidFill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/>
              </a:lvl2pPr>
              <a:lvl3pPr marL="1143000" indent="-228600">
                <a:spcBef>
                  <a:spcPct val="20000"/>
                </a:spcBef>
                <a:buChar char="•"/>
              </a:lvl3pPr>
              <a:lvl4pPr marL="1600200" indent="-228600">
                <a:spcBef>
                  <a:spcPct val="20000"/>
                </a:spcBef>
                <a:buChar char="–"/>
                <a:defRPr sz="2000"/>
              </a:lvl4pPr>
              <a:lvl5pPr marL="2057400" indent="-228600">
                <a:spcBef>
                  <a:spcPct val="20000"/>
                </a:spcBef>
                <a:buChar char="»"/>
                <a:defRPr sz="2000"/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874" name="Rectangle 245"/>
            <p:cNvSpPr>
              <a:spLocks noChangeArrowheads="1"/>
            </p:cNvSpPr>
            <p:nvPr/>
          </p:nvSpPr>
          <p:spPr bwMode="auto">
            <a:xfrm>
              <a:off x="6020204" y="4305728"/>
              <a:ext cx="2984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875" name="Rectangle 245"/>
            <p:cNvSpPr>
              <a:spLocks noChangeArrowheads="1"/>
            </p:cNvSpPr>
            <p:nvPr/>
          </p:nvSpPr>
          <p:spPr bwMode="auto">
            <a:xfrm>
              <a:off x="6028671" y="4640586"/>
              <a:ext cx="2984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876" name="Rectangle 245"/>
            <p:cNvSpPr>
              <a:spLocks noChangeArrowheads="1"/>
            </p:cNvSpPr>
            <p:nvPr/>
          </p:nvSpPr>
          <p:spPr bwMode="auto">
            <a:xfrm>
              <a:off x="6039769" y="4941417"/>
              <a:ext cx="2984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877" name="Rectangle 245"/>
            <p:cNvSpPr>
              <a:spLocks noChangeArrowheads="1"/>
            </p:cNvSpPr>
            <p:nvPr/>
          </p:nvSpPr>
          <p:spPr bwMode="auto">
            <a:xfrm>
              <a:off x="6028671" y="5218510"/>
              <a:ext cx="2984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878" name="Text Box 186"/>
            <p:cNvSpPr txBox="1">
              <a:spLocks noChangeArrowheads="1"/>
            </p:cNvSpPr>
            <p:nvPr/>
          </p:nvSpPr>
          <p:spPr bwMode="auto">
            <a:xfrm flipH="1">
              <a:off x="6339784" y="4606135"/>
              <a:ext cx="319318" cy="36936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1800" b="1"/>
              </a:lvl1pPr>
              <a:lvl2pPr marL="742950" indent="-285750">
                <a:spcBef>
                  <a:spcPct val="20000"/>
                </a:spcBef>
                <a:buChar char="–"/>
                <a:defRPr sz="2800"/>
              </a:lvl2pPr>
              <a:lvl3pPr marL="1143000" indent="-228600">
                <a:spcBef>
                  <a:spcPct val="20000"/>
                </a:spcBef>
                <a:buChar char="•"/>
              </a:lvl3pPr>
              <a:lvl4pPr marL="1600200" indent="-228600">
                <a:spcBef>
                  <a:spcPct val="20000"/>
                </a:spcBef>
                <a:buChar char="–"/>
                <a:defRPr sz="2000"/>
              </a:lvl4pPr>
              <a:lvl5pPr marL="2057400" indent="-228600">
                <a:spcBef>
                  <a:spcPct val="20000"/>
                </a:spcBef>
                <a:buChar char="»"/>
                <a:defRPr sz="2000"/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879" name="Text Box 186"/>
            <p:cNvSpPr txBox="1">
              <a:spLocks noChangeArrowheads="1"/>
            </p:cNvSpPr>
            <p:nvPr/>
          </p:nvSpPr>
          <p:spPr bwMode="auto">
            <a:xfrm>
              <a:off x="6336310" y="5206271"/>
              <a:ext cx="319318" cy="36936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1800" b="1"/>
              </a:lvl1pPr>
              <a:lvl2pPr marL="742950" indent="-285750">
                <a:spcBef>
                  <a:spcPct val="20000"/>
                </a:spcBef>
                <a:buChar char="–"/>
                <a:defRPr sz="2800"/>
              </a:lvl2pPr>
              <a:lvl3pPr marL="1143000" indent="-228600">
                <a:spcBef>
                  <a:spcPct val="20000"/>
                </a:spcBef>
                <a:buChar char="•"/>
              </a:lvl3pPr>
              <a:lvl4pPr marL="1600200" indent="-228600">
                <a:spcBef>
                  <a:spcPct val="20000"/>
                </a:spcBef>
                <a:buChar char="–"/>
                <a:defRPr sz="2000"/>
              </a:lvl4pPr>
              <a:lvl5pPr marL="2057400" indent="-228600">
                <a:spcBef>
                  <a:spcPct val="20000"/>
                </a:spcBef>
                <a:buChar char="»"/>
                <a:defRPr sz="2000"/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Text Box 186"/>
          <p:cNvSpPr txBox="1"/>
          <p:nvPr/>
        </p:nvSpPr>
        <p:spPr>
          <a:xfrm>
            <a:off x="801688" y="4116388"/>
            <a:ext cx="31623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3" name="Group 181"/>
          <p:cNvGrpSpPr/>
          <p:nvPr/>
        </p:nvGrpSpPr>
        <p:grpSpPr bwMode="auto">
          <a:xfrm>
            <a:off x="2598738" y="4156075"/>
            <a:ext cx="762000" cy="228600"/>
            <a:chOff x="2688" y="720"/>
            <a:chExt cx="432" cy="192"/>
          </a:xfrm>
          <a:solidFill>
            <a:srgbClr val="CCFFFF"/>
          </a:solidFill>
        </p:grpSpPr>
        <p:sp>
          <p:nvSpPr>
            <p:cNvPr id="34864" name="Rectangle 182"/>
            <p:cNvSpPr>
              <a:spLocks noChangeArrowheads="1"/>
            </p:cNvSpPr>
            <p:nvPr/>
          </p:nvSpPr>
          <p:spPr bwMode="auto">
            <a:xfrm>
              <a:off x="2688" y="720"/>
              <a:ext cx="240" cy="192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865" name="Rectangle 183"/>
            <p:cNvSpPr>
              <a:spLocks noChangeArrowheads="1"/>
            </p:cNvSpPr>
            <p:nvPr/>
          </p:nvSpPr>
          <p:spPr bwMode="auto">
            <a:xfrm>
              <a:off x="2928" y="720"/>
              <a:ext cx="192" cy="192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2568575" y="3816350"/>
            <a:ext cx="312738" cy="369888"/>
            <a:chOff x="4537126" y="1571923"/>
            <a:chExt cx="312030" cy="369094"/>
          </a:xfrm>
        </p:grpSpPr>
        <p:sp>
          <p:nvSpPr>
            <p:cNvPr id="35881" name="文本框 2"/>
            <p:cNvSpPr txBox="1"/>
            <p:nvPr/>
          </p:nvSpPr>
          <p:spPr>
            <a:xfrm>
              <a:off x="4537126" y="1571923"/>
              <a:ext cx="312030" cy="3690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882" name="直接箭头连接符 57"/>
            <p:cNvCxnSpPr/>
            <p:nvPr/>
          </p:nvCxnSpPr>
          <p:spPr>
            <a:xfrm>
              <a:off x="4827746" y="1658116"/>
              <a:ext cx="0" cy="234409"/>
            </a:xfrm>
            <a:prstGeom prst="straightConnector1">
              <a:avLst/>
            </a:prstGeom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59" name="Line 174"/>
          <p:cNvSpPr/>
          <p:nvPr/>
        </p:nvSpPr>
        <p:spPr>
          <a:xfrm flipV="1">
            <a:off x="984250" y="4265613"/>
            <a:ext cx="1625600" cy="4762"/>
          </a:xfrm>
          <a:prstGeom prst="line">
            <a:avLst/>
          </a:prstGeom>
          <a:ln w="28575" cap="flat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grpSp>
        <p:nvGrpSpPr>
          <p:cNvPr id="60" name="Group 175"/>
          <p:cNvGrpSpPr/>
          <p:nvPr/>
        </p:nvGrpSpPr>
        <p:grpSpPr bwMode="auto">
          <a:xfrm>
            <a:off x="1485900" y="3859213"/>
            <a:ext cx="762000" cy="228600"/>
            <a:chOff x="2688" y="720"/>
            <a:chExt cx="432" cy="192"/>
          </a:xfrm>
          <a:solidFill>
            <a:srgbClr val="CCFFFF"/>
          </a:solidFill>
        </p:grpSpPr>
        <p:sp>
          <p:nvSpPr>
            <p:cNvPr id="34860" name="Rectangle 176"/>
            <p:cNvSpPr>
              <a:spLocks noChangeArrowheads="1"/>
            </p:cNvSpPr>
            <p:nvPr/>
          </p:nvSpPr>
          <p:spPr bwMode="auto">
            <a:xfrm>
              <a:off x="2688" y="720"/>
              <a:ext cx="240" cy="192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861" name="Rectangle 177"/>
            <p:cNvSpPr>
              <a:spLocks noChangeArrowheads="1"/>
            </p:cNvSpPr>
            <p:nvPr/>
          </p:nvSpPr>
          <p:spPr bwMode="auto">
            <a:xfrm>
              <a:off x="2928" y="720"/>
              <a:ext cx="192" cy="192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5" name="Text Box 237"/>
          <p:cNvSpPr txBox="1"/>
          <p:nvPr/>
        </p:nvSpPr>
        <p:spPr>
          <a:xfrm>
            <a:off x="2660650" y="4089400"/>
            <a:ext cx="381000" cy="3683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239"/>
          <p:cNvSpPr/>
          <p:nvPr/>
        </p:nvSpPr>
        <p:spPr>
          <a:xfrm>
            <a:off x="1543050" y="3773488"/>
            <a:ext cx="244475" cy="3683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Box 186"/>
          <p:cNvSpPr txBox="1"/>
          <p:nvPr/>
        </p:nvSpPr>
        <p:spPr>
          <a:xfrm>
            <a:off x="793750" y="4729163"/>
            <a:ext cx="31623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39713" y="5591175"/>
            <a:ext cx="162083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输入：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4 3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1158875" y="5943600"/>
            <a:ext cx="62706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1 2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0" name="Text Box 186"/>
          <p:cNvSpPr txBox="1"/>
          <p:nvPr/>
        </p:nvSpPr>
        <p:spPr>
          <a:xfrm>
            <a:off x="3028950" y="4089400"/>
            <a:ext cx="3606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704975" y="5945188"/>
            <a:ext cx="62706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1 4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1452563" y="3514725"/>
            <a:ext cx="312737" cy="369888"/>
            <a:chOff x="4537126" y="1571923"/>
            <a:chExt cx="312031" cy="369094"/>
          </a:xfrm>
        </p:grpSpPr>
        <p:sp>
          <p:nvSpPr>
            <p:cNvPr id="35879" name="文本框 2"/>
            <p:cNvSpPr txBox="1"/>
            <p:nvPr/>
          </p:nvSpPr>
          <p:spPr>
            <a:xfrm>
              <a:off x="4537126" y="1571923"/>
              <a:ext cx="312031" cy="3690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880" name="直接箭头连接符 76"/>
            <p:cNvCxnSpPr/>
            <p:nvPr/>
          </p:nvCxnSpPr>
          <p:spPr>
            <a:xfrm>
              <a:off x="4827746" y="1658116"/>
              <a:ext cx="0" cy="234409"/>
            </a:xfrm>
            <a:prstGeom prst="straightConnector1">
              <a:avLst/>
            </a:prstGeom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78" name="矩形 77"/>
          <p:cNvSpPr/>
          <p:nvPr/>
        </p:nvSpPr>
        <p:spPr>
          <a:xfrm>
            <a:off x="2286000" y="5943600"/>
            <a:ext cx="9366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3 1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79" name="Group 175"/>
          <p:cNvGrpSpPr/>
          <p:nvPr/>
        </p:nvGrpSpPr>
        <p:grpSpPr bwMode="auto">
          <a:xfrm>
            <a:off x="1536700" y="4787900"/>
            <a:ext cx="762000" cy="228600"/>
            <a:chOff x="2688" y="720"/>
            <a:chExt cx="432" cy="192"/>
          </a:xfrm>
          <a:solidFill>
            <a:srgbClr val="CCFFFF"/>
          </a:solidFill>
        </p:grpSpPr>
        <p:sp>
          <p:nvSpPr>
            <p:cNvPr id="34856" name="Rectangle 176"/>
            <p:cNvSpPr>
              <a:spLocks noChangeArrowheads="1"/>
            </p:cNvSpPr>
            <p:nvPr/>
          </p:nvSpPr>
          <p:spPr bwMode="auto">
            <a:xfrm>
              <a:off x="2688" y="720"/>
              <a:ext cx="240" cy="192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857" name="Rectangle 177"/>
            <p:cNvSpPr>
              <a:spLocks noChangeArrowheads="1"/>
            </p:cNvSpPr>
            <p:nvPr/>
          </p:nvSpPr>
          <p:spPr bwMode="auto">
            <a:xfrm>
              <a:off x="2928" y="720"/>
              <a:ext cx="192" cy="192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2" name="Text Box 186"/>
          <p:cNvSpPr txBox="1"/>
          <p:nvPr/>
        </p:nvSpPr>
        <p:spPr>
          <a:xfrm>
            <a:off x="1920875" y="4719638"/>
            <a:ext cx="3606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ectangle 239"/>
          <p:cNvSpPr/>
          <p:nvPr/>
        </p:nvSpPr>
        <p:spPr>
          <a:xfrm>
            <a:off x="1576388" y="471805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1536700" y="4411663"/>
            <a:ext cx="312738" cy="369887"/>
            <a:chOff x="4537126" y="1571923"/>
            <a:chExt cx="313423" cy="369095"/>
          </a:xfrm>
        </p:grpSpPr>
        <p:sp>
          <p:nvSpPr>
            <p:cNvPr id="35877" name="文本框 2"/>
            <p:cNvSpPr txBox="1"/>
            <p:nvPr/>
          </p:nvSpPr>
          <p:spPr>
            <a:xfrm>
              <a:off x="4537126" y="1571923"/>
              <a:ext cx="313423" cy="3690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878" name="直接箭头连接符 85"/>
            <p:cNvCxnSpPr/>
            <p:nvPr/>
          </p:nvCxnSpPr>
          <p:spPr>
            <a:xfrm>
              <a:off x="4827746" y="1658116"/>
              <a:ext cx="0" cy="234409"/>
            </a:xfrm>
            <a:prstGeom prst="straightConnector1">
              <a:avLst/>
            </a:prstGeom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13" name="矩形 12"/>
          <p:cNvSpPr/>
          <p:nvPr/>
        </p:nvSpPr>
        <p:spPr>
          <a:xfrm>
            <a:off x="6092825" y="4748213"/>
            <a:ext cx="1536700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400" b="1" dirty="0">
                <a:solidFill>
                  <a:srgbClr val="0099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ga[i].link;</a:t>
            </a:r>
            <a:endParaRPr lang="en-US" altLang="zh-CN" sz="2400" b="1" dirty="0">
              <a:solidFill>
                <a:srgbClr val="0099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0" name="Line 184"/>
          <p:cNvSpPr/>
          <p:nvPr/>
        </p:nvSpPr>
        <p:spPr>
          <a:xfrm>
            <a:off x="1001713" y="4900613"/>
            <a:ext cx="533400" cy="0"/>
          </a:xfrm>
          <a:prstGeom prst="line">
            <a:avLst/>
          </a:prstGeom>
          <a:ln w="28575" cap="flat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93" name="Line 174"/>
          <p:cNvSpPr/>
          <p:nvPr/>
        </p:nvSpPr>
        <p:spPr>
          <a:xfrm>
            <a:off x="2063750" y="3951288"/>
            <a:ext cx="574675" cy="327025"/>
          </a:xfrm>
          <a:prstGeom prst="line">
            <a:avLst/>
          </a:prstGeom>
          <a:ln w="25400" cap="flat" cmpd="sng">
            <a:solidFill>
              <a:srgbClr val="009900"/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94" name="Line 174"/>
          <p:cNvSpPr/>
          <p:nvPr/>
        </p:nvSpPr>
        <p:spPr>
          <a:xfrm flipV="1">
            <a:off x="982663" y="3954463"/>
            <a:ext cx="544512" cy="304800"/>
          </a:xfrm>
          <a:prstGeom prst="line">
            <a:avLst/>
          </a:prstGeom>
          <a:ln w="25400" cap="flat" cmpd="sng">
            <a:solidFill>
              <a:srgbClr val="009900"/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5876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7.2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图的存储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2" grpId="0" bldLvl="0" animBg="1"/>
      <p:bldP spid="2" grpId="0"/>
      <p:bldP spid="8" grpId="0"/>
      <p:bldP spid="9" grpId="0"/>
      <p:bldP spid="11" grpId="0"/>
      <p:bldP spid="52" grpId="0"/>
      <p:bldP spid="52" grpId="1"/>
      <p:bldP spid="65" grpId="0"/>
      <p:bldP spid="66" grpId="0"/>
      <p:bldP spid="67" grpId="0"/>
      <p:bldP spid="67" grpId="1"/>
      <p:bldP spid="68" grpId="0"/>
      <p:bldP spid="69" grpId="0"/>
      <p:bldP spid="70" grpId="0"/>
      <p:bldP spid="74" grpId="0"/>
      <p:bldP spid="78" grpId="0"/>
      <p:bldP spid="82" grpId="0"/>
      <p:bldP spid="83" grpId="0"/>
      <p:bldP spid="13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 bwMode="auto">
          <a:xfrm>
            <a:off x="4260856" y="1676400"/>
            <a:ext cx="3941849" cy="1466910"/>
            <a:chOff x="4260856" y="1676400"/>
            <a:chExt cx="3941849" cy="1466910"/>
          </a:xfrm>
          <a:solidFill>
            <a:srgbClr val="CCFFFF"/>
          </a:solidFill>
        </p:grpSpPr>
        <p:grpSp>
          <p:nvGrpSpPr>
            <p:cNvPr id="35868" name="Group 70"/>
            <p:cNvGrpSpPr/>
            <p:nvPr/>
          </p:nvGrpSpPr>
          <p:grpSpPr bwMode="auto">
            <a:xfrm>
              <a:off x="4572000" y="1793875"/>
              <a:ext cx="685800" cy="1219200"/>
              <a:chOff x="2688" y="720"/>
              <a:chExt cx="432" cy="768"/>
            </a:xfrm>
            <a:grpFill/>
          </p:grpSpPr>
          <p:grpSp>
            <p:nvGrpSpPr>
              <p:cNvPr id="35911" name="Group 71"/>
              <p:cNvGrpSpPr/>
              <p:nvPr/>
            </p:nvGrpSpPr>
            <p:grpSpPr bwMode="auto">
              <a:xfrm>
                <a:off x="2688" y="720"/>
                <a:ext cx="432" cy="192"/>
                <a:chOff x="2688" y="720"/>
                <a:chExt cx="432" cy="192"/>
              </a:xfrm>
              <a:grpFill/>
            </p:grpSpPr>
            <p:sp>
              <p:nvSpPr>
                <p:cNvPr id="35921" name="Rectangle 72"/>
                <p:cNvSpPr>
                  <a:spLocks noChangeArrowheads="1"/>
                </p:cNvSpPr>
                <p:nvPr/>
              </p:nvSpPr>
              <p:spPr bwMode="auto">
                <a:xfrm>
                  <a:off x="2688" y="720"/>
                  <a:ext cx="240" cy="192"/>
                </a:xfrm>
                <a:prstGeom prst="rect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922" name="Rectangle 73"/>
                <p:cNvSpPr>
                  <a:spLocks noChangeArrowheads="1"/>
                </p:cNvSpPr>
                <p:nvPr/>
              </p:nvSpPr>
              <p:spPr bwMode="auto">
                <a:xfrm>
                  <a:off x="2928" y="720"/>
                  <a:ext cx="192" cy="192"/>
                </a:xfrm>
                <a:prstGeom prst="rect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5912" name="Group 74"/>
              <p:cNvGrpSpPr/>
              <p:nvPr/>
            </p:nvGrpSpPr>
            <p:grpSpPr bwMode="auto">
              <a:xfrm>
                <a:off x="2688" y="912"/>
                <a:ext cx="432" cy="192"/>
                <a:chOff x="2688" y="720"/>
                <a:chExt cx="432" cy="192"/>
              </a:xfrm>
              <a:grpFill/>
            </p:grpSpPr>
            <p:sp>
              <p:nvSpPr>
                <p:cNvPr id="35919" name="Rectangle 75"/>
                <p:cNvSpPr>
                  <a:spLocks noChangeArrowheads="1"/>
                </p:cNvSpPr>
                <p:nvPr/>
              </p:nvSpPr>
              <p:spPr bwMode="auto">
                <a:xfrm>
                  <a:off x="2688" y="720"/>
                  <a:ext cx="240" cy="192"/>
                </a:xfrm>
                <a:prstGeom prst="rect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920" name="Rectangle 76"/>
                <p:cNvSpPr>
                  <a:spLocks noChangeArrowheads="1"/>
                </p:cNvSpPr>
                <p:nvPr/>
              </p:nvSpPr>
              <p:spPr bwMode="auto">
                <a:xfrm>
                  <a:off x="2928" y="720"/>
                  <a:ext cx="192" cy="192"/>
                </a:xfrm>
                <a:prstGeom prst="rect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5913" name="Group 77"/>
              <p:cNvGrpSpPr/>
              <p:nvPr/>
            </p:nvGrpSpPr>
            <p:grpSpPr bwMode="auto">
              <a:xfrm>
                <a:off x="2688" y="1104"/>
                <a:ext cx="432" cy="192"/>
                <a:chOff x="2688" y="720"/>
                <a:chExt cx="432" cy="192"/>
              </a:xfrm>
              <a:grpFill/>
            </p:grpSpPr>
            <p:sp>
              <p:nvSpPr>
                <p:cNvPr id="35917" name="Rectangle 78"/>
                <p:cNvSpPr>
                  <a:spLocks noChangeArrowheads="1"/>
                </p:cNvSpPr>
                <p:nvPr/>
              </p:nvSpPr>
              <p:spPr bwMode="auto">
                <a:xfrm>
                  <a:off x="2688" y="720"/>
                  <a:ext cx="240" cy="192"/>
                </a:xfrm>
                <a:prstGeom prst="rect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918" name="Rectangle 79"/>
                <p:cNvSpPr>
                  <a:spLocks noChangeArrowheads="1"/>
                </p:cNvSpPr>
                <p:nvPr/>
              </p:nvSpPr>
              <p:spPr bwMode="auto">
                <a:xfrm>
                  <a:off x="2928" y="720"/>
                  <a:ext cx="192" cy="192"/>
                </a:xfrm>
                <a:prstGeom prst="rect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5914" name="Group 80"/>
              <p:cNvGrpSpPr/>
              <p:nvPr/>
            </p:nvGrpSpPr>
            <p:grpSpPr bwMode="auto">
              <a:xfrm>
                <a:off x="2688" y="1296"/>
                <a:ext cx="432" cy="192"/>
                <a:chOff x="2688" y="720"/>
                <a:chExt cx="432" cy="192"/>
              </a:xfrm>
              <a:grpFill/>
            </p:grpSpPr>
            <p:sp>
              <p:nvSpPr>
                <p:cNvPr id="35915" name="Rectangle 81"/>
                <p:cNvSpPr>
                  <a:spLocks noChangeArrowheads="1"/>
                </p:cNvSpPr>
                <p:nvPr/>
              </p:nvSpPr>
              <p:spPr bwMode="auto">
                <a:xfrm>
                  <a:off x="2688" y="720"/>
                  <a:ext cx="240" cy="192"/>
                </a:xfrm>
                <a:prstGeom prst="rect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916" name="Rectangle 82"/>
                <p:cNvSpPr>
                  <a:spLocks noChangeArrowheads="1"/>
                </p:cNvSpPr>
                <p:nvPr/>
              </p:nvSpPr>
              <p:spPr bwMode="auto">
                <a:xfrm>
                  <a:off x="2928" y="720"/>
                  <a:ext cx="192" cy="192"/>
                </a:xfrm>
                <a:prstGeom prst="rect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5869" name="Group 83"/>
            <p:cNvGrpSpPr/>
            <p:nvPr/>
          </p:nvGrpSpPr>
          <p:grpSpPr bwMode="auto">
            <a:xfrm>
              <a:off x="4260856" y="1774827"/>
              <a:ext cx="312738" cy="1316038"/>
              <a:chOff x="2304" y="2606"/>
              <a:chExt cx="197" cy="829"/>
            </a:xfrm>
            <a:grpFill/>
          </p:grpSpPr>
          <p:sp>
            <p:nvSpPr>
              <p:cNvPr id="35907" name="Text Box 84"/>
              <p:cNvSpPr txBox="1">
                <a:spLocks noChangeArrowheads="1"/>
              </p:cNvSpPr>
              <p:nvPr/>
            </p:nvSpPr>
            <p:spPr bwMode="auto">
              <a:xfrm>
                <a:off x="2304" y="2606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2000"/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908" name="Text Box 85"/>
              <p:cNvSpPr txBox="1">
                <a:spLocks noChangeArrowheads="1"/>
              </p:cNvSpPr>
              <p:nvPr/>
            </p:nvSpPr>
            <p:spPr bwMode="auto">
              <a:xfrm>
                <a:off x="2304" y="2798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2000" b="1">
                    <a:solidFill>
                      <a:schemeClr val="bg1"/>
                    </a:solidFill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909" name="Text Box 86"/>
              <p:cNvSpPr txBox="1">
                <a:spLocks noChangeArrowheads="1"/>
              </p:cNvSpPr>
              <p:nvPr/>
            </p:nvSpPr>
            <p:spPr bwMode="auto">
              <a:xfrm>
                <a:off x="2304" y="299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2000" b="1">
                    <a:solidFill>
                      <a:schemeClr val="bg1"/>
                    </a:solidFill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910" name="Text Box 87"/>
              <p:cNvSpPr txBox="1">
                <a:spLocks noChangeArrowheads="1"/>
              </p:cNvSpPr>
              <p:nvPr/>
            </p:nvSpPr>
            <p:spPr bwMode="auto">
              <a:xfrm>
                <a:off x="2304" y="3183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2000" b="1">
                    <a:solidFill>
                      <a:schemeClr val="bg1"/>
                    </a:solidFill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870" name="Group 88"/>
            <p:cNvGrpSpPr/>
            <p:nvPr/>
          </p:nvGrpSpPr>
          <p:grpSpPr bwMode="auto">
            <a:xfrm>
              <a:off x="5764213" y="2209800"/>
              <a:ext cx="990600" cy="228600"/>
              <a:chOff x="4032" y="3216"/>
              <a:chExt cx="624" cy="144"/>
            </a:xfrm>
            <a:grpFill/>
          </p:grpSpPr>
          <p:sp>
            <p:nvSpPr>
              <p:cNvPr id="35904" name="Rectangle 89"/>
              <p:cNvSpPr>
                <a:spLocks noChangeArrowheads="1"/>
              </p:cNvSpPr>
              <p:nvPr/>
            </p:nvSpPr>
            <p:spPr bwMode="auto">
              <a:xfrm>
                <a:off x="4224" y="3216"/>
                <a:ext cx="267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905" name="Rectangle 90"/>
              <p:cNvSpPr>
                <a:spLocks noChangeArrowheads="1"/>
              </p:cNvSpPr>
              <p:nvPr/>
            </p:nvSpPr>
            <p:spPr bwMode="auto">
              <a:xfrm>
                <a:off x="4491" y="3216"/>
                <a:ext cx="165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906" name="Rectangle 91"/>
              <p:cNvSpPr>
                <a:spLocks noChangeArrowheads="1"/>
              </p:cNvSpPr>
              <p:nvPr/>
            </p:nvSpPr>
            <p:spPr bwMode="auto">
              <a:xfrm>
                <a:off x="4032" y="3216"/>
                <a:ext cx="192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871" name="Group 92"/>
            <p:cNvGrpSpPr/>
            <p:nvPr/>
          </p:nvGrpSpPr>
          <p:grpSpPr bwMode="auto">
            <a:xfrm>
              <a:off x="5764213" y="1828800"/>
              <a:ext cx="990600" cy="228600"/>
              <a:chOff x="4032" y="3216"/>
              <a:chExt cx="624" cy="144"/>
            </a:xfrm>
            <a:grpFill/>
          </p:grpSpPr>
          <p:sp>
            <p:nvSpPr>
              <p:cNvPr id="35901" name="Rectangle 93"/>
              <p:cNvSpPr>
                <a:spLocks noChangeArrowheads="1"/>
              </p:cNvSpPr>
              <p:nvPr/>
            </p:nvSpPr>
            <p:spPr bwMode="auto">
              <a:xfrm>
                <a:off x="4224" y="3216"/>
                <a:ext cx="267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902" name="Rectangle 94"/>
              <p:cNvSpPr>
                <a:spLocks noChangeArrowheads="1"/>
              </p:cNvSpPr>
              <p:nvPr/>
            </p:nvSpPr>
            <p:spPr bwMode="auto">
              <a:xfrm>
                <a:off x="4491" y="3216"/>
                <a:ext cx="165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903" name="Rectangle 95"/>
              <p:cNvSpPr>
                <a:spLocks noChangeArrowheads="1"/>
              </p:cNvSpPr>
              <p:nvPr/>
            </p:nvSpPr>
            <p:spPr bwMode="auto">
              <a:xfrm>
                <a:off x="4032" y="3216"/>
                <a:ext cx="192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5872" name="Text Box 96"/>
            <p:cNvSpPr txBox="1">
              <a:spLocks noChangeArrowheads="1"/>
            </p:cNvSpPr>
            <p:nvPr/>
          </p:nvSpPr>
          <p:spPr bwMode="auto">
            <a:xfrm>
              <a:off x="4545013" y="1676400"/>
              <a:ext cx="419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000" b="1" i="0" u="none" strike="noStrike" kern="1200" cap="none" spc="0" normalizeH="0" baseline="-20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1" i="0" u="none" strike="noStrike" kern="1200" cap="none" spc="0" normalizeH="0" baseline="-2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73" name="Text Box 97"/>
            <p:cNvSpPr txBox="1">
              <a:spLocks noChangeArrowheads="1"/>
            </p:cNvSpPr>
            <p:nvPr/>
          </p:nvSpPr>
          <p:spPr bwMode="auto">
            <a:xfrm>
              <a:off x="4545013" y="198120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400" b="1" i="0" u="none" strike="noStrike" kern="1200" cap="none" spc="0" normalizeH="0" baseline="-18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400" b="1" i="0" u="none" strike="noStrike" kern="1200" cap="none" spc="0" normalizeH="0" baseline="-18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74" name="Text Box 98"/>
            <p:cNvSpPr txBox="1">
              <a:spLocks noChangeArrowheads="1"/>
            </p:cNvSpPr>
            <p:nvPr/>
          </p:nvSpPr>
          <p:spPr bwMode="auto">
            <a:xfrm>
              <a:off x="4545013" y="228600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400" b="1" i="0" u="none" strike="noStrike" kern="1200" cap="none" spc="0" normalizeH="0" baseline="-18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2400" b="1" i="0" u="none" strike="noStrike" kern="1200" cap="none" spc="0" normalizeH="0" baseline="-18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75" name="Text Box 99"/>
            <p:cNvSpPr txBox="1">
              <a:spLocks noChangeArrowheads="1"/>
            </p:cNvSpPr>
            <p:nvPr/>
          </p:nvSpPr>
          <p:spPr bwMode="auto">
            <a:xfrm>
              <a:off x="4545013" y="259080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400" b="1" i="0" u="none" strike="noStrike" kern="1200" cap="none" spc="0" normalizeH="0" baseline="-18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2400" b="1" i="0" u="none" strike="noStrike" kern="1200" cap="none" spc="0" normalizeH="0" baseline="-18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76" name="Line 100"/>
            <p:cNvSpPr>
              <a:spLocks noChangeShapeType="1"/>
            </p:cNvSpPr>
            <p:nvPr/>
          </p:nvSpPr>
          <p:spPr bwMode="auto">
            <a:xfrm>
              <a:off x="5154613" y="1981200"/>
              <a:ext cx="609600" cy="0"/>
            </a:xfrm>
            <a:prstGeom prst="line">
              <a:avLst/>
            </a:prstGeom>
            <a:grpFill/>
            <a:ln w="28575" cap="sq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877" name="Line 101"/>
            <p:cNvSpPr>
              <a:spLocks noChangeShapeType="1"/>
            </p:cNvSpPr>
            <p:nvPr/>
          </p:nvSpPr>
          <p:spPr bwMode="auto">
            <a:xfrm>
              <a:off x="5154613" y="2292350"/>
              <a:ext cx="609600" cy="0"/>
            </a:xfrm>
            <a:prstGeom prst="line">
              <a:avLst/>
            </a:prstGeom>
            <a:grpFill/>
            <a:ln w="28575" cap="sq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878" name="Line 102"/>
            <p:cNvSpPr>
              <a:spLocks noChangeShapeType="1"/>
            </p:cNvSpPr>
            <p:nvPr/>
          </p:nvSpPr>
          <p:spPr bwMode="auto">
            <a:xfrm>
              <a:off x="5154613" y="2590800"/>
              <a:ext cx="609600" cy="0"/>
            </a:xfrm>
            <a:prstGeom prst="line">
              <a:avLst/>
            </a:prstGeom>
            <a:grpFill/>
            <a:ln w="28575" cap="sq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879" name="Text Box 103"/>
            <p:cNvSpPr txBox="1">
              <a:spLocks noChangeArrowheads="1"/>
            </p:cNvSpPr>
            <p:nvPr/>
          </p:nvSpPr>
          <p:spPr bwMode="auto">
            <a:xfrm>
              <a:off x="6145213" y="1754188"/>
              <a:ext cx="311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80" name="Rectangle 104"/>
            <p:cNvSpPr>
              <a:spLocks noChangeArrowheads="1"/>
            </p:cNvSpPr>
            <p:nvPr/>
          </p:nvSpPr>
          <p:spPr bwMode="auto">
            <a:xfrm>
              <a:off x="6145213" y="2117725"/>
              <a:ext cx="311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81" name="Rectangle 105"/>
            <p:cNvSpPr>
              <a:spLocks noChangeArrowheads="1"/>
            </p:cNvSpPr>
            <p:nvPr/>
          </p:nvSpPr>
          <p:spPr bwMode="auto">
            <a:xfrm>
              <a:off x="5764213" y="2133600"/>
              <a:ext cx="311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82" name="Rectangle 106"/>
            <p:cNvSpPr>
              <a:spLocks noChangeArrowheads="1"/>
            </p:cNvSpPr>
            <p:nvPr/>
          </p:nvSpPr>
          <p:spPr bwMode="auto">
            <a:xfrm>
              <a:off x="5764213" y="1752600"/>
              <a:ext cx="311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83" name="Rectangle 107"/>
            <p:cNvSpPr>
              <a:spLocks noChangeArrowheads="1"/>
            </p:cNvSpPr>
            <p:nvPr/>
          </p:nvSpPr>
          <p:spPr bwMode="auto">
            <a:xfrm>
              <a:off x="4926013" y="2743200"/>
              <a:ext cx="3048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84" name="Rectangle 108"/>
            <p:cNvSpPr>
              <a:spLocks noChangeArrowheads="1"/>
            </p:cNvSpPr>
            <p:nvPr/>
          </p:nvSpPr>
          <p:spPr bwMode="auto">
            <a:xfrm>
              <a:off x="6499225" y="1812925"/>
              <a:ext cx="331788" cy="396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5885" name="Group 109"/>
            <p:cNvGrpSpPr/>
            <p:nvPr/>
          </p:nvGrpSpPr>
          <p:grpSpPr bwMode="auto">
            <a:xfrm>
              <a:off x="5764213" y="2514600"/>
              <a:ext cx="990600" cy="228600"/>
              <a:chOff x="4032" y="3216"/>
              <a:chExt cx="624" cy="144"/>
            </a:xfrm>
            <a:grpFill/>
          </p:grpSpPr>
          <p:sp>
            <p:nvSpPr>
              <p:cNvPr id="35898" name="Rectangle 110"/>
              <p:cNvSpPr>
                <a:spLocks noChangeArrowheads="1"/>
              </p:cNvSpPr>
              <p:nvPr/>
            </p:nvSpPr>
            <p:spPr bwMode="auto">
              <a:xfrm>
                <a:off x="4224" y="3216"/>
                <a:ext cx="267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899" name="Rectangle 111"/>
              <p:cNvSpPr>
                <a:spLocks noChangeArrowheads="1"/>
              </p:cNvSpPr>
              <p:nvPr/>
            </p:nvSpPr>
            <p:spPr bwMode="auto">
              <a:xfrm>
                <a:off x="4491" y="3216"/>
                <a:ext cx="165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900" name="Rectangle 112"/>
              <p:cNvSpPr>
                <a:spLocks noChangeArrowheads="1"/>
              </p:cNvSpPr>
              <p:nvPr/>
            </p:nvSpPr>
            <p:spPr bwMode="auto">
              <a:xfrm>
                <a:off x="4032" y="3216"/>
                <a:ext cx="192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5886" name="Text Box 113"/>
            <p:cNvSpPr txBox="1">
              <a:spLocks noChangeArrowheads="1"/>
            </p:cNvSpPr>
            <p:nvPr/>
          </p:nvSpPr>
          <p:spPr bwMode="auto">
            <a:xfrm>
              <a:off x="6145213" y="2438400"/>
              <a:ext cx="311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2000" b="1"/>
              </a:lvl1pPr>
              <a:lvl2pPr marL="742950" indent="-285750">
                <a:spcBef>
                  <a:spcPct val="20000"/>
                </a:spcBef>
                <a:buChar char="–"/>
                <a:defRPr sz="2800"/>
              </a:lvl2pPr>
              <a:lvl3pPr marL="1143000" indent="-228600">
                <a:spcBef>
                  <a:spcPct val="20000"/>
                </a:spcBef>
                <a:buChar char="•"/>
              </a:lvl3pPr>
              <a:lvl4pPr marL="1600200" indent="-228600">
                <a:spcBef>
                  <a:spcPct val="20000"/>
                </a:spcBef>
                <a:buChar char="–"/>
                <a:defRPr sz="2000"/>
              </a:lvl4pPr>
              <a:lvl5pPr marL="2057400" indent="-228600">
                <a:spcBef>
                  <a:spcPct val="20000"/>
                </a:spcBef>
                <a:buChar char="»"/>
                <a:defRPr sz="2000"/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87" name="Rectangle 114"/>
            <p:cNvSpPr>
              <a:spLocks noChangeArrowheads="1"/>
            </p:cNvSpPr>
            <p:nvPr/>
          </p:nvSpPr>
          <p:spPr bwMode="auto">
            <a:xfrm>
              <a:off x="5764213" y="2433638"/>
              <a:ext cx="311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88" name="Rectangle 115"/>
            <p:cNvSpPr>
              <a:spLocks noChangeArrowheads="1"/>
            </p:cNvSpPr>
            <p:nvPr/>
          </p:nvSpPr>
          <p:spPr bwMode="auto">
            <a:xfrm>
              <a:off x="6450013" y="2481263"/>
              <a:ext cx="184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5889" name="Group 116"/>
            <p:cNvGrpSpPr/>
            <p:nvPr/>
          </p:nvGrpSpPr>
          <p:grpSpPr bwMode="auto">
            <a:xfrm>
              <a:off x="7212013" y="2514600"/>
              <a:ext cx="990600" cy="228600"/>
              <a:chOff x="4032" y="3216"/>
              <a:chExt cx="624" cy="144"/>
            </a:xfrm>
            <a:grpFill/>
          </p:grpSpPr>
          <p:sp>
            <p:nvSpPr>
              <p:cNvPr id="35895" name="Rectangle 117"/>
              <p:cNvSpPr>
                <a:spLocks noChangeArrowheads="1"/>
              </p:cNvSpPr>
              <p:nvPr/>
            </p:nvSpPr>
            <p:spPr bwMode="auto">
              <a:xfrm>
                <a:off x="4224" y="3216"/>
                <a:ext cx="267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896" name="Rectangle 118"/>
              <p:cNvSpPr>
                <a:spLocks noChangeArrowheads="1"/>
              </p:cNvSpPr>
              <p:nvPr/>
            </p:nvSpPr>
            <p:spPr bwMode="auto">
              <a:xfrm>
                <a:off x="4491" y="3216"/>
                <a:ext cx="165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897" name="Rectangle 119"/>
              <p:cNvSpPr>
                <a:spLocks noChangeArrowheads="1"/>
              </p:cNvSpPr>
              <p:nvPr/>
            </p:nvSpPr>
            <p:spPr bwMode="auto">
              <a:xfrm>
                <a:off x="4032" y="3216"/>
                <a:ext cx="192" cy="144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5890" name="Rectangle 120"/>
            <p:cNvSpPr>
              <a:spLocks noChangeArrowheads="1"/>
            </p:cNvSpPr>
            <p:nvPr/>
          </p:nvSpPr>
          <p:spPr bwMode="auto">
            <a:xfrm>
              <a:off x="7586663" y="2438400"/>
              <a:ext cx="311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91" name="Rectangle 121"/>
            <p:cNvSpPr>
              <a:spLocks noChangeArrowheads="1"/>
            </p:cNvSpPr>
            <p:nvPr/>
          </p:nvSpPr>
          <p:spPr bwMode="auto">
            <a:xfrm>
              <a:off x="7212013" y="2420938"/>
              <a:ext cx="311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92" name="Rectangle 122"/>
            <p:cNvSpPr>
              <a:spLocks noChangeArrowheads="1"/>
            </p:cNvSpPr>
            <p:nvPr/>
          </p:nvSpPr>
          <p:spPr bwMode="auto">
            <a:xfrm>
              <a:off x="7897813" y="2498725"/>
              <a:ext cx="3048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93" name="Text Box 123"/>
            <p:cNvSpPr txBox="1">
              <a:spLocks noChangeArrowheads="1"/>
            </p:cNvSpPr>
            <p:nvPr/>
          </p:nvSpPr>
          <p:spPr bwMode="auto">
            <a:xfrm>
              <a:off x="6503988" y="2133600"/>
              <a:ext cx="3048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2000"/>
              </a:lvl1pPr>
              <a:lvl2pPr marL="742950" indent="-285750">
                <a:spcBef>
                  <a:spcPct val="20000"/>
                </a:spcBef>
                <a:buChar char="–"/>
                <a:defRPr sz="2800"/>
              </a:lvl2pPr>
              <a:lvl3pPr marL="1143000" indent="-228600">
                <a:spcBef>
                  <a:spcPct val="20000"/>
                </a:spcBef>
                <a:buChar char="•"/>
              </a:lvl3pPr>
              <a:lvl4pPr marL="1600200" indent="-228600">
                <a:spcBef>
                  <a:spcPct val="20000"/>
                </a:spcBef>
                <a:buChar char="–"/>
                <a:defRPr sz="2000"/>
              </a:lvl4pPr>
              <a:lvl5pPr marL="2057400" indent="-228600">
                <a:spcBef>
                  <a:spcPct val="20000"/>
                </a:spcBef>
                <a:buChar char="»"/>
                <a:defRPr sz="2000"/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/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94" name="Line 124"/>
            <p:cNvSpPr>
              <a:spLocks noChangeShapeType="1"/>
            </p:cNvSpPr>
            <p:nvPr/>
          </p:nvSpPr>
          <p:spPr bwMode="auto">
            <a:xfrm>
              <a:off x="6602413" y="2632075"/>
              <a:ext cx="609600" cy="0"/>
            </a:xfrm>
            <a:prstGeom prst="line">
              <a:avLst/>
            </a:prstGeom>
            <a:grpFill/>
            <a:ln w="28575" cap="sq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139825" y="1717675"/>
            <a:ext cx="1944688" cy="1835150"/>
            <a:chOff x="1139585" y="1717675"/>
            <a:chExt cx="1944928" cy="1835150"/>
          </a:xfrm>
        </p:grpSpPr>
        <p:sp>
          <p:nvSpPr>
            <p:cNvPr id="36875" name="Oval 178"/>
            <p:cNvSpPr/>
            <p:nvPr/>
          </p:nvSpPr>
          <p:spPr>
            <a:xfrm>
              <a:off x="1868488" y="1828047"/>
              <a:ext cx="361950" cy="28575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76" name="Oval 179"/>
            <p:cNvSpPr/>
            <p:nvPr/>
          </p:nvSpPr>
          <p:spPr>
            <a:xfrm>
              <a:off x="1139585" y="2466976"/>
              <a:ext cx="361950" cy="28575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77" name="Oval 180"/>
            <p:cNvSpPr/>
            <p:nvPr/>
          </p:nvSpPr>
          <p:spPr>
            <a:xfrm>
              <a:off x="1943100" y="3241701"/>
              <a:ext cx="361950" cy="28575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78" name="Oval 181"/>
            <p:cNvSpPr/>
            <p:nvPr/>
          </p:nvSpPr>
          <p:spPr>
            <a:xfrm>
              <a:off x="2692400" y="2485138"/>
              <a:ext cx="361950" cy="28575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79" name="Line 182"/>
            <p:cNvSpPr/>
            <p:nvPr/>
          </p:nvSpPr>
          <p:spPr>
            <a:xfrm flipV="1">
              <a:off x="1531938" y="2584450"/>
              <a:ext cx="1230312" cy="0"/>
            </a:xfrm>
            <a:prstGeom prst="line">
              <a:avLst/>
            </a:prstGeom>
            <a:ln w="2540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lg"/>
            </a:ln>
          </p:spPr>
        </p:sp>
        <p:sp>
          <p:nvSpPr>
            <p:cNvPr id="36880" name="Line 183"/>
            <p:cNvSpPr/>
            <p:nvPr/>
          </p:nvSpPr>
          <p:spPr>
            <a:xfrm flipV="1">
              <a:off x="2222500" y="2714625"/>
              <a:ext cx="552450" cy="560388"/>
            </a:xfrm>
            <a:prstGeom prst="line">
              <a:avLst/>
            </a:prstGeom>
            <a:ln w="2540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lg"/>
            </a:ln>
          </p:spPr>
        </p:sp>
        <p:sp>
          <p:nvSpPr>
            <p:cNvPr id="36881" name="Freeform 184"/>
            <p:cNvSpPr/>
            <p:nvPr/>
          </p:nvSpPr>
          <p:spPr>
            <a:xfrm>
              <a:off x="1169988" y="1727200"/>
              <a:ext cx="723900" cy="857250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864" h="440">
                  <a:moveTo>
                    <a:pt x="0" y="440"/>
                  </a:moveTo>
                  <a:cubicBezTo>
                    <a:pt x="72" y="276"/>
                    <a:pt x="144" y="112"/>
                    <a:pt x="288" y="56"/>
                  </a:cubicBezTo>
                  <a:cubicBezTo>
                    <a:pt x="432" y="0"/>
                    <a:pt x="768" y="96"/>
                    <a:pt x="864" y="104"/>
                  </a:cubicBezTo>
                </a:path>
              </a:pathLst>
            </a:custGeom>
            <a:noFill/>
            <a:ln w="25400" cap="flat" cmpd="sng">
              <a:solidFill>
                <a:schemeClr val="accent4">
                  <a:lumMod val="75000"/>
                  <a:alpha val="100000"/>
                </a:schemeClr>
              </a:solidFill>
              <a:prstDash val="solid"/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6882" name="Freeform 185"/>
            <p:cNvSpPr/>
            <p:nvPr/>
          </p:nvSpPr>
          <p:spPr>
            <a:xfrm>
              <a:off x="1531938" y="2084388"/>
              <a:ext cx="579437" cy="714375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0" t="0" r="0" b="0"/>
              <a:pathLst>
                <a:path w="768" h="328">
                  <a:moveTo>
                    <a:pt x="0" y="240"/>
                  </a:moveTo>
                  <a:cubicBezTo>
                    <a:pt x="152" y="284"/>
                    <a:pt x="304" y="328"/>
                    <a:pt x="432" y="288"/>
                  </a:cubicBezTo>
                  <a:cubicBezTo>
                    <a:pt x="560" y="248"/>
                    <a:pt x="712" y="48"/>
                    <a:pt x="768" y="0"/>
                  </a:cubicBezTo>
                </a:path>
              </a:pathLst>
            </a:custGeom>
            <a:noFill/>
            <a:ln w="25400" cap="flat" cmpd="sng">
              <a:solidFill>
                <a:schemeClr val="accent4">
                  <a:lumMod val="75000"/>
                  <a:alpha val="100000"/>
                </a:schemeClr>
              </a:solidFill>
              <a:prstDash val="solid"/>
              <a:round/>
              <a:headEnd type="triangle" w="med" len="med"/>
              <a:tailEnd type="none" w="sm" len="sm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6883" name="Rectangle 186"/>
            <p:cNvSpPr/>
            <p:nvPr/>
          </p:nvSpPr>
          <p:spPr>
            <a:xfrm>
              <a:off x="1911350" y="1717675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84" name="Rectangle 187"/>
            <p:cNvSpPr/>
            <p:nvPr/>
          </p:nvSpPr>
          <p:spPr>
            <a:xfrm>
              <a:off x="1157288" y="2425700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85" name="Rectangle 188"/>
            <p:cNvSpPr/>
            <p:nvPr/>
          </p:nvSpPr>
          <p:spPr>
            <a:xfrm>
              <a:off x="2690813" y="2370138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86" name="Rectangle 189"/>
            <p:cNvSpPr/>
            <p:nvPr/>
          </p:nvSpPr>
          <p:spPr>
            <a:xfrm>
              <a:off x="1881188" y="3155950"/>
              <a:ext cx="39370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87" name="Text Box 190"/>
            <p:cNvSpPr txBox="1"/>
            <p:nvPr/>
          </p:nvSpPr>
          <p:spPr>
            <a:xfrm>
              <a:off x="1385888" y="1817688"/>
              <a:ext cx="311150" cy="3968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88" name="Text Box 191"/>
            <p:cNvSpPr txBox="1"/>
            <p:nvPr/>
          </p:nvSpPr>
          <p:spPr>
            <a:xfrm>
              <a:off x="1662113" y="2138363"/>
              <a:ext cx="311150" cy="3968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89" name="Text Box 192"/>
            <p:cNvSpPr txBox="1"/>
            <p:nvPr/>
          </p:nvSpPr>
          <p:spPr>
            <a:xfrm>
              <a:off x="2112963" y="2254250"/>
              <a:ext cx="311150" cy="3968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90" name="Text Box 193"/>
            <p:cNvSpPr txBox="1"/>
            <p:nvPr/>
          </p:nvSpPr>
          <p:spPr>
            <a:xfrm>
              <a:off x="2130425" y="2730500"/>
              <a:ext cx="311150" cy="3968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6868" name="Oval 7"/>
          <p:cNvSpPr/>
          <p:nvPr/>
        </p:nvSpPr>
        <p:spPr>
          <a:xfrm>
            <a:off x="506413" y="80803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6869" name="Text Box 8"/>
          <p:cNvSpPr txBox="1"/>
          <p:nvPr/>
        </p:nvSpPr>
        <p:spPr>
          <a:xfrm>
            <a:off x="825500" y="750888"/>
            <a:ext cx="253365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逆邻接表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6" name="Oval 7"/>
          <p:cNvSpPr/>
          <p:nvPr/>
        </p:nvSpPr>
        <p:spPr>
          <a:xfrm>
            <a:off x="506413" y="386238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7" name="Text Box 8"/>
          <p:cNvSpPr txBox="1"/>
          <p:nvPr/>
        </p:nvSpPr>
        <p:spPr>
          <a:xfrm>
            <a:off x="600075" y="3805238"/>
            <a:ext cx="6121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4.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有向图的十字链表存储方法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8" name="Oval 7"/>
          <p:cNvSpPr/>
          <p:nvPr/>
        </p:nvSpPr>
        <p:spPr>
          <a:xfrm>
            <a:off x="506413" y="4781550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9" name="Text Box 8"/>
          <p:cNvSpPr txBox="1"/>
          <p:nvPr/>
        </p:nvSpPr>
        <p:spPr>
          <a:xfrm>
            <a:off x="525463" y="4724400"/>
            <a:ext cx="662146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5.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无向图的多重邻接表存储方法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6874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7.2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图的存储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7" grpId="0"/>
      <p:bldP spid="98" grpId="0" animBg="1"/>
      <p:bldP spid="9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Oval 90"/>
          <p:cNvSpPr/>
          <p:nvPr/>
        </p:nvSpPr>
        <p:spPr>
          <a:xfrm>
            <a:off x="1724025" y="4125913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1" name="Oval 91"/>
          <p:cNvSpPr/>
          <p:nvPr/>
        </p:nvSpPr>
        <p:spPr>
          <a:xfrm>
            <a:off x="2590800" y="4648200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2" name="Oval 92"/>
          <p:cNvSpPr/>
          <p:nvPr/>
        </p:nvSpPr>
        <p:spPr>
          <a:xfrm>
            <a:off x="2590800" y="5562600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3" name="Oval 93"/>
          <p:cNvSpPr/>
          <p:nvPr/>
        </p:nvSpPr>
        <p:spPr>
          <a:xfrm>
            <a:off x="1905000" y="6248400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4" name="Oval 94"/>
          <p:cNvSpPr/>
          <p:nvPr/>
        </p:nvSpPr>
        <p:spPr>
          <a:xfrm>
            <a:off x="1143000" y="5715000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5" name="Oval 95"/>
          <p:cNvSpPr/>
          <p:nvPr/>
        </p:nvSpPr>
        <p:spPr>
          <a:xfrm>
            <a:off x="838200" y="4800600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6" name="Line 96"/>
          <p:cNvSpPr/>
          <p:nvPr/>
        </p:nvSpPr>
        <p:spPr>
          <a:xfrm>
            <a:off x="2819400" y="5029200"/>
            <a:ext cx="0" cy="5334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897" name="Line 97"/>
          <p:cNvSpPr/>
          <p:nvPr/>
        </p:nvSpPr>
        <p:spPr>
          <a:xfrm>
            <a:off x="2057400" y="4419600"/>
            <a:ext cx="609600" cy="3048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898" name="Line 98"/>
          <p:cNvSpPr/>
          <p:nvPr/>
        </p:nvSpPr>
        <p:spPr>
          <a:xfrm flipV="1">
            <a:off x="1219200" y="4419600"/>
            <a:ext cx="533400" cy="4572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899" name="Line 99"/>
          <p:cNvSpPr/>
          <p:nvPr/>
        </p:nvSpPr>
        <p:spPr>
          <a:xfrm flipV="1">
            <a:off x="2286000" y="5943600"/>
            <a:ext cx="457200" cy="3810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900" name="Line 100"/>
          <p:cNvSpPr/>
          <p:nvPr/>
        </p:nvSpPr>
        <p:spPr>
          <a:xfrm flipV="1">
            <a:off x="1219200" y="4953000"/>
            <a:ext cx="1371600" cy="15875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901" name="Line 101"/>
          <p:cNvSpPr/>
          <p:nvPr/>
        </p:nvSpPr>
        <p:spPr>
          <a:xfrm flipV="1">
            <a:off x="1447800" y="4495800"/>
            <a:ext cx="381000" cy="1219200"/>
          </a:xfrm>
          <a:prstGeom prst="line">
            <a:avLst/>
          </a:prstGeom>
          <a:ln w="28575" cap="sq" cmpd="sng">
            <a:solidFill>
              <a:srgbClr val="FF00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902" name="Line 102"/>
          <p:cNvSpPr/>
          <p:nvPr/>
        </p:nvSpPr>
        <p:spPr>
          <a:xfrm flipV="1">
            <a:off x="1524000" y="4953000"/>
            <a:ext cx="1143000" cy="838200"/>
          </a:xfrm>
          <a:prstGeom prst="line">
            <a:avLst/>
          </a:prstGeom>
          <a:ln w="28575" cap="sq" cmpd="sng">
            <a:solidFill>
              <a:srgbClr val="FF00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903" name="Line 103"/>
          <p:cNvSpPr/>
          <p:nvPr/>
        </p:nvSpPr>
        <p:spPr>
          <a:xfrm>
            <a:off x="1066800" y="5181600"/>
            <a:ext cx="152400" cy="533400"/>
          </a:xfrm>
          <a:prstGeom prst="line">
            <a:avLst/>
          </a:prstGeom>
          <a:ln w="28575" cap="sq" cmpd="sng">
            <a:solidFill>
              <a:srgbClr val="FF00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904" name="Line 104"/>
          <p:cNvSpPr/>
          <p:nvPr/>
        </p:nvSpPr>
        <p:spPr>
          <a:xfrm>
            <a:off x="1905000" y="4495800"/>
            <a:ext cx="228600" cy="1752600"/>
          </a:xfrm>
          <a:prstGeom prst="line">
            <a:avLst/>
          </a:prstGeom>
          <a:ln w="28575" cap="sq" cmpd="sng">
            <a:solidFill>
              <a:srgbClr val="FF00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905" name="Line 105"/>
          <p:cNvSpPr/>
          <p:nvPr/>
        </p:nvSpPr>
        <p:spPr>
          <a:xfrm flipV="1">
            <a:off x="1524000" y="5791200"/>
            <a:ext cx="1066800" cy="76200"/>
          </a:xfrm>
          <a:prstGeom prst="line">
            <a:avLst/>
          </a:prstGeom>
          <a:ln w="28575" cap="sq" cmpd="sng">
            <a:solidFill>
              <a:srgbClr val="FF00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6882" name="Group 108"/>
          <p:cNvGrpSpPr/>
          <p:nvPr/>
        </p:nvGrpSpPr>
        <p:grpSpPr bwMode="auto">
          <a:xfrm>
            <a:off x="3902075" y="5029200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37026" name="Rectangle 109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027" name="Rectangle 110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883" name="Group 111"/>
          <p:cNvGrpSpPr/>
          <p:nvPr/>
        </p:nvGrpSpPr>
        <p:grpSpPr bwMode="auto">
          <a:xfrm>
            <a:off x="3902075" y="6172200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37024" name="Rectangle 112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025" name="Rectangle 113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884" name="Group 114"/>
          <p:cNvGrpSpPr/>
          <p:nvPr/>
        </p:nvGrpSpPr>
        <p:grpSpPr bwMode="auto">
          <a:xfrm>
            <a:off x="3902075" y="5791200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37022" name="Rectangle 115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023" name="Rectangle 116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885" name="Group 117"/>
          <p:cNvGrpSpPr/>
          <p:nvPr/>
        </p:nvGrpSpPr>
        <p:grpSpPr bwMode="auto">
          <a:xfrm>
            <a:off x="3902075" y="5410200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37020" name="Rectangle 118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021" name="Rectangle 119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886" name="Group 120"/>
          <p:cNvGrpSpPr/>
          <p:nvPr/>
        </p:nvGrpSpPr>
        <p:grpSpPr bwMode="auto">
          <a:xfrm>
            <a:off x="3902075" y="4648200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37018" name="Rectangle 121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019" name="Rectangle 122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887" name="Group 123"/>
          <p:cNvGrpSpPr/>
          <p:nvPr/>
        </p:nvGrpSpPr>
        <p:grpSpPr bwMode="auto">
          <a:xfrm>
            <a:off x="3902075" y="4267200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37016" name="Rectangle 124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017" name="Rectangle 125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7912" name="Text Box 126"/>
          <p:cNvSpPr txBox="1"/>
          <p:nvPr/>
        </p:nvSpPr>
        <p:spPr>
          <a:xfrm>
            <a:off x="3962400" y="4281488"/>
            <a:ext cx="36639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13" name="Text Box 127"/>
          <p:cNvSpPr txBox="1"/>
          <p:nvPr/>
        </p:nvSpPr>
        <p:spPr>
          <a:xfrm>
            <a:off x="3962400" y="4632325"/>
            <a:ext cx="36639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14" name="Text Box 128"/>
          <p:cNvSpPr txBox="1"/>
          <p:nvPr/>
        </p:nvSpPr>
        <p:spPr>
          <a:xfrm>
            <a:off x="3914775" y="5043488"/>
            <a:ext cx="36639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zh-CN" sz="2000" b="1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15" name="Text Box 129"/>
          <p:cNvSpPr txBox="1"/>
          <p:nvPr/>
        </p:nvSpPr>
        <p:spPr>
          <a:xfrm>
            <a:off x="3962400" y="5394325"/>
            <a:ext cx="36639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16" name="Text Box 130"/>
          <p:cNvSpPr txBox="1"/>
          <p:nvPr/>
        </p:nvSpPr>
        <p:spPr>
          <a:xfrm>
            <a:off x="3978275" y="5775325"/>
            <a:ext cx="35242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17" name="Text Box 131"/>
          <p:cNvSpPr txBox="1"/>
          <p:nvPr/>
        </p:nvSpPr>
        <p:spPr>
          <a:xfrm>
            <a:off x="3962400" y="6186488"/>
            <a:ext cx="33782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6894" name="Group 132"/>
          <p:cNvGrpSpPr/>
          <p:nvPr/>
        </p:nvGrpSpPr>
        <p:grpSpPr bwMode="auto">
          <a:xfrm>
            <a:off x="4892675" y="4343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7014" name="Rectangle 133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015" name="Rectangle 134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895" name="Group 135"/>
          <p:cNvGrpSpPr/>
          <p:nvPr/>
        </p:nvGrpSpPr>
        <p:grpSpPr bwMode="auto">
          <a:xfrm>
            <a:off x="5883275" y="4343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7012" name="Rectangle 136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013" name="Rectangle 137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896" name="Group 138"/>
          <p:cNvGrpSpPr/>
          <p:nvPr/>
        </p:nvGrpSpPr>
        <p:grpSpPr bwMode="auto">
          <a:xfrm>
            <a:off x="6873875" y="4343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7010" name="Rectangle 139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011" name="Rectangle 140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897" name="Group 141"/>
          <p:cNvGrpSpPr/>
          <p:nvPr/>
        </p:nvGrpSpPr>
        <p:grpSpPr bwMode="auto">
          <a:xfrm>
            <a:off x="4892675" y="5867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7008" name="Rectangle 142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009" name="Rectangle 143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898" name="Group 144"/>
          <p:cNvGrpSpPr/>
          <p:nvPr/>
        </p:nvGrpSpPr>
        <p:grpSpPr bwMode="auto">
          <a:xfrm>
            <a:off x="5883275" y="6248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7006" name="Rectangle 145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007" name="Rectangle 146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899" name="Group 147"/>
          <p:cNvGrpSpPr/>
          <p:nvPr/>
        </p:nvGrpSpPr>
        <p:grpSpPr bwMode="auto">
          <a:xfrm>
            <a:off x="4892675" y="6248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7004" name="Rectangle 148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005" name="Rectangle 149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900" name="Group 150"/>
          <p:cNvGrpSpPr/>
          <p:nvPr/>
        </p:nvGrpSpPr>
        <p:grpSpPr bwMode="auto">
          <a:xfrm>
            <a:off x="7864475" y="4343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7002" name="Rectangle 151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003" name="Rectangle 152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901" name="Group 153"/>
          <p:cNvGrpSpPr/>
          <p:nvPr/>
        </p:nvGrpSpPr>
        <p:grpSpPr bwMode="auto">
          <a:xfrm>
            <a:off x="4892675" y="5486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7000" name="Rectangle 154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001" name="Rectangle 155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902" name="Group 156"/>
          <p:cNvGrpSpPr/>
          <p:nvPr/>
        </p:nvGrpSpPr>
        <p:grpSpPr bwMode="auto">
          <a:xfrm>
            <a:off x="6873875" y="5867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6998" name="Rectangle 157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999" name="Rectangle 158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903" name="Group 159"/>
          <p:cNvGrpSpPr/>
          <p:nvPr/>
        </p:nvGrpSpPr>
        <p:grpSpPr bwMode="auto">
          <a:xfrm>
            <a:off x="5883275" y="5867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6996" name="Rectangle 160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997" name="Rectangle 161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904" name="Group 162"/>
          <p:cNvGrpSpPr/>
          <p:nvPr/>
        </p:nvGrpSpPr>
        <p:grpSpPr bwMode="auto">
          <a:xfrm>
            <a:off x="7864475" y="5486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6994" name="Rectangle 163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995" name="Rectangle 164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905" name="Group 165"/>
          <p:cNvGrpSpPr/>
          <p:nvPr/>
        </p:nvGrpSpPr>
        <p:grpSpPr bwMode="auto">
          <a:xfrm>
            <a:off x="6873875" y="5486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6992" name="Rectangle 166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993" name="Rectangle 167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906" name="Group 168"/>
          <p:cNvGrpSpPr/>
          <p:nvPr/>
        </p:nvGrpSpPr>
        <p:grpSpPr bwMode="auto">
          <a:xfrm>
            <a:off x="5883275" y="5486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6990" name="Rectangle 169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991" name="Rectangle 170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907" name="Group 171"/>
          <p:cNvGrpSpPr/>
          <p:nvPr/>
        </p:nvGrpSpPr>
        <p:grpSpPr bwMode="auto">
          <a:xfrm>
            <a:off x="4892675" y="5105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6988" name="Rectangle 172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rgbClr val="CC33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989" name="Rectangle 173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rgbClr val="CC33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908" name="Group 174"/>
          <p:cNvGrpSpPr/>
          <p:nvPr/>
        </p:nvGrpSpPr>
        <p:grpSpPr bwMode="auto">
          <a:xfrm>
            <a:off x="4892675" y="4724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6986" name="Rectangle 175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987" name="Rectangle 176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909" name="Group 177"/>
          <p:cNvGrpSpPr/>
          <p:nvPr/>
        </p:nvGrpSpPr>
        <p:grpSpPr bwMode="auto">
          <a:xfrm>
            <a:off x="7864475" y="5105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6984" name="Rectangle 178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rgbClr val="CC33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985" name="Rectangle 179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rgbClr val="CC33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910" name="Group 180"/>
          <p:cNvGrpSpPr/>
          <p:nvPr/>
        </p:nvGrpSpPr>
        <p:grpSpPr bwMode="auto">
          <a:xfrm>
            <a:off x="6873875" y="5105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6982" name="Rectangle 181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rgbClr val="CC33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983" name="Rectangle 182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rgbClr val="CC33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911" name="Group 183"/>
          <p:cNvGrpSpPr/>
          <p:nvPr/>
        </p:nvGrpSpPr>
        <p:grpSpPr bwMode="auto">
          <a:xfrm>
            <a:off x="5883275" y="5105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6980" name="Rectangle 184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rgbClr val="CC33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981" name="Rectangle 185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rgbClr val="CC33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912" name="Group 186"/>
          <p:cNvGrpSpPr/>
          <p:nvPr/>
        </p:nvGrpSpPr>
        <p:grpSpPr bwMode="auto">
          <a:xfrm>
            <a:off x="5883275" y="4724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6978" name="Rectangle 187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979" name="Rectangle 188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913" name="Group 189"/>
          <p:cNvGrpSpPr/>
          <p:nvPr/>
        </p:nvGrpSpPr>
        <p:grpSpPr bwMode="auto">
          <a:xfrm>
            <a:off x="6873875" y="47244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6976" name="Rectangle 190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977" name="Rectangle 191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7938" name="Line 192"/>
          <p:cNvSpPr/>
          <p:nvPr/>
        </p:nvSpPr>
        <p:spPr>
          <a:xfrm flipV="1">
            <a:off x="4511675" y="5638800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39" name="Line 193"/>
          <p:cNvSpPr/>
          <p:nvPr/>
        </p:nvSpPr>
        <p:spPr>
          <a:xfrm flipV="1">
            <a:off x="6492875" y="4800600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40" name="Line 194"/>
          <p:cNvSpPr/>
          <p:nvPr/>
        </p:nvSpPr>
        <p:spPr>
          <a:xfrm flipV="1">
            <a:off x="5502275" y="4800600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41" name="Line 195"/>
          <p:cNvSpPr/>
          <p:nvPr/>
        </p:nvSpPr>
        <p:spPr>
          <a:xfrm flipV="1">
            <a:off x="4511675" y="4800600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42" name="Line 196"/>
          <p:cNvSpPr/>
          <p:nvPr/>
        </p:nvSpPr>
        <p:spPr>
          <a:xfrm flipV="1">
            <a:off x="7483475" y="4471988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43" name="Line 197"/>
          <p:cNvSpPr/>
          <p:nvPr/>
        </p:nvSpPr>
        <p:spPr>
          <a:xfrm flipV="1">
            <a:off x="6492875" y="4495800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44" name="Line 198"/>
          <p:cNvSpPr/>
          <p:nvPr/>
        </p:nvSpPr>
        <p:spPr>
          <a:xfrm flipV="1">
            <a:off x="5502275" y="4495800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45" name="Line 199"/>
          <p:cNvSpPr/>
          <p:nvPr/>
        </p:nvSpPr>
        <p:spPr>
          <a:xfrm flipV="1">
            <a:off x="4511675" y="4495800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46" name="Line 200"/>
          <p:cNvSpPr/>
          <p:nvPr/>
        </p:nvSpPr>
        <p:spPr>
          <a:xfrm flipV="1">
            <a:off x="5502275" y="6019800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47" name="Line 201"/>
          <p:cNvSpPr/>
          <p:nvPr/>
        </p:nvSpPr>
        <p:spPr>
          <a:xfrm flipV="1">
            <a:off x="4511675" y="6019800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48" name="Line 202"/>
          <p:cNvSpPr/>
          <p:nvPr/>
        </p:nvSpPr>
        <p:spPr>
          <a:xfrm flipV="1">
            <a:off x="7483475" y="5638800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49" name="Line 203"/>
          <p:cNvSpPr/>
          <p:nvPr/>
        </p:nvSpPr>
        <p:spPr>
          <a:xfrm flipV="1">
            <a:off x="6492875" y="5638800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50" name="Line 204"/>
          <p:cNvSpPr/>
          <p:nvPr/>
        </p:nvSpPr>
        <p:spPr>
          <a:xfrm flipV="1">
            <a:off x="5502275" y="5638800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51" name="Line 205"/>
          <p:cNvSpPr/>
          <p:nvPr/>
        </p:nvSpPr>
        <p:spPr>
          <a:xfrm flipV="1">
            <a:off x="7483475" y="5232400"/>
            <a:ext cx="381000" cy="0"/>
          </a:xfrm>
          <a:prstGeom prst="line">
            <a:avLst/>
          </a:prstGeom>
          <a:ln w="19050" cap="sq" cmpd="sng">
            <a:solidFill>
              <a:srgbClr val="CC3300"/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52" name="Line 206"/>
          <p:cNvSpPr/>
          <p:nvPr/>
        </p:nvSpPr>
        <p:spPr>
          <a:xfrm flipV="1">
            <a:off x="6492875" y="5232400"/>
            <a:ext cx="381000" cy="0"/>
          </a:xfrm>
          <a:prstGeom prst="line">
            <a:avLst/>
          </a:prstGeom>
          <a:ln w="19050" cap="sq" cmpd="sng">
            <a:solidFill>
              <a:srgbClr val="CC3300"/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53" name="Line 207"/>
          <p:cNvSpPr/>
          <p:nvPr/>
        </p:nvSpPr>
        <p:spPr>
          <a:xfrm flipV="1">
            <a:off x="5502275" y="5232400"/>
            <a:ext cx="381000" cy="0"/>
          </a:xfrm>
          <a:prstGeom prst="line">
            <a:avLst/>
          </a:prstGeom>
          <a:ln w="19050" cap="sq" cmpd="sng">
            <a:solidFill>
              <a:srgbClr val="CC3300"/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54" name="Line 208"/>
          <p:cNvSpPr/>
          <p:nvPr/>
        </p:nvSpPr>
        <p:spPr>
          <a:xfrm flipV="1">
            <a:off x="4511675" y="5232400"/>
            <a:ext cx="381000" cy="0"/>
          </a:xfrm>
          <a:prstGeom prst="line">
            <a:avLst/>
          </a:prstGeom>
          <a:ln w="19050" cap="sq" cmpd="sng">
            <a:solidFill>
              <a:srgbClr val="CC3300"/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55" name="Line 209"/>
          <p:cNvSpPr/>
          <p:nvPr/>
        </p:nvSpPr>
        <p:spPr>
          <a:xfrm flipV="1">
            <a:off x="5502275" y="6400800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56" name="Line 210"/>
          <p:cNvSpPr/>
          <p:nvPr/>
        </p:nvSpPr>
        <p:spPr>
          <a:xfrm flipV="1">
            <a:off x="4511675" y="6400800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57" name="Line 211"/>
          <p:cNvSpPr/>
          <p:nvPr/>
        </p:nvSpPr>
        <p:spPr>
          <a:xfrm flipV="1">
            <a:off x="6492875" y="6019800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7958" name="Text Box 212"/>
          <p:cNvSpPr txBox="1"/>
          <p:nvPr/>
        </p:nvSpPr>
        <p:spPr>
          <a:xfrm>
            <a:off x="7385050" y="4648200"/>
            <a:ext cx="3606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59" name="Rectangle 213"/>
          <p:cNvSpPr/>
          <p:nvPr/>
        </p:nvSpPr>
        <p:spPr>
          <a:xfrm>
            <a:off x="8324850" y="4267200"/>
            <a:ext cx="3606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60" name="Rectangle 214"/>
          <p:cNvSpPr/>
          <p:nvPr/>
        </p:nvSpPr>
        <p:spPr>
          <a:xfrm>
            <a:off x="8321675" y="5029200"/>
            <a:ext cx="3606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61" name="Rectangle 215"/>
          <p:cNvSpPr/>
          <p:nvPr/>
        </p:nvSpPr>
        <p:spPr>
          <a:xfrm>
            <a:off x="8321675" y="5410200"/>
            <a:ext cx="3606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62" name="Rectangle 216"/>
          <p:cNvSpPr/>
          <p:nvPr/>
        </p:nvSpPr>
        <p:spPr>
          <a:xfrm>
            <a:off x="7350125" y="5791200"/>
            <a:ext cx="3606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63" name="Rectangle 217"/>
          <p:cNvSpPr/>
          <p:nvPr/>
        </p:nvSpPr>
        <p:spPr>
          <a:xfrm>
            <a:off x="6394450" y="6172200"/>
            <a:ext cx="3606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64" name="Text Box 218"/>
          <p:cNvSpPr txBox="1"/>
          <p:nvPr/>
        </p:nvSpPr>
        <p:spPr>
          <a:xfrm>
            <a:off x="3581400" y="4267200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65" name="Text Box 219"/>
          <p:cNvSpPr txBox="1"/>
          <p:nvPr/>
        </p:nvSpPr>
        <p:spPr>
          <a:xfrm>
            <a:off x="3581400" y="4662488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66" name="Text Box 220"/>
          <p:cNvSpPr txBox="1"/>
          <p:nvPr/>
        </p:nvSpPr>
        <p:spPr>
          <a:xfrm>
            <a:off x="3581400" y="5089525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67" name="Text Box 221"/>
          <p:cNvSpPr txBox="1"/>
          <p:nvPr/>
        </p:nvSpPr>
        <p:spPr>
          <a:xfrm>
            <a:off x="3581400" y="5424488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68" name="Text Box 222"/>
          <p:cNvSpPr txBox="1"/>
          <p:nvPr/>
        </p:nvSpPr>
        <p:spPr>
          <a:xfrm>
            <a:off x="3581400" y="5791200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69" name="Text Box 223"/>
          <p:cNvSpPr txBox="1"/>
          <p:nvPr/>
        </p:nvSpPr>
        <p:spPr>
          <a:xfrm>
            <a:off x="3581400" y="6186488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70" name="Text Box 224"/>
          <p:cNvSpPr txBox="1"/>
          <p:nvPr/>
        </p:nvSpPr>
        <p:spPr>
          <a:xfrm>
            <a:off x="5045075" y="427513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71" name="Text Box 225"/>
          <p:cNvSpPr txBox="1"/>
          <p:nvPr/>
        </p:nvSpPr>
        <p:spPr>
          <a:xfrm>
            <a:off x="6019800" y="426720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800" b="1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72" name="Text Box 226"/>
          <p:cNvSpPr txBox="1"/>
          <p:nvPr/>
        </p:nvSpPr>
        <p:spPr>
          <a:xfrm>
            <a:off x="6950075" y="426720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73" name="Text Box 227"/>
          <p:cNvSpPr txBox="1"/>
          <p:nvPr/>
        </p:nvSpPr>
        <p:spPr>
          <a:xfrm>
            <a:off x="7940675" y="430530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74" name="Text Box 228"/>
          <p:cNvSpPr txBox="1"/>
          <p:nvPr/>
        </p:nvSpPr>
        <p:spPr>
          <a:xfrm>
            <a:off x="5051425" y="46624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75" name="Text Box 229"/>
          <p:cNvSpPr txBox="1"/>
          <p:nvPr/>
        </p:nvSpPr>
        <p:spPr>
          <a:xfrm>
            <a:off x="6035675" y="46624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800" b="1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76" name="Text Box 230"/>
          <p:cNvSpPr txBox="1"/>
          <p:nvPr/>
        </p:nvSpPr>
        <p:spPr>
          <a:xfrm>
            <a:off x="6956425" y="46624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77" name="Text Box 231"/>
          <p:cNvSpPr txBox="1"/>
          <p:nvPr/>
        </p:nvSpPr>
        <p:spPr>
          <a:xfrm>
            <a:off x="5029200" y="50180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b="1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78" name="Text Box 232"/>
          <p:cNvSpPr txBox="1"/>
          <p:nvPr/>
        </p:nvSpPr>
        <p:spPr>
          <a:xfrm>
            <a:off x="6019800" y="50180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79" name="Text Box 233"/>
          <p:cNvSpPr txBox="1"/>
          <p:nvPr/>
        </p:nvSpPr>
        <p:spPr>
          <a:xfrm>
            <a:off x="6950075" y="50434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b="1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80" name="Text Box 234"/>
          <p:cNvSpPr txBox="1"/>
          <p:nvPr/>
        </p:nvSpPr>
        <p:spPr>
          <a:xfrm>
            <a:off x="7947025" y="50434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1800" b="1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81" name="Text Box 235"/>
          <p:cNvSpPr txBox="1"/>
          <p:nvPr/>
        </p:nvSpPr>
        <p:spPr>
          <a:xfrm>
            <a:off x="5029200" y="544830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82" name="Text Box 236"/>
          <p:cNvSpPr txBox="1"/>
          <p:nvPr/>
        </p:nvSpPr>
        <p:spPr>
          <a:xfrm>
            <a:off x="6019800" y="544830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83" name="Text Box 237"/>
          <p:cNvSpPr txBox="1"/>
          <p:nvPr/>
        </p:nvSpPr>
        <p:spPr>
          <a:xfrm>
            <a:off x="6950075" y="541020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800" b="1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84" name="Text Box 238"/>
          <p:cNvSpPr txBox="1"/>
          <p:nvPr/>
        </p:nvSpPr>
        <p:spPr>
          <a:xfrm>
            <a:off x="7924800" y="54244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85" name="Text Box 239"/>
          <p:cNvSpPr txBox="1"/>
          <p:nvPr/>
        </p:nvSpPr>
        <p:spPr>
          <a:xfrm>
            <a:off x="5045075" y="58054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800" b="1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86" name="Text Box 240"/>
          <p:cNvSpPr txBox="1"/>
          <p:nvPr/>
        </p:nvSpPr>
        <p:spPr>
          <a:xfrm>
            <a:off x="6019800" y="58054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87" name="Text Box 241"/>
          <p:cNvSpPr txBox="1"/>
          <p:nvPr/>
        </p:nvSpPr>
        <p:spPr>
          <a:xfrm>
            <a:off x="6950075" y="58054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88" name="Text Box 242"/>
          <p:cNvSpPr txBox="1"/>
          <p:nvPr/>
        </p:nvSpPr>
        <p:spPr>
          <a:xfrm>
            <a:off x="5029200" y="615950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89" name="Text Box 243"/>
          <p:cNvSpPr txBox="1"/>
          <p:nvPr/>
        </p:nvSpPr>
        <p:spPr>
          <a:xfrm>
            <a:off x="6035675" y="61864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7990" name="Group 244"/>
          <p:cNvGrpSpPr/>
          <p:nvPr/>
        </p:nvGrpSpPr>
        <p:grpSpPr>
          <a:xfrm>
            <a:off x="304800" y="688975"/>
            <a:ext cx="8534400" cy="1066800"/>
            <a:chOff x="192" y="2160"/>
            <a:chExt cx="5376" cy="672"/>
          </a:xfrm>
        </p:grpSpPr>
        <p:sp>
          <p:nvSpPr>
            <p:cNvPr id="37997" name="AutoShape 245" descr="羊皮纸"/>
            <p:cNvSpPr/>
            <p:nvPr/>
          </p:nvSpPr>
          <p:spPr>
            <a:xfrm>
              <a:off x="192" y="2160"/>
              <a:ext cx="5376" cy="672"/>
            </a:xfrm>
            <a:prstGeom prst="octagon">
              <a:avLst>
                <a:gd name="adj" fmla="val 29287"/>
              </a:avLst>
            </a:prstGeom>
            <a:blipFill rotWithShape="0">
              <a:blip r:embed="rId1"/>
            </a:blipFill>
            <a:ln w="12700" cap="sq" cmpd="sng">
              <a:solidFill>
                <a:schemeClr val="accent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998" name="Text Box 246"/>
            <p:cNvSpPr txBox="1"/>
            <p:nvPr/>
          </p:nvSpPr>
          <p:spPr>
            <a:xfrm>
              <a:off x="384" y="2227"/>
              <a:ext cx="5040" cy="55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例</a:t>
              </a:r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    </a:t>
              </a:r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已知一具有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n</a:t>
              </a:r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个顶点的无向图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G</a:t>
              </a:r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采用邻接表存储方法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,     </a:t>
              </a:r>
              <a:endPara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          </a:t>
              </a:r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写一算法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, </a:t>
              </a:r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删除图中数据信息为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item </a:t>
              </a:r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的那个顶点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.</a:t>
              </a:r>
              <a:endPara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775" name="Group 247"/>
          <p:cNvGrpSpPr/>
          <p:nvPr/>
        </p:nvGrpSpPr>
        <p:grpSpPr bwMode="auto">
          <a:xfrm>
            <a:off x="685800" y="1832670"/>
            <a:ext cx="7772400" cy="2209800"/>
            <a:chOff x="624" y="480"/>
            <a:chExt cx="4896" cy="1392"/>
          </a:xfrm>
          <a:noFill/>
        </p:grpSpPr>
        <p:sp>
          <p:nvSpPr>
            <p:cNvPr id="36972" name="Rectangle 248"/>
            <p:cNvSpPr>
              <a:spLocks noChangeArrowheads="1"/>
            </p:cNvSpPr>
            <p:nvPr/>
          </p:nvSpPr>
          <p:spPr bwMode="auto">
            <a:xfrm>
              <a:off x="624" y="480"/>
              <a:ext cx="4896" cy="1392"/>
            </a:xfrm>
            <a:prstGeom prst="rect">
              <a:avLst/>
            </a:prstGeom>
            <a:grpFill/>
            <a:ln w="12700" cap="sq">
              <a:solidFill>
                <a:srgbClr val="3366FF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973" name="Text Box 249"/>
            <p:cNvSpPr txBox="1">
              <a:spLocks noChangeArrowheads="1"/>
            </p:cNvSpPr>
            <p:nvPr/>
          </p:nvSpPr>
          <p:spPr bwMode="auto">
            <a:xfrm>
              <a:off x="870" y="596"/>
              <a:ext cx="1363" cy="265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2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需要做的工作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: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2778" name="Rectangle 250"/>
          <p:cNvSpPr>
            <a:spLocks noChangeArrowheads="1"/>
          </p:cNvSpPr>
          <p:nvPr/>
        </p:nvSpPr>
        <p:spPr bwMode="auto">
          <a:xfrm>
            <a:off x="1122363" y="2314575"/>
            <a:ext cx="4876800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(1).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寻找满足条件的那个顶点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2779" name="Text Box 251"/>
          <p:cNvSpPr txBox="1">
            <a:spLocks noChangeArrowheads="1"/>
          </p:cNvSpPr>
          <p:nvPr/>
        </p:nvSpPr>
        <p:spPr bwMode="auto">
          <a:xfrm>
            <a:off x="1539875" y="2670175"/>
            <a:ext cx="4935538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(2).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从头结点数组中删除该顶点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;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2780" name="Text Box 252"/>
          <p:cNvSpPr txBox="1">
            <a:spLocks noChangeArrowheads="1"/>
          </p:cNvSpPr>
          <p:nvPr/>
        </p:nvSpPr>
        <p:spPr bwMode="auto">
          <a:xfrm>
            <a:off x="1539875" y="3051175"/>
            <a:ext cx="4478338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(3).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删除与该顶点相关的边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;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2781" name="Text Box 253"/>
          <p:cNvSpPr txBox="1">
            <a:spLocks noChangeArrowheads="1"/>
          </p:cNvSpPr>
          <p:nvPr/>
        </p:nvSpPr>
        <p:spPr bwMode="auto">
          <a:xfrm>
            <a:off x="1539875" y="3432175"/>
            <a:ext cx="6324600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(4).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修改有关的边结点的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adjvex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域的内容。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7996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7.2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图的存储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78" grpId="0"/>
      <p:bldP spid="22779" grpId="0"/>
      <p:bldP spid="22780" grpId="0"/>
      <p:bldP spid="2278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2" name="AutoShape 500"/>
          <p:cNvSpPr/>
          <p:nvPr/>
        </p:nvSpPr>
        <p:spPr>
          <a:xfrm>
            <a:off x="1371600" y="3429000"/>
            <a:ext cx="609600" cy="304800"/>
          </a:xfrm>
          <a:prstGeom prst="down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007676"/>
              </a:gs>
              <a:gs pos="50000">
                <a:srgbClr val="00FFFF"/>
              </a:gs>
              <a:gs pos="100000">
                <a:srgbClr val="007676"/>
              </a:gs>
            </a:gsLst>
            <a:lin ang="0" scaled="1"/>
            <a:tileRect/>
          </a:gra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39" name="AutoShape 501"/>
          <p:cNvSpPr/>
          <p:nvPr/>
        </p:nvSpPr>
        <p:spPr>
          <a:xfrm>
            <a:off x="2971800" y="1828800"/>
            <a:ext cx="533400" cy="381000"/>
          </a:xfrm>
          <a:prstGeom prst="leftRightArrow">
            <a:avLst>
              <a:gd name="adj1" fmla="val 50000"/>
              <a:gd name="adj2" fmla="val 28000"/>
            </a:avLst>
          </a:prstGeom>
          <a:gradFill rotWithShape="0">
            <a:gsLst>
              <a:gs pos="0">
                <a:srgbClr val="007676"/>
              </a:gs>
              <a:gs pos="50000">
                <a:srgbClr val="00FFFF"/>
              </a:gs>
              <a:gs pos="100000">
                <a:srgbClr val="007676"/>
              </a:gs>
            </a:gsLst>
            <a:lin ang="5400000" scaled="1"/>
            <a:tileRect/>
          </a:gra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54" name="AutoShape 502"/>
          <p:cNvSpPr/>
          <p:nvPr/>
        </p:nvSpPr>
        <p:spPr>
          <a:xfrm>
            <a:off x="2971800" y="5105400"/>
            <a:ext cx="533400" cy="381000"/>
          </a:xfrm>
          <a:prstGeom prst="leftRightArrow">
            <a:avLst>
              <a:gd name="adj1" fmla="val 50000"/>
              <a:gd name="adj2" fmla="val 28000"/>
            </a:avLst>
          </a:prstGeom>
          <a:gradFill rotWithShape="0">
            <a:gsLst>
              <a:gs pos="0">
                <a:srgbClr val="007676"/>
              </a:gs>
              <a:gs pos="50000">
                <a:srgbClr val="00FFFF"/>
              </a:gs>
              <a:gs pos="100000">
                <a:srgbClr val="007676"/>
              </a:gs>
            </a:gsLst>
            <a:lin ang="5400000" scaled="1"/>
            <a:tileRect/>
          </a:gra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1" name="Oval 90"/>
          <p:cNvSpPr/>
          <p:nvPr/>
        </p:nvSpPr>
        <p:spPr>
          <a:xfrm>
            <a:off x="1614488" y="679450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2" name="Oval 91"/>
          <p:cNvSpPr/>
          <p:nvPr/>
        </p:nvSpPr>
        <p:spPr>
          <a:xfrm>
            <a:off x="2481263" y="1201738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3" name="Oval 92"/>
          <p:cNvSpPr/>
          <p:nvPr/>
        </p:nvSpPr>
        <p:spPr>
          <a:xfrm>
            <a:off x="2481263" y="2116138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4" name="Oval 93"/>
          <p:cNvSpPr/>
          <p:nvPr/>
        </p:nvSpPr>
        <p:spPr>
          <a:xfrm>
            <a:off x="1795463" y="2801938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5" name="Oval 94"/>
          <p:cNvSpPr/>
          <p:nvPr/>
        </p:nvSpPr>
        <p:spPr>
          <a:xfrm>
            <a:off x="1033463" y="2268538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6" name="Oval 95"/>
          <p:cNvSpPr/>
          <p:nvPr/>
        </p:nvSpPr>
        <p:spPr>
          <a:xfrm>
            <a:off x="728663" y="1354138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7" name="Line 96"/>
          <p:cNvSpPr/>
          <p:nvPr/>
        </p:nvSpPr>
        <p:spPr>
          <a:xfrm>
            <a:off x="2709863" y="1582738"/>
            <a:ext cx="0" cy="5334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948" name="Line 97"/>
          <p:cNvSpPr/>
          <p:nvPr/>
        </p:nvSpPr>
        <p:spPr>
          <a:xfrm>
            <a:off x="1947863" y="973138"/>
            <a:ext cx="609600" cy="3048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949" name="Line 98"/>
          <p:cNvSpPr/>
          <p:nvPr/>
        </p:nvSpPr>
        <p:spPr>
          <a:xfrm flipV="1">
            <a:off x="1109663" y="973138"/>
            <a:ext cx="533400" cy="4572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950" name="Line 99"/>
          <p:cNvSpPr/>
          <p:nvPr/>
        </p:nvSpPr>
        <p:spPr>
          <a:xfrm flipV="1">
            <a:off x="2176463" y="2497138"/>
            <a:ext cx="457200" cy="3810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951" name="Line 100"/>
          <p:cNvSpPr/>
          <p:nvPr/>
        </p:nvSpPr>
        <p:spPr>
          <a:xfrm flipV="1">
            <a:off x="1109663" y="1506538"/>
            <a:ext cx="1371600" cy="15875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952" name="Line 101"/>
          <p:cNvSpPr/>
          <p:nvPr/>
        </p:nvSpPr>
        <p:spPr>
          <a:xfrm flipV="1">
            <a:off x="1338263" y="1049338"/>
            <a:ext cx="381000" cy="1219200"/>
          </a:xfrm>
          <a:prstGeom prst="line">
            <a:avLst/>
          </a:prstGeom>
          <a:ln w="28575" cap="sq" cmpd="sng">
            <a:solidFill>
              <a:srgbClr val="FF00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953" name="Line 102"/>
          <p:cNvSpPr/>
          <p:nvPr/>
        </p:nvSpPr>
        <p:spPr>
          <a:xfrm flipV="1">
            <a:off x="1414463" y="1506538"/>
            <a:ext cx="1143000" cy="838200"/>
          </a:xfrm>
          <a:prstGeom prst="line">
            <a:avLst/>
          </a:prstGeom>
          <a:ln w="28575" cap="sq" cmpd="sng">
            <a:solidFill>
              <a:srgbClr val="FF00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954" name="Line 103"/>
          <p:cNvSpPr/>
          <p:nvPr/>
        </p:nvSpPr>
        <p:spPr>
          <a:xfrm>
            <a:off x="957263" y="1735138"/>
            <a:ext cx="152400" cy="533400"/>
          </a:xfrm>
          <a:prstGeom prst="line">
            <a:avLst/>
          </a:prstGeom>
          <a:ln w="28575" cap="sq" cmpd="sng">
            <a:solidFill>
              <a:srgbClr val="FF00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955" name="Line 104"/>
          <p:cNvSpPr/>
          <p:nvPr/>
        </p:nvSpPr>
        <p:spPr>
          <a:xfrm>
            <a:off x="1795463" y="1049338"/>
            <a:ext cx="228600" cy="1752600"/>
          </a:xfrm>
          <a:prstGeom prst="line">
            <a:avLst/>
          </a:prstGeom>
          <a:ln w="28575" cap="sq" cmpd="sng">
            <a:solidFill>
              <a:srgbClr val="FF00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956" name="Line 105"/>
          <p:cNvSpPr/>
          <p:nvPr/>
        </p:nvSpPr>
        <p:spPr>
          <a:xfrm flipV="1">
            <a:off x="1414463" y="2344738"/>
            <a:ext cx="1066800" cy="76200"/>
          </a:xfrm>
          <a:prstGeom prst="line">
            <a:avLst/>
          </a:prstGeom>
          <a:ln w="28575" cap="sq" cmpd="sng">
            <a:solidFill>
              <a:srgbClr val="FF00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85" name="Group 108"/>
          <p:cNvGrpSpPr/>
          <p:nvPr/>
        </p:nvGrpSpPr>
        <p:grpSpPr bwMode="auto">
          <a:xfrm>
            <a:off x="3792538" y="1582151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286" name="Rectangle 109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7" name="Rectangle 110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8" name="Group 111"/>
          <p:cNvGrpSpPr/>
          <p:nvPr/>
        </p:nvGrpSpPr>
        <p:grpSpPr bwMode="auto">
          <a:xfrm>
            <a:off x="3792538" y="2725151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289" name="Rectangle 112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0" name="Rectangle 113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1" name="Group 114"/>
          <p:cNvGrpSpPr/>
          <p:nvPr/>
        </p:nvGrpSpPr>
        <p:grpSpPr bwMode="auto">
          <a:xfrm>
            <a:off x="3792538" y="2344151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292" name="Rectangle 115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3" name="Rectangle 116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4" name="Group 117"/>
          <p:cNvGrpSpPr/>
          <p:nvPr/>
        </p:nvGrpSpPr>
        <p:grpSpPr bwMode="auto">
          <a:xfrm>
            <a:off x="3792538" y="1963151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295" name="Rectangle 118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6" name="Rectangle 119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7" name="Group 120"/>
          <p:cNvGrpSpPr/>
          <p:nvPr/>
        </p:nvGrpSpPr>
        <p:grpSpPr bwMode="auto">
          <a:xfrm>
            <a:off x="3792538" y="1201151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298" name="Rectangle 121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9" name="Rectangle 122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0" name="Group 123"/>
          <p:cNvGrpSpPr/>
          <p:nvPr/>
        </p:nvGrpSpPr>
        <p:grpSpPr bwMode="auto">
          <a:xfrm>
            <a:off x="3792538" y="820151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301" name="Rectangle 124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2" name="Rectangle 125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9963" name="Text Box 126"/>
          <p:cNvSpPr txBox="1"/>
          <p:nvPr/>
        </p:nvSpPr>
        <p:spPr>
          <a:xfrm>
            <a:off x="3852863" y="835025"/>
            <a:ext cx="36639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64" name="Text Box 127"/>
          <p:cNvSpPr txBox="1"/>
          <p:nvPr/>
        </p:nvSpPr>
        <p:spPr>
          <a:xfrm>
            <a:off x="3852863" y="1185863"/>
            <a:ext cx="36639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65" name="Text Box 128"/>
          <p:cNvSpPr txBox="1"/>
          <p:nvPr/>
        </p:nvSpPr>
        <p:spPr>
          <a:xfrm>
            <a:off x="3805238" y="1597025"/>
            <a:ext cx="36639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zh-CN" sz="2000" b="1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66" name="Text Box 129"/>
          <p:cNvSpPr txBox="1"/>
          <p:nvPr/>
        </p:nvSpPr>
        <p:spPr>
          <a:xfrm>
            <a:off x="3852863" y="1947863"/>
            <a:ext cx="36639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67" name="Text Box 130"/>
          <p:cNvSpPr txBox="1"/>
          <p:nvPr/>
        </p:nvSpPr>
        <p:spPr>
          <a:xfrm>
            <a:off x="3868738" y="2328863"/>
            <a:ext cx="35242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68" name="Text Box 131"/>
          <p:cNvSpPr txBox="1"/>
          <p:nvPr/>
        </p:nvSpPr>
        <p:spPr>
          <a:xfrm>
            <a:off x="3852863" y="2740025"/>
            <a:ext cx="33782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9" name="Group 132"/>
          <p:cNvGrpSpPr/>
          <p:nvPr/>
        </p:nvGrpSpPr>
        <p:grpSpPr bwMode="auto">
          <a:xfrm>
            <a:off x="4783138" y="896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10" name="Rectangle 133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1" name="Rectangle 134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2" name="Group 135"/>
          <p:cNvGrpSpPr/>
          <p:nvPr/>
        </p:nvGrpSpPr>
        <p:grpSpPr bwMode="auto">
          <a:xfrm>
            <a:off x="5773738" y="896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13" name="Rectangle 136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4" name="Rectangle 137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5" name="Group 138"/>
          <p:cNvGrpSpPr/>
          <p:nvPr/>
        </p:nvGrpSpPr>
        <p:grpSpPr bwMode="auto">
          <a:xfrm>
            <a:off x="6764338" y="896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16" name="Rectangle 139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7" name="Rectangle 140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8" name="Group 141"/>
          <p:cNvGrpSpPr/>
          <p:nvPr/>
        </p:nvGrpSpPr>
        <p:grpSpPr bwMode="auto">
          <a:xfrm>
            <a:off x="4783138" y="2420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19" name="Rectangle 142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0" name="Rectangle 143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1" name="Group 144"/>
          <p:cNvGrpSpPr/>
          <p:nvPr/>
        </p:nvGrpSpPr>
        <p:grpSpPr bwMode="auto">
          <a:xfrm>
            <a:off x="5773738" y="2801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22" name="Rectangle 145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3" name="Rectangle 146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4" name="Group 147"/>
          <p:cNvGrpSpPr/>
          <p:nvPr/>
        </p:nvGrpSpPr>
        <p:grpSpPr bwMode="auto">
          <a:xfrm>
            <a:off x="4783138" y="2801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25" name="Rectangle 148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6" name="Rectangle 149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7" name="Group 150"/>
          <p:cNvGrpSpPr/>
          <p:nvPr/>
        </p:nvGrpSpPr>
        <p:grpSpPr bwMode="auto">
          <a:xfrm>
            <a:off x="7754938" y="896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28" name="Rectangle 151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9" name="Rectangle 152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0" name="Group 153"/>
          <p:cNvGrpSpPr/>
          <p:nvPr/>
        </p:nvGrpSpPr>
        <p:grpSpPr bwMode="auto">
          <a:xfrm>
            <a:off x="4783138" y="2039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31" name="Rectangle 154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2" name="Rectangle 155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3" name="Group 156"/>
          <p:cNvGrpSpPr/>
          <p:nvPr/>
        </p:nvGrpSpPr>
        <p:grpSpPr bwMode="auto">
          <a:xfrm>
            <a:off x="6764338" y="2420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34" name="Rectangle 157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5" name="Rectangle 158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6" name="Group 159"/>
          <p:cNvGrpSpPr/>
          <p:nvPr/>
        </p:nvGrpSpPr>
        <p:grpSpPr bwMode="auto">
          <a:xfrm>
            <a:off x="5773738" y="2420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37" name="Rectangle 160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8" name="Rectangle 161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9" name="Group 162"/>
          <p:cNvGrpSpPr/>
          <p:nvPr/>
        </p:nvGrpSpPr>
        <p:grpSpPr bwMode="auto">
          <a:xfrm>
            <a:off x="7754938" y="2039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40" name="Rectangle 163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1" name="Rectangle 164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2" name="Group 165"/>
          <p:cNvGrpSpPr/>
          <p:nvPr/>
        </p:nvGrpSpPr>
        <p:grpSpPr bwMode="auto">
          <a:xfrm>
            <a:off x="6764338" y="2039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43" name="Rectangle 166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4" name="Rectangle 167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5" name="Group 168"/>
          <p:cNvGrpSpPr/>
          <p:nvPr/>
        </p:nvGrpSpPr>
        <p:grpSpPr bwMode="auto">
          <a:xfrm>
            <a:off x="5773738" y="2039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46" name="Rectangle 169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7" name="Rectangle 170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8" name="Group 171"/>
          <p:cNvGrpSpPr/>
          <p:nvPr/>
        </p:nvGrpSpPr>
        <p:grpSpPr bwMode="auto">
          <a:xfrm>
            <a:off x="4783138" y="1658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49" name="Rectangle 172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rgbClr val="CC33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0" name="Rectangle 173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rgbClr val="CC33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1" name="Group 174"/>
          <p:cNvGrpSpPr/>
          <p:nvPr/>
        </p:nvGrpSpPr>
        <p:grpSpPr bwMode="auto">
          <a:xfrm>
            <a:off x="4783138" y="1277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52" name="Rectangle 175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3" name="Rectangle 176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4" name="Group 177"/>
          <p:cNvGrpSpPr/>
          <p:nvPr/>
        </p:nvGrpSpPr>
        <p:grpSpPr bwMode="auto">
          <a:xfrm>
            <a:off x="7754938" y="1658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55" name="Rectangle 178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rgbClr val="CC33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6" name="Rectangle 179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rgbClr val="CC33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7" name="Group 180"/>
          <p:cNvGrpSpPr/>
          <p:nvPr/>
        </p:nvGrpSpPr>
        <p:grpSpPr bwMode="auto">
          <a:xfrm>
            <a:off x="6764338" y="1658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58" name="Rectangle 181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rgbClr val="CC33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9" name="Rectangle 182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rgbClr val="CC33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0" name="Group 183"/>
          <p:cNvGrpSpPr/>
          <p:nvPr/>
        </p:nvGrpSpPr>
        <p:grpSpPr bwMode="auto">
          <a:xfrm>
            <a:off x="5773738" y="1658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61" name="Rectangle 184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rgbClr val="CC33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2" name="Rectangle 185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rgbClr val="CC33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3" name="Group 186"/>
          <p:cNvGrpSpPr/>
          <p:nvPr/>
        </p:nvGrpSpPr>
        <p:grpSpPr bwMode="auto">
          <a:xfrm>
            <a:off x="5773738" y="1277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64" name="Rectangle 187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5" name="Rectangle 188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6" name="Group 189"/>
          <p:cNvGrpSpPr/>
          <p:nvPr/>
        </p:nvGrpSpPr>
        <p:grpSpPr bwMode="auto">
          <a:xfrm>
            <a:off x="6764338" y="1277351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67" name="Rectangle 190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" name="Rectangle 191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9989" name="Line 192"/>
          <p:cNvSpPr/>
          <p:nvPr/>
        </p:nvSpPr>
        <p:spPr>
          <a:xfrm flipV="1">
            <a:off x="4402138" y="2192338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9990" name="Line 193"/>
          <p:cNvSpPr/>
          <p:nvPr/>
        </p:nvSpPr>
        <p:spPr>
          <a:xfrm flipV="1">
            <a:off x="6383338" y="1354138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9991" name="Line 194"/>
          <p:cNvSpPr/>
          <p:nvPr/>
        </p:nvSpPr>
        <p:spPr>
          <a:xfrm flipV="1">
            <a:off x="5392738" y="1354138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9992" name="Line 195"/>
          <p:cNvSpPr/>
          <p:nvPr/>
        </p:nvSpPr>
        <p:spPr>
          <a:xfrm flipV="1">
            <a:off x="4402138" y="1354138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9993" name="Line 196"/>
          <p:cNvSpPr/>
          <p:nvPr/>
        </p:nvSpPr>
        <p:spPr>
          <a:xfrm flipV="1">
            <a:off x="7373938" y="1023938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9994" name="Line 197"/>
          <p:cNvSpPr/>
          <p:nvPr/>
        </p:nvSpPr>
        <p:spPr>
          <a:xfrm flipV="1">
            <a:off x="6383338" y="1049338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9995" name="Line 198"/>
          <p:cNvSpPr/>
          <p:nvPr/>
        </p:nvSpPr>
        <p:spPr>
          <a:xfrm flipV="1">
            <a:off x="5392738" y="1049338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9996" name="Line 199"/>
          <p:cNvSpPr/>
          <p:nvPr/>
        </p:nvSpPr>
        <p:spPr>
          <a:xfrm flipV="1">
            <a:off x="4402138" y="1049338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9997" name="Line 200"/>
          <p:cNvSpPr/>
          <p:nvPr/>
        </p:nvSpPr>
        <p:spPr>
          <a:xfrm flipV="1">
            <a:off x="5392738" y="2573338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9998" name="Line 201"/>
          <p:cNvSpPr/>
          <p:nvPr/>
        </p:nvSpPr>
        <p:spPr>
          <a:xfrm flipV="1">
            <a:off x="4402138" y="2573338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39999" name="Line 202"/>
          <p:cNvSpPr/>
          <p:nvPr/>
        </p:nvSpPr>
        <p:spPr>
          <a:xfrm flipV="1">
            <a:off x="7373938" y="2192338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0000" name="Line 203"/>
          <p:cNvSpPr/>
          <p:nvPr/>
        </p:nvSpPr>
        <p:spPr>
          <a:xfrm flipV="1">
            <a:off x="6383338" y="2192338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0001" name="Line 204"/>
          <p:cNvSpPr/>
          <p:nvPr/>
        </p:nvSpPr>
        <p:spPr>
          <a:xfrm flipV="1">
            <a:off x="5392738" y="2192338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0002" name="Line 205"/>
          <p:cNvSpPr/>
          <p:nvPr/>
        </p:nvSpPr>
        <p:spPr>
          <a:xfrm flipV="1">
            <a:off x="7373938" y="1785938"/>
            <a:ext cx="381000" cy="0"/>
          </a:xfrm>
          <a:prstGeom prst="line">
            <a:avLst/>
          </a:prstGeom>
          <a:ln w="19050" cap="sq" cmpd="sng">
            <a:solidFill>
              <a:srgbClr val="CC3300"/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0003" name="Line 206"/>
          <p:cNvSpPr/>
          <p:nvPr/>
        </p:nvSpPr>
        <p:spPr>
          <a:xfrm flipV="1">
            <a:off x="6383338" y="1785938"/>
            <a:ext cx="381000" cy="0"/>
          </a:xfrm>
          <a:prstGeom prst="line">
            <a:avLst/>
          </a:prstGeom>
          <a:ln w="19050" cap="sq" cmpd="sng">
            <a:solidFill>
              <a:srgbClr val="CC3300"/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0004" name="Line 207"/>
          <p:cNvSpPr/>
          <p:nvPr/>
        </p:nvSpPr>
        <p:spPr>
          <a:xfrm flipV="1">
            <a:off x="5392738" y="1785938"/>
            <a:ext cx="381000" cy="0"/>
          </a:xfrm>
          <a:prstGeom prst="line">
            <a:avLst/>
          </a:prstGeom>
          <a:ln w="19050" cap="sq" cmpd="sng">
            <a:solidFill>
              <a:srgbClr val="CC3300"/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0005" name="Line 208"/>
          <p:cNvSpPr/>
          <p:nvPr/>
        </p:nvSpPr>
        <p:spPr>
          <a:xfrm flipV="1">
            <a:off x="4402138" y="1785938"/>
            <a:ext cx="381000" cy="0"/>
          </a:xfrm>
          <a:prstGeom prst="line">
            <a:avLst/>
          </a:prstGeom>
          <a:ln w="19050" cap="sq" cmpd="sng">
            <a:solidFill>
              <a:srgbClr val="CC3300"/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0006" name="Line 209"/>
          <p:cNvSpPr/>
          <p:nvPr/>
        </p:nvSpPr>
        <p:spPr>
          <a:xfrm flipV="1">
            <a:off x="5392738" y="2954338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0007" name="Line 210"/>
          <p:cNvSpPr/>
          <p:nvPr/>
        </p:nvSpPr>
        <p:spPr>
          <a:xfrm flipV="1">
            <a:off x="4402138" y="2954338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0008" name="Line 211"/>
          <p:cNvSpPr/>
          <p:nvPr/>
        </p:nvSpPr>
        <p:spPr>
          <a:xfrm flipV="1">
            <a:off x="6383338" y="2573338"/>
            <a:ext cx="381000" cy="0"/>
          </a:xfrm>
          <a:prstGeom prst="line">
            <a:avLst/>
          </a:prstGeom>
          <a:ln w="1905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0009" name="Text Box 212"/>
          <p:cNvSpPr txBox="1"/>
          <p:nvPr/>
        </p:nvSpPr>
        <p:spPr>
          <a:xfrm>
            <a:off x="7275513" y="1201738"/>
            <a:ext cx="3606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10" name="Rectangle 213"/>
          <p:cNvSpPr/>
          <p:nvPr/>
        </p:nvSpPr>
        <p:spPr>
          <a:xfrm>
            <a:off x="8215313" y="820738"/>
            <a:ext cx="3606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11" name="Rectangle 214"/>
          <p:cNvSpPr/>
          <p:nvPr/>
        </p:nvSpPr>
        <p:spPr>
          <a:xfrm>
            <a:off x="8212138" y="1582738"/>
            <a:ext cx="3606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12" name="Rectangle 215"/>
          <p:cNvSpPr/>
          <p:nvPr/>
        </p:nvSpPr>
        <p:spPr>
          <a:xfrm>
            <a:off x="8212138" y="1963738"/>
            <a:ext cx="3606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13" name="Rectangle 216"/>
          <p:cNvSpPr/>
          <p:nvPr/>
        </p:nvSpPr>
        <p:spPr>
          <a:xfrm>
            <a:off x="7240588" y="2344738"/>
            <a:ext cx="3606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14" name="Rectangle 217"/>
          <p:cNvSpPr/>
          <p:nvPr/>
        </p:nvSpPr>
        <p:spPr>
          <a:xfrm>
            <a:off x="6284913" y="2725738"/>
            <a:ext cx="3606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15" name="Text Box 218"/>
          <p:cNvSpPr txBox="1"/>
          <p:nvPr/>
        </p:nvSpPr>
        <p:spPr>
          <a:xfrm>
            <a:off x="3471863" y="820738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16" name="Text Box 219"/>
          <p:cNvSpPr txBox="1"/>
          <p:nvPr/>
        </p:nvSpPr>
        <p:spPr>
          <a:xfrm>
            <a:off x="3471863" y="1216025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17" name="Text Box 220"/>
          <p:cNvSpPr txBox="1"/>
          <p:nvPr/>
        </p:nvSpPr>
        <p:spPr>
          <a:xfrm>
            <a:off x="3471863" y="1643063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18" name="Text Box 221"/>
          <p:cNvSpPr txBox="1"/>
          <p:nvPr/>
        </p:nvSpPr>
        <p:spPr>
          <a:xfrm>
            <a:off x="3471863" y="1978025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19" name="Text Box 222"/>
          <p:cNvSpPr txBox="1"/>
          <p:nvPr/>
        </p:nvSpPr>
        <p:spPr>
          <a:xfrm>
            <a:off x="3471863" y="2344738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20" name="Text Box 223"/>
          <p:cNvSpPr txBox="1"/>
          <p:nvPr/>
        </p:nvSpPr>
        <p:spPr>
          <a:xfrm>
            <a:off x="3471863" y="2740025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21" name="Text Box 224"/>
          <p:cNvSpPr txBox="1"/>
          <p:nvPr/>
        </p:nvSpPr>
        <p:spPr>
          <a:xfrm>
            <a:off x="4935538" y="828675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22" name="Text Box 225"/>
          <p:cNvSpPr txBox="1"/>
          <p:nvPr/>
        </p:nvSpPr>
        <p:spPr>
          <a:xfrm>
            <a:off x="5910263" y="82073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800" b="1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23" name="Text Box 226"/>
          <p:cNvSpPr txBox="1"/>
          <p:nvPr/>
        </p:nvSpPr>
        <p:spPr>
          <a:xfrm>
            <a:off x="6840538" y="82073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24" name="Text Box 227"/>
          <p:cNvSpPr txBox="1"/>
          <p:nvPr/>
        </p:nvSpPr>
        <p:spPr>
          <a:xfrm>
            <a:off x="7831138" y="85883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25" name="Text Box 228"/>
          <p:cNvSpPr txBox="1"/>
          <p:nvPr/>
        </p:nvSpPr>
        <p:spPr>
          <a:xfrm>
            <a:off x="4941888" y="1216025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26" name="Text Box 229"/>
          <p:cNvSpPr txBox="1"/>
          <p:nvPr/>
        </p:nvSpPr>
        <p:spPr>
          <a:xfrm>
            <a:off x="5926138" y="1216025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800" b="1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27" name="Text Box 230"/>
          <p:cNvSpPr txBox="1"/>
          <p:nvPr/>
        </p:nvSpPr>
        <p:spPr>
          <a:xfrm>
            <a:off x="6846888" y="1216025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28" name="Text Box 231"/>
          <p:cNvSpPr txBox="1"/>
          <p:nvPr/>
        </p:nvSpPr>
        <p:spPr>
          <a:xfrm>
            <a:off x="4919663" y="1571625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b="1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29" name="Text Box 232"/>
          <p:cNvSpPr txBox="1"/>
          <p:nvPr/>
        </p:nvSpPr>
        <p:spPr>
          <a:xfrm>
            <a:off x="5910263" y="1571625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30" name="Text Box 233"/>
          <p:cNvSpPr txBox="1"/>
          <p:nvPr/>
        </p:nvSpPr>
        <p:spPr>
          <a:xfrm>
            <a:off x="6840538" y="1597025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b="1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31" name="Text Box 234"/>
          <p:cNvSpPr txBox="1"/>
          <p:nvPr/>
        </p:nvSpPr>
        <p:spPr>
          <a:xfrm>
            <a:off x="7837488" y="1597025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1800" b="1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32" name="Text Box 235"/>
          <p:cNvSpPr txBox="1"/>
          <p:nvPr/>
        </p:nvSpPr>
        <p:spPr>
          <a:xfrm>
            <a:off x="4919663" y="200183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33" name="Text Box 236"/>
          <p:cNvSpPr txBox="1"/>
          <p:nvPr/>
        </p:nvSpPr>
        <p:spPr>
          <a:xfrm>
            <a:off x="5910263" y="198120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34" name="Text Box 237"/>
          <p:cNvSpPr txBox="1"/>
          <p:nvPr/>
        </p:nvSpPr>
        <p:spPr>
          <a:xfrm>
            <a:off x="6840538" y="196373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800" b="1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35" name="Text Box 238"/>
          <p:cNvSpPr txBox="1"/>
          <p:nvPr/>
        </p:nvSpPr>
        <p:spPr>
          <a:xfrm>
            <a:off x="7815263" y="1978025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36" name="Text Box 239"/>
          <p:cNvSpPr txBox="1"/>
          <p:nvPr/>
        </p:nvSpPr>
        <p:spPr>
          <a:xfrm>
            <a:off x="4935538" y="2359025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800" b="1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37" name="Text Box 240"/>
          <p:cNvSpPr txBox="1"/>
          <p:nvPr/>
        </p:nvSpPr>
        <p:spPr>
          <a:xfrm>
            <a:off x="5910263" y="2359025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38" name="Text Box 241"/>
          <p:cNvSpPr txBox="1"/>
          <p:nvPr/>
        </p:nvSpPr>
        <p:spPr>
          <a:xfrm>
            <a:off x="6840538" y="2359025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39" name="Text Box 242"/>
          <p:cNvSpPr txBox="1"/>
          <p:nvPr/>
        </p:nvSpPr>
        <p:spPr>
          <a:xfrm>
            <a:off x="4919663" y="271303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40" name="Text Box 243"/>
          <p:cNvSpPr txBox="1"/>
          <p:nvPr/>
        </p:nvSpPr>
        <p:spPr>
          <a:xfrm>
            <a:off x="5926138" y="2740025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41" name="Text Box 2"/>
          <p:cNvSpPr txBox="1"/>
          <p:nvPr/>
        </p:nvSpPr>
        <p:spPr>
          <a:xfrm>
            <a:off x="6361113" y="100013"/>
            <a:ext cx="27828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7.2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图的存储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11188" y="3897313"/>
            <a:ext cx="2133600" cy="2503487"/>
            <a:chOff x="611188" y="3897725"/>
            <a:chExt cx="2133600" cy="2503075"/>
          </a:xfrm>
        </p:grpSpPr>
        <p:sp>
          <p:nvSpPr>
            <p:cNvPr id="40046" name="Oval 90"/>
            <p:cNvSpPr/>
            <p:nvPr/>
          </p:nvSpPr>
          <p:spPr>
            <a:xfrm>
              <a:off x="1497013" y="3897725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047" name="Oval 91"/>
            <p:cNvSpPr/>
            <p:nvPr/>
          </p:nvSpPr>
          <p:spPr>
            <a:xfrm>
              <a:off x="2363788" y="4419600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048" name="Oval 92"/>
            <p:cNvSpPr/>
            <p:nvPr/>
          </p:nvSpPr>
          <p:spPr>
            <a:xfrm>
              <a:off x="2363788" y="5334000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049" name="Oval 93"/>
            <p:cNvSpPr/>
            <p:nvPr/>
          </p:nvSpPr>
          <p:spPr>
            <a:xfrm>
              <a:off x="1677988" y="6019800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050" name="Oval 94"/>
            <p:cNvSpPr/>
            <p:nvPr/>
          </p:nvSpPr>
          <p:spPr>
            <a:xfrm>
              <a:off x="915988" y="5486400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051" name="Oval 95"/>
            <p:cNvSpPr/>
            <p:nvPr/>
          </p:nvSpPr>
          <p:spPr>
            <a:xfrm>
              <a:off x="611188" y="4572000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052" name="Line 96"/>
            <p:cNvSpPr/>
            <p:nvPr/>
          </p:nvSpPr>
          <p:spPr>
            <a:xfrm>
              <a:off x="2592388" y="4800600"/>
              <a:ext cx="0" cy="5334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053" name="Line 97"/>
            <p:cNvSpPr/>
            <p:nvPr/>
          </p:nvSpPr>
          <p:spPr>
            <a:xfrm>
              <a:off x="1830388" y="4191000"/>
              <a:ext cx="609600" cy="3048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054" name="Line 98"/>
            <p:cNvSpPr/>
            <p:nvPr/>
          </p:nvSpPr>
          <p:spPr>
            <a:xfrm flipV="1">
              <a:off x="992188" y="4191000"/>
              <a:ext cx="533400" cy="4572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055" name="Line 99"/>
            <p:cNvSpPr/>
            <p:nvPr/>
          </p:nvSpPr>
          <p:spPr>
            <a:xfrm flipV="1">
              <a:off x="2058988" y="5715000"/>
              <a:ext cx="457200" cy="3810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056" name="Line 100"/>
            <p:cNvSpPr/>
            <p:nvPr/>
          </p:nvSpPr>
          <p:spPr>
            <a:xfrm flipV="1">
              <a:off x="992188" y="4724400"/>
              <a:ext cx="1371600" cy="15875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057" name="Line 101"/>
            <p:cNvSpPr/>
            <p:nvPr/>
          </p:nvSpPr>
          <p:spPr>
            <a:xfrm flipV="1">
              <a:off x="1220788" y="4267200"/>
              <a:ext cx="381000" cy="1219200"/>
            </a:xfrm>
            <a:prstGeom prst="line">
              <a:avLst/>
            </a:prstGeom>
            <a:ln w="28575" cap="sq" cmpd="sng">
              <a:solidFill>
                <a:srgbClr val="FF00FF"/>
              </a:solidFill>
              <a:prstDash val="sysDash"/>
              <a:headEnd type="none" w="sm" len="sm"/>
              <a:tailEnd type="none" w="sm" len="sm"/>
            </a:ln>
          </p:spPr>
        </p:sp>
        <p:sp>
          <p:nvSpPr>
            <p:cNvPr id="40058" name="Line 102"/>
            <p:cNvSpPr/>
            <p:nvPr/>
          </p:nvSpPr>
          <p:spPr>
            <a:xfrm flipV="1">
              <a:off x="1296988" y="4724400"/>
              <a:ext cx="1143000" cy="838200"/>
            </a:xfrm>
            <a:prstGeom prst="line">
              <a:avLst/>
            </a:prstGeom>
            <a:ln w="28575" cap="sq" cmpd="sng">
              <a:solidFill>
                <a:srgbClr val="FF00FF"/>
              </a:solidFill>
              <a:prstDash val="sysDash"/>
              <a:headEnd type="none" w="sm" len="sm"/>
              <a:tailEnd type="none" w="sm" len="sm"/>
            </a:ln>
          </p:spPr>
        </p:sp>
        <p:sp>
          <p:nvSpPr>
            <p:cNvPr id="40059" name="Line 103"/>
            <p:cNvSpPr/>
            <p:nvPr/>
          </p:nvSpPr>
          <p:spPr>
            <a:xfrm>
              <a:off x="839788" y="4953000"/>
              <a:ext cx="152400" cy="533400"/>
            </a:xfrm>
            <a:prstGeom prst="line">
              <a:avLst/>
            </a:prstGeom>
            <a:ln w="28575" cap="sq" cmpd="sng">
              <a:solidFill>
                <a:srgbClr val="FF00FF"/>
              </a:solidFill>
              <a:prstDash val="sysDash"/>
              <a:headEnd type="none" w="sm" len="sm"/>
              <a:tailEnd type="none" w="sm" len="sm"/>
            </a:ln>
          </p:spPr>
        </p:sp>
        <p:sp>
          <p:nvSpPr>
            <p:cNvPr id="40060" name="Line 104"/>
            <p:cNvSpPr/>
            <p:nvPr/>
          </p:nvSpPr>
          <p:spPr>
            <a:xfrm>
              <a:off x="1677988" y="4267200"/>
              <a:ext cx="228600" cy="1752600"/>
            </a:xfrm>
            <a:prstGeom prst="line">
              <a:avLst/>
            </a:prstGeom>
            <a:ln w="28575" cap="sq" cmpd="sng">
              <a:solidFill>
                <a:srgbClr val="FF00FF"/>
              </a:solidFill>
              <a:prstDash val="sysDash"/>
              <a:headEnd type="none" w="sm" len="sm"/>
              <a:tailEnd type="none" w="sm" len="sm"/>
            </a:ln>
          </p:spPr>
        </p:sp>
        <p:sp>
          <p:nvSpPr>
            <p:cNvPr id="40061" name="Line 105"/>
            <p:cNvSpPr/>
            <p:nvPr/>
          </p:nvSpPr>
          <p:spPr>
            <a:xfrm flipV="1">
              <a:off x="1296988" y="5562600"/>
              <a:ext cx="1066800" cy="76200"/>
            </a:xfrm>
            <a:prstGeom prst="line">
              <a:avLst/>
            </a:prstGeom>
            <a:ln w="28575" cap="sq" cmpd="sng">
              <a:solidFill>
                <a:srgbClr val="FF00FF"/>
              </a:solidFill>
              <a:prstDash val="sysDash"/>
              <a:headEnd type="none" w="sm" len="sm"/>
              <a:tailEnd type="none" w="sm" len="sm"/>
            </a:ln>
          </p:spPr>
        </p:sp>
      </p:grpSp>
      <p:grpSp>
        <p:nvGrpSpPr>
          <p:cNvPr id="21" name="组合 20"/>
          <p:cNvGrpSpPr/>
          <p:nvPr/>
        </p:nvGrpSpPr>
        <p:grpSpPr>
          <a:xfrm>
            <a:off x="3498850" y="3900488"/>
            <a:ext cx="4162425" cy="2368550"/>
            <a:chOff x="3498850" y="3900487"/>
            <a:chExt cx="4162425" cy="2368549"/>
          </a:xfrm>
        </p:grpSpPr>
        <p:grpSp>
          <p:nvGrpSpPr>
            <p:cNvPr id="24210" name="Group 658"/>
            <p:cNvGrpSpPr/>
            <p:nvPr/>
          </p:nvGrpSpPr>
          <p:grpSpPr bwMode="auto">
            <a:xfrm>
              <a:off x="3498850" y="3900487"/>
              <a:ext cx="4162425" cy="2368549"/>
              <a:chOff x="2204" y="2457"/>
              <a:chExt cx="2622" cy="1492"/>
            </a:xfrm>
            <a:solidFill>
              <a:srgbClr val="CCFFFF"/>
            </a:solidFill>
          </p:grpSpPr>
          <p:grpSp>
            <p:nvGrpSpPr>
              <p:cNvPr id="39019" name="Group 519"/>
              <p:cNvGrpSpPr/>
              <p:nvPr/>
            </p:nvGrpSpPr>
            <p:grpSpPr bwMode="auto">
              <a:xfrm>
                <a:off x="2406" y="2938"/>
                <a:ext cx="432" cy="240"/>
                <a:chOff x="2832" y="2592"/>
                <a:chExt cx="432" cy="192"/>
              </a:xfrm>
              <a:grpFill/>
            </p:grpSpPr>
            <p:sp>
              <p:nvSpPr>
                <p:cNvPr id="39111" name="Rectangle 520"/>
                <p:cNvSpPr>
                  <a:spLocks noChangeArrowheads="1"/>
                </p:cNvSpPr>
                <p:nvPr/>
              </p:nvSpPr>
              <p:spPr bwMode="auto">
                <a:xfrm>
                  <a:off x="2832" y="2592"/>
                  <a:ext cx="240" cy="192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112" name="Rectangle 521"/>
                <p:cNvSpPr>
                  <a:spLocks noChangeArrowheads="1"/>
                </p:cNvSpPr>
                <p:nvPr/>
              </p:nvSpPr>
              <p:spPr bwMode="auto">
                <a:xfrm>
                  <a:off x="3072" y="2592"/>
                  <a:ext cx="192" cy="192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9020" name="Group 522"/>
              <p:cNvGrpSpPr/>
              <p:nvPr/>
            </p:nvGrpSpPr>
            <p:grpSpPr bwMode="auto">
              <a:xfrm>
                <a:off x="2406" y="3658"/>
                <a:ext cx="432" cy="240"/>
                <a:chOff x="2832" y="2592"/>
                <a:chExt cx="432" cy="192"/>
              </a:xfrm>
              <a:grpFill/>
            </p:grpSpPr>
            <p:sp>
              <p:nvSpPr>
                <p:cNvPr id="39109" name="Rectangle 523"/>
                <p:cNvSpPr>
                  <a:spLocks noChangeArrowheads="1"/>
                </p:cNvSpPr>
                <p:nvPr/>
              </p:nvSpPr>
              <p:spPr bwMode="auto">
                <a:xfrm>
                  <a:off x="2832" y="2592"/>
                  <a:ext cx="240" cy="192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110" name="Rectangle 524"/>
                <p:cNvSpPr>
                  <a:spLocks noChangeArrowheads="1"/>
                </p:cNvSpPr>
                <p:nvPr/>
              </p:nvSpPr>
              <p:spPr bwMode="auto">
                <a:xfrm>
                  <a:off x="3072" y="2592"/>
                  <a:ext cx="192" cy="192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9021" name="Group 525"/>
              <p:cNvGrpSpPr/>
              <p:nvPr/>
            </p:nvGrpSpPr>
            <p:grpSpPr bwMode="auto">
              <a:xfrm>
                <a:off x="2406" y="3418"/>
                <a:ext cx="432" cy="240"/>
                <a:chOff x="2832" y="2592"/>
                <a:chExt cx="432" cy="192"/>
              </a:xfrm>
              <a:grpFill/>
            </p:grpSpPr>
            <p:sp>
              <p:nvSpPr>
                <p:cNvPr id="39107" name="Rectangle 526"/>
                <p:cNvSpPr>
                  <a:spLocks noChangeArrowheads="1"/>
                </p:cNvSpPr>
                <p:nvPr/>
              </p:nvSpPr>
              <p:spPr bwMode="auto">
                <a:xfrm>
                  <a:off x="2832" y="2592"/>
                  <a:ext cx="240" cy="192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108" name="Rectangle 527"/>
                <p:cNvSpPr>
                  <a:spLocks noChangeArrowheads="1"/>
                </p:cNvSpPr>
                <p:nvPr/>
              </p:nvSpPr>
              <p:spPr bwMode="auto">
                <a:xfrm>
                  <a:off x="3072" y="2592"/>
                  <a:ext cx="192" cy="192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9022" name="Group 528"/>
              <p:cNvGrpSpPr/>
              <p:nvPr/>
            </p:nvGrpSpPr>
            <p:grpSpPr bwMode="auto">
              <a:xfrm>
                <a:off x="2406" y="3178"/>
                <a:ext cx="432" cy="240"/>
                <a:chOff x="2832" y="2592"/>
                <a:chExt cx="432" cy="192"/>
              </a:xfrm>
              <a:grpFill/>
            </p:grpSpPr>
            <p:sp>
              <p:nvSpPr>
                <p:cNvPr id="39105" name="Rectangle 529"/>
                <p:cNvSpPr>
                  <a:spLocks noChangeArrowheads="1"/>
                </p:cNvSpPr>
                <p:nvPr/>
              </p:nvSpPr>
              <p:spPr bwMode="auto">
                <a:xfrm>
                  <a:off x="2832" y="2592"/>
                  <a:ext cx="240" cy="192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106" name="Rectangle 530"/>
                <p:cNvSpPr>
                  <a:spLocks noChangeArrowheads="1"/>
                </p:cNvSpPr>
                <p:nvPr/>
              </p:nvSpPr>
              <p:spPr bwMode="auto">
                <a:xfrm>
                  <a:off x="3072" y="2592"/>
                  <a:ext cx="192" cy="192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9023" name="Group 531"/>
              <p:cNvGrpSpPr/>
              <p:nvPr/>
            </p:nvGrpSpPr>
            <p:grpSpPr bwMode="auto">
              <a:xfrm>
                <a:off x="2406" y="2698"/>
                <a:ext cx="432" cy="240"/>
                <a:chOff x="2832" y="2592"/>
                <a:chExt cx="432" cy="192"/>
              </a:xfrm>
              <a:grpFill/>
            </p:grpSpPr>
            <p:sp>
              <p:nvSpPr>
                <p:cNvPr id="39103" name="Rectangle 532"/>
                <p:cNvSpPr>
                  <a:spLocks noChangeArrowheads="1"/>
                </p:cNvSpPr>
                <p:nvPr/>
              </p:nvSpPr>
              <p:spPr bwMode="auto">
                <a:xfrm>
                  <a:off x="2832" y="2592"/>
                  <a:ext cx="240" cy="192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104" name="Rectangle 533"/>
                <p:cNvSpPr>
                  <a:spLocks noChangeArrowheads="1"/>
                </p:cNvSpPr>
                <p:nvPr/>
              </p:nvSpPr>
              <p:spPr bwMode="auto">
                <a:xfrm>
                  <a:off x="3072" y="2592"/>
                  <a:ext cx="192" cy="192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9024" name="Group 534"/>
              <p:cNvGrpSpPr/>
              <p:nvPr/>
            </p:nvGrpSpPr>
            <p:grpSpPr bwMode="auto">
              <a:xfrm>
                <a:off x="2406" y="2458"/>
                <a:ext cx="432" cy="240"/>
                <a:chOff x="2832" y="2592"/>
                <a:chExt cx="432" cy="192"/>
              </a:xfrm>
              <a:grpFill/>
            </p:grpSpPr>
            <p:sp>
              <p:nvSpPr>
                <p:cNvPr id="39101" name="Rectangle 535"/>
                <p:cNvSpPr>
                  <a:spLocks noChangeArrowheads="1"/>
                </p:cNvSpPr>
                <p:nvPr/>
              </p:nvSpPr>
              <p:spPr bwMode="auto">
                <a:xfrm>
                  <a:off x="2832" y="2592"/>
                  <a:ext cx="240" cy="192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102" name="Rectangle 536"/>
                <p:cNvSpPr>
                  <a:spLocks noChangeArrowheads="1"/>
                </p:cNvSpPr>
                <p:nvPr/>
              </p:nvSpPr>
              <p:spPr bwMode="auto">
                <a:xfrm>
                  <a:off x="3072" y="2592"/>
                  <a:ext cx="192" cy="192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9025" name="Text Box 537"/>
              <p:cNvSpPr txBox="1">
                <a:spLocks noChangeArrowheads="1"/>
              </p:cNvSpPr>
              <p:nvPr/>
            </p:nvSpPr>
            <p:spPr bwMode="auto">
              <a:xfrm>
                <a:off x="2444" y="2467"/>
                <a:ext cx="232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26" name="Text Box 538"/>
              <p:cNvSpPr txBox="1">
                <a:spLocks noChangeArrowheads="1"/>
              </p:cNvSpPr>
              <p:nvPr/>
            </p:nvSpPr>
            <p:spPr bwMode="auto">
              <a:xfrm>
                <a:off x="2444" y="2688"/>
                <a:ext cx="223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2000" b="1"/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27" name="Text Box 539"/>
              <p:cNvSpPr txBox="1">
                <a:spLocks noChangeArrowheads="1"/>
              </p:cNvSpPr>
              <p:nvPr/>
            </p:nvSpPr>
            <p:spPr bwMode="auto">
              <a:xfrm>
                <a:off x="2446" y="2947"/>
                <a:ext cx="232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2000" b="1"/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28" name="Text Box 540"/>
              <p:cNvSpPr txBox="1">
                <a:spLocks noChangeArrowheads="1"/>
              </p:cNvSpPr>
              <p:nvPr/>
            </p:nvSpPr>
            <p:spPr bwMode="auto">
              <a:xfrm>
                <a:off x="2444" y="3168"/>
                <a:ext cx="223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2000" b="1"/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E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29" name="Text Box 541"/>
              <p:cNvSpPr txBox="1">
                <a:spLocks noChangeArrowheads="1"/>
              </p:cNvSpPr>
              <p:nvPr/>
            </p:nvSpPr>
            <p:spPr bwMode="auto">
              <a:xfrm>
                <a:off x="2454" y="3408"/>
                <a:ext cx="214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2000" b="1"/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F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30" name="Text Box 542"/>
              <p:cNvSpPr txBox="1">
                <a:spLocks noChangeArrowheads="1"/>
              </p:cNvSpPr>
              <p:nvPr/>
            </p:nvSpPr>
            <p:spPr bwMode="auto">
              <a:xfrm>
                <a:off x="2444" y="3667"/>
                <a:ext cx="214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2000" b="1"/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F</a:t>
                </a:r>
                <a:endPara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9031" name="Group 543"/>
              <p:cNvGrpSpPr/>
              <p:nvPr/>
            </p:nvGrpSpPr>
            <p:grpSpPr bwMode="auto">
              <a:xfrm>
                <a:off x="3030" y="2506"/>
                <a:ext cx="480" cy="144"/>
                <a:chOff x="3792" y="2544"/>
                <a:chExt cx="480" cy="144"/>
              </a:xfrm>
              <a:grpFill/>
            </p:grpSpPr>
            <p:sp>
              <p:nvSpPr>
                <p:cNvPr id="39099" name="Rectangle 544"/>
                <p:cNvSpPr>
                  <a:spLocks noChangeArrowheads="1"/>
                </p:cNvSpPr>
                <p:nvPr/>
              </p:nvSpPr>
              <p:spPr bwMode="auto">
                <a:xfrm>
                  <a:off x="3792" y="2544"/>
                  <a:ext cx="336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100" name="Rectangle 545"/>
                <p:cNvSpPr>
                  <a:spLocks noChangeArrowheads="1"/>
                </p:cNvSpPr>
                <p:nvPr/>
              </p:nvSpPr>
              <p:spPr bwMode="auto">
                <a:xfrm>
                  <a:off x="4128" y="2544"/>
                  <a:ext cx="144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9032" name="Group 546"/>
              <p:cNvGrpSpPr/>
              <p:nvPr/>
            </p:nvGrpSpPr>
            <p:grpSpPr bwMode="auto">
              <a:xfrm>
                <a:off x="3654" y="2506"/>
                <a:ext cx="480" cy="144"/>
                <a:chOff x="3792" y="2544"/>
                <a:chExt cx="480" cy="144"/>
              </a:xfrm>
              <a:grpFill/>
            </p:grpSpPr>
            <p:sp>
              <p:nvSpPr>
                <p:cNvPr id="39097" name="Rectangle 547"/>
                <p:cNvSpPr>
                  <a:spLocks noChangeArrowheads="1"/>
                </p:cNvSpPr>
                <p:nvPr/>
              </p:nvSpPr>
              <p:spPr bwMode="auto">
                <a:xfrm>
                  <a:off x="3792" y="2544"/>
                  <a:ext cx="336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098" name="Rectangle 548"/>
                <p:cNvSpPr>
                  <a:spLocks noChangeArrowheads="1"/>
                </p:cNvSpPr>
                <p:nvPr/>
              </p:nvSpPr>
              <p:spPr bwMode="auto">
                <a:xfrm>
                  <a:off x="4128" y="2544"/>
                  <a:ext cx="144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9033" name="Group 552"/>
              <p:cNvGrpSpPr/>
              <p:nvPr/>
            </p:nvGrpSpPr>
            <p:grpSpPr bwMode="auto">
              <a:xfrm>
                <a:off x="3030" y="3466"/>
                <a:ext cx="480" cy="144"/>
                <a:chOff x="3792" y="2544"/>
                <a:chExt cx="480" cy="144"/>
              </a:xfrm>
              <a:grpFill/>
            </p:grpSpPr>
            <p:sp>
              <p:nvSpPr>
                <p:cNvPr id="39095" name="Rectangle 553"/>
                <p:cNvSpPr>
                  <a:spLocks noChangeArrowheads="1"/>
                </p:cNvSpPr>
                <p:nvPr/>
              </p:nvSpPr>
              <p:spPr bwMode="auto">
                <a:xfrm>
                  <a:off x="3792" y="2544"/>
                  <a:ext cx="336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096" name="Rectangle 554"/>
                <p:cNvSpPr>
                  <a:spLocks noChangeArrowheads="1"/>
                </p:cNvSpPr>
                <p:nvPr/>
              </p:nvSpPr>
              <p:spPr bwMode="auto">
                <a:xfrm>
                  <a:off x="4128" y="2544"/>
                  <a:ext cx="144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9034" name="Group 555"/>
              <p:cNvGrpSpPr/>
              <p:nvPr/>
            </p:nvGrpSpPr>
            <p:grpSpPr bwMode="auto">
              <a:xfrm>
                <a:off x="3654" y="3706"/>
                <a:ext cx="480" cy="144"/>
                <a:chOff x="3792" y="2544"/>
                <a:chExt cx="480" cy="144"/>
              </a:xfrm>
              <a:grpFill/>
            </p:grpSpPr>
            <p:sp>
              <p:nvSpPr>
                <p:cNvPr id="39093" name="Rectangle 556"/>
                <p:cNvSpPr>
                  <a:spLocks noChangeArrowheads="1"/>
                </p:cNvSpPr>
                <p:nvPr/>
              </p:nvSpPr>
              <p:spPr bwMode="auto">
                <a:xfrm>
                  <a:off x="3792" y="2544"/>
                  <a:ext cx="336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094" name="Rectangle 557"/>
                <p:cNvSpPr>
                  <a:spLocks noChangeArrowheads="1"/>
                </p:cNvSpPr>
                <p:nvPr/>
              </p:nvSpPr>
              <p:spPr bwMode="auto">
                <a:xfrm>
                  <a:off x="4128" y="2544"/>
                  <a:ext cx="144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9035" name="Group 558"/>
              <p:cNvGrpSpPr/>
              <p:nvPr/>
            </p:nvGrpSpPr>
            <p:grpSpPr bwMode="auto">
              <a:xfrm>
                <a:off x="3030" y="3706"/>
                <a:ext cx="480" cy="144"/>
                <a:chOff x="3792" y="2544"/>
                <a:chExt cx="480" cy="144"/>
              </a:xfrm>
              <a:grpFill/>
            </p:grpSpPr>
            <p:sp>
              <p:nvSpPr>
                <p:cNvPr id="39091" name="Rectangle 559"/>
                <p:cNvSpPr>
                  <a:spLocks noChangeArrowheads="1"/>
                </p:cNvSpPr>
                <p:nvPr/>
              </p:nvSpPr>
              <p:spPr bwMode="auto">
                <a:xfrm>
                  <a:off x="3792" y="2544"/>
                  <a:ext cx="336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092" name="Rectangle 560"/>
                <p:cNvSpPr>
                  <a:spLocks noChangeArrowheads="1"/>
                </p:cNvSpPr>
                <p:nvPr/>
              </p:nvSpPr>
              <p:spPr bwMode="auto">
                <a:xfrm>
                  <a:off x="4128" y="2544"/>
                  <a:ext cx="144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9036" name="Group 561"/>
              <p:cNvGrpSpPr/>
              <p:nvPr/>
            </p:nvGrpSpPr>
            <p:grpSpPr bwMode="auto">
              <a:xfrm>
                <a:off x="4303" y="2505"/>
                <a:ext cx="480" cy="144"/>
                <a:chOff x="3792" y="2544"/>
                <a:chExt cx="480" cy="144"/>
              </a:xfrm>
              <a:grpFill/>
            </p:grpSpPr>
            <p:sp>
              <p:nvSpPr>
                <p:cNvPr id="39089" name="Rectangle 562"/>
                <p:cNvSpPr>
                  <a:spLocks noChangeArrowheads="1"/>
                </p:cNvSpPr>
                <p:nvPr/>
              </p:nvSpPr>
              <p:spPr bwMode="auto">
                <a:xfrm>
                  <a:off x="3792" y="2544"/>
                  <a:ext cx="336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090" name="Rectangle 563"/>
                <p:cNvSpPr>
                  <a:spLocks noChangeArrowheads="1"/>
                </p:cNvSpPr>
                <p:nvPr/>
              </p:nvSpPr>
              <p:spPr bwMode="auto">
                <a:xfrm>
                  <a:off x="4128" y="2544"/>
                  <a:ext cx="144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9037" name="Group 564"/>
              <p:cNvGrpSpPr/>
              <p:nvPr/>
            </p:nvGrpSpPr>
            <p:grpSpPr bwMode="auto">
              <a:xfrm>
                <a:off x="3030" y="3226"/>
                <a:ext cx="480" cy="144"/>
                <a:chOff x="3792" y="2544"/>
                <a:chExt cx="480" cy="144"/>
              </a:xfrm>
              <a:grpFill/>
            </p:grpSpPr>
            <p:sp>
              <p:nvSpPr>
                <p:cNvPr id="39087" name="Rectangle 565"/>
                <p:cNvSpPr>
                  <a:spLocks noChangeArrowheads="1"/>
                </p:cNvSpPr>
                <p:nvPr/>
              </p:nvSpPr>
              <p:spPr bwMode="auto">
                <a:xfrm>
                  <a:off x="3792" y="2544"/>
                  <a:ext cx="336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088" name="Rectangle 566"/>
                <p:cNvSpPr>
                  <a:spLocks noChangeArrowheads="1"/>
                </p:cNvSpPr>
                <p:nvPr/>
              </p:nvSpPr>
              <p:spPr bwMode="auto">
                <a:xfrm>
                  <a:off x="4128" y="2544"/>
                  <a:ext cx="144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9038" name="Group 570"/>
              <p:cNvGrpSpPr/>
              <p:nvPr/>
            </p:nvGrpSpPr>
            <p:grpSpPr bwMode="auto">
              <a:xfrm>
                <a:off x="3654" y="3466"/>
                <a:ext cx="480" cy="144"/>
                <a:chOff x="3792" y="2544"/>
                <a:chExt cx="480" cy="144"/>
              </a:xfrm>
              <a:grpFill/>
            </p:grpSpPr>
            <p:sp>
              <p:nvSpPr>
                <p:cNvPr id="39085" name="Rectangle 571"/>
                <p:cNvSpPr>
                  <a:spLocks noChangeArrowheads="1"/>
                </p:cNvSpPr>
                <p:nvPr/>
              </p:nvSpPr>
              <p:spPr bwMode="auto">
                <a:xfrm>
                  <a:off x="3792" y="2544"/>
                  <a:ext cx="336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086" name="Rectangle 572"/>
                <p:cNvSpPr>
                  <a:spLocks noChangeArrowheads="1"/>
                </p:cNvSpPr>
                <p:nvPr/>
              </p:nvSpPr>
              <p:spPr bwMode="auto">
                <a:xfrm>
                  <a:off x="4128" y="2544"/>
                  <a:ext cx="144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9039" name="Group 576"/>
              <p:cNvGrpSpPr/>
              <p:nvPr/>
            </p:nvGrpSpPr>
            <p:grpSpPr bwMode="auto">
              <a:xfrm>
                <a:off x="4278" y="3226"/>
                <a:ext cx="480" cy="144"/>
                <a:chOff x="3792" y="2544"/>
                <a:chExt cx="480" cy="144"/>
              </a:xfrm>
              <a:grpFill/>
            </p:grpSpPr>
            <p:sp>
              <p:nvSpPr>
                <p:cNvPr id="39083" name="Rectangle 577"/>
                <p:cNvSpPr>
                  <a:spLocks noChangeArrowheads="1"/>
                </p:cNvSpPr>
                <p:nvPr/>
              </p:nvSpPr>
              <p:spPr bwMode="auto">
                <a:xfrm>
                  <a:off x="3792" y="2544"/>
                  <a:ext cx="336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084" name="Rectangle 578"/>
                <p:cNvSpPr>
                  <a:spLocks noChangeArrowheads="1"/>
                </p:cNvSpPr>
                <p:nvPr/>
              </p:nvSpPr>
              <p:spPr bwMode="auto">
                <a:xfrm>
                  <a:off x="4128" y="2544"/>
                  <a:ext cx="144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9040" name="Group 579"/>
              <p:cNvGrpSpPr/>
              <p:nvPr/>
            </p:nvGrpSpPr>
            <p:grpSpPr bwMode="auto">
              <a:xfrm>
                <a:off x="3654" y="3226"/>
                <a:ext cx="480" cy="144"/>
                <a:chOff x="3792" y="2544"/>
                <a:chExt cx="480" cy="144"/>
              </a:xfrm>
              <a:grpFill/>
            </p:grpSpPr>
            <p:sp>
              <p:nvSpPr>
                <p:cNvPr id="39081" name="Rectangle 580"/>
                <p:cNvSpPr>
                  <a:spLocks noChangeArrowheads="1"/>
                </p:cNvSpPr>
                <p:nvPr/>
              </p:nvSpPr>
              <p:spPr bwMode="auto">
                <a:xfrm>
                  <a:off x="3792" y="2544"/>
                  <a:ext cx="336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082" name="Rectangle 581"/>
                <p:cNvSpPr>
                  <a:spLocks noChangeArrowheads="1"/>
                </p:cNvSpPr>
                <p:nvPr/>
              </p:nvSpPr>
              <p:spPr bwMode="auto">
                <a:xfrm>
                  <a:off x="4128" y="2544"/>
                  <a:ext cx="144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9041" name="Group 585"/>
              <p:cNvGrpSpPr/>
              <p:nvPr/>
            </p:nvGrpSpPr>
            <p:grpSpPr bwMode="auto">
              <a:xfrm>
                <a:off x="3030" y="2746"/>
                <a:ext cx="480" cy="144"/>
                <a:chOff x="3792" y="2544"/>
                <a:chExt cx="480" cy="144"/>
              </a:xfrm>
              <a:grpFill/>
            </p:grpSpPr>
            <p:sp>
              <p:nvSpPr>
                <p:cNvPr id="39079" name="Rectangle 586"/>
                <p:cNvSpPr>
                  <a:spLocks noChangeArrowheads="1"/>
                </p:cNvSpPr>
                <p:nvPr/>
              </p:nvSpPr>
              <p:spPr bwMode="auto">
                <a:xfrm>
                  <a:off x="3792" y="2544"/>
                  <a:ext cx="336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080" name="Rectangle 587"/>
                <p:cNvSpPr>
                  <a:spLocks noChangeArrowheads="1"/>
                </p:cNvSpPr>
                <p:nvPr/>
              </p:nvSpPr>
              <p:spPr bwMode="auto">
                <a:xfrm>
                  <a:off x="4128" y="2544"/>
                  <a:ext cx="144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9042" name="Group 597"/>
              <p:cNvGrpSpPr/>
              <p:nvPr/>
            </p:nvGrpSpPr>
            <p:grpSpPr bwMode="auto">
              <a:xfrm>
                <a:off x="3654" y="2746"/>
                <a:ext cx="480" cy="144"/>
                <a:chOff x="3792" y="2544"/>
                <a:chExt cx="480" cy="144"/>
              </a:xfrm>
              <a:grpFill/>
            </p:grpSpPr>
            <p:sp>
              <p:nvSpPr>
                <p:cNvPr id="39077" name="Rectangle 598"/>
                <p:cNvSpPr>
                  <a:spLocks noChangeArrowheads="1"/>
                </p:cNvSpPr>
                <p:nvPr/>
              </p:nvSpPr>
              <p:spPr bwMode="auto">
                <a:xfrm>
                  <a:off x="3792" y="2544"/>
                  <a:ext cx="336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078" name="Rectangle 599"/>
                <p:cNvSpPr>
                  <a:spLocks noChangeArrowheads="1"/>
                </p:cNvSpPr>
                <p:nvPr/>
              </p:nvSpPr>
              <p:spPr bwMode="auto">
                <a:xfrm>
                  <a:off x="4128" y="2544"/>
                  <a:ext cx="144" cy="144"/>
                </a:xfrm>
                <a:prstGeom prst="rect">
                  <a:avLst/>
                </a:prstGeom>
                <a:grpFill/>
                <a:ln w="1905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9043" name="Line 603"/>
              <p:cNvSpPr>
                <a:spLocks noChangeShapeType="1"/>
              </p:cNvSpPr>
              <p:nvPr/>
            </p:nvSpPr>
            <p:spPr bwMode="auto">
              <a:xfrm>
                <a:off x="2775" y="3071"/>
                <a:ext cx="255" cy="251"/>
              </a:xfrm>
              <a:prstGeom prst="line">
                <a:avLst/>
              </a:prstGeom>
              <a:solidFill>
                <a:srgbClr val="CCFFFF"/>
              </a:solidFill>
              <a:ln w="19050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lg"/>
              </a:ln>
            </p:spPr>
            <p:txBody>
              <a:bodyPr>
                <a:noAutofit/>
              </a:bodyPr>
              <a:lstStyle/>
              <a:p>
                <a:pPr lvl="0" algn="l">
                  <a:buClrTx/>
                  <a:buSzTx/>
                  <a:buFontTx/>
                  <a:defRPr/>
                </a:pPr>
                <a:endParaRPr lang="zh-CN" altLang="en-US" noProof="0">
                  <a:ln>
                    <a:noFill/>
                  </a:ln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39044" name="Line 605"/>
              <p:cNvSpPr>
                <a:spLocks noChangeShapeType="1"/>
              </p:cNvSpPr>
              <p:nvPr/>
            </p:nvSpPr>
            <p:spPr bwMode="auto">
              <a:xfrm flipV="1">
                <a:off x="3414" y="2794"/>
                <a:ext cx="240" cy="0"/>
              </a:xfrm>
              <a:prstGeom prst="line">
                <a:avLst/>
              </a:prstGeom>
              <a:solidFill>
                <a:srgbClr val="CCFFFF"/>
              </a:solidFill>
              <a:ln w="19050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lg"/>
              </a:ln>
            </p:spPr>
            <p:txBody>
              <a:bodyPr>
                <a:noAutofit/>
              </a:bodyPr>
              <a:lstStyle/>
              <a:p>
                <a:pPr lvl="0" algn="l">
                  <a:buClrTx/>
                  <a:buSzTx/>
                  <a:buFontTx/>
                  <a:defRPr/>
                </a:pPr>
                <a:endParaRPr lang="zh-CN" altLang="en-US" noProof="0">
                  <a:ln>
                    <a:noFill/>
                  </a:ln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39045" name="Line 606"/>
              <p:cNvSpPr>
                <a:spLocks noChangeShapeType="1"/>
              </p:cNvSpPr>
              <p:nvPr/>
            </p:nvSpPr>
            <p:spPr bwMode="auto">
              <a:xfrm flipV="1">
                <a:off x="2790" y="2794"/>
                <a:ext cx="240" cy="0"/>
              </a:xfrm>
              <a:prstGeom prst="line">
                <a:avLst/>
              </a:prstGeom>
              <a:solidFill>
                <a:srgbClr val="CCFFFF"/>
              </a:solidFill>
              <a:ln w="19050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lg"/>
              </a:ln>
            </p:spPr>
            <p:txBody>
              <a:bodyPr>
                <a:noAutofit/>
              </a:bodyPr>
              <a:lstStyle/>
              <a:p>
                <a:pPr lvl="0" algn="l">
                  <a:buClrTx/>
                  <a:buSzTx/>
                  <a:buFontTx/>
                  <a:defRPr/>
                </a:pPr>
                <a:endParaRPr lang="zh-CN" altLang="en-US" noProof="0">
                  <a:ln>
                    <a:noFill/>
                  </a:ln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39046" name="Line 608"/>
              <p:cNvSpPr>
                <a:spLocks noChangeShapeType="1"/>
              </p:cNvSpPr>
              <p:nvPr/>
            </p:nvSpPr>
            <p:spPr bwMode="auto">
              <a:xfrm flipV="1">
                <a:off x="4038" y="2602"/>
                <a:ext cx="240" cy="0"/>
              </a:xfrm>
              <a:prstGeom prst="line">
                <a:avLst/>
              </a:prstGeom>
              <a:solidFill>
                <a:srgbClr val="CCFFFF"/>
              </a:solidFill>
              <a:ln w="19050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lg"/>
              </a:ln>
            </p:spPr>
            <p:txBody>
              <a:bodyPr>
                <a:noAutofit/>
              </a:bodyPr>
              <a:lstStyle/>
              <a:p>
                <a:pPr lvl="0" algn="l">
                  <a:buClrTx/>
                  <a:buSzTx/>
                  <a:buFontTx/>
                  <a:defRPr/>
                </a:pPr>
                <a:endParaRPr lang="zh-CN" altLang="en-US" noProof="0">
                  <a:ln>
                    <a:noFill/>
                  </a:ln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39047" name="Line 609"/>
              <p:cNvSpPr>
                <a:spLocks noChangeShapeType="1"/>
              </p:cNvSpPr>
              <p:nvPr/>
            </p:nvSpPr>
            <p:spPr bwMode="auto">
              <a:xfrm flipV="1">
                <a:off x="3414" y="2602"/>
                <a:ext cx="240" cy="0"/>
              </a:xfrm>
              <a:prstGeom prst="line">
                <a:avLst/>
              </a:prstGeom>
              <a:solidFill>
                <a:srgbClr val="CCFFFF"/>
              </a:solidFill>
              <a:ln w="19050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lg"/>
              </a:ln>
            </p:spPr>
            <p:txBody>
              <a:bodyPr>
                <a:noAutofit/>
              </a:bodyPr>
              <a:lstStyle/>
              <a:p>
                <a:pPr lvl="0" algn="l">
                  <a:buClrTx/>
                  <a:buSzTx/>
                  <a:buFontTx/>
                  <a:defRPr/>
                </a:pPr>
                <a:endParaRPr lang="zh-CN" altLang="en-US" noProof="0">
                  <a:ln>
                    <a:noFill/>
                  </a:ln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39048" name="Line 610"/>
              <p:cNvSpPr>
                <a:spLocks noChangeShapeType="1"/>
              </p:cNvSpPr>
              <p:nvPr/>
            </p:nvSpPr>
            <p:spPr bwMode="auto">
              <a:xfrm flipV="1">
                <a:off x="2790" y="2602"/>
                <a:ext cx="240" cy="0"/>
              </a:xfrm>
              <a:prstGeom prst="line">
                <a:avLst/>
              </a:prstGeom>
              <a:grpFill/>
              <a:ln w="19050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lg"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49" name="Line 611"/>
              <p:cNvSpPr>
                <a:spLocks noChangeShapeType="1"/>
              </p:cNvSpPr>
              <p:nvPr/>
            </p:nvSpPr>
            <p:spPr bwMode="auto">
              <a:xfrm flipV="1">
                <a:off x="3414" y="3562"/>
                <a:ext cx="240" cy="0"/>
              </a:xfrm>
              <a:prstGeom prst="line">
                <a:avLst/>
              </a:prstGeom>
              <a:solidFill>
                <a:srgbClr val="CCFFFF"/>
              </a:solidFill>
              <a:ln w="19050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lg"/>
              </a:ln>
            </p:spPr>
            <p:txBody>
              <a:bodyPr>
                <a:noAutofit/>
              </a:bodyPr>
              <a:lstStyle/>
              <a:p>
                <a:pPr lvl="0" algn="l">
                  <a:buClrTx/>
                  <a:buSzTx/>
                  <a:buFontTx/>
                  <a:defRPr/>
                </a:pPr>
                <a:endParaRPr lang="zh-CN" altLang="en-US" noProof="0">
                  <a:ln>
                    <a:noFill/>
                  </a:ln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39050" name="Line 612"/>
              <p:cNvSpPr>
                <a:spLocks noChangeShapeType="1"/>
              </p:cNvSpPr>
              <p:nvPr/>
            </p:nvSpPr>
            <p:spPr bwMode="auto">
              <a:xfrm>
                <a:off x="2752" y="3288"/>
                <a:ext cx="278" cy="274"/>
              </a:xfrm>
              <a:prstGeom prst="line">
                <a:avLst/>
              </a:prstGeom>
              <a:solidFill>
                <a:srgbClr val="CCFFFF"/>
              </a:solidFill>
              <a:ln w="19050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lg"/>
              </a:ln>
            </p:spPr>
            <p:txBody>
              <a:bodyPr>
                <a:noAutofit/>
              </a:bodyPr>
              <a:lstStyle/>
              <a:p>
                <a:pPr lvl="0" algn="l">
                  <a:buClrTx/>
                  <a:buSzTx/>
                  <a:buFontTx/>
                  <a:defRPr/>
                </a:pPr>
                <a:endParaRPr lang="zh-CN" altLang="en-US" noProof="0">
                  <a:ln>
                    <a:noFill/>
                  </a:ln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39051" name="Line 614"/>
              <p:cNvSpPr>
                <a:spLocks noChangeShapeType="1"/>
              </p:cNvSpPr>
              <p:nvPr/>
            </p:nvSpPr>
            <p:spPr bwMode="auto">
              <a:xfrm flipV="1">
                <a:off x="4038" y="3322"/>
                <a:ext cx="240" cy="0"/>
              </a:xfrm>
              <a:prstGeom prst="line">
                <a:avLst/>
              </a:prstGeom>
              <a:solidFill>
                <a:srgbClr val="CCFFFF"/>
              </a:solidFill>
              <a:ln w="19050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lg"/>
              </a:ln>
            </p:spPr>
            <p:txBody>
              <a:bodyPr>
                <a:noAutofit/>
              </a:bodyPr>
              <a:lstStyle/>
              <a:p>
                <a:pPr lvl="0" algn="l">
                  <a:buClrTx/>
                  <a:buSzTx/>
                  <a:buFontTx/>
                  <a:defRPr/>
                </a:pPr>
                <a:endParaRPr lang="zh-CN" altLang="en-US" noProof="0">
                  <a:ln>
                    <a:noFill/>
                  </a:ln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39052" name="Line 615"/>
              <p:cNvSpPr>
                <a:spLocks noChangeShapeType="1"/>
              </p:cNvSpPr>
              <p:nvPr/>
            </p:nvSpPr>
            <p:spPr bwMode="auto">
              <a:xfrm flipV="1">
                <a:off x="3414" y="3322"/>
                <a:ext cx="240" cy="0"/>
              </a:xfrm>
              <a:prstGeom prst="line">
                <a:avLst/>
              </a:prstGeom>
              <a:solidFill>
                <a:srgbClr val="CCFFFF"/>
              </a:solidFill>
              <a:ln w="19050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lg"/>
              </a:ln>
            </p:spPr>
            <p:txBody>
              <a:bodyPr>
                <a:noAutofit/>
              </a:bodyPr>
              <a:lstStyle/>
              <a:p>
                <a:pPr lvl="0" algn="l">
                  <a:buClrTx/>
                  <a:buSzTx/>
                  <a:buFontTx/>
                  <a:defRPr/>
                </a:pPr>
                <a:endParaRPr lang="zh-CN" altLang="en-US" noProof="0">
                  <a:ln>
                    <a:noFill/>
                  </a:ln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39053" name="Line 620"/>
              <p:cNvSpPr>
                <a:spLocks noChangeShapeType="1"/>
              </p:cNvSpPr>
              <p:nvPr/>
            </p:nvSpPr>
            <p:spPr bwMode="auto">
              <a:xfrm flipV="1">
                <a:off x="3414" y="3802"/>
                <a:ext cx="240" cy="0"/>
              </a:xfrm>
              <a:prstGeom prst="line">
                <a:avLst/>
              </a:prstGeom>
              <a:solidFill>
                <a:srgbClr val="CCFFFF"/>
              </a:solidFill>
              <a:ln w="19050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lg"/>
              </a:ln>
            </p:spPr>
            <p:txBody>
              <a:bodyPr>
                <a:noAutofit/>
              </a:bodyPr>
              <a:lstStyle/>
              <a:p>
                <a:pPr lvl="0" algn="l">
                  <a:buClrTx/>
                  <a:buSzTx/>
                  <a:buFontTx/>
                  <a:defRPr/>
                </a:pPr>
                <a:endParaRPr lang="zh-CN" altLang="en-US" noProof="0">
                  <a:ln>
                    <a:noFill/>
                  </a:ln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39054" name="Line 621"/>
              <p:cNvSpPr>
                <a:spLocks noChangeShapeType="1"/>
              </p:cNvSpPr>
              <p:nvPr/>
            </p:nvSpPr>
            <p:spPr bwMode="auto">
              <a:xfrm>
                <a:off x="2759" y="3536"/>
                <a:ext cx="271" cy="266"/>
              </a:xfrm>
              <a:prstGeom prst="line">
                <a:avLst/>
              </a:prstGeom>
              <a:solidFill>
                <a:srgbClr val="CCFFFF"/>
              </a:solidFill>
              <a:ln w="19050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lg"/>
              </a:ln>
            </p:spPr>
            <p:txBody>
              <a:bodyPr>
                <a:noAutofit/>
              </a:bodyPr>
              <a:lstStyle/>
              <a:p>
                <a:pPr lvl="0" algn="l">
                  <a:buClrTx/>
                  <a:buSzTx/>
                  <a:buFontTx/>
                  <a:defRPr/>
                </a:pPr>
                <a:endParaRPr lang="zh-CN" altLang="en-US" noProof="0">
                  <a:ln>
                    <a:noFill/>
                  </a:ln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39055" name="Rectangle 625"/>
              <p:cNvSpPr>
                <a:spLocks noChangeArrowheads="1"/>
              </p:cNvSpPr>
              <p:nvPr/>
            </p:nvSpPr>
            <p:spPr bwMode="auto">
              <a:xfrm>
                <a:off x="4597" y="3186"/>
                <a:ext cx="229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^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56" name="Rectangle 627"/>
              <p:cNvSpPr>
                <a:spLocks noChangeArrowheads="1"/>
              </p:cNvSpPr>
              <p:nvPr/>
            </p:nvSpPr>
            <p:spPr bwMode="auto">
              <a:xfrm>
                <a:off x="3976" y="3658"/>
                <a:ext cx="229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^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57" name="Text Box 628"/>
              <p:cNvSpPr txBox="1">
                <a:spLocks noChangeArrowheads="1"/>
              </p:cNvSpPr>
              <p:nvPr/>
            </p:nvSpPr>
            <p:spPr bwMode="auto">
              <a:xfrm>
                <a:off x="2204" y="2458"/>
                <a:ext cx="196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58" name="Text Box 629"/>
              <p:cNvSpPr txBox="1">
                <a:spLocks noChangeArrowheads="1"/>
              </p:cNvSpPr>
              <p:nvPr/>
            </p:nvSpPr>
            <p:spPr bwMode="auto">
              <a:xfrm>
                <a:off x="2204" y="2707"/>
                <a:ext cx="196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2000" b="1">
                    <a:solidFill>
                      <a:schemeClr val="bg1"/>
                    </a:solidFill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59" name="Text Box 630"/>
              <p:cNvSpPr txBox="1">
                <a:spLocks noChangeArrowheads="1"/>
              </p:cNvSpPr>
              <p:nvPr/>
            </p:nvSpPr>
            <p:spPr bwMode="auto">
              <a:xfrm>
                <a:off x="2204" y="2976"/>
                <a:ext cx="196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2000" b="1">
                    <a:solidFill>
                      <a:schemeClr val="bg1"/>
                    </a:solidFill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60" name="Text Box 631"/>
              <p:cNvSpPr txBox="1">
                <a:spLocks noChangeArrowheads="1"/>
              </p:cNvSpPr>
              <p:nvPr/>
            </p:nvSpPr>
            <p:spPr bwMode="auto">
              <a:xfrm>
                <a:off x="2204" y="3187"/>
                <a:ext cx="196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2000" b="1">
                    <a:solidFill>
                      <a:schemeClr val="bg1"/>
                    </a:solidFill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61" name="Text Box 632"/>
              <p:cNvSpPr txBox="1">
                <a:spLocks noChangeArrowheads="1"/>
              </p:cNvSpPr>
              <p:nvPr/>
            </p:nvSpPr>
            <p:spPr bwMode="auto">
              <a:xfrm>
                <a:off x="2204" y="3418"/>
                <a:ext cx="196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2000" b="1">
                    <a:solidFill>
                      <a:schemeClr val="bg1"/>
                    </a:solidFill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5</a:t>
                </a:r>
                <a:endPara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62" name="Text Box 633"/>
              <p:cNvSpPr txBox="1">
                <a:spLocks noChangeArrowheads="1"/>
              </p:cNvSpPr>
              <p:nvPr/>
            </p:nvSpPr>
            <p:spPr bwMode="auto">
              <a:xfrm>
                <a:off x="2204" y="3667"/>
                <a:ext cx="196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2000" b="1">
                    <a:solidFill>
                      <a:schemeClr val="bg1"/>
                    </a:solidFill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6</a:t>
                </a:r>
                <a:endPara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63" name="Text Box 634"/>
              <p:cNvSpPr txBox="1">
                <a:spLocks noChangeArrowheads="1"/>
              </p:cNvSpPr>
              <p:nvPr/>
            </p:nvSpPr>
            <p:spPr bwMode="auto">
              <a:xfrm>
                <a:off x="3126" y="2463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2000" b="1"/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64" name="Text Box 635"/>
              <p:cNvSpPr txBox="1">
                <a:spLocks noChangeArrowheads="1"/>
              </p:cNvSpPr>
              <p:nvPr/>
            </p:nvSpPr>
            <p:spPr bwMode="auto">
              <a:xfrm>
                <a:off x="3740" y="2458"/>
                <a:ext cx="188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1800" b="1">
                    <a:solidFill>
                      <a:srgbClr val="FF00FF"/>
                    </a:solidFill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FF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65" name="Text Box 637"/>
              <p:cNvSpPr txBox="1">
                <a:spLocks noChangeArrowheads="1"/>
              </p:cNvSpPr>
              <p:nvPr/>
            </p:nvSpPr>
            <p:spPr bwMode="auto">
              <a:xfrm>
                <a:off x="4351" y="2457"/>
                <a:ext cx="188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1800" b="1">
                    <a:solidFill>
                      <a:srgbClr val="FF00FF"/>
                    </a:solidFill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FF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5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66" name="Text Box 638"/>
              <p:cNvSpPr txBox="1">
                <a:spLocks noChangeArrowheads="1"/>
              </p:cNvSpPr>
              <p:nvPr/>
            </p:nvSpPr>
            <p:spPr bwMode="auto">
              <a:xfrm>
                <a:off x="3130" y="2707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2000" b="1"/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67" name="Text Box 639"/>
              <p:cNvSpPr txBox="1">
                <a:spLocks noChangeArrowheads="1"/>
              </p:cNvSpPr>
              <p:nvPr/>
            </p:nvSpPr>
            <p:spPr bwMode="auto">
              <a:xfrm>
                <a:off x="3750" y="2691"/>
                <a:ext cx="188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1800" b="1">
                    <a:solidFill>
                      <a:srgbClr val="FF00FF"/>
                    </a:solidFill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FF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68" name="Text Box 645"/>
              <p:cNvSpPr txBox="1">
                <a:spLocks noChangeArrowheads="1"/>
              </p:cNvSpPr>
              <p:nvPr/>
            </p:nvSpPr>
            <p:spPr bwMode="auto">
              <a:xfrm>
                <a:off x="3116" y="3178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2000" b="1"/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69" name="Text Box 646"/>
              <p:cNvSpPr txBox="1">
                <a:spLocks noChangeArrowheads="1"/>
              </p:cNvSpPr>
              <p:nvPr/>
            </p:nvSpPr>
            <p:spPr bwMode="auto">
              <a:xfrm>
                <a:off x="3741" y="3173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2000" b="1"/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70" name="Text Box 647"/>
              <p:cNvSpPr txBox="1">
                <a:spLocks noChangeArrowheads="1"/>
              </p:cNvSpPr>
              <p:nvPr/>
            </p:nvSpPr>
            <p:spPr bwMode="auto">
              <a:xfrm>
                <a:off x="4326" y="3178"/>
                <a:ext cx="188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1800" b="1">
                    <a:solidFill>
                      <a:srgbClr val="FF00FF"/>
                    </a:solidFill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FF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71" name="Text Box 649"/>
              <p:cNvSpPr txBox="1">
                <a:spLocks noChangeArrowheads="1"/>
              </p:cNvSpPr>
              <p:nvPr/>
            </p:nvSpPr>
            <p:spPr bwMode="auto">
              <a:xfrm>
                <a:off x="3126" y="3411"/>
                <a:ext cx="188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FF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72" name="Text Box 650"/>
              <p:cNvSpPr txBox="1">
                <a:spLocks noChangeArrowheads="1"/>
              </p:cNvSpPr>
              <p:nvPr/>
            </p:nvSpPr>
            <p:spPr bwMode="auto">
              <a:xfrm>
                <a:off x="3740" y="3427"/>
                <a:ext cx="188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1800" b="1">
                    <a:solidFill>
                      <a:srgbClr val="FF00FF"/>
                    </a:solidFill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FF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5</a:t>
                </a:r>
                <a:endPara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73" name="Text Box 652"/>
              <p:cNvSpPr txBox="1">
                <a:spLocks noChangeArrowheads="1"/>
              </p:cNvSpPr>
              <p:nvPr/>
            </p:nvSpPr>
            <p:spPr bwMode="auto">
              <a:xfrm>
                <a:off x="3116" y="365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2000" b="1"/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74" name="Text Box 653"/>
              <p:cNvSpPr txBox="1">
                <a:spLocks noChangeArrowheads="1"/>
              </p:cNvSpPr>
              <p:nvPr/>
            </p:nvSpPr>
            <p:spPr bwMode="auto">
              <a:xfrm>
                <a:off x="3750" y="3667"/>
                <a:ext cx="188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1800" b="1">
                    <a:solidFill>
                      <a:srgbClr val="FF00FF"/>
                    </a:solidFill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Char char="•"/>
                </a:lvl3pPr>
                <a:lvl4pPr marL="1600200" indent="-228600">
                  <a:spcBef>
                    <a:spcPct val="20000"/>
                  </a:spcBef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Char char="»"/>
                  <a:defRPr sz="2000"/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/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FF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75" name="Rectangle 655"/>
              <p:cNvSpPr>
                <a:spLocks noChangeArrowheads="1"/>
              </p:cNvSpPr>
              <p:nvPr/>
            </p:nvSpPr>
            <p:spPr bwMode="auto">
              <a:xfrm>
                <a:off x="4592" y="2484"/>
                <a:ext cx="228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^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076" name="Rectangle 656"/>
              <p:cNvSpPr>
                <a:spLocks noChangeArrowheads="1"/>
              </p:cNvSpPr>
              <p:nvPr/>
            </p:nvSpPr>
            <p:spPr bwMode="auto">
              <a:xfrm>
                <a:off x="3955" y="2689"/>
                <a:ext cx="228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rPr>
                  <a:t>^</a:t>
                </a:r>
                <a:endPara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0045" name="Rectangle 625"/>
            <p:cNvSpPr/>
            <p:nvPr/>
          </p:nvSpPr>
          <p:spPr>
            <a:xfrm flipH="1">
              <a:off x="6267449" y="5412081"/>
              <a:ext cx="439738" cy="46166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^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2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52" grpId="0" animBg="1"/>
      <p:bldP spid="2405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42" name="Text Box 142"/>
          <p:cNvSpPr txBox="1"/>
          <p:nvPr/>
        </p:nvSpPr>
        <p:spPr>
          <a:xfrm>
            <a:off x="187325" y="541973"/>
            <a:ext cx="3433445" cy="27482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  Del( 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n, item );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   k=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for  (i=1;i&lt;=n;i++)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if (g[i].vertex==item)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{ k=i; exit;}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if (k==0)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return;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p=g[k].link;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743" name="Text Box 143"/>
          <p:cNvSpPr txBox="1"/>
          <p:nvPr/>
        </p:nvSpPr>
        <p:spPr>
          <a:xfrm>
            <a:off x="357505" y="3324860"/>
            <a:ext cx="4356735" cy="324802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 (i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=k+1;i&lt;=n;i++)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{  g[i-1].vertex=g[i].vertex;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g[i-1].link=g[i].link;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}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n=n–1;  // 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顶点的个数减</a:t>
            </a:r>
            <a:r>
              <a:rPr lang="en-US" altLang="zh-CN" sz="21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//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while (p!=NULL)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{   q=p;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p=p-&gt;next; delete(q);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}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770" name="Text Box 170"/>
          <p:cNvSpPr txBox="1"/>
          <p:nvPr/>
        </p:nvSpPr>
        <p:spPr>
          <a:xfrm>
            <a:off x="4089400" y="117475"/>
            <a:ext cx="5054600" cy="70662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  (i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1;i&lt;=n;i++)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{  p=g[i].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link;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while (p!=NULL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if ( p-&gt;adjvex == k )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{ if(g[i].link=p)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g[i].link=p-&gt;next;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else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{ q-&gt;next=p-&gt;next;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r=p;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p=p-&gt;next;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delete(r); }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}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else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{  if (p-&gt;adjvex&gt;k)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p-&gt;adjvex= p-&gt;adjvex–1;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q=p;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p=p-&gt;next;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}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}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}     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789" name="AutoShape 189"/>
          <p:cNvSpPr/>
          <p:nvPr/>
        </p:nvSpPr>
        <p:spPr>
          <a:xfrm>
            <a:off x="4332288" y="390525"/>
            <a:ext cx="479425" cy="5748338"/>
          </a:xfrm>
          <a:prstGeom prst="leftBracket">
            <a:avLst>
              <a:gd name="adj" fmla="val 99861"/>
            </a:avLst>
          </a:prstGeom>
          <a:noFill/>
          <a:ln w="60325" cap="rnd" cmpd="sng">
            <a:solidFill>
              <a:srgbClr val="FF00FF"/>
            </a:solidFill>
            <a:prstDash val="sysDot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90" name="AutoShape 190"/>
          <p:cNvSpPr/>
          <p:nvPr/>
        </p:nvSpPr>
        <p:spPr>
          <a:xfrm>
            <a:off x="4627563" y="1038225"/>
            <a:ext cx="701675" cy="4779963"/>
          </a:xfrm>
          <a:prstGeom prst="leftBracket">
            <a:avLst>
              <a:gd name="adj" fmla="val 75312"/>
            </a:avLst>
          </a:prstGeom>
          <a:noFill/>
          <a:ln w="50800" cap="rnd" cmpd="sng">
            <a:solidFill>
              <a:srgbClr val="66FF33"/>
            </a:solidFill>
            <a:prstDash val="sysDot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42" grpId="0"/>
      <p:bldP spid="25743" grpId="0"/>
      <p:bldP spid="25770" grpId="0"/>
      <p:bldP spid="25789" grpId="0" bldLvl="0" animBg="1"/>
      <p:bldP spid="25790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73125" y="3289300"/>
            <a:ext cx="7891463" cy="1311275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3" name="AutoShape 174"/>
          <p:cNvSpPr/>
          <p:nvPr/>
        </p:nvSpPr>
        <p:spPr bwMode="auto">
          <a:xfrm>
            <a:off x="2143125" y="5132388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41275">
            <a:solidFill>
              <a:schemeClr val="accent4">
                <a:lumMod val="75000"/>
              </a:schemeClr>
            </a:solidFill>
            <a:rou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46088" y="849313"/>
            <a:ext cx="8305800" cy="1882775"/>
            <a:chOff x="446141" y="848873"/>
            <a:chExt cx="8305747" cy="1883921"/>
          </a:xfrm>
        </p:grpSpPr>
        <p:sp>
          <p:nvSpPr>
            <p:cNvPr id="34818" name="Text Box 149"/>
            <p:cNvSpPr txBox="1">
              <a:spLocks noChangeArrowheads="1"/>
            </p:cNvSpPr>
            <p:nvPr/>
          </p:nvSpPr>
          <p:spPr bwMode="auto">
            <a:xfrm>
              <a:off x="860475" y="1188805"/>
              <a:ext cx="7891413" cy="1543989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           </a:t>
              </a:r>
              <a:r>
                <a:rPr kumimoji="0" lang="zh-CN" altLang="en-US" sz="2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从图中某个指定的顶点出发，按照某一原则对图中所有顶点都访问一次且仅访问一次，得到一个由图中所有顶点组成的序列，这一过程称为图的遍历。</a:t>
              </a:r>
              <a:endPara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41997" name="矩形 1"/>
            <p:cNvSpPr/>
            <p:nvPr/>
          </p:nvSpPr>
          <p:spPr>
            <a:xfrm>
              <a:off x="446141" y="848873"/>
              <a:ext cx="1242816" cy="630237"/>
            </a:xfrm>
            <a:prstGeom prst="rect">
              <a:avLst/>
            </a:prstGeom>
            <a:solidFill>
              <a:srgbClr val="FFC000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  <a:ea typeface="微软雅黑" panose="020B0503020204020204" charset="-122"/>
                </a:rPr>
                <a:t>遍历</a:t>
              </a:r>
              <a:endParaRPr lang="zh-CN" altLang="en-US" sz="2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</p:grpSp>
      <p:sp>
        <p:nvSpPr>
          <p:cNvPr id="27" name="矩形 1"/>
          <p:cNvSpPr/>
          <p:nvPr/>
        </p:nvSpPr>
        <p:spPr>
          <a:xfrm>
            <a:off x="446088" y="2962275"/>
            <a:ext cx="2297112" cy="630238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</a:rPr>
              <a:t>需解决的问题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04169" y="3676650"/>
            <a:ext cx="37052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）每个顶点都被访问到；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08932" y="4148138"/>
            <a:ext cx="46196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）任意一个顶点都仅访问一次。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2929" y="5351463"/>
            <a:ext cx="1452880" cy="47561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</a:pP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图的遍历</a:t>
            </a:r>
            <a:endParaRPr lang="zh-CN" altLang="en-US" sz="25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94903" y="4957763"/>
            <a:ext cx="3357245" cy="47561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</a:pP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深度优先搜索（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DFS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endParaRPr lang="zh-CN" altLang="en-US" sz="25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394903" y="5754688"/>
            <a:ext cx="3357245" cy="47561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</a:pP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广度优先搜索（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BFS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endParaRPr lang="zh-CN" altLang="en-US" sz="25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1995" name="Text Box 2"/>
          <p:cNvSpPr txBox="1"/>
          <p:nvPr/>
        </p:nvSpPr>
        <p:spPr>
          <a:xfrm>
            <a:off x="6208713" y="82550"/>
            <a:ext cx="29352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99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99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99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7.3 </a:t>
            </a:r>
            <a:r>
              <a:rPr lang="zh-CN" altLang="en-US" b="1" dirty="0">
                <a:solidFill>
                  <a:srgbClr val="FFFF99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图的遍历</a:t>
            </a:r>
            <a:endParaRPr lang="zh-CN" altLang="en-US" b="1" dirty="0">
              <a:solidFill>
                <a:srgbClr val="FFFF99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4823" grpId="0" bldLvl="0" animBg="1"/>
      <p:bldP spid="27" grpId="0" animBg="1"/>
      <p:bldP spid="4" grpId="0"/>
      <p:bldP spid="5" grpId="0"/>
      <p:bldP spid="6" grpId="0"/>
      <p:bldP spid="7" grpId="0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6" name="Text Box 150"/>
          <p:cNvSpPr txBox="1">
            <a:spLocks noChangeArrowheads="1"/>
          </p:cNvSpPr>
          <p:nvPr/>
        </p:nvSpPr>
        <p:spPr bwMode="auto">
          <a:xfrm>
            <a:off x="625475" y="1597025"/>
            <a:ext cx="3776663" cy="4961890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从图中某个指定的顶点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出发，先访问顶点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，然后从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顶点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未被访问过的一个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邻接点出发，继续进行深度优先遍历，直到图中与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相通的所有顶点都被访问；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若此时图中还有未被访问过的顶点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，则从另一个未被访问过的顶点出发重复上述过程，直到遍历全图。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3011" name="Oval 7"/>
          <p:cNvSpPr/>
          <p:nvPr/>
        </p:nvSpPr>
        <p:spPr>
          <a:xfrm>
            <a:off x="506413" y="80803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3012" name="Text Box 8"/>
          <p:cNvSpPr txBox="1"/>
          <p:nvPr/>
        </p:nvSpPr>
        <p:spPr>
          <a:xfrm>
            <a:off x="704850" y="712788"/>
            <a:ext cx="3622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深度优先搜索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3013" name="矩形 1"/>
          <p:cNvSpPr/>
          <p:nvPr/>
        </p:nvSpPr>
        <p:spPr>
          <a:xfrm>
            <a:off x="325438" y="1336675"/>
            <a:ext cx="1243012" cy="630238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</a:rPr>
              <a:t>原则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7" name="Oval 4"/>
          <p:cNvSpPr/>
          <p:nvPr/>
        </p:nvSpPr>
        <p:spPr>
          <a:xfrm>
            <a:off x="6732588" y="1217613"/>
            <a:ext cx="381000" cy="381000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path path="shape">
              <a:fillToRect l="50000" t="50000" r="50000" b="50000"/>
            </a:path>
            <a:tileRect/>
          </a:gra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21" name="Oval 5"/>
          <p:cNvSpPr/>
          <p:nvPr/>
        </p:nvSpPr>
        <p:spPr>
          <a:xfrm>
            <a:off x="7502525" y="1920875"/>
            <a:ext cx="381000" cy="381000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path path="shape">
              <a:fillToRect l="50000" t="50000" r="50000" b="50000"/>
            </a:path>
            <a:tileRect/>
          </a:gra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22" name="Oval 6"/>
          <p:cNvSpPr/>
          <p:nvPr/>
        </p:nvSpPr>
        <p:spPr>
          <a:xfrm>
            <a:off x="7224713" y="2762250"/>
            <a:ext cx="381000" cy="381000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path path="shape">
              <a:fillToRect l="50000" t="50000" r="50000" b="50000"/>
            </a:path>
            <a:tileRect/>
          </a:gra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val 7"/>
          <p:cNvSpPr/>
          <p:nvPr/>
        </p:nvSpPr>
        <p:spPr>
          <a:xfrm>
            <a:off x="6937375" y="3714750"/>
            <a:ext cx="381000" cy="381000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path path="shape">
              <a:fillToRect l="50000" t="50000" r="50000" b="50000"/>
            </a:path>
            <a:tileRect/>
          </a:gra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8"/>
          <p:cNvSpPr/>
          <p:nvPr/>
        </p:nvSpPr>
        <p:spPr>
          <a:xfrm>
            <a:off x="5815013" y="2806700"/>
            <a:ext cx="381000" cy="381000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path path="shape">
              <a:fillToRect l="50000" t="50000" r="50000" b="50000"/>
            </a:path>
            <a:tileRect/>
          </a:gra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9"/>
          <p:cNvSpPr/>
          <p:nvPr/>
        </p:nvSpPr>
        <p:spPr>
          <a:xfrm>
            <a:off x="6159500" y="1952625"/>
            <a:ext cx="381000" cy="381000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path path="shape">
              <a:fillToRect l="50000" t="50000" r="50000" b="50000"/>
            </a:path>
            <a:tileRect/>
          </a:gra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20" name="Line 11"/>
          <p:cNvSpPr/>
          <p:nvPr/>
        </p:nvSpPr>
        <p:spPr>
          <a:xfrm>
            <a:off x="7100888" y="1473200"/>
            <a:ext cx="477837" cy="474663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21" name="Line 12"/>
          <p:cNvSpPr/>
          <p:nvPr/>
        </p:nvSpPr>
        <p:spPr>
          <a:xfrm flipV="1">
            <a:off x="6462713" y="1498600"/>
            <a:ext cx="309562" cy="460375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" name="Oval 157"/>
          <p:cNvSpPr/>
          <p:nvPr/>
        </p:nvSpPr>
        <p:spPr>
          <a:xfrm>
            <a:off x="6470650" y="2779713"/>
            <a:ext cx="381000" cy="381000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path path="shape">
              <a:fillToRect l="50000" t="50000" r="50000" b="50000"/>
            </a:path>
            <a:tileRect/>
          </a:gra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23" name="Line 158"/>
          <p:cNvSpPr/>
          <p:nvPr/>
        </p:nvSpPr>
        <p:spPr>
          <a:xfrm flipH="1">
            <a:off x="5989638" y="2289175"/>
            <a:ext cx="279400" cy="554038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24" name="Line 159"/>
          <p:cNvSpPr/>
          <p:nvPr/>
        </p:nvSpPr>
        <p:spPr>
          <a:xfrm>
            <a:off x="6481763" y="2312988"/>
            <a:ext cx="168275" cy="481012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1" name="Oval 160"/>
          <p:cNvSpPr/>
          <p:nvPr/>
        </p:nvSpPr>
        <p:spPr>
          <a:xfrm>
            <a:off x="7870825" y="2722563"/>
            <a:ext cx="381000" cy="381000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path path="shape">
              <a:fillToRect l="50000" t="50000" r="50000" b="50000"/>
            </a:path>
            <a:tileRect/>
          </a:gra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26" name="Line 161"/>
          <p:cNvSpPr/>
          <p:nvPr/>
        </p:nvSpPr>
        <p:spPr>
          <a:xfrm flipH="1">
            <a:off x="7445375" y="2289175"/>
            <a:ext cx="179388" cy="45720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27" name="Line 162"/>
          <p:cNvSpPr/>
          <p:nvPr/>
        </p:nvSpPr>
        <p:spPr>
          <a:xfrm>
            <a:off x="7794625" y="2224088"/>
            <a:ext cx="231775" cy="49530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28" name="Line 163"/>
          <p:cNvSpPr/>
          <p:nvPr/>
        </p:nvSpPr>
        <p:spPr>
          <a:xfrm flipH="1">
            <a:off x="7275513" y="3106738"/>
            <a:ext cx="722312" cy="69850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29" name="Line 164"/>
          <p:cNvSpPr/>
          <p:nvPr/>
        </p:nvSpPr>
        <p:spPr>
          <a:xfrm flipH="1">
            <a:off x="7180263" y="3130550"/>
            <a:ext cx="180975" cy="627063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30" name="Line 165"/>
          <p:cNvSpPr/>
          <p:nvPr/>
        </p:nvSpPr>
        <p:spPr>
          <a:xfrm>
            <a:off x="6794500" y="3082925"/>
            <a:ext cx="241300" cy="68580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31" name="Line 166"/>
          <p:cNvSpPr/>
          <p:nvPr/>
        </p:nvSpPr>
        <p:spPr>
          <a:xfrm>
            <a:off x="6097588" y="3179763"/>
            <a:ext cx="841375" cy="733425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" name="Oval 4"/>
          <p:cNvSpPr/>
          <p:nvPr/>
        </p:nvSpPr>
        <p:spPr>
          <a:xfrm>
            <a:off x="6724650" y="1217613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Oval 9"/>
          <p:cNvSpPr/>
          <p:nvPr/>
        </p:nvSpPr>
        <p:spPr>
          <a:xfrm>
            <a:off x="6159500" y="1948180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Oval 8"/>
          <p:cNvSpPr/>
          <p:nvPr/>
        </p:nvSpPr>
        <p:spPr>
          <a:xfrm>
            <a:off x="5815013" y="2794000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Oval 7"/>
          <p:cNvSpPr/>
          <p:nvPr/>
        </p:nvSpPr>
        <p:spPr>
          <a:xfrm>
            <a:off x="6939280" y="3719195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157"/>
          <p:cNvSpPr/>
          <p:nvPr/>
        </p:nvSpPr>
        <p:spPr>
          <a:xfrm>
            <a:off x="6470333" y="2782570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val 6"/>
          <p:cNvSpPr/>
          <p:nvPr/>
        </p:nvSpPr>
        <p:spPr>
          <a:xfrm>
            <a:off x="7224713" y="2761615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Oval 5"/>
          <p:cNvSpPr/>
          <p:nvPr/>
        </p:nvSpPr>
        <p:spPr>
          <a:xfrm>
            <a:off x="7502525" y="1932305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Oval 160"/>
          <p:cNvSpPr/>
          <p:nvPr/>
        </p:nvSpPr>
        <p:spPr>
          <a:xfrm>
            <a:off x="7875270" y="2726055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 bwMode="auto">
          <a:xfrm>
            <a:off x="4411663" y="4697413"/>
            <a:ext cx="4581525" cy="1809750"/>
            <a:chOff x="4411740" y="4697889"/>
            <a:chExt cx="4581429" cy="1809726"/>
          </a:xfrm>
          <a:noFill/>
        </p:grpSpPr>
        <p:sp>
          <p:nvSpPr>
            <p:cNvPr id="44" name="Text Box 7"/>
            <p:cNvSpPr txBox="1">
              <a:spLocks noChangeArrowheads="1"/>
            </p:cNvSpPr>
            <p:nvPr/>
          </p:nvSpPr>
          <p:spPr bwMode="auto">
            <a:xfrm>
              <a:off x="4411740" y="4697889"/>
              <a:ext cx="4581429" cy="1809726"/>
            </a:xfrm>
            <a:prstGeom prst="rect">
              <a:avLst/>
            </a:prstGeom>
            <a:grpFill/>
            <a:ln>
              <a:noFill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   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区分是否被访问过，用</a:t>
              </a:r>
              <a:r>
                <a:rPr kumimoji="0" lang="en-US" altLang="zh-CN" sz="2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visited[1:n], </a:t>
              </a:r>
              <a:r>
                <a:rPr kumimoji="0" lang="zh-CN" altLang="en-US" sz="2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有</a:t>
              </a:r>
              <a:endPara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                     </a:t>
              </a:r>
              <a:r>
                <a:rPr kumimoji="0" lang="en-US" altLang="zh-CN" sz="2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1 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第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i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个顶点已经被访问</a:t>
              </a:r>
              <a:r>
                <a:rPr kumimoji="0" lang="en-US" altLang="zh-CN" sz="2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visited[</a:t>
              </a:r>
              <a:r>
                <a:rPr kumimoji="0" lang="en-US" altLang="zh-CN" sz="25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] =</a:t>
              </a:r>
              <a:endPara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                     0  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第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i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rPr>
                <a:t>个顶点还未被访问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42021" name="Text Box 8"/>
            <p:cNvSpPr txBox="1">
              <a:spLocks noChangeArrowheads="1"/>
            </p:cNvSpPr>
            <p:nvPr/>
          </p:nvSpPr>
          <p:spPr bwMode="auto">
            <a:xfrm>
              <a:off x="5776422" y="5328127"/>
              <a:ext cx="745717" cy="1015663"/>
            </a:xfrm>
            <a:prstGeom prst="rect">
              <a:avLst/>
            </a:prstGeom>
            <a:grpFill/>
            <a:ln w="12700">
              <a:noFill/>
              <a:miter lim="800000"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</a:t>
              </a: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3041" name="矩形 2">
            <a:hlinkClick r:id="rId1" action="ppaction://hlinksldjump"/>
          </p:cNvPr>
          <p:cNvSpPr/>
          <p:nvPr/>
        </p:nvSpPr>
        <p:spPr>
          <a:xfrm>
            <a:off x="1568450" y="1336675"/>
            <a:ext cx="1112838" cy="62230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42" name="Text Box 2"/>
          <p:cNvSpPr txBox="1"/>
          <p:nvPr/>
        </p:nvSpPr>
        <p:spPr>
          <a:xfrm>
            <a:off x="6208713" y="82550"/>
            <a:ext cx="29352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7.3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图的遍历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38921" grpId="0" bldLvl="0" animBg="1"/>
      <p:bldP spid="38922" grpId="0" bldLvl="0" animBg="1"/>
      <p:bldP spid="20" grpId="0" bldLvl="0" animBg="1"/>
      <p:bldP spid="21" grpId="0" bldLvl="0" animBg="1"/>
      <p:bldP spid="22" grpId="0" bldLvl="0" animBg="1"/>
      <p:bldP spid="25" grpId="0" bldLvl="0" animBg="1"/>
      <p:bldP spid="38931" grpId="0" bldLvl="0" animBg="1"/>
      <p:bldP spid="38" grpId="0" bldLvl="0" animBg="1"/>
      <p:bldP spid="39" grpId="0" bldLvl="0" animBg="1"/>
      <p:bldP spid="40" grpId="0" bldLvl="0" animBg="1"/>
      <p:bldP spid="41" grpId="0" bldLvl="0" animBg="1"/>
      <p:bldP spid="42" grpId="0" bldLvl="0" animBg="1"/>
      <p:bldP spid="34" grpId="0" bldLvl="0" animBg="1"/>
      <p:bldP spid="35" grpId="0" bldLvl="0" animBg="1"/>
      <p:bldP spid="36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4" name="Group 20"/>
          <p:cNvGrpSpPr/>
          <p:nvPr/>
        </p:nvGrpSpPr>
        <p:grpSpPr bwMode="auto">
          <a:xfrm>
            <a:off x="3835400" y="2954338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44213" name="Rectangle 21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214" name="Rectangle 22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035" name="Group 23"/>
          <p:cNvGrpSpPr/>
          <p:nvPr/>
        </p:nvGrpSpPr>
        <p:grpSpPr bwMode="auto">
          <a:xfrm>
            <a:off x="3835400" y="4097338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44211" name="Rectangle 24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212" name="Rectangle 25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036" name="Group 26"/>
          <p:cNvGrpSpPr/>
          <p:nvPr/>
        </p:nvGrpSpPr>
        <p:grpSpPr bwMode="auto">
          <a:xfrm>
            <a:off x="3835400" y="3716338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44209" name="Rectangle 27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210" name="Rectangle 28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037" name="Group 29"/>
          <p:cNvGrpSpPr/>
          <p:nvPr/>
        </p:nvGrpSpPr>
        <p:grpSpPr bwMode="auto">
          <a:xfrm>
            <a:off x="3835400" y="3335338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44207" name="Rectangle 30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208" name="Rectangle 31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038" name="Group 32"/>
          <p:cNvGrpSpPr/>
          <p:nvPr/>
        </p:nvGrpSpPr>
        <p:grpSpPr bwMode="auto">
          <a:xfrm>
            <a:off x="3835400" y="2573338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44205" name="Rectangle 33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206" name="Rectangle 34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039" name="Group 35"/>
          <p:cNvGrpSpPr/>
          <p:nvPr/>
        </p:nvGrpSpPr>
        <p:grpSpPr bwMode="auto">
          <a:xfrm>
            <a:off x="3835400" y="2192338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44203" name="Rectangle 36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204" name="Rectangle 37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5064" name="Text Box 38"/>
          <p:cNvSpPr txBox="1"/>
          <p:nvPr/>
        </p:nvSpPr>
        <p:spPr>
          <a:xfrm>
            <a:off x="3895725" y="2136775"/>
            <a:ext cx="3365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065" name="Text Box 39"/>
          <p:cNvSpPr txBox="1"/>
          <p:nvPr/>
        </p:nvSpPr>
        <p:spPr>
          <a:xfrm>
            <a:off x="3895725" y="2487613"/>
            <a:ext cx="3365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2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066" name="Text Box 40"/>
          <p:cNvSpPr txBox="1"/>
          <p:nvPr/>
        </p:nvSpPr>
        <p:spPr>
          <a:xfrm>
            <a:off x="3886200" y="2898775"/>
            <a:ext cx="3365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3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067" name="Text Box 41"/>
          <p:cNvSpPr txBox="1"/>
          <p:nvPr/>
        </p:nvSpPr>
        <p:spPr>
          <a:xfrm>
            <a:off x="3895725" y="3249613"/>
            <a:ext cx="3365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4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068" name="Text Box 42"/>
          <p:cNvSpPr txBox="1"/>
          <p:nvPr/>
        </p:nvSpPr>
        <p:spPr>
          <a:xfrm>
            <a:off x="3911600" y="3630613"/>
            <a:ext cx="3365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5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069" name="Text Box 43"/>
          <p:cNvSpPr txBox="1"/>
          <p:nvPr/>
        </p:nvSpPr>
        <p:spPr>
          <a:xfrm>
            <a:off x="3895725" y="4111625"/>
            <a:ext cx="3365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4046" name="Group 44"/>
          <p:cNvGrpSpPr/>
          <p:nvPr/>
        </p:nvGrpSpPr>
        <p:grpSpPr bwMode="auto">
          <a:xfrm>
            <a:off x="4826000" y="22685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44201" name="Rectangle 45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202" name="Rectangle 46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5071" name="Rectangle 48"/>
          <p:cNvSpPr/>
          <p:nvPr/>
        </p:nvSpPr>
        <p:spPr>
          <a:xfrm>
            <a:off x="5816600" y="2268538"/>
            <a:ext cx="533400" cy="2286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72" name="Rectangle 49"/>
          <p:cNvSpPr/>
          <p:nvPr/>
        </p:nvSpPr>
        <p:spPr>
          <a:xfrm>
            <a:off x="6350000" y="2268538"/>
            <a:ext cx="228600" cy="2286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049" name="Group 56"/>
          <p:cNvGrpSpPr/>
          <p:nvPr/>
        </p:nvGrpSpPr>
        <p:grpSpPr bwMode="auto">
          <a:xfrm>
            <a:off x="5816600" y="41862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44199" name="Rectangle 57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200" name="Rectangle 58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050" name="Group 59"/>
          <p:cNvGrpSpPr/>
          <p:nvPr/>
        </p:nvGrpSpPr>
        <p:grpSpPr bwMode="auto">
          <a:xfrm>
            <a:off x="4826000" y="41989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44197" name="Rectangle 60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198" name="Rectangle 61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051" name="Group 65"/>
          <p:cNvGrpSpPr/>
          <p:nvPr/>
        </p:nvGrpSpPr>
        <p:grpSpPr bwMode="auto">
          <a:xfrm>
            <a:off x="4826000" y="34369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44195" name="Rectangle 66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196" name="Rectangle 67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052" name="Group 68"/>
          <p:cNvGrpSpPr/>
          <p:nvPr/>
        </p:nvGrpSpPr>
        <p:grpSpPr bwMode="auto">
          <a:xfrm>
            <a:off x="5816600" y="38052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44193" name="Rectangle 69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194" name="Rectangle 70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053" name="Group 71"/>
          <p:cNvGrpSpPr/>
          <p:nvPr/>
        </p:nvGrpSpPr>
        <p:grpSpPr bwMode="auto">
          <a:xfrm>
            <a:off x="4826000" y="38179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44191" name="Rectangle 72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192" name="Rectangle 73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054" name="Group 80"/>
          <p:cNvGrpSpPr/>
          <p:nvPr/>
        </p:nvGrpSpPr>
        <p:grpSpPr bwMode="auto">
          <a:xfrm>
            <a:off x="5816600" y="34242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44189" name="Rectangle 81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190" name="Rectangle 82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055" name="Group 83"/>
          <p:cNvGrpSpPr/>
          <p:nvPr/>
        </p:nvGrpSpPr>
        <p:grpSpPr bwMode="auto">
          <a:xfrm>
            <a:off x="4826000" y="30305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44187" name="Rectangle 84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188" name="Rectangle 85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056" name="Group 86"/>
          <p:cNvGrpSpPr/>
          <p:nvPr/>
        </p:nvGrpSpPr>
        <p:grpSpPr bwMode="auto">
          <a:xfrm>
            <a:off x="4826000" y="26495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44185" name="Rectangle 87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186" name="Rectangle 88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057" name="Group 89"/>
          <p:cNvGrpSpPr/>
          <p:nvPr/>
        </p:nvGrpSpPr>
        <p:grpSpPr bwMode="auto">
          <a:xfrm>
            <a:off x="6834188" y="30305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44183" name="Rectangle 90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184" name="Rectangle 91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058" name="Group 95"/>
          <p:cNvGrpSpPr/>
          <p:nvPr/>
        </p:nvGrpSpPr>
        <p:grpSpPr bwMode="auto">
          <a:xfrm>
            <a:off x="5816600" y="30305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44181" name="Rectangle 96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182" name="Rectangle 97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5083" name="Rectangle 99"/>
          <p:cNvSpPr/>
          <p:nvPr/>
        </p:nvSpPr>
        <p:spPr>
          <a:xfrm>
            <a:off x="5816600" y="2649538"/>
            <a:ext cx="533400" cy="2286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84" name="Rectangle 100"/>
          <p:cNvSpPr/>
          <p:nvPr/>
        </p:nvSpPr>
        <p:spPr>
          <a:xfrm>
            <a:off x="6350000" y="2649538"/>
            <a:ext cx="228600" cy="2286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061" name="Group 101"/>
          <p:cNvGrpSpPr/>
          <p:nvPr/>
        </p:nvGrpSpPr>
        <p:grpSpPr bwMode="auto">
          <a:xfrm>
            <a:off x="6807200" y="26495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44179" name="Rectangle 102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180" name="Rectangle 103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5086" name="Line 104"/>
          <p:cNvSpPr/>
          <p:nvPr/>
        </p:nvSpPr>
        <p:spPr>
          <a:xfrm flipV="1">
            <a:off x="4445000" y="35639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087" name="Line 105"/>
          <p:cNvSpPr/>
          <p:nvPr/>
        </p:nvSpPr>
        <p:spPr>
          <a:xfrm flipV="1">
            <a:off x="6426200" y="27257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088" name="Line 106"/>
          <p:cNvSpPr/>
          <p:nvPr/>
        </p:nvSpPr>
        <p:spPr>
          <a:xfrm flipV="1">
            <a:off x="5435600" y="27257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089" name="Line 107"/>
          <p:cNvSpPr/>
          <p:nvPr/>
        </p:nvSpPr>
        <p:spPr>
          <a:xfrm flipV="1">
            <a:off x="4445000" y="27257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090" name="Line 110"/>
          <p:cNvSpPr/>
          <p:nvPr/>
        </p:nvSpPr>
        <p:spPr>
          <a:xfrm flipV="1">
            <a:off x="5435600" y="24209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091" name="Line 111"/>
          <p:cNvSpPr/>
          <p:nvPr/>
        </p:nvSpPr>
        <p:spPr>
          <a:xfrm flipV="1">
            <a:off x="4445000" y="24209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092" name="Line 113"/>
          <p:cNvSpPr/>
          <p:nvPr/>
        </p:nvSpPr>
        <p:spPr>
          <a:xfrm flipV="1">
            <a:off x="4445000" y="39449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093" name="Line 116"/>
          <p:cNvSpPr/>
          <p:nvPr/>
        </p:nvSpPr>
        <p:spPr>
          <a:xfrm flipV="1">
            <a:off x="5435600" y="35639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094" name="Line 118"/>
          <p:cNvSpPr/>
          <p:nvPr/>
        </p:nvSpPr>
        <p:spPr>
          <a:xfrm flipV="1">
            <a:off x="6426200" y="31575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095" name="Line 119"/>
          <p:cNvSpPr/>
          <p:nvPr/>
        </p:nvSpPr>
        <p:spPr>
          <a:xfrm flipV="1">
            <a:off x="5435600" y="31575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096" name="Line 120"/>
          <p:cNvSpPr/>
          <p:nvPr/>
        </p:nvSpPr>
        <p:spPr>
          <a:xfrm flipV="1">
            <a:off x="4445000" y="31575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097" name="Line 121"/>
          <p:cNvSpPr/>
          <p:nvPr/>
        </p:nvSpPr>
        <p:spPr>
          <a:xfrm flipV="1">
            <a:off x="5435600" y="43259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098" name="Line 122"/>
          <p:cNvSpPr/>
          <p:nvPr/>
        </p:nvSpPr>
        <p:spPr>
          <a:xfrm flipV="1">
            <a:off x="4445000" y="43259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099" name="Line 123"/>
          <p:cNvSpPr/>
          <p:nvPr/>
        </p:nvSpPr>
        <p:spPr>
          <a:xfrm flipV="1">
            <a:off x="5435600" y="39449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100" name="Text Box 124"/>
          <p:cNvSpPr txBox="1"/>
          <p:nvPr/>
        </p:nvSpPr>
        <p:spPr>
          <a:xfrm>
            <a:off x="7318375" y="2573338"/>
            <a:ext cx="31623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01" name="Rectangle 125"/>
          <p:cNvSpPr/>
          <p:nvPr/>
        </p:nvSpPr>
        <p:spPr>
          <a:xfrm>
            <a:off x="7315200" y="2930525"/>
            <a:ext cx="31623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02" name="Rectangle 126"/>
          <p:cNvSpPr/>
          <p:nvPr/>
        </p:nvSpPr>
        <p:spPr>
          <a:xfrm>
            <a:off x="6294438" y="3321050"/>
            <a:ext cx="3733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03" name="Rectangle 127"/>
          <p:cNvSpPr/>
          <p:nvPr/>
        </p:nvSpPr>
        <p:spPr>
          <a:xfrm>
            <a:off x="6280150" y="3687763"/>
            <a:ext cx="3733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04" name="Rectangle 128"/>
          <p:cNvSpPr/>
          <p:nvPr/>
        </p:nvSpPr>
        <p:spPr>
          <a:xfrm>
            <a:off x="6270625" y="4083050"/>
            <a:ext cx="3733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05" name="Text Box 129"/>
          <p:cNvSpPr txBox="1"/>
          <p:nvPr/>
        </p:nvSpPr>
        <p:spPr>
          <a:xfrm>
            <a:off x="3514725" y="2192338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06" name="Text Box 130"/>
          <p:cNvSpPr txBox="1"/>
          <p:nvPr/>
        </p:nvSpPr>
        <p:spPr>
          <a:xfrm>
            <a:off x="3514725" y="2587625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07" name="Text Box 131"/>
          <p:cNvSpPr txBox="1"/>
          <p:nvPr/>
        </p:nvSpPr>
        <p:spPr>
          <a:xfrm>
            <a:off x="3514725" y="3014663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08" name="Text Box 132"/>
          <p:cNvSpPr txBox="1"/>
          <p:nvPr/>
        </p:nvSpPr>
        <p:spPr>
          <a:xfrm>
            <a:off x="3514725" y="3349625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09" name="Text Box 133"/>
          <p:cNvSpPr txBox="1"/>
          <p:nvPr/>
        </p:nvSpPr>
        <p:spPr>
          <a:xfrm>
            <a:off x="3514725" y="3716338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10" name="Text Box 134"/>
          <p:cNvSpPr txBox="1"/>
          <p:nvPr/>
        </p:nvSpPr>
        <p:spPr>
          <a:xfrm>
            <a:off x="3514725" y="4111625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11" name="Text Box 135"/>
          <p:cNvSpPr txBox="1"/>
          <p:nvPr/>
        </p:nvSpPr>
        <p:spPr>
          <a:xfrm>
            <a:off x="4978400" y="220027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12" name="Text Box 136"/>
          <p:cNvSpPr txBox="1"/>
          <p:nvPr/>
        </p:nvSpPr>
        <p:spPr>
          <a:xfrm>
            <a:off x="5953125" y="21923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13" name="Text Box 139"/>
          <p:cNvSpPr txBox="1"/>
          <p:nvPr/>
        </p:nvSpPr>
        <p:spPr>
          <a:xfrm>
            <a:off x="4984750" y="25876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14" name="Text Box 140"/>
          <p:cNvSpPr txBox="1"/>
          <p:nvPr/>
        </p:nvSpPr>
        <p:spPr>
          <a:xfrm>
            <a:off x="5969000" y="25876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15" name="Text Box 141"/>
          <p:cNvSpPr txBox="1"/>
          <p:nvPr/>
        </p:nvSpPr>
        <p:spPr>
          <a:xfrm>
            <a:off x="6889750" y="25876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16" name="Text Box 142"/>
          <p:cNvSpPr txBox="1"/>
          <p:nvPr/>
        </p:nvSpPr>
        <p:spPr>
          <a:xfrm>
            <a:off x="4962525" y="29432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17" name="Text Box 143"/>
          <p:cNvSpPr txBox="1"/>
          <p:nvPr/>
        </p:nvSpPr>
        <p:spPr>
          <a:xfrm>
            <a:off x="5953125" y="29432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18" name="Text Box 145"/>
          <p:cNvSpPr txBox="1"/>
          <p:nvPr/>
        </p:nvSpPr>
        <p:spPr>
          <a:xfrm>
            <a:off x="6904038" y="293370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19" name="Text Box 146"/>
          <p:cNvSpPr txBox="1"/>
          <p:nvPr/>
        </p:nvSpPr>
        <p:spPr>
          <a:xfrm>
            <a:off x="4962525" y="33369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20" name="Text Box 147"/>
          <p:cNvSpPr txBox="1"/>
          <p:nvPr/>
        </p:nvSpPr>
        <p:spPr>
          <a:xfrm>
            <a:off x="5953125" y="33496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21" name="Text Box 151"/>
          <p:cNvSpPr txBox="1"/>
          <p:nvPr/>
        </p:nvSpPr>
        <p:spPr>
          <a:xfrm>
            <a:off x="4962525" y="37306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22" name="Text Box 152"/>
          <p:cNvSpPr txBox="1"/>
          <p:nvPr/>
        </p:nvSpPr>
        <p:spPr>
          <a:xfrm>
            <a:off x="5953125" y="37179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23" name="Text Box 153"/>
          <p:cNvSpPr txBox="1"/>
          <p:nvPr/>
        </p:nvSpPr>
        <p:spPr>
          <a:xfrm>
            <a:off x="4962525" y="40846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24" name="Text Box 154"/>
          <p:cNvSpPr txBox="1"/>
          <p:nvPr/>
        </p:nvSpPr>
        <p:spPr>
          <a:xfrm>
            <a:off x="5946775" y="4087813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25" name="AutoShape 155"/>
          <p:cNvSpPr/>
          <p:nvPr/>
        </p:nvSpPr>
        <p:spPr>
          <a:xfrm>
            <a:off x="2971800" y="3014663"/>
            <a:ext cx="533400" cy="381000"/>
          </a:xfrm>
          <a:prstGeom prst="leftRightArrow">
            <a:avLst>
              <a:gd name="adj1" fmla="val 50000"/>
              <a:gd name="adj2" fmla="val 28000"/>
            </a:avLst>
          </a:prstGeom>
          <a:gradFill rotWithShape="0">
            <a:gsLst>
              <a:gs pos="0">
                <a:srgbClr val="007676"/>
              </a:gs>
              <a:gs pos="50000">
                <a:srgbClr val="00FFFF"/>
              </a:gs>
              <a:gs pos="100000">
                <a:srgbClr val="007676"/>
              </a:gs>
            </a:gsLst>
            <a:lin ang="5400000" scaled="1"/>
            <a:tileRect/>
          </a:gra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5126" name="组合 1"/>
          <p:cNvGrpSpPr/>
          <p:nvPr/>
        </p:nvGrpSpPr>
        <p:grpSpPr>
          <a:xfrm>
            <a:off x="439738" y="2003425"/>
            <a:ext cx="2436812" cy="2878138"/>
            <a:chOff x="439738" y="1211263"/>
            <a:chExt cx="2436812" cy="2878137"/>
          </a:xfrm>
        </p:grpSpPr>
        <p:sp>
          <p:nvSpPr>
            <p:cNvPr id="45172" name="Oval 4"/>
            <p:cNvSpPr/>
            <p:nvPr/>
          </p:nvSpPr>
          <p:spPr>
            <a:xfrm>
              <a:off x="1357313" y="1211263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73" name="Oval 5"/>
            <p:cNvSpPr/>
            <p:nvPr/>
          </p:nvSpPr>
          <p:spPr>
            <a:xfrm>
              <a:off x="2127250" y="1914525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3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74" name="Oval 6"/>
            <p:cNvSpPr/>
            <p:nvPr/>
          </p:nvSpPr>
          <p:spPr>
            <a:xfrm>
              <a:off x="1849438" y="2755900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75" name="Oval 7"/>
            <p:cNvSpPr/>
            <p:nvPr/>
          </p:nvSpPr>
          <p:spPr>
            <a:xfrm>
              <a:off x="1562100" y="3708400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76" name="Oval 8"/>
            <p:cNvSpPr/>
            <p:nvPr/>
          </p:nvSpPr>
          <p:spPr>
            <a:xfrm>
              <a:off x="439738" y="2800350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77" name="Oval 9"/>
            <p:cNvSpPr/>
            <p:nvPr/>
          </p:nvSpPr>
          <p:spPr>
            <a:xfrm>
              <a:off x="784225" y="1946275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78" name="Line 11"/>
            <p:cNvSpPr/>
            <p:nvPr/>
          </p:nvSpPr>
          <p:spPr>
            <a:xfrm>
              <a:off x="1725613" y="1466850"/>
              <a:ext cx="477837" cy="474663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5179" name="Line 12"/>
            <p:cNvSpPr/>
            <p:nvPr/>
          </p:nvSpPr>
          <p:spPr>
            <a:xfrm flipV="1">
              <a:off x="1025526" y="1492250"/>
              <a:ext cx="371474" cy="473076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5180" name="Oval 157"/>
            <p:cNvSpPr/>
            <p:nvPr/>
          </p:nvSpPr>
          <p:spPr>
            <a:xfrm>
              <a:off x="1095375" y="2773363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81" name="Line 158"/>
            <p:cNvSpPr/>
            <p:nvPr/>
          </p:nvSpPr>
          <p:spPr>
            <a:xfrm flipH="1">
              <a:off x="614363" y="2246313"/>
              <a:ext cx="203200" cy="59055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5182" name="Line 159"/>
            <p:cNvSpPr/>
            <p:nvPr/>
          </p:nvSpPr>
          <p:spPr>
            <a:xfrm>
              <a:off x="1106488" y="2306638"/>
              <a:ext cx="168275" cy="481012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5183" name="Oval 160"/>
            <p:cNvSpPr/>
            <p:nvPr/>
          </p:nvSpPr>
          <p:spPr>
            <a:xfrm>
              <a:off x="2495550" y="2716213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84" name="Line 161"/>
            <p:cNvSpPr/>
            <p:nvPr/>
          </p:nvSpPr>
          <p:spPr>
            <a:xfrm flipH="1">
              <a:off x="2070100" y="2282825"/>
              <a:ext cx="179388" cy="4572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5185" name="Line 162"/>
            <p:cNvSpPr/>
            <p:nvPr/>
          </p:nvSpPr>
          <p:spPr>
            <a:xfrm>
              <a:off x="2478088" y="2246313"/>
              <a:ext cx="228600" cy="530225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5186" name="Line 163"/>
            <p:cNvSpPr/>
            <p:nvPr/>
          </p:nvSpPr>
          <p:spPr>
            <a:xfrm flipH="1">
              <a:off x="1900238" y="3100388"/>
              <a:ext cx="722312" cy="6985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5187" name="Line 164"/>
            <p:cNvSpPr/>
            <p:nvPr/>
          </p:nvSpPr>
          <p:spPr>
            <a:xfrm flipH="1">
              <a:off x="1804988" y="3124200"/>
              <a:ext cx="180975" cy="627063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5188" name="Line 165"/>
            <p:cNvSpPr/>
            <p:nvPr/>
          </p:nvSpPr>
          <p:spPr>
            <a:xfrm>
              <a:off x="1419225" y="3076575"/>
              <a:ext cx="241300" cy="6858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5189" name="Line 166"/>
            <p:cNvSpPr/>
            <p:nvPr/>
          </p:nvSpPr>
          <p:spPr>
            <a:xfrm>
              <a:off x="722313" y="3173413"/>
              <a:ext cx="841375" cy="733425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45127" name="Rectangle 168"/>
          <p:cNvSpPr/>
          <p:nvPr/>
        </p:nvSpPr>
        <p:spPr>
          <a:xfrm>
            <a:off x="3829050" y="44783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7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128" name="Rectangle 169"/>
          <p:cNvSpPr/>
          <p:nvPr/>
        </p:nvSpPr>
        <p:spPr>
          <a:xfrm>
            <a:off x="4210050" y="4478338"/>
            <a:ext cx="3048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29" name="Rectangle 171"/>
          <p:cNvSpPr/>
          <p:nvPr/>
        </p:nvSpPr>
        <p:spPr>
          <a:xfrm>
            <a:off x="3829050" y="4851400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8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130" name="Rectangle 172"/>
          <p:cNvSpPr/>
          <p:nvPr/>
        </p:nvSpPr>
        <p:spPr>
          <a:xfrm>
            <a:off x="4210050" y="4851400"/>
            <a:ext cx="3048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31" name="Text Box 173"/>
          <p:cNvSpPr txBox="1"/>
          <p:nvPr/>
        </p:nvSpPr>
        <p:spPr>
          <a:xfrm>
            <a:off x="3535363" y="4445000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32" name="Text Box 174"/>
          <p:cNvSpPr txBox="1"/>
          <p:nvPr/>
        </p:nvSpPr>
        <p:spPr>
          <a:xfrm>
            <a:off x="3522663" y="4779963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109" name="Group 175"/>
          <p:cNvGrpSpPr/>
          <p:nvPr/>
        </p:nvGrpSpPr>
        <p:grpSpPr bwMode="auto">
          <a:xfrm>
            <a:off x="5816600" y="45418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44159" name="Rectangle 176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160" name="Rectangle 177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110" name="Group 178"/>
          <p:cNvGrpSpPr/>
          <p:nvPr/>
        </p:nvGrpSpPr>
        <p:grpSpPr bwMode="auto">
          <a:xfrm>
            <a:off x="4826000" y="45545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44157" name="Rectangle 179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158" name="Rectangle 180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5135" name="Line 181"/>
          <p:cNvSpPr/>
          <p:nvPr/>
        </p:nvSpPr>
        <p:spPr>
          <a:xfrm flipV="1">
            <a:off x="5435600" y="46815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136" name="Line 182"/>
          <p:cNvSpPr/>
          <p:nvPr/>
        </p:nvSpPr>
        <p:spPr>
          <a:xfrm flipV="1">
            <a:off x="4445000" y="46815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137" name="Rectangle 183"/>
          <p:cNvSpPr/>
          <p:nvPr/>
        </p:nvSpPr>
        <p:spPr>
          <a:xfrm>
            <a:off x="6284913" y="4424363"/>
            <a:ext cx="3733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38" name="Text Box 184"/>
          <p:cNvSpPr txBox="1"/>
          <p:nvPr/>
        </p:nvSpPr>
        <p:spPr>
          <a:xfrm>
            <a:off x="4962525" y="44402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39" name="Text Box 185"/>
          <p:cNvSpPr txBox="1"/>
          <p:nvPr/>
        </p:nvSpPr>
        <p:spPr>
          <a:xfrm>
            <a:off x="5946775" y="4443413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116" name="Group 186"/>
          <p:cNvGrpSpPr/>
          <p:nvPr/>
        </p:nvGrpSpPr>
        <p:grpSpPr bwMode="auto">
          <a:xfrm>
            <a:off x="7842250" y="49276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44155" name="Rectangle 187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156" name="Rectangle 188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117" name="Group 189"/>
          <p:cNvGrpSpPr/>
          <p:nvPr/>
        </p:nvGrpSpPr>
        <p:grpSpPr bwMode="auto">
          <a:xfrm>
            <a:off x="4826000" y="49228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44153" name="Rectangle 190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154" name="Rectangle 191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5142" name="Line 192"/>
          <p:cNvSpPr/>
          <p:nvPr/>
        </p:nvSpPr>
        <p:spPr>
          <a:xfrm flipV="1">
            <a:off x="5435600" y="50498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143" name="Line 193"/>
          <p:cNvSpPr/>
          <p:nvPr/>
        </p:nvSpPr>
        <p:spPr>
          <a:xfrm flipV="1">
            <a:off x="4445000" y="50498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144" name="Rectangle 194"/>
          <p:cNvSpPr/>
          <p:nvPr/>
        </p:nvSpPr>
        <p:spPr>
          <a:xfrm>
            <a:off x="8353425" y="4851400"/>
            <a:ext cx="32575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45" name="Text Box 195"/>
          <p:cNvSpPr txBox="1"/>
          <p:nvPr/>
        </p:nvSpPr>
        <p:spPr>
          <a:xfrm>
            <a:off x="4962525" y="48085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46" name="Text Box 196"/>
          <p:cNvSpPr txBox="1"/>
          <p:nvPr/>
        </p:nvSpPr>
        <p:spPr>
          <a:xfrm>
            <a:off x="7972425" y="484187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123" name="Group 201"/>
          <p:cNvGrpSpPr/>
          <p:nvPr/>
        </p:nvGrpSpPr>
        <p:grpSpPr bwMode="auto">
          <a:xfrm>
            <a:off x="5816600" y="49228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44151" name="Rectangle 202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152" name="Rectangle 203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5148" name="Line 204"/>
          <p:cNvSpPr/>
          <p:nvPr/>
        </p:nvSpPr>
        <p:spPr>
          <a:xfrm flipV="1">
            <a:off x="6426200" y="50752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149" name="Text Box 205"/>
          <p:cNvSpPr txBox="1"/>
          <p:nvPr/>
        </p:nvSpPr>
        <p:spPr>
          <a:xfrm>
            <a:off x="5953125" y="48339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126" name="Group 206"/>
          <p:cNvGrpSpPr/>
          <p:nvPr/>
        </p:nvGrpSpPr>
        <p:grpSpPr bwMode="auto">
          <a:xfrm>
            <a:off x="6832600" y="49101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44149" name="Rectangle 207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150" name="Rectangle 208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5151" name="Line 209"/>
          <p:cNvSpPr/>
          <p:nvPr/>
        </p:nvSpPr>
        <p:spPr>
          <a:xfrm flipV="1">
            <a:off x="7442200" y="50625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5152" name="Text Box 210"/>
          <p:cNvSpPr txBox="1"/>
          <p:nvPr/>
        </p:nvSpPr>
        <p:spPr>
          <a:xfrm>
            <a:off x="6969125" y="48212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283" name="Text Box 211"/>
          <p:cNvSpPr txBox="1"/>
          <p:nvPr/>
        </p:nvSpPr>
        <p:spPr>
          <a:xfrm>
            <a:off x="4954588" y="1936750"/>
            <a:ext cx="2984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284" name="Text Box 212"/>
          <p:cNvSpPr txBox="1"/>
          <p:nvPr/>
        </p:nvSpPr>
        <p:spPr>
          <a:xfrm>
            <a:off x="5999163" y="2366963"/>
            <a:ext cx="2984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1285" name="Text Box 213"/>
          <p:cNvSpPr txBox="1"/>
          <p:nvPr/>
        </p:nvSpPr>
        <p:spPr>
          <a:xfrm>
            <a:off x="5997575" y="3148013"/>
            <a:ext cx="2984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1286" name="Text Box 214"/>
          <p:cNvSpPr txBox="1"/>
          <p:nvPr/>
        </p:nvSpPr>
        <p:spPr>
          <a:xfrm>
            <a:off x="5975350" y="4643438"/>
            <a:ext cx="2984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1287" name="Text Box 215"/>
          <p:cNvSpPr txBox="1"/>
          <p:nvPr/>
        </p:nvSpPr>
        <p:spPr>
          <a:xfrm>
            <a:off x="7000875" y="4613275"/>
            <a:ext cx="3111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1288" name="Text Box 216"/>
          <p:cNvSpPr txBox="1"/>
          <p:nvPr/>
        </p:nvSpPr>
        <p:spPr>
          <a:xfrm>
            <a:off x="4957763" y="3930650"/>
            <a:ext cx="2984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1289" name="Text Box 217"/>
          <p:cNvSpPr txBox="1"/>
          <p:nvPr/>
        </p:nvSpPr>
        <p:spPr>
          <a:xfrm>
            <a:off x="6927850" y="2757488"/>
            <a:ext cx="3111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5160" name="Text Box 218"/>
          <p:cNvSpPr txBox="1"/>
          <p:nvPr/>
        </p:nvSpPr>
        <p:spPr>
          <a:xfrm>
            <a:off x="327025" y="1282700"/>
            <a:ext cx="7513638" cy="52197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例：用深度优先算法遍历下图中的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G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31291" name="Text Box 219"/>
          <p:cNvSpPr txBox="1">
            <a:spLocks noChangeArrowheads="1"/>
          </p:cNvSpPr>
          <p:nvPr/>
        </p:nvSpPr>
        <p:spPr bwMode="auto">
          <a:xfrm>
            <a:off x="382588" y="5335588"/>
            <a:ext cx="4572000" cy="9531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出发的访问序列为：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5162" name="Oval 7"/>
          <p:cNvSpPr/>
          <p:nvPr/>
        </p:nvSpPr>
        <p:spPr>
          <a:xfrm>
            <a:off x="506413" y="80803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5163" name="Text Box 8"/>
          <p:cNvSpPr txBox="1"/>
          <p:nvPr/>
        </p:nvSpPr>
        <p:spPr>
          <a:xfrm>
            <a:off x="704850" y="712788"/>
            <a:ext cx="3622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深度优先搜索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36955" y="5783580"/>
            <a:ext cx="7467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endParaRPr lang="en-US" altLang="zh-CN" sz="2800" b="1" dirty="0">
              <a:solidFill>
                <a:srgbClr val="FF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08150" y="5778500"/>
            <a:ext cx="7467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endParaRPr lang="en-US" altLang="zh-CN" sz="2800" b="1" dirty="0">
              <a:solidFill>
                <a:srgbClr val="FF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43150" y="5776913"/>
            <a:ext cx="7467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endParaRPr lang="en-US" altLang="zh-CN" sz="2800" b="1" dirty="0">
              <a:solidFill>
                <a:srgbClr val="FF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924175" y="5775325"/>
            <a:ext cx="7467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endParaRPr lang="en-US" altLang="zh-CN" sz="2800" b="1" dirty="0">
              <a:solidFill>
                <a:srgbClr val="FF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530600" y="5783263"/>
            <a:ext cx="7467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endParaRPr lang="en-US" altLang="zh-CN" sz="2800" b="1" dirty="0">
              <a:solidFill>
                <a:srgbClr val="FF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081463" y="5781675"/>
            <a:ext cx="7467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endParaRPr lang="en-US" altLang="zh-CN" sz="2800" b="1" dirty="0">
              <a:solidFill>
                <a:srgbClr val="FF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00575" y="5784850"/>
            <a:ext cx="5486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</a:t>
            </a:r>
            <a:endParaRPr lang="en-US" altLang="zh-CN" sz="2800" b="1" baseline="-25000" dirty="0">
              <a:solidFill>
                <a:srgbClr val="FF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5171" name="Text Box 2"/>
          <p:cNvSpPr txBox="1"/>
          <p:nvPr/>
        </p:nvSpPr>
        <p:spPr>
          <a:xfrm>
            <a:off x="6208713" y="82550"/>
            <a:ext cx="29352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7.3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图的遍历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1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1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283" grpId="0"/>
      <p:bldP spid="131284" grpId="0"/>
      <p:bldP spid="131285" grpId="0"/>
      <p:bldP spid="131286" grpId="0"/>
      <p:bldP spid="131287" grpId="0"/>
      <p:bldP spid="131288" grpId="0"/>
      <p:bldP spid="131289" grpId="0"/>
      <p:bldP spid="131291" grpId="0"/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5" name="Rectangle 5"/>
          <p:cNvSpPr>
            <a:spLocks noChangeArrowheads="1"/>
          </p:cNvSpPr>
          <p:nvPr/>
        </p:nvSpPr>
        <p:spPr bwMode="auto">
          <a:xfrm>
            <a:off x="822325" y="1262063"/>
            <a:ext cx="5707063" cy="533463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void dfs(AdjList g, int v0)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{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printf("[%d]", v0);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Visited[v0]=1;  //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标志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v0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已访问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p=g[v0].link;   //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v0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的第一个邻接点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107" name="Oval 7"/>
          <p:cNvSpPr/>
          <p:nvPr/>
        </p:nvSpPr>
        <p:spPr>
          <a:xfrm>
            <a:off x="506413" y="80803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7108" name="Text Box 8"/>
          <p:cNvSpPr txBox="1"/>
          <p:nvPr/>
        </p:nvSpPr>
        <p:spPr>
          <a:xfrm>
            <a:off x="704850" y="712788"/>
            <a:ext cx="3622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深度优先搜索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58875" y="3413125"/>
            <a:ext cx="4403725" cy="26758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eaLnBrk="1" hangingPunct="1">
              <a:buNone/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while (p!=NULL)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eaLnBrk="1" hangingPunct="1"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{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eaLnBrk="1" hangingPunct="1"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if (Visited[p-&gt;adjvex]==0)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eaLnBrk="1" hangingPunct="1"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    dfs (g, p-&gt;adjvex);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eaLnBrk="1" hangingPunct="1"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p=p-&gt;next;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eaLnBrk="1" hangingPunct="1"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} 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4400" y="5595938"/>
            <a:ext cx="963613" cy="917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文本框 1"/>
          <p:cNvSpPr txBox="1"/>
          <p:nvPr/>
        </p:nvSpPr>
        <p:spPr>
          <a:xfrm>
            <a:off x="3038475" y="5776913"/>
            <a:ext cx="6105525" cy="5708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应用此程序可以遍历到任意图的所有顶点吗？</a:t>
            </a:r>
            <a:endParaRPr lang="zh-CN" altLang="en-US" sz="2400" b="1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47112" name="Text Box 2"/>
          <p:cNvSpPr txBox="1"/>
          <p:nvPr/>
        </p:nvSpPr>
        <p:spPr>
          <a:xfrm>
            <a:off x="6208713" y="82550"/>
            <a:ext cx="29352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7.3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图的遍历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Oval 7"/>
          <p:cNvSpPr/>
          <p:nvPr/>
        </p:nvSpPr>
        <p:spPr>
          <a:xfrm>
            <a:off x="506413" y="80803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8131" name="Text Box 8"/>
          <p:cNvSpPr txBox="1"/>
          <p:nvPr/>
        </p:nvSpPr>
        <p:spPr>
          <a:xfrm>
            <a:off x="704850" y="712788"/>
            <a:ext cx="3622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深度优先搜索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2" name="Oval 4"/>
          <p:cNvSpPr/>
          <p:nvPr/>
        </p:nvSpPr>
        <p:spPr>
          <a:xfrm>
            <a:off x="1628775" y="1579563"/>
            <a:ext cx="381000" cy="381000"/>
          </a:xfrm>
          <a:prstGeom prst="ellipse">
            <a:avLst/>
          </a:prstGeom>
          <a:solidFill>
            <a:schemeClr val="accent1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5"/>
          <p:cNvSpPr/>
          <p:nvPr/>
        </p:nvSpPr>
        <p:spPr>
          <a:xfrm>
            <a:off x="2398713" y="2282825"/>
            <a:ext cx="381000" cy="381000"/>
          </a:xfrm>
          <a:prstGeom prst="ellipse">
            <a:avLst/>
          </a:prstGeom>
          <a:solidFill>
            <a:schemeClr val="accent1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6"/>
          <p:cNvSpPr/>
          <p:nvPr/>
        </p:nvSpPr>
        <p:spPr>
          <a:xfrm>
            <a:off x="2120900" y="3124200"/>
            <a:ext cx="381000" cy="381000"/>
          </a:xfrm>
          <a:prstGeom prst="ellipse">
            <a:avLst/>
          </a:prstGeom>
          <a:solidFill>
            <a:schemeClr val="accent1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7"/>
          <p:cNvSpPr/>
          <p:nvPr/>
        </p:nvSpPr>
        <p:spPr>
          <a:xfrm>
            <a:off x="1833563" y="4076700"/>
            <a:ext cx="381000" cy="381000"/>
          </a:xfrm>
          <a:prstGeom prst="ellipse">
            <a:avLst/>
          </a:prstGeom>
          <a:solidFill>
            <a:schemeClr val="accent1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8"/>
          <p:cNvSpPr/>
          <p:nvPr/>
        </p:nvSpPr>
        <p:spPr>
          <a:xfrm>
            <a:off x="711200" y="3168650"/>
            <a:ext cx="381000" cy="381000"/>
          </a:xfrm>
          <a:prstGeom prst="ellipse">
            <a:avLst/>
          </a:prstGeom>
          <a:solidFill>
            <a:schemeClr val="accent1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9"/>
          <p:cNvSpPr/>
          <p:nvPr/>
        </p:nvSpPr>
        <p:spPr>
          <a:xfrm>
            <a:off x="1055688" y="2314575"/>
            <a:ext cx="381000" cy="381000"/>
          </a:xfrm>
          <a:prstGeom prst="ellipse">
            <a:avLst/>
          </a:prstGeom>
          <a:solidFill>
            <a:schemeClr val="accent1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38" name="Line 11"/>
          <p:cNvSpPr/>
          <p:nvPr/>
        </p:nvSpPr>
        <p:spPr>
          <a:xfrm>
            <a:off x="1997075" y="1835150"/>
            <a:ext cx="477838" cy="474663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139" name="Line 12"/>
          <p:cNvSpPr/>
          <p:nvPr/>
        </p:nvSpPr>
        <p:spPr>
          <a:xfrm flipV="1">
            <a:off x="1358900" y="1860550"/>
            <a:ext cx="309563" cy="460375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Oval 157"/>
          <p:cNvSpPr/>
          <p:nvPr/>
        </p:nvSpPr>
        <p:spPr>
          <a:xfrm>
            <a:off x="1366838" y="3141663"/>
            <a:ext cx="381000" cy="381000"/>
          </a:xfrm>
          <a:prstGeom prst="ellipse">
            <a:avLst/>
          </a:prstGeom>
          <a:solidFill>
            <a:schemeClr val="accent1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41" name="Line 158"/>
          <p:cNvSpPr/>
          <p:nvPr/>
        </p:nvSpPr>
        <p:spPr>
          <a:xfrm flipH="1">
            <a:off x="885825" y="2651125"/>
            <a:ext cx="279400" cy="554038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142" name="Line 159"/>
          <p:cNvSpPr/>
          <p:nvPr/>
        </p:nvSpPr>
        <p:spPr>
          <a:xfrm>
            <a:off x="1377950" y="2674938"/>
            <a:ext cx="168275" cy="481012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Oval 160"/>
          <p:cNvSpPr/>
          <p:nvPr/>
        </p:nvSpPr>
        <p:spPr>
          <a:xfrm>
            <a:off x="2767013" y="3084513"/>
            <a:ext cx="381000" cy="381000"/>
          </a:xfrm>
          <a:prstGeom prst="ellipse">
            <a:avLst/>
          </a:prstGeom>
          <a:solidFill>
            <a:schemeClr val="accent1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44" name="Line 161"/>
          <p:cNvSpPr/>
          <p:nvPr/>
        </p:nvSpPr>
        <p:spPr>
          <a:xfrm flipH="1">
            <a:off x="2341563" y="2651125"/>
            <a:ext cx="179387" cy="4572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145" name="Line 162"/>
          <p:cNvSpPr/>
          <p:nvPr/>
        </p:nvSpPr>
        <p:spPr>
          <a:xfrm>
            <a:off x="2690813" y="2586038"/>
            <a:ext cx="231775" cy="4953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146" name="Line 163"/>
          <p:cNvSpPr/>
          <p:nvPr/>
        </p:nvSpPr>
        <p:spPr>
          <a:xfrm flipH="1">
            <a:off x="2171700" y="3468688"/>
            <a:ext cx="722313" cy="6985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147" name="Line 164"/>
          <p:cNvSpPr/>
          <p:nvPr/>
        </p:nvSpPr>
        <p:spPr>
          <a:xfrm flipH="1">
            <a:off x="2076450" y="3492500"/>
            <a:ext cx="180975" cy="627063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148" name="Line 165"/>
          <p:cNvSpPr/>
          <p:nvPr/>
        </p:nvSpPr>
        <p:spPr>
          <a:xfrm>
            <a:off x="1690688" y="3444875"/>
            <a:ext cx="241300" cy="6858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149" name="Line 166"/>
          <p:cNvSpPr/>
          <p:nvPr/>
        </p:nvSpPr>
        <p:spPr>
          <a:xfrm>
            <a:off x="993775" y="3541713"/>
            <a:ext cx="841375" cy="733425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Oval 7"/>
          <p:cNvSpPr/>
          <p:nvPr/>
        </p:nvSpPr>
        <p:spPr>
          <a:xfrm>
            <a:off x="1162050" y="4527550"/>
            <a:ext cx="381000" cy="381000"/>
          </a:xfrm>
          <a:prstGeom prst="ellipse">
            <a:avLst/>
          </a:prstGeom>
          <a:solidFill>
            <a:schemeClr val="accent1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Oval 7"/>
          <p:cNvSpPr/>
          <p:nvPr/>
        </p:nvSpPr>
        <p:spPr>
          <a:xfrm>
            <a:off x="2373313" y="4524375"/>
            <a:ext cx="381000" cy="381000"/>
          </a:xfrm>
          <a:prstGeom prst="ellipse">
            <a:avLst/>
          </a:prstGeom>
          <a:solidFill>
            <a:schemeClr val="accent1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Oval 4"/>
          <p:cNvSpPr/>
          <p:nvPr/>
        </p:nvSpPr>
        <p:spPr>
          <a:xfrm>
            <a:off x="1627188" y="1582738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val 9"/>
          <p:cNvSpPr/>
          <p:nvPr/>
        </p:nvSpPr>
        <p:spPr>
          <a:xfrm>
            <a:off x="1046163" y="2320925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Oval 8"/>
          <p:cNvSpPr/>
          <p:nvPr/>
        </p:nvSpPr>
        <p:spPr>
          <a:xfrm>
            <a:off x="711200" y="3171825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Oval 7"/>
          <p:cNvSpPr/>
          <p:nvPr/>
        </p:nvSpPr>
        <p:spPr>
          <a:xfrm>
            <a:off x="1836738" y="4076700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val 157"/>
          <p:cNvSpPr/>
          <p:nvPr/>
        </p:nvSpPr>
        <p:spPr>
          <a:xfrm>
            <a:off x="1371600" y="3143250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6"/>
          <p:cNvSpPr/>
          <p:nvPr/>
        </p:nvSpPr>
        <p:spPr>
          <a:xfrm>
            <a:off x="2120900" y="3114675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Oval 5"/>
          <p:cNvSpPr/>
          <p:nvPr/>
        </p:nvSpPr>
        <p:spPr>
          <a:xfrm>
            <a:off x="2398713" y="2298700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Oval 160"/>
          <p:cNvSpPr/>
          <p:nvPr/>
        </p:nvSpPr>
        <p:spPr>
          <a:xfrm>
            <a:off x="2767013" y="3086100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Oval 7"/>
          <p:cNvSpPr/>
          <p:nvPr/>
        </p:nvSpPr>
        <p:spPr>
          <a:xfrm>
            <a:off x="1162050" y="4524375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7"/>
          <p:cNvSpPr/>
          <p:nvPr/>
        </p:nvSpPr>
        <p:spPr>
          <a:xfrm>
            <a:off x="2366963" y="4524375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19438" y="5418138"/>
            <a:ext cx="3230562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(i=1; i&lt;=n; i++)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(visited[i]==0)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dfs(g, i);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013" y="5416550"/>
            <a:ext cx="2621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在主程序中增加：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48164" name="Rectangle 194"/>
          <p:cNvSpPr/>
          <p:nvPr/>
        </p:nvSpPr>
        <p:spPr>
          <a:xfrm>
            <a:off x="8353425" y="4171950"/>
            <a:ext cx="32575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65" name="Rectangle 171"/>
          <p:cNvSpPr/>
          <p:nvPr/>
        </p:nvSpPr>
        <p:spPr>
          <a:xfrm>
            <a:off x="3843338" y="4549775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9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166" name="Rectangle 172"/>
          <p:cNvSpPr/>
          <p:nvPr/>
        </p:nvSpPr>
        <p:spPr>
          <a:xfrm>
            <a:off x="4224338" y="4549775"/>
            <a:ext cx="309562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˄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67" name="Text Box 174"/>
          <p:cNvSpPr txBox="1"/>
          <p:nvPr/>
        </p:nvSpPr>
        <p:spPr>
          <a:xfrm>
            <a:off x="3522663" y="4478338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68" name="Rectangle 171"/>
          <p:cNvSpPr/>
          <p:nvPr/>
        </p:nvSpPr>
        <p:spPr>
          <a:xfrm>
            <a:off x="3843338" y="4927600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10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169" name="Rectangle 172"/>
          <p:cNvSpPr/>
          <p:nvPr/>
        </p:nvSpPr>
        <p:spPr>
          <a:xfrm>
            <a:off x="4224338" y="4927600"/>
            <a:ext cx="3048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˄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70" name="Text Box 174"/>
          <p:cNvSpPr txBox="1"/>
          <p:nvPr/>
        </p:nvSpPr>
        <p:spPr>
          <a:xfrm>
            <a:off x="3438525" y="4856163"/>
            <a:ext cx="52197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0" name="矩形 1">
            <a:hlinkClick r:id="rId1" action="ppaction://hlinksldjump"/>
          </p:cNvPr>
          <p:cNvSpPr/>
          <p:nvPr/>
        </p:nvSpPr>
        <p:spPr>
          <a:xfrm>
            <a:off x="7473950" y="5035550"/>
            <a:ext cx="1187450" cy="381000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</a:rPr>
              <a:t>原则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48172" name="Text Box 2"/>
          <p:cNvSpPr txBox="1"/>
          <p:nvPr/>
        </p:nvSpPr>
        <p:spPr>
          <a:xfrm>
            <a:off x="6208713" y="82550"/>
            <a:ext cx="29352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7.3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图的遍历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94" name="Group 20"/>
          <p:cNvGrpSpPr/>
          <p:nvPr/>
        </p:nvGrpSpPr>
        <p:grpSpPr bwMode="auto">
          <a:xfrm>
            <a:off x="3847926" y="2265408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195" name="Rectangle 21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6" name="Rectangle 22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7" name="Group 23"/>
          <p:cNvGrpSpPr/>
          <p:nvPr/>
        </p:nvGrpSpPr>
        <p:grpSpPr bwMode="auto">
          <a:xfrm>
            <a:off x="3847926" y="3408408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198" name="Rectangle 24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9" name="Rectangle 25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1" name="Group 26"/>
          <p:cNvGrpSpPr/>
          <p:nvPr/>
        </p:nvGrpSpPr>
        <p:grpSpPr bwMode="auto">
          <a:xfrm>
            <a:off x="3847926" y="3027408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202" name="Rectangle 27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3" name="Rectangle 28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4" name="Group 29"/>
          <p:cNvGrpSpPr/>
          <p:nvPr/>
        </p:nvGrpSpPr>
        <p:grpSpPr bwMode="auto">
          <a:xfrm>
            <a:off x="3847926" y="2646408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205" name="Rectangle 30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6" name="Rectangle 31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7" name="Group 32"/>
          <p:cNvGrpSpPr/>
          <p:nvPr/>
        </p:nvGrpSpPr>
        <p:grpSpPr bwMode="auto">
          <a:xfrm>
            <a:off x="3847926" y="1884408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208" name="Rectangle 33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9" name="Rectangle 34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0" name="Group 35"/>
          <p:cNvGrpSpPr/>
          <p:nvPr/>
        </p:nvGrpSpPr>
        <p:grpSpPr bwMode="auto">
          <a:xfrm>
            <a:off x="3847926" y="1503408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211" name="Rectangle 36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2" name="Rectangle 37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8179" name="Text Box 38"/>
          <p:cNvSpPr txBox="1"/>
          <p:nvPr/>
        </p:nvSpPr>
        <p:spPr>
          <a:xfrm>
            <a:off x="3908425" y="1447800"/>
            <a:ext cx="3365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180" name="Text Box 39"/>
          <p:cNvSpPr txBox="1"/>
          <p:nvPr/>
        </p:nvSpPr>
        <p:spPr>
          <a:xfrm>
            <a:off x="3908425" y="1798638"/>
            <a:ext cx="3365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2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181" name="Text Box 40"/>
          <p:cNvSpPr txBox="1"/>
          <p:nvPr/>
        </p:nvSpPr>
        <p:spPr>
          <a:xfrm>
            <a:off x="3898900" y="2209800"/>
            <a:ext cx="3365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3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182" name="Text Box 41"/>
          <p:cNvSpPr txBox="1"/>
          <p:nvPr/>
        </p:nvSpPr>
        <p:spPr>
          <a:xfrm>
            <a:off x="3908425" y="2560638"/>
            <a:ext cx="3365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4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183" name="Text Box 42"/>
          <p:cNvSpPr txBox="1"/>
          <p:nvPr/>
        </p:nvSpPr>
        <p:spPr>
          <a:xfrm>
            <a:off x="3924300" y="2941638"/>
            <a:ext cx="3365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5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184" name="Text Box 43"/>
          <p:cNvSpPr txBox="1"/>
          <p:nvPr/>
        </p:nvSpPr>
        <p:spPr>
          <a:xfrm>
            <a:off x="3908425" y="3422650"/>
            <a:ext cx="3365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19" name="Group 44"/>
          <p:cNvGrpSpPr/>
          <p:nvPr/>
        </p:nvGrpSpPr>
        <p:grpSpPr bwMode="auto">
          <a:xfrm>
            <a:off x="4838526" y="157960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20" name="Rectangle 45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1" name="Rectangle 46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8186" name="Rectangle 48"/>
          <p:cNvSpPr/>
          <p:nvPr/>
        </p:nvSpPr>
        <p:spPr>
          <a:xfrm>
            <a:off x="5829300" y="1579563"/>
            <a:ext cx="533400" cy="2286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87" name="Rectangle 49"/>
          <p:cNvSpPr/>
          <p:nvPr/>
        </p:nvSpPr>
        <p:spPr>
          <a:xfrm>
            <a:off x="6362700" y="1579563"/>
            <a:ext cx="228600" cy="2286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4" name="Group 56"/>
          <p:cNvGrpSpPr/>
          <p:nvPr/>
        </p:nvGrpSpPr>
        <p:grpSpPr bwMode="auto">
          <a:xfrm>
            <a:off x="5829126" y="349730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25" name="Rectangle 57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6" name="Rectangle 58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7" name="Group 59"/>
          <p:cNvGrpSpPr/>
          <p:nvPr/>
        </p:nvGrpSpPr>
        <p:grpSpPr bwMode="auto">
          <a:xfrm>
            <a:off x="4838526" y="351000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28" name="Rectangle 60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9" name="Rectangle 61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0" name="Group 65"/>
          <p:cNvGrpSpPr/>
          <p:nvPr/>
        </p:nvGrpSpPr>
        <p:grpSpPr bwMode="auto">
          <a:xfrm>
            <a:off x="4838526" y="274800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31" name="Rectangle 66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2" name="Rectangle 67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3" name="Group 68"/>
          <p:cNvGrpSpPr/>
          <p:nvPr/>
        </p:nvGrpSpPr>
        <p:grpSpPr bwMode="auto">
          <a:xfrm>
            <a:off x="5829126" y="311630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34" name="Rectangle 69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5" name="Rectangle 70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6" name="Group 71"/>
          <p:cNvGrpSpPr/>
          <p:nvPr/>
        </p:nvGrpSpPr>
        <p:grpSpPr bwMode="auto">
          <a:xfrm>
            <a:off x="4838526" y="312900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37" name="Rectangle 72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8" name="Rectangle 73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9" name="Group 80"/>
          <p:cNvGrpSpPr/>
          <p:nvPr/>
        </p:nvGrpSpPr>
        <p:grpSpPr bwMode="auto">
          <a:xfrm>
            <a:off x="5829126" y="273530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40" name="Rectangle 81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1" name="Rectangle 82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2" name="Group 83"/>
          <p:cNvGrpSpPr/>
          <p:nvPr/>
        </p:nvGrpSpPr>
        <p:grpSpPr bwMode="auto">
          <a:xfrm>
            <a:off x="4838526" y="234160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43" name="Rectangle 84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4" name="Rectangle 85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5" name="Group 86"/>
          <p:cNvGrpSpPr/>
          <p:nvPr/>
        </p:nvGrpSpPr>
        <p:grpSpPr bwMode="auto">
          <a:xfrm>
            <a:off x="4838526" y="196060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46" name="Rectangle 87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7" name="Rectangle 88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8" name="Group 89"/>
          <p:cNvGrpSpPr/>
          <p:nvPr/>
        </p:nvGrpSpPr>
        <p:grpSpPr bwMode="auto">
          <a:xfrm>
            <a:off x="6846714" y="234160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49" name="Rectangle 90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0" name="Rectangle 91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" name="Group 95"/>
          <p:cNvGrpSpPr/>
          <p:nvPr/>
        </p:nvGrpSpPr>
        <p:grpSpPr bwMode="auto">
          <a:xfrm>
            <a:off x="5829126" y="234160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52" name="Rectangle 96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3" name="Rectangle 97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8198" name="Rectangle 99"/>
          <p:cNvSpPr/>
          <p:nvPr/>
        </p:nvSpPr>
        <p:spPr>
          <a:xfrm>
            <a:off x="5829300" y="1960563"/>
            <a:ext cx="533400" cy="2286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99" name="Rectangle 100"/>
          <p:cNvSpPr/>
          <p:nvPr/>
        </p:nvSpPr>
        <p:spPr>
          <a:xfrm>
            <a:off x="6362700" y="1960563"/>
            <a:ext cx="228600" cy="2286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6" name="Group 101"/>
          <p:cNvGrpSpPr/>
          <p:nvPr/>
        </p:nvGrpSpPr>
        <p:grpSpPr bwMode="auto">
          <a:xfrm>
            <a:off x="6819726" y="196060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57" name="Rectangle 102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8" name="Rectangle 103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8201" name="Line 104"/>
          <p:cNvSpPr/>
          <p:nvPr/>
        </p:nvSpPr>
        <p:spPr>
          <a:xfrm flipV="1">
            <a:off x="4457700" y="28749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02" name="Line 105"/>
          <p:cNvSpPr/>
          <p:nvPr/>
        </p:nvSpPr>
        <p:spPr>
          <a:xfrm flipV="1">
            <a:off x="6438900" y="20367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03" name="Line 106"/>
          <p:cNvSpPr/>
          <p:nvPr/>
        </p:nvSpPr>
        <p:spPr>
          <a:xfrm flipV="1">
            <a:off x="5448300" y="20367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04" name="Line 107"/>
          <p:cNvSpPr/>
          <p:nvPr/>
        </p:nvSpPr>
        <p:spPr>
          <a:xfrm flipV="1">
            <a:off x="4457700" y="20367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05" name="Line 110"/>
          <p:cNvSpPr/>
          <p:nvPr/>
        </p:nvSpPr>
        <p:spPr>
          <a:xfrm flipV="1">
            <a:off x="5448300" y="17319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06" name="Line 111"/>
          <p:cNvSpPr/>
          <p:nvPr/>
        </p:nvSpPr>
        <p:spPr>
          <a:xfrm flipV="1">
            <a:off x="4457700" y="17319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07" name="Line 113"/>
          <p:cNvSpPr/>
          <p:nvPr/>
        </p:nvSpPr>
        <p:spPr>
          <a:xfrm flipV="1">
            <a:off x="4457700" y="32559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08" name="Line 116"/>
          <p:cNvSpPr/>
          <p:nvPr/>
        </p:nvSpPr>
        <p:spPr>
          <a:xfrm flipV="1">
            <a:off x="5448300" y="28749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09" name="Line 118"/>
          <p:cNvSpPr/>
          <p:nvPr/>
        </p:nvSpPr>
        <p:spPr>
          <a:xfrm flipV="1">
            <a:off x="6438900" y="24685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10" name="Line 119"/>
          <p:cNvSpPr/>
          <p:nvPr/>
        </p:nvSpPr>
        <p:spPr>
          <a:xfrm flipV="1">
            <a:off x="5448300" y="24685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11" name="Line 120"/>
          <p:cNvSpPr/>
          <p:nvPr/>
        </p:nvSpPr>
        <p:spPr>
          <a:xfrm flipV="1">
            <a:off x="4457700" y="24685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12" name="Line 121"/>
          <p:cNvSpPr/>
          <p:nvPr/>
        </p:nvSpPr>
        <p:spPr>
          <a:xfrm flipV="1">
            <a:off x="5448300" y="36369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13" name="Line 122"/>
          <p:cNvSpPr/>
          <p:nvPr/>
        </p:nvSpPr>
        <p:spPr>
          <a:xfrm flipV="1">
            <a:off x="4457700" y="36369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14" name="Line 123"/>
          <p:cNvSpPr/>
          <p:nvPr/>
        </p:nvSpPr>
        <p:spPr>
          <a:xfrm flipV="1">
            <a:off x="5448300" y="32559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15" name="Text Box 124"/>
          <p:cNvSpPr txBox="1"/>
          <p:nvPr/>
        </p:nvSpPr>
        <p:spPr>
          <a:xfrm>
            <a:off x="7331075" y="1884363"/>
            <a:ext cx="31623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16" name="Rectangle 125"/>
          <p:cNvSpPr/>
          <p:nvPr/>
        </p:nvSpPr>
        <p:spPr>
          <a:xfrm>
            <a:off x="7327900" y="2241550"/>
            <a:ext cx="31623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17" name="Rectangle 126"/>
          <p:cNvSpPr/>
          <p:nvPr/>
        </p:nvSpPr>
        <p:spPr>
          <a:xfrm>
            <a:off x="6307138" y="2632075"/>
            <a:ext cx="3733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18" name="Rectangle 127"/>
          <p:cNvSpPr/>
          <p:nvPr/>
        </p:nvSpPr>
        <p:spPr>
          <a:xfrm>
            <a:off x="6292850" y="2998788"/>
            <a:ext cx="3733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19" name="Rectangle 128"/>
          <p:cNvSpPr/>
          <p:nvPr/>
        </p:nvSpPr>
        <p:spPr>
          <a:xfrm>
            <a:off x="6283325" y="3394075"/>
            <a:ext cx="3733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20" name="Text Box 129"/>
          <p:cNvSpPr txBox="1"/>
          <p:nvPr/>
        </p:nvSpPr>
        <p:spPr>
          <a:xfrm>
            <a:off x="3527425" y="1503363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21" name="Text Box 130"/>
          <p:cNvSpPr txBox="1"/>
          <p:nvPr/>
        </p:nvSpPr>
        <p:spPr>
          <a:xfrm>
            <a:off x="3527425" y="1898650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22" name="Text Box 131"/>
          <p:cNvSpPr txBox="1"/>
          <p:nvPr/>
        </p:nvSpPr>
        <p:spPr>
          <a:xfrm>
            <a:off x="3527425" y="2325688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23" name="Text Box 132"/>
          <p:cNvSpPr txBox="1"/>
          <p:nvPr/>
        </p:nvSpPr>
        <p:spPr>
          <a:xfrm>
            <a:off x="3527425" y="2660650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24" name="Text Box 133"/>
          <p:cNvSpPr txBox="1"/>
          <p:nvPr/>
        </p:nvSpPr>
        <p:spPr>
          <a:xfrm>
            <a:off x="3527425" y="3027363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25" name="Text Box 134"/>
          <p:cNvSpPr txBox="1"/>
          <p:nvPr/>
        </p:nvSpPr>
        <p:spPr>
          <a:xfrm>
            <a:off x="3527425" y="3422650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26" name="Text Box 135"/>
          <p:cNvSpPr txBox="1"/>
          <p:nvPr/>
        </p:nvSpPr>
        <p:spPr>
          <a:xfrm>
            <a:off x="4991100" y="151130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27" name="Text Box 136"/>
          <p:cNvSpPr txBox="1"/>
          <p:nvPr/>
        </p:nvSpPr>
        <p:spPr>
          <a:xfrm>
            <a:off x="5965825" y="1503363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28" name="Text Box 139"/>
          <p:cNvSpPr txBox="1"/>
          <p:nvPr/>
        </p:nvSpPr>
        <p:spPr>
          <a:xfrm>
            <a:off x="4997450" y="18986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29" name="Text Box 140"/>
          <p:cNvSpPr txBox="1"/>
          <p:nvPr/>
        </p:nvSpPr>
        <p:spPr>
          <a:xfrm>
            <a:off x="5981700" y="18986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30" name="Text Box 141"/>
          <p:cNvSpPr txBox="1"/>
          <p:nvPr/>
        </p:nvSpPr>
        <p:spPr>
          <a:xfrm>
            <a:off x="6902450" y="18986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31" name="Text Box 142"/>
          <p:cNvSpPr txBox="1"/>
          <p:nvPr/>
        </p:nvSpPr>
        <p:spPr>
          <a:xfrm>
            <a:off x="4975225" y="22542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32" name="Text Box 143"/>
          <p:cNvSpPr txBox="1"/>
          <p:nvPr/>
        </p:nvSpPr>
        <p:spPr>
          <a:xfrm>
            <a:off x="5965825" y="22542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33" name="Text Box 145"/>
          <p:cNvSpPr txBox="1"/>
          <p:nvPr/>
        </p:nvSpPr>
        <p:spPr>
          <a:xfrm>
            <a:off x="6916738" y="22447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34" name="Text Box 146"/>
          <p:cNvSpPr txBox="1"/>
          <p:nvPr/>
        </p:nvSpPr>
        <p:spPr>
          <a:xfrm>
            <a:off x="4975225" y="26479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35" name="Text Box 147"/>
          <p:cNvSpPr txBox="1"/>
          <p:nvPr/>
        </p:nvSpPr>
        <p:spPr>
          <a:xfrm>
            <a:off x="5965825" y="26606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36" name="Text Box 151"/>
          <p:cNvSpPr txBox="1"/>
          <p:nvPr/>
        </p:nvSpPr>
        <p:spPr>
          <a:xfrm>
            <a:off x="4975225" y="30416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37" name="Text Box 152"/>
          <p:cNvSpPr txBox="1"/>
          <p:nvPr/>
        </p:nvSpPr>
        <p:spPr>
          <a:xfrm>
            <a:off x="5965825" y="30289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38" name="Text Box 153"/>
          <p:cNvSpPr txBox="1"/>
          <p:nvPr/>
        </p:nvSpPr>
        <p:spPr>
          <a:xfrm>
            <a:off x="4975225" y="3395663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39" name="Text Box 154"/>
          <p:cNvSpPr txBox="1"/>
          <p:nvPr/>
        </p:nvSpPr>
        <p:spPr>
          <a:xfrm>
            <a:off x="5959475" y="33988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40" name="Rectangle 168"/>
          <p:cNvSpPr/>
          <p:nvPr/>
        </p:nvSpPr>
        <p:spPr>
          <a:xfrm>
            <a:off x="3841750" y="3789363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7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241" name="Rectangle 169"/>
          <p:cNvSpPr/>
          <p:nvPr/>
        </p:nvSpPr>
        <p:spPr>
          <a:xfrm>
            <a:off x="4222750" y="3789363"/>
            <a:ext cx="3048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42" name="Rectangle 171"/>
          <p:cNvSpPr/>
          <p:nvPr/>
        </p:nvSpPr>
        <p:spPr>
          <a:xfrm>
            <a:off x="3841750" y="4162425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8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243" name="Rectangle 172"/>
          <p:cNvSpPr/>
          <p:nvPr/>
        </p:nvSpPr>
        <p:spPr>
          <a:xfrm>
            <a:off x="4222750" y="4162425"/>
            <a:ext cx="3048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44" name="Text Box 173"/>
          <p:cNvSpPr txBox="1"/>
          <p:nvPr/>
        </p:nvSpPr>
        <p:spPr>
          <a:xfrm>
            <a:off x="3548063" y="3756025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45" name="Text Box 174"/>
          <p:cNvSpPr txBox="1"/>
          <p:nvPr/>
        </p:nvSpPr>
        <p:spPr>
          <a:xfrm>
            <a:off x="3535363" y="4090988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4" name="Group 175"/>
          <p:cNvGrpSpPr/>
          <p:nvPr/>
        </p:nvGrpSpPr>
        <p:grpSpPr bwMode="auto">
          <a:xfrm>
            <a:off x="5829126" y="385290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05" name="Rectangle 176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6" name="Rectangle 177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7" name="Group 178"/>
          <p:cNvGrpSpPr/>
          <p:nvPr/>
        </p:nvGrpSpPr>
        <p:grpSpPr bwMode="auto">
          <a:xfrm>
            <a:off x="4838526" y="386560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08" name="Rectangle 179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9" name="Rectangle 180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8248" name="Line 181"/>
          <p:cNvSpPr/>
          <p:nvPr/>
        </p:nvSpPr>
        <p:spPr>
          <a:xfrm flipV="1">
            <a:off x="5448300" y="39925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49" name="Line 182"/>
          <p:cNvSpPr/>
          <p:nvPr/>
        </p:nvSpPr>
        <p:spPr>
          <a:xfrm flipV="1">
            <a:off x="4457700" y="39925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50" name="Rectangle 183"/>
          <p:cNvSpPr/>
          <p:nvPr/>
        </p:nvSpPr>
        <p:spPr>
          <a:xfrm>
            <a:off x="6297613" y="3735388"/>
            <a:ext cx="3733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51" name="Text Box 184"/>
          <p:cNvSpPr txBox="1"/>
          <p:nvPr/>
        </p:nvSpPr>
        <p:spPr>
          <a:xfrm>
            <a:off x="4975225" y="3751263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52" name="Text Box 185"/>
          <p:cNvSpPr txBox="1"/>
          <p:nvPr/>
        </p:nvSpPr>
        <p:spPr>
          <a:xfrm>
            <a:off x="5959475" y="37544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5" name="Group 186"/>
          <p:cNvGrpSpPr/>
          <p:nvPr/>
        </p:nvGrpSpPr>
        <p:grpSpPr bwMode="auto">
          <a:xfrm>
            <a:off x="7854776" y="423867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16" name="Rectangle 187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7" name="Rectangle 188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8" name="Group 189"/>
          <p:cNvGrpSpPr/>
          <p:nvPr/>
        </p:nvGrpSpPr>
        <p:grpSpPr bwMode="auto">
          <a:xfrm>
            <a:off x="4838526" y="423390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19" name="Rectangle 190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0" name="Rectangle 191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8255" name="Line 192"/>
          <p:cNvSpPr/>
          <p:nvPr/>
        </p:nvSpPr>
        <p:spPr>
          <a:xfrm flipV="1">
            <a:off x="5448300" y="43608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56" name="Line 193"/>
          <p:cNvSpPr/>
          <p:nvPr/>
        </p:nvSpPr>
        <p:spPr>
          <a:xfrm flipV="1">
            <a:off x="4457700" y="43608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57" name="Rectangle 194"/>
          <p:cNvSpPr/>
          <p:nvPr/>
        </p:nvSpPr>
        <p:spPr>
          <a:xfrm>
            <a:off x="8378825" y="4162425"/>
            <a:ext cx="32575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58" name="Text Box 195"/>
          <p:cNvSpPr txBox="1"/>
          <p:nvPr/>
        </p:nvSpPr>
        <p:spPr>
          <a:xfrm>
            <a:off x="4975225" y="4119563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259" name="Text Box 196"/>
          <p:cNvSpPr txBox="1"/>
          <p:nvPr/>
        </p:nvSpPr>
        <p:spPr>
          <a:xfrm>
            <a:off x="7985125" y="415290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6" name="Group 201"/>
          <p:cNvGrpSpPr/>
          <p:nvPr/>
        </p:nvGrpSpPr>
        <p:grpSpPr bwMode="auto">
          <a:xfrm>
            <a:off x="5829126" y="423390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27" name="Rectangle 202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8" name="Rectangle 203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8261" name="Line 204"/>
          <p:cNvSpPr/>
          <p:nvPr/>
        </p:nvSpPr>
        <p:spPr>
          <a:xfrm flipV="1">
            <a:off x="6438900" y="43862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62" name="Text Box 205"/>
          <p:cNvSpPr txBox="1"/>
          <p:nvPr/>
        </p:nvSpPr>
        <p:spPr>
          <a:xfrm>
            <a:off x="5965825" y="4144963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1" name="Group 206"/>
          <p:cNvGrpSpPr/>
          <p:nvPr/>
        </p:nvGrpSpPr>
        <p:grpSpPr bwMode="auto">
          <a:xfrm>
            <a:off x="6845126" y="422120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32" name="Rectangle 207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3" name="Rectangle 208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8264" name="Line 209"/>
          <p:cNvSpPr/>
          <p:nvPr/>
        </p:nvSpPr>
        <p:spPr>
          <a:xfrm flipV="1">
            <a:off x="7454900" y="4373563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48265" name="Text Box 210"/>
          <p:cNvSpPr txBox="1"/>
          <p:nvPr/>
        </p:nvSpPr>
        <p:spPr>
          <a:xfrm>
            <a:off x="6981825" y="4132263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6" name="Text Box 211"/>
          <p:cNvSpPr txBox="1"/>
          <p:nvPr/>
        </p:nvSpPr>
        <p:spPr>
          <a:xfrm>
            <a:off x="4979988" y="1247775"/>
            <a:ext cx="2984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" name="Text Box 212"/>
          <p:cNvSpPr txBox="1"/>
          <p:nvPr/>
        </p:nvSpPr>
        <p:spPr>
          <a:xfrm>
            <a:off x="6011863" y="1677988"/>
            <a:ext cx="2984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38" name="Text Box 213"/>
          <p:cNvSpPr txBox="1"/>
          <p:nvPr/>
        </p:nvSpPr>
        <p:spPr>
          <a:xfrm>
            <a:off x="6010275" y="2459038"/>
            <a:ext cx="2984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39" name="Text Box 214"/>
          <p:cNvSpPr txBox="1"/>
          <p:nvPr/>
        </p:nvSpPr>
        <p:spPr>
          <a:xfrm>
            <a:off x="5988050" y="3954463"/>
            <a:ext cx="2984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40" name="Text Box 215"/>
          <p:cNvSpPr txBox="1"/>
          <p:nvPr/>
        </p:nvSpPr>
        <p:spPr>
          <a:xfrm>
            <a:off x="7013575" y="3924300"/>
            <a:ext cx="3111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41" name="Text Box 216"/>
          <p:cNvSpPr txBox="1"/>
          <p:nvPr/>
        </p:nvSpPr>
        <p:spPr>
          <a:xfrm>
            <a:off x="4970463" y="3241675"/>
            <a:ext cx="2984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42" name="Text Box 217"/>
          <p:cNvSpPr txBox="1"/>
          <p:nvPr/>
        </p:nvSpPr>
        <p:spPr>
          <a:xfrm>
            <a:off x="6940550" y="2068513"/>
            <a:ext cx="3111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20" grpId="0" bldLvl="0" animBg="1"/>
      <p:bldP spid="23" grpId="0" bldLvl="0" animBg="1"/>
      <p:bldP spid="30" grpId="0" animBg="1"/>
      <p:bldP spid="32" grpId="0" animBg="1"/>
      <p:bldP spid="33" grpId="0" bldLvl="0" animBg="1"/>
      <p:bldP spid="34" grpId="0" bldLvl="0" animBg="1"/>
      <p:bldP spid="35" grpId="0" bldLvl="0" animBg="1"/>
      <p:bldP spid="36" grpId="0" bldLvl="0" animBg="1"/>
      <p:bldP spid="37" grpId="0" bldLvl="0" animBg="1"/>
      <p:bldP spid="38" grpId="0" bldLvl="0" animBg="1"/>
      <p:bldP spid="39" grpId="0" bldLvl="0" animBg="1"/>
      <p:bldP spid="40" grpId="0" bldLvl="0" animBg="1"/>
      <p:bldP spid="41" grpId="0" animBg="1"/>
      <p:bldP spid="42" grpId="0" animBg="1"/>
      <p:bldP spid="2" grpId="0"/>
      <p:bldP spid="5" grpId="0"/>
      <p:bldP spid="200" grpId="0" animBg="1"/>
      <p:bldP spid="336" grpId="0"/>
      <p:bldP spid="337" grpId="0"/>
      <p:bldP spid="338" grpId="0"/>
      <p:bldP spid="339" grpId="0"/>
      <p:bldP spid="340" grpId="0"/>
      <p:bldP spid="341" grpId="0"/>
      <p:bldP spid="34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00685" y="744855"/>
            <a:ext cx="8516620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b="1" kern="100" cap="none" spc="0" normalizeH="0" baseline="0" noProof="0" dirty="0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问题：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设有向图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G=&lt;V,E&gt;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，顶点集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V={V</a:t>
            </a:r>
            <a:r>
              <a:rPr kumimoji="0" lang="en-US" altLang="zh-CN" b="1" kern="100" cap="none" spc="0" normalizeH="0" baseline="-2500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,V</a:t>
            </a:r>
            <a:r>
              <a:rPr kumimoji="0" lang="en-US" altLang="zh-CN" b="1" kern="100" cap="none" spc="0" normalizeH="0" baseline="-2500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,V</a:t>
            </a:r>
            <a:r>
              <a:rPr kumimoji="0" lang="en-US" altLang="zh-CN" b="1" kern="100" cap="none" spc="0" normalizeH="0" baseline="-2500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,V</a:t>
            </a:r>
            <a:r>
              <a:rPr kumimoji="0" lang="en-US" altLang="zh-CN" b="1" kern="100" cap="none" spc="0" normalizeH="0" baseline="-2500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边集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E = { &lt;V</a:t>
            </a:r>
            <a:r>
              <a:rPr kumimoji="0" lang="en-US" altLang="zh-CN" b="1" kern="100" cap="none" spc="0" normalizeH="0" baseline="-2500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, V</a:t>
            </a:r>
            <a:r>
              <a:rPr kumimoji="0" lang="en-US" altLang="zh-CN" b="1" kern="100" cap="none" spc="0" normalizeH="0" baseline="-2500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&gt;,  &lt;V</a:t>
            </a:r>
            <a:r>
              <a:rPr kumimoji="0" lang="en-US" altLang="zh-CN" b="1" kern="100" cap="none" spc="0" normalizeH="0" baseline="-2500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,V</a:t>
            </a:r>
            <a:r>
              <a:rPr kumimoji="0" lang="en-US" altLang="zh-CN" b="1" kern="100" cap="none" spc="0" normalizeH="0" baseline="-2500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&gt;,&lt;V</a:t>
            </a:r>
            <a:r>
              <a:rPr kumimoji="0" lang="en-US" altLang="zh-CN" b="1" kern="100" cap="none" spc="0" normalizeH="0" baseline="-2500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,V</a:t>
            </a:r>
            <a:r>
              <a:rPr kumimoji="0" lang="en-US" altLang="zh-CN" b="1" kern="100" cap="none" spc="0" normalizeH="0" baseline="-2500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&gt;,&lt;V</a:t>
            </a:r>
            <a:r>
              <a:rPr kumimoji="0" lang="en-US" altLang="zh-CN" b="1" kern="100" cap="none" spc="0" normalizeH="0" baseline="-2500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,V</a:t>
            </a:r>
            <a:r>
              <a:rPr kumimoji="0" lang="en-US" altLang="zh-CN" b="1" kern="100" cap="none" spc="0" normalizeH="0" baseline="-2500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&gt;}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，若从顶点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b="1" kern="100" cap="none" spc="0" normalizeH="0" baseline="-2500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开始对图进行深度优先遍历，则可能得到的不同遍历序列个数是（ 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   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）。</a:t>
            </a:r>
            <a:endParaRPr kumimoji="0" lang="zh-CN" altLang="zh-CN" b="1" kern="100" cap="none" spc="0" normalizeH="0" baseline="0" noProof="0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R="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b="1" kern="100" cap="none" spc="0" normalizeH="0" baseline="0" noProof="0" dirty="0">
                <a:solidFill>
                  <a:schemeClr val="bg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A.2            B. 3           C.4           D.5</a:t>
            </a:r>
            <a:endParaRPr kumimoji="0" lang="en-US" altLang="zh-CN" b="1" kern="100" cap="none" spc="0" normalizeH="0" baseline="0" noProof="0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0179" name="Text Box 5"/>
          <p:cNvSpPr txBox="1"/>
          <p:nvPr/>
        </p:nvSpPr>
        <p:spPr>
          <a:xfrm>
            <a:off x="7524750" y="122238"/>
            <a:ext cx="162083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互动答题</a:t>
            </a:r>
            <a:endParaRPr lang="zh-CN" altLang="en-US" sz="2800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0685" y="3211830"/>
            <a:ext cx="8517255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b="1" kern="100" cap="none" spc="0" normalizeH="0" baseline="0" noProof="0" dirty="0">
                <a:solidFill>
                  <a:srgbClr val="00B050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解析</a:t>
            </a:r>
            <a:r>
              <a:rPr kumimoji="0" lang="zh-CN" altLang="en-US" b="1" kern="100" cap="none" spc="0" normalizeH="0" baseline="0" noProof="0" dirty="0">
                <a:solidFill>
                  <a:srgbClr val="00B050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采用图的深度优先遍历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共有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种可能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&lt;V0,V1,V3,V2&gt;, &lt;V0,V2,V3,V1&gt;, &lt;V0,V2,V1,V3&gt;, &lt;V0,V3,V2,V1&gt;, &lt;V0,V3,V1,V2&gt;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kumimoji="0" lang="zh-CN" altLang="en-US" b="1" kern="100" cap="none" spc="0" normalizeH="0" baseline="0" noProof="0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96200" y="2004060"/>
            <a:ext cx="4191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00" cap="none" spc="0" normalizeH="0" baseline="0" noProof="0" dirty="0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D</a:t>
            </a:r>
            <a:endParaRPr kumimoji="0" lang="en-US" altLang="zh-CN" b="1" kern="100" cap="none" spc="0" normalizeH="0" baseline="0" noProof="0" dirty="0">
              <a:solidFill>
                <a:srgbClr val="0000FF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04"/>
          <p:cNvSpPr txBox="1">
            <a:spLocks noChangeArrowheads="1"/>
          </p:cNvSpPr>
          <p:nvPr/>
        </p:nvSpPr>
        <p:spPr bwMode="auto">
          <a:xfrm>
            <a:off x="650449" y="842963"/>
            <a:ext cx="8352149" cy="4603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266700" indent="-2667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问题：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下列选项中，不是下图深度优先搜索序列的是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   )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311275" y="3814763"/>
          <a:ext cx="7418208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9104"/>
                <a:gridCol w="3709104"/>
              </a:tblGrid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A. V</a:t>
                      </a:r>
                      <a:r>
                        <a:rPr lang="en-US" sz="2400" b="1" baseline="-25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，V</a:t>
                      </a:r>
                      <a:r>
                        <a:rPr lang="en-US" sz="2400" b="1" baseline="-25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，V</a:t>
                      </a:r>
                      <a:r>
                        <a:rPr lang="en-US" sz="2400" b="1" baseline="-25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，V</a:t>
                      </a:r>
                      <a:r>
                        <a:rPr lang="en-US" sz="2400" b="1" baseline="-25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，V</a:t>
                      </a:r>
                      <a:r>
                        <a:rPr lang="en-US" sz="2400" b="1" baseline="-25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en-US" sz="2400" b="1" baseline="-25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B.V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，V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，V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，V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，V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en-US" sz="2400" b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6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C. V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，V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，V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，V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，V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en-US" sz="2400" b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D.V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，V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，V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，V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，V</a:t>
                      </a:r>
                      <a:r>
                        <a:rPr lang="en-US" sz="24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en-US" sz="2400" b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209" name="Text Box 5"/>
          <p:cNvSpPr txBox="1"/>
          <p:nvPr/>
        </p:nvSpPr>
        <p:spPr>
          <a:xfrm>
            <a:off x="7524750" y="122238"/>
            <a:ext cx="162083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互动答题</a:t>
            </a:r>
            <a:endParaRPr lang="zh-CN" altLang="en-US" sz="2800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138805" y="1426845"/>
            <a:ext cx="2387600" cy="1938020"/>
            <a:chOff x="8272" y="2179"/>
            <a:chExt cx="3760" cy="3052"/>
          </a:xfrm>
        </p:grpSpPr>
        <p:grpSp>
          <p:nvGrpSpPr>
            <p:cNvPr id="45126" name="组合 1"/>
            <p:cNvGrpSpPr/>
            <p:nvPr/>
          </p:nvGrpSpPr>
          <p:grpSpPr>
            <a:xfrm>
              <a:off x="8272" y="2179"/>
              <a:ext cx="3760" cy="3052"/>
              <a:chOff x="525780" y="1279843"/>
              <a:chExt cx="2387600" cy="1938020"/>
            </a:xfrm>
          </p:grpSpPr>
          <p:sp>
            <p:nvSpPr>
              <p:cNvPr id="45172" name="Oval 4"/>
              <p:cNvSpPr/>
              <p:nvPr/>
            </p:nvSpPr>
            <p:spPr>
              <a:xfrm>
                <a:off x="1563688" y="1279843"/>
                <a:ext cx="381000" cy="381000"/>
              </a:xfrm>
              <a:prstGeom prst="ellipse">
                <a:avLst/>
              </a:prstGeom>
              <a:solidFill>
                <a:srgbClr val="00FFCC"/>
              </a:solidFill>
              <a:ln w="1905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v1</a:t>
                </a:r>
                <a:endPara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173" name="Oval 5"/>
              <p:cNvSpPr/>
              <p:nvPr/>
            </p:nvSpPr>
            <p:spPr>
              <a:xfrm>
                <a:off x="2532380" y="1941830"/>
                <a:ext cx="381000" cy="381000"/>
              </a:xfrm>
              <a:prstGeom prst="ellipse">
                <a:avLst/>
              </a:prstGeom>
              <a:solidFill>
                <a:srgbClr val="00FFCC"/>
              </a:solidFill>
              <a:ln w="1905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/>
                <a:r>
                  <a:rPr lang="en-US" altLang="zh-CN" sz="20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v3</a:t>
                </a:r>
                <a:endPara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176" name="Oval 8"/>
              <p:cNvSpPr/>
              <p:nvPr/>
            </p:nvSpPr>
            <p:spPr>
              <a:xfrm>
                <a:off x="952183" y="2836545"/>
                <a:ext cx="381000" cy="381000"/>
              </a:xfrm>
              <a:prstGeom prst="ellipse">
                <a:avLst/>
              </a:prstGeom>
              <a:solidFill>
                <a:srgbClr val="00FFCC"/>
              </a:solidFill>
              <a:ln w="1905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/>
                <a:r>
                  <a:rPr lang="en-US" altLang="zh-CN" sz="20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v4</a:t>
                </a:r>
                <a:endPara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177" name="Oval 9"/>
              <p:cNvSpPr/>
              <p:nvPr/>
            </p:nvSpPr>
            <p:spPr>
              <a:xfrm>
                <a:off x="525780" y="1937385"/>
                <a:ext cx="381000" cy="381000"/>
              </a:xfrm>
              <a:prstGeom prst="ellipse">
                <a:avLst/>
              </a:prstGeom>
              <a:solidFill>
                <a:srgbClr val="00FFCC"/>
              </a:solidFill>
              <a:ln w="1905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/>
                <a:r>
                  <a:rPr lang="en-US" altLang="zh-CN" sz="20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v2</a:t>
                </a:r>
                <a:endPara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178" name="Line 11"/>
              <p:cNvSpPr/>
              <p:nvPr/>
            </p:nvSpPr>
            <p:spPr>
              <a:xfrm>
                <a:off x="1943735" y="1505903"/>
                <a:ext cx="678815" cy="480695"/>
              </a:xfrm>
              <a:prstGeom prst="line">
                <a:avLst/>
              </a:prstGeom>
              <a:ln w="28575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triangle" w="med" len="med"/>
              </a:ln>
            </p:spPr>
          </p:sp>
          <p:sp>
            <p:nvSpPr>
              <p:cNvPr id="45179" name="Line 12"/>
              <p:cNvSpPr/>
              <p:nvPr/>
            </p:nvSpPr>
            <p:spPr>
              <a:xfrm flipV="1">
                <a:off x="817880" y="1507808"/>
                <a:ext cx="746125" cy="485775"/>
              </a:xfrm>
              <a:prstGeom prst="line">
                <a:avLst/>
              </a:prstGeom>
              <a:ln w="28575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triangle" w="med" len="med"/>
                <a:tailEnd type="none" w="sm" len="sm"/>
              </a:ln>
            </p:spPr>
          </p:sp>
          <p:sp>
            <p:nvSpPr>
              <p:cNvPr id="45182" name="Line 159"/>
              <p:cNvSpPr/>
              <p:nvPr/>
            </p:nvSpPr>
            <p:spPr>
              <a:xfrm>
                <a:off x="906780" y="2142173"/>
                <a:ext cx="1625600" cy="1270"/>
              </a:xfrm>
              <a:prstGeom prst="line">
                <a:avLst/>
              </a:prstGeom>
              <a:ln w="28575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triangle" w="med" len="med"/>
                <a:tailEnd type="none" w="sm" len="sm"/>
              </a:ln>
            </p:spPr>
          </p:sp>
          <p:sp>
            <p:nvSpPr>
              <p:cNvPr id="45183" name="Oval 160"/>
              <p:cNvSpPr/>
              <p:nvPr/>
            </p:nvSpPr>
            <p:spPr>
              <a:xfrm>
                <a:off x="2151380" y="2836863"/>
                <a:ext cx="381000" cy="381000"/>
              </a:xfrm>
              <a:prstGeom prst="ellipse">
                <a:avLst/>
              </a:prstGeom>
              <a:solidFill>
                <a:srgbClr val="00FFCC"/>
              </a:solidFill>
              <a:ln w="1905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/>
                <a:r>
                  <a:rPr lang="en-US" altLang="zh-CN" sz="20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v5</a:t>
                </a:r>
                <a:endPara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184" name="Line 161"/>
              <p:cNvSpPr/>
              <p:nvPr/>
            </p:nvSpPr>
            <p:spPr>
              <a:xfrm flipH="1">
                <a:off x="1333500" y="2277428"/>
                <a:ext cx="1288415" cy="678180"/>
              </a:xfrm>
              <a:prstGeom prst="line">
                <a:avLst/>
              </a:prstGeom>
              <a:ln w="28575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triangle" w="med" len="med"/>
                <a:tailEnd type="none" w="sm" len="sm"/>
              </a:ln>
            </p:spPr>
          </p:sp>
          <p:sp>
            <p:nvSpPr>
              <p:cNvPr id="45185" name="Line 162"/>
              <p:cNvSpPr/>
              <p:nvPr/>
            </p:nvSpPr>
            <p:spPr>
              <a:xfrm>
                <a:off x="817880" y="2292033"/>
                <a:ext cx="1384935" cy="636905"/>
              </a:xfrm>
              <a:prstGeom prst="line">
                <a:avLst/>
              </a:prstGeom>
              <a:ln w="28575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triangle" w="med" len="med"/>
              </a:ln>
            </p:spPr>
          </p:sp>
          <p:sp>
            <p:nvSpPr>
              <p:cNvPr id="45189" name="Line 166"/>
              <p:cNvSpPr/>
              <p:nvPr/>
            </p:nvSpPr>
            <p:spPr>
              <a:xfrm>
                <a:off x="1334135" y="3084512"/>
                <a:ext cx="808355" cy="635"/>
              </a:xfrm>
              <a:prstGeom prst="line">
                <a:avLst/>
              </a:prstGeom>
              <a:ln w="28575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triangle" w="med" len="med"/>
                <a:tailEnd type="none" w="sm" len="sm"/>
              </a:ln>
            </p:spPr>
          </p:sp>
        </p:grpSp>
        <p:sp>
          <p:nvSpPr>
            <p:cNvPr id="2" name="Line 11"/>
            <p:cNvSpPr/>
            <p:nvPr/>
          </p:nvSpPr>
          <p:spPr>
            <a:xfrm>
              <a:off x="10363" y="2774"/>
              <a:ext cx="718" cy="1857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</p:grpSp>
      <p:sp>
        <p:nvSpPr>
          <p:cNvPr id="7" name="文本框 6"/>
          <p:cNvSpPr txBox="1"/>
          <p:nvPr/>
        </p:nvSpPr>
        <p:spPr>
          <a:xfrm>
            <a:off x="7771609" y="890401"/>
            <a:ext cx="5231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D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Oval 7"/>
          <p:cNvSpPr/>
          <p:nvPr/>
        </p:nvSpPr>
        <p:spPr>
          <a:xfrm>
            <a:off x="506413" y="80803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2227" name="Text Box 8"/>
          <p:cNvSpPr txBox="1"/>
          <p:nvPr/>
        </p:nvSpPr>
        <p:spPr>
          <a:xfrm>
            <a:off x="704850" y="712788"/>
            <a:ext cx="3622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广度优先搜索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Text Box 150"/>
          <p:cNvSpPr txBox="1">
            <a:spLocks noChangeArrowheads="1"/>
          </p:cNvSpPr>
          <p:nvPr/>
        </p:nvSpPr>
        <p:spPr bwMode="auto">
          <a:xfrm>
            <a:off x="625475" y="1597025"/>
            <a:ext cx="4365625" cy="4961890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从图中某个指定的顶点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出发，先访问顶点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，然后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依次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访问顶点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各个未被访问过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的邻接点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然后又从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这些邻接点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出发，按照同样的规则访问它们的那些未被访问过的邻接点，如此下去，直到图中与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相通的所有顶点都被访问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;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若此时图中还有未被访问过的顶点，则从另一个未被访问过的顶点出发重复上述过程，直到遍历全图。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2229" name="矩形 1"/>
          <p:cNvSpPr/>
          <p:nvPr/>
        </p:nvSpPr>
        <p:spPr>
          <a:xfrm>
            <a:off x="325438" y="1336675"/>
            <a:ext cx="1243012" cy="630238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</a:rPr>
              <a:t>原则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2" name="Oval 4"/>
          <p:cNvSpPr/>
          <p:nvPr/>
        </p:nvSpPr>
        <p:spPr>
          <a:xfrm>
            <a:off x="6732588" y="1689100"/>
            <a:ext cx="381000" cy="381000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path path="shape">
              <a:fillToRect l="50000" t="50000" r="50000" b="50000"/>
            </a:path>
            <a:tileRect/>
          </a:gra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5"/>
          <p:cNvSpPr/>
          <p:nvPr/>
        </p:nvSpPr>
        <p:spPr>
          <a:xfrm>
            <a:off x="7502525" y="2392363"/>
            <a:ext cx="381000" cy="381000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path path="shape">
              <a:fillToRect l="50000" t="50000" r="50000" b="50000"/>
            </a:path>
            <a:tileRect/>
          </a:gra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6"/>
          <p:cNvSpPr/>
          <p:nvPr/>
        </p:nvSpPr>
        <p:spPr>
          <a:xfrm>
            <a:off x="7224713" y="3233738"/>
            <a:ext cx="381000" cy="381000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path path="shape">
              <a:fillToRect l="50000" t="50000" r="50000" b="50000"/>
            </a:path>
            <a:tileRect/>
          </a:gra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7"/>
          <p:cNvSpPr/>
          <p:nvPr/>
        </p:nvSpPr>
        <p:spPr>
          <a:xfrm>
            <a:off x="6937375" y="4186238"/>
            <a:ext cx="381000" cy="381000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path path="shape">
              <a:fillToRect l="50000" t="50000" r="50000" b="50000"/>
            </a:path>
            <a:tileRect/>
          </a:gra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8"/>
          <p:cNvSpPr/>
          <p:nvPr/>
        </p:nvSpPr>
        <p:spPr>
          <a:xfrm>
            <a:off x="5815013" y="3278188"/>
            <a:ext cx="381000" cy="381000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path path="shape">
              <a:fillToRect l="50000" t="50000" r="50000" b="50000"/>
            </a:path>
            <a:tileRect/>
          </a:gra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9"/>
          <p:cNvSpPr/>
          <p:nvPr/>
        </p:nvSpPr>
        <p:spPr>
          <a:xfrm>
            <a:off x="6159500" y="2424113"/>
            <a:ext cx="381000" cy="381000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path path="shape">
              <a:fillToRect l="50000" t="50000" r="50000" b="50000"/>
            </a:path>
            <a:tileRect/>
          </a:gra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236" name="Line 11"/>
          <p:cNvSpPr/>
          <p:nvPr/>
        </p:nvSpPr>
        <p:spPr>
          <a:xfrm>
            <a:off x="7100888" y="1944688"/>
            <a:ext cx="477837" cy="47466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37" name="Line 12"/>
          <p:cNvSpPr/>
          <p:nvPr/>
        </p:nvSpPr>
        <p:spPr>
          <a:xfrm flipV="1">
            <a:off x="6462713" y="1970088"/>
            <a:ext cx="309562" cy="4603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" name="Oval 157"/>
          <p:cNvSpPr/>
          <p:nvPr/>
        </p:nvSpPr>
        <p:spPr>
          <a:xfrm>
            <a:off x="6470650" y="3251200"/>
            <a:ext cx="381000" cy="381000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path path="shape">
              <a:fillToRect l="50000" t="50000" r="50000" b="50000"/>
            </a:path>
            <a:tileRect/>
          </a:gra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239" name="Line 158"/>
          <p:cNvSpPr/>
          <p:nvPr/>
        </p:nvSpPr>
        <p:spPr>
          <a:xfrm flipH="1">
            <a:off x="5989638" y="2760663"/>
            <a:ext cx="279400" cy="5540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0" name="Line 159"/>
          <p:cNvSpPr/>
          <p:nvPr/>
        </p:nvSpPr>
        <p:spPr>
          <a:xfrm>
            <a:off x="6481763" y="2784475"/>
            <a:ext cx="168275" cy="48101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" name="Oval 160"/>
          <p:cNvSpPr/>
          <p:nvPr/>
        </p:nvSpPr>
        <p:spPr>
          <a:xfrm>
            <a:off x="7870825" y="3194050"/>
            <a:ext cx="381000" cy="381000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path path="shape">
              <a:fillToRect l="50000" t="50000" r="50000" b="50000"/>
            </a:path>
            <a:tileRect/>
          </a:gra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242" name="Line 161"/>
          <p:cNvSpPr/>
          <p:nvPr/>
        </p:nvSpPr>
        <p:spPr>
          <a:xfrm flipH="1">
            <a:off x="7445375" y="2760663"/>
            <a:ext cx="179388" cy="4572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3" name="Line 162"/>
          <p:cNvSpPr/>
          <p:nvPr/>
        </p:nvSpPr>
        <p:spPr>
          <a:xfrm>
            <a:off x="7794625" y="2695575"/>
            <a:ext cx="231775" cy="4953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4" name="Line 163"/>
          <p:cNvSpPr/>
          <p:nvPr/>
        </p:nvSpPr>
        <p:spPr>
          <a:xfrm flipH="1">
            <a:off x="7275513" y="3578225"/>
            <a:ext cx="722312" cy="6985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5" name="Line 164"/>
          <p:cNvSpPr/>
          <p:nvPr/>
        </p:nvSpPr>
        <p:spPr>
          <a:xfrm flipH="1">
            <a:off x="7180263" y="3602038"/>
            <a:ext cx="180975" cy="62706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6" name="Line 165"/>
          <p:cNvSpPr/>
          <p:nvPr/>
        </p:nvSpPr>
        <p:spPr>
          <a:xfrm>
            <a:off x="6794500" y="3554413"/>
            <a:ext cx="241300" cy="685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7" name="Line 166"/>
          <p:cNvSpPr/>
          <p:nvPr/>
        </p:nvSpPr>
        <p:spPr>
          <a:xfrm>
            <a:off x="6097588" y="3651250"/>
            <a:ext cx="841375" cy="7334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" name="Oval 4"/>
          <p:cNvSpPr/>
          <p:nvPr/>
        </p:nvSpPr>
        <p:spPr>
          <a:xfrm>
            <a:off x="6732905" y="1689100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val 9"/>
          <p:cNvSpPr/>
          <p:nvPr/>
        </p:nvSpPr>
        <p:spPr>
          <a:xfrm>
            <a:off x="6159500" y="2430463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Oval 8"/>
          <p:cNvSpPr/>
          <p:nvPr/>
        </p:nvSpPr>
        <p:spPr>
          <a:xfrm>
            <a:off x="5815013" y="3278188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Oval 7"/>
          <p:cNvSpPr/>
          <p:nvPr/>
        </p:nvSpPr>
        <p:spPr>
          <a:xfrm>
            <a:off x="6939280" y="4186238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val 157"/>
          <p:cNvSpPr/>
          <p:nvPr/>
        </p:nvSpPr>
        <p:spPr>
          <a:xfrm>
            <a:off x="6470333" y="3250883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6"/>
          <p:cNvSpPr/>
          <p:nvPr/>
        </p:nvSpPr>
        <p:spPr>
          <a:xfrm>
            <a:off x="7224713" y="3233738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Oval 5"/>
          <p:cNvSpPr/>
          <p:nvPr/>
        </p:nvSpPr>
        <p:spPr>
          <a:xfrm>
            <a:off x="7502525" y="2392363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Oval 160"/>
          <p:cNvSpPr/>
          <p:nvPr/>
        </p:nvSpPr>
        <p:spPr>
          <a:xfrm>
            <a:off x="7883525" y="3196908"/>
            <a:ext cx="381000" cy="381000"/>
          </a:xfrm>
          <a:prstGeom prst="ellipse">
            <a:avLst/>
          </a:prstGeom>
          <a:solidFill>
            <a:srgbClr val="FFC000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256" name="Text Box 2"/>
          <p:cNvSpPr txBox="1"/>
          <p:nvPr/>
        </p:nvSpPr>
        <p:spPr>
          <a:xfrm>
            <a:off x="6208713" y="82550"/>
            <a:ext cx="29352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7.3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图的遍历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20" grpId="0" bldLvl="0" animBg="1"/>
      <p:bldP spid="23" grpId="0" bldLvl="0" animBg="1"/>
      <p:bldP spid="33" grpId="0" bldLvl="0" animBg="1"/>
      <p:bldP spid="34" grpId="0" bldLvl="0" animBg="1"/>
      <p:bldP spid="35" grpId="0" bldLvl="0" animBg="1"/>
      <p:bldP spid="36" grpId="0" bldLvl="0" animBg="1"/>
      <p:bldP spid="37" grpId="0" bldLvl="0" animBg="1"/>
      <p:bldP spid="38" grpId="0" bldLvl="0" animBg="1"/>
      <p:bldP spid="39" grpId="0" bldLvl="0" animBg="1"/>
      <p:bldP spid="40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50" name="Text Box 172"/>
          <p:cNvSpPr txBox="1">
            <a:spLocks noChangeArrowheads="1"/>
          </p:cNvSpPr>
          <p:nvPr/>
        </p:nvSpPr>
        <p:spPr bwMode="auto">
          <a:xfrm>
            <a:off x="503238" y="1349375"/>
            <a:ext cx="7513638" cy="52197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例：用广度优先算法遍历下图中的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G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3251" name="Oval 7"/>
          <p:cNvSpPr/>
          <p:nvPr/>
        </p:nvSpPr>
        <p:spPr>
          <a:xfrm>
            <a:off x="506413" y="80803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3252" name="Text Box 8"/>
          <p:cNvSpPr txBox="1"/>
          <p:nvPr/>
        </p:nvSpPr>
        <p:spPr>
          <a:xfrm>
            <a:off x="704850" y="712788"/>
            <a:ext cx="3622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广度优先搜索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76" name="Text Box 219"/>
          <p:cNvSpPr txBox="1">
            <a:spLocks noChangeArrowheads="1"/>
          </p:cNvSpPr>
          <p:nvPr/>
        </p:nvSpPr>
        <p:spPr bwMode="auto">
          <a:xfrm>
            <a:off x="382588" y="5335588"/>
            <a:ext cx="4572000" cy="9531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出发的访问序列为：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77" name="矩形 176"/>
          <p:cNvSpPr/>
          <p:nvPr/>
        </p:nvSpPr>
        <p:spPr>
          <a:xfrm>
            <a:off x="992188" y="5780088"/>
            <a:ext cx="7467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78" name="矩形 177"/>
          <p:cNvSpPr/>
          <p:nvPr/>
        </p:nvSpPr>
        <p:spPr>
          <a:xfrm>
            <a:off x="2279650" y="5783263"/>
            <a:ext cx="7467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79" name="矩形 178"/>
          <p:cNvSpPr/>
          <p:nvPr/>
        </p:nvSpPr>
        <p:spPr>
          <a:xfrm>
            <a:off x="4819650" y="5778500"/>
            <a:ext cx="6477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80" name="矩形 179"/>
          <p:cNvSpPr/>
          <p:nvPr/>
        </p:nvSpPr>
        <p:spPr>
          <a:xfrm>
            <a:off x="2944813" y="5772150"/>
            <a:ext cx="7467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81" name="矩形 180"/>
          <p:cNvSpPr/>
          <p:nvPr/>
        </p:nvSpPr>
        <p:spPr>
          <a:xfrm>
            <a:off x="3567113" y="5775325"/>
            <a:ext cx="7467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82" name="矩形 181"/>
          <p:cNvSpPr/>
          <p:nvPr/>
        </p:nvSpPr>
        <p:spPr>
          <a:xfrm>
            <a:off x="1625600" y="5772150"/>
            <a:ext cx="7467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83" name="矩形 182"/>
          <p:cNvSpPr>
            <a:spLocks noChangeArrowheads="1"/>
          </p:cNvSpPr>
          <p:nvPr/>
        </p:nvSpPr>
        <p:spPr bwMode="auto">
          <a:xfrm>
            <a:off x="4198938" y="5776913"/>
            <a:ext cx="643890" cy="52197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7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84" name="Group 20"/>
          <p:cNvGrpSpPr/>
          <p:nvPr/>
        </p:nvGrpSpPr>
        <p:grpSpPr bwMode="auto">
          <a:xfrm>
            <a:off x="3835400" y="2954338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185" name="Rectangle 21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6" name="Rectangle 22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7" name="Group 23"/>
          <p:cNvGrpSpPr/>
          <p:nvPr/>
        </p:nvGrpSpPr>
        <p:grpSpPr bwMode="auto">
          <a:xfrm>
            <a:off x="3835400" y="4097338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188" name="Rectangle 24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9" name="Rectangle 25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0" name="Group 26"/>
          <p:cNvGrpSpPr/>
          <p:nvPr/>
        </p:nvGrpSpPr>
        <p:grpSpPr bwMode="auto">
          <a:xfrm>
            <a:off x="3835400" y="3716338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191" name="Rectangle 27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2" name="Rectangle 28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3" name="Group 29"/>
          <p:cNvGrpSpPr/>
          <p:nvPr/>
        </p:nvGrpSpPr>
        <p:grpSpPr bwMode="auto">
          <a:xfrm>
            <a:off x="3835400" y="3335338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194" name="Rectangle 30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5" name="Rectangle 31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6" name="Group 32"/>
          <p:cNvGrpSpPr/>
          <p:nvPr/>
        </p:nvGrpSpPr>
        <p:grpSpPr bwMode="auto">
          <a:xfrm>
            <a:off x="3835400" y="2573338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197" name="Rectangle 33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8" name="Rectangle 34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9" name="Group 35"/>
          <p:cNvGrpSpPr/>
          <p:nvPr/>
        </p:nvGrpSpPr>
        <p:grpSpPr bwMode="auto">
          <a:xfrm>
            <a:off x="3835400" y="2192338"/>
            <a:ext cx="685800" cy="381000"/>
            <a:chOff x="2832" y="2592"/>
            <a:chExt cx="432" cy="192"/>
          </a:xfrm>
          <a:solidFill>
            <a:srgbClr val="CCFFFF"/>
          </a:solidFill>
        </p:grpSpPr>
        <p:sp>
          <p:nvSpPr>
            <p:cNvPr id="200" name="Rectangle 36"/>
            <p:cNvSpPr>
              <a:spLocks noChangeArrowheads="1"/>
            </p:cNvSpPr>
            <p:nvPr/>
          </p:nvSpPr>
          <p:spPr bwMode="auto">
            <a:xfrm>
              <a:off x="2832" y="2592"/>
              <a:ext cx="240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1" name="Rectangle 37"/>
            <p:cNvSpPr>
              <a:spLocks noChangeArrowheads="1"/>
            </p:cNvSpPr>
            <p:nvPr/>
          </p:nvSpPr>
          <p:spPr bwMode="auto">
            <a:xfrm>
              <a:off x="3072" y="2592"/>
              <a:ext cx="192" cy="192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3267" name="Text Box 38"/>
          <p:cNvSpPr txBox="1"/>
          <p:nvPr/>
        </p:nvSpPr>
        <p:spPr>
          <a:xfrm>
            <a:off x="3895725" y="2136775"/>
            <a:ext cx="309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268" name="Text Box 39"/>
          <p:cNvSpPr txBox="1"/>
          <p:nvPr/>
        </p:nvSpPr>
        <p:spPr>
          <a:xfrm>
            <a:off x="3895725" y="2487613"/>
            <a:ext cx="309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2</a:t>
            </a:r>
            <a:endParaRPr lang="en-US" altLang="zh-CN" sz="2000" b="1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269" name="Text Box 40"/>
          <p:cNvSpPr txBox="1"/>
          <p:nvPr/>
        </p:nvSpPr>
        <p:spPr>
          <a:xfrm>
            <a:off x="3886200" y="2898775"/>
            <a:ext cx="309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3</a:t>
            </a:r>
            <a:endParaRPr lang="en-US" altLang="zh-CN" sz="2000" b="1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270" name="Text Box 41"/>
          <p:cNvSpPr txBox="1"/>
          <p:nvPr/>
        </p:nvSpPr>
        <p:spPr>
          <a:xfrm>
            <a:off x="3895725" y="3249613"/>
            <a:ext cx="309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4</a:t>
            </a:r>
            <a:endParaRPr lang="en-US" altLang="zh-CN" sz="2000" b="1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271" name="Text Box 42"/>
          <p:cNvSpPr txBox="1"/>
          <p:nvPr/>
        </p:nvSpPr>
        <p:spPr>
          <a:xfrm>
            <a:off x="3911600" y="3630613"/>
            <a:ext cx="309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5</a:t>
            </a:r>
            <a:endParaRPr lang="en-US" altLang="zh-CN" sz="2000" b="1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272" name="Text Box 43"/>
          <p:cNvSpPr txBox="1"/>
          <p:nvPr/>
        </p:nvSpPr>
        <p:spPr>
          <a:xfrm>
            <a:off x="3895725" y="4111625"/>
            <a:ext cx="309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</a:t>
            </a:r>
            <a:endParaRPr lang="en-US" altLang="zh-CN" sz="2000" b="1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08" name="Group 44"/>
          <p:cNvGrpSpPr/>
          <p:nvPr/>
        </p:nvGrpSpPr>
        <p:grpSpPr bwMode="auto">
          <a:xfrm>
            <a:off x="4826000" y="22685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09" name="Rectangle 45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0" name="Rectangle 46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3274" name="Rectangle 48"/>
          <p:cNvSpPr/>
          <p:nvPr/>
        </p:nvSpPr>
        <p:spPr>
          <a:xfrm>
            <a:off x="5816600" y="2268538"/>
            <a:ext cx="533400" cy="2286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275" name="Rectangle 49"/>
          <p:cNvSpPr/>
          <p:nvPr/>
        </p:nvSpPr>
        <p:spPr>
          <a:xfrm>
            <a:off x="6350000" y="2268538"/>
            <a:ext cx="228600" cy="2286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3" name="Group 56"/>
          <p:cNvGrpSpPr/>
          <p:nvPr/>
        </p:nvGrpSpPr>
        <p:grpSpPr bwMode="auto">
          <a:xfrm>
            <a:off x="5816600" y="41862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14" name="Rectangle 57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5" name="Rectangle 58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6" name="Group 59"/>
          <p:cNvGrpSpPr/>
          <p:nvPr/>
        </p:nvGrpSpPr>
        <p:grpSpPr bwMode="auto">
          <a:xfrm>
            <a:off x="4826000" y="41989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17" name="Rectangle 60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8" name="Rectangle 61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9" name="Group 65"/>
          <p:cNvGrpSpPr/>
          <p:nvPr/>
        </p:nvGrpSpPr>
        <p:grpSpPr bwMode="auto">
          <a:xfrm>
            <a:off x="4826000" y="34369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20" name="Rectangle 66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1" name="Rectangle 67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2" name="Group 68"/>
          <p:cNvGrpSpPr/>
          <p:nvPr/>
        </p:nvGrpSpPr>
        <p:grpSpPr bwMode="auto">
          <a:xfrm>
            <a:off x="5816600" y="38052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23" name="Rectangle 69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4" name="Rectangle 70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5" name="Group 71"/>
          <p:cNvGrpSpPr/>
          <p:nvPr/>
        </p:nvGrpSpPr>
        <p:grpSpPr bwMode="auto">
          <a:xfrm>
            <a:off x="4826000" y="38179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26" name="Rectangle 72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7" name="Rectangle 73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8" name="Group 80"/>
          <p:cNvGrpSpPr/>
          <p:nvPr/>
        </p:nvGrpSpPr>
        <p:grpSpPr bwMode="auto">
          <a:xfrm>
            <a:off x="5816600" y="34242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29" name="Rectangle 81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0" name="Rectangle 82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1" name="Group 83"/>
          <p:cNvGrpSpPr/>
          <p:nvPr/>
        </p:nvGrpSpPr>
        <p:grpSpPr bwMode="auto">
          <a:xfrm>
            <a:off x="4826000" y="30305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32" name="Rectangle 84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3" name="Rectangle 85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4" name="Group 86"/>
          <p:cNvGrpSpPr/>
          <p:nvPr/>
        </p:nvGrpSpPr>
        <p:grpSpPr bwMode="auto">
          <a:xfrm>
            <a:off x="4826000" y="26495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35" name="Rectangle 87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6" name="Rectangle 88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7" name="Group 89"/>
          <p:cNvGrpSpPr/>
          <p:nvPr/>
        </p:nvGrpSpPr>
        <p:grpSpPr bwMode="auto">
          <a:xfrm>
            <a:off x="6834188" y="30305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38" name="Rectangle 90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9" name="Rectangle 91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0" name="Group 95"/>
          <p:cNvGrpSpPr/>
          <p:nvPr/>
        </p:nvGrpSpPr>
        <p:grpSpPr bwMode="auto">
          <a:xfrm>
            <a:off x="5816600" y="30305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41" name="Rectangle 96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2" name="Rectangle 97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3286" name="Rectangle 99"/>
          <p:cNvSpPr/>
          <p:nvPr/>
        </p:nvSpPr>
        <p:spPr>
          <a:xfrm>
            <a:off x="5816600" y="2649538"/>
            <a:ext cx="533400" cy="2286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287" name="Rectangle 100"/>
          <p:cNvSpPr/>
          <p:nvPr/>
        </p:nvSpPr>
        <p:spPr>
          <a:xfrm>
            <a:off x="6350000" y="2649538"/>
            <a:ext cx="228600" cy="2286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5" name="Group 101"/>
          <p:cNvGrpSpPr/>
          <p:nvPr/>
        </p:nvGrpSpPr>
        <p:grpSpPr bwMode="auto">
          <a:xfrm>
            <a:off x="6807200" y="26495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246" name="Rectangle 102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7" name="Rectangle 103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3289" name="Line 104"/>
          <p:cNvSpPr/>
          <p:nvPr/>
        </p:nvSpPr>
        <p:spPr>
          <a:xfrm flipV="1">
            <a:off x="4445000" y="35639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290" name="Line 105"/>
          <p:cNvSpPr/>
          <p:nvPr/>
        </p:nvSpPr>
        <p:spPr>
          <a:xfrm flipV="1">
            <a:off x="6426200" y="27257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291" name="Line 106"/>
          <p:cNvSpPr/>
          <p:nvPr/>
        </p:nvSpPr>
        <p:spPr>
          <a:xfrm flipV="1">
            <a:off x="5435600" y="27257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292" name="Line 107"/>
          <p:cNvSpPr/>
          <p:nvPr/>
        </p:nvSpPr>
        <p:spPr>
          <a:xfrm flipV="1">
            <a:off x="4445000" y="27257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293" name="Line 110"/>
          <p:cNvSpPr/>
          <p:nvPr/>
        </p:nvSpPr>
        <p:spPr>
          <a:xfrm flipV="1">
            <a:off x="5435600" y="24209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294" name="Line 111"/>
          <p:cNvSpPr/>
          <p:nvPr/>
        </p:nvSpPr>
        <p:spPr>
          <a:xfrm flipV="1">
            <a:off x="4445000" y="24209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295" name="Line 113"/>
          <p:cNvSpPr/>
          <p:nvPr/>
        </p:nvSpPr>
        <p:spPr>
          <a:xfrm flipV="1">
            <a:off x="4445000" y="39449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296" name="Line 116"/>
          <p:cNvSpPr/>
          <p:nvPr/>
        </p:nvSpPr>
        <p:spPr>
          <a:xfrm flipV="1">
            <a:off x="5435600" y="35639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297" name="Line 118"/>
          <p:cNvSpPr/>
          <p:nvPr/>
        </p:nvSpPr>
        <p:spPr>
          <a:xfrm flipV="1">
            <a:off x="6426200" y="31575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298" name="Line 119"/>
          <p:cNvSpPr/>
          <p:nvPr/>
        </p:nvSpPr>
        <p:spPr>
          <a:xfrm flipV="1">
            <a:off x="5435600" y="31575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299" name="Line 120"/>
          <p:cNvSpPr/>
          <p:nvPr/>
        </p:nvSpPr>
        <p:spPr>
          <a:xfrm flipV="1">
            <a:off x="4445000" y="31575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300" name="Line 121"/>
          <p:cNvSpPr/>
          <p:nvPr/>
        </p:nvSpPr>
        <p:spPr>
          <a:xfrm flipV="1">
            <a:off x="5435600" y="43259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301" name="Line 122"/>
          <p:cNvSpPr/>
          <p:nvPr/>
        </p:nvSpPr>
        <p:spPr>
          <a:xfrm flipV="1">
            <a:off x="4445000" y="43259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302" name="Line 123"/>
          <p:cNvSpPr/>
          <p:nvPr/>
        </p:nvSpPr>
        <p:spPr>
          <a:xfrm flipV="1">
            <a:off x="5435600" y="39449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303" name="Text Box 124"/>
          <p:cNvSpPr txBox="1"/>
          <p:nvPr/>
        </p:nvSpPr>
        <p:spPr>
          <a:xfrm>
            <a:off x="7318375" y="2573338"/>
            <a:ext cx="31623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04" name="Rectangle 125"/>
          <p:cNvSpPr/>
          <p:nvPr/>
        </p:nvSpPr>
        <p:spPr>
          <a:xfrm>
            <a:off x="7315200" y="2930525"/>
            <a:ext cx="31623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05" name="Rectangle 126"/>
          <p:cNvSpPr/>
          <p:nvPr/>
        </p:nvSpPr>
        <p:spPr>
          <a:xfrm>
            <a:off x="6294438" y="3321050"/>
            <a:ext cx="3733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06" name="Rectangle 127"/>
          <p:cNvSpPr/>
          <p:nvPr/>
        </p:nvSpPr>
        <p:spPr>
          <a:xfrm>
            <a:off x="6280150" y="3687763"/>
            <a:ext cx="3733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07" name="Rectangle 128"/>
          <p:cNvSpPr/>
          <p:nvPr/>
        </p:nvSpPr>
        <p:spPr>
          <a:xfrm>
            <a:off x="6270625" y="4083050"/>
            <a:ext cx="3733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08" name="Text Box 129"/>
          <p:cNvSpPr txBox="1"/>
          <p:nvPr/>
        </p:nvSpPr>
        <p:spPr>
          <a:xfrm>
            <a:off x="3514725" y="2192338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09" name="Text Box 130"/>
          <p:cNvSpPr txBox="1"/>
          <p:nvPr/>
        </p:nvSpPr>
        <p:spPr>
          <a:xfrm>
            <a:off x="3514725" y="2587625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10" name="Text Box 131"/>
          <p:cNvSpPr txBox="1"/>
          <p:nvPr/>
        </p:nvSpPr>
        <p:spPr>
          <a:xfrm>
            <a:off x="3514725" y="3014663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11" name="Text Box 132"/>
          <p:cNvSpPr txBox="1"/>
          <p:nvPr/>
        </p:nvSpPr>
        <p:spPr>
          <a:xfrm>
            <a:off x="3514725" y="3349625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12" name="Text Box 133"/>
          <p:cNvSpPr txBox="1"/>
          <p:nvPr/>
        </p:nvSpPr>
        <p:spPr>
          <a:xfrm>
            <a:off x="3514725" y="3716338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13" name="Text Box 134"/>
          <p:cNvSpPr txBox="1"/>
          <p:nvPr/>
        </p:nvSpPr>
        <p:spPr>
          <a:xfrm>
            <a:off x="3514725" y="4111625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14" name="Text Box 135"/>
          <p:cNvSpPr txBox="1"/>
          <p:nvPr/>
        </p:nvSpPr>
        <p:spPr>
          <a:xfrm>
            <a:off x="4978400" y="220027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15" name="Text Box 136"/>
          <p:cNvSpPr txBox="1"/>
          <p:nvPr/>
        </p:nvSpPr>
        <p:spPr>
          <a:xfrm>
            <a:off x="5953125" y="21923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16" name="Text Box 139"/>
          <p:cNvSpPr txBox="1"/>
          <p:nvPr/>
        </p:nvSpPr>
        <p:spPr>
          <a:xfrm>
            <a:off x="4984750" y="25876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17" name="Text Box 140"/>
          <p:cNvSpPr txBox="1"/>
          <p:nvPr/>
        </p:nvSpPr>
        <p:spPr>
          <a:xfrm>
            <a:off x="5969000" y="25876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18" name="Text Box 141"/>
          <p:cNvSpPr txBox="1"/>
          <p:nvPr/>
        </p:nvSpPr>
        <p:spPr>
          <a:xfrm>
            <a:off x="6889750" y="25876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19" name="Text Box 142"/>
          <p:cNvSpPr txBox="1"/>
          <p:nvPr/>
        </p:nvSpPr>
        <p:spPr>
          <a:xfrm>
            <a:off x="4962525" y="29432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20" name="Text Box 143"/>
          <p:cNvSpPr txBox="1"/>
          <p:nvPr/>
        </p:nvSpPr>
        <p:spPr>
          <a:xfrm>
            <a:off x="5953125" y="29432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21" name="Text Box 145"/>
          <p:cNvSpPr txBox="1"/>
          <p:nvPr/>
        </p:nvSpPr>
        <p:spPr>
          <a:xfrm>
            <a:off x="6904038" y="293370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22" name="Text Box 146"/>
          <p:cNvSpPr txBox="1"/>
          <p:nvPr/>
        </p:nvSpPr>
        <p:spPr>
          <a:xfrm>
            <a:off x="4962525" y="33369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23" name="Text Box 147"/>
          <p:cNvSpPr txBox="1"/>
          <p:nvPr/>
        </p:nvSpPr>
        <p:spPr>
          <a:xfrm>
            <a:off x="5953125" y="33496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24" name="Text Box 151"/>
          <p:cNvSpPr txBox="1"/>
          <p:nvPr/>
        </p:nvSpPr>
        <p:spPr>
          <a:xfrm>
            <a:off x="4962525" y="37306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25" name="Text Box 152"/>
          <p:cNvSpPr txBox="1"/>
          <p:nvPr/>
        </p:nvSpPr>
        <p:spPr>
          <a:xfrm>
            <a:off x="5953125" y="37179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26" name="Text Box 153"/>
          <p:cNvSpPr txBox="1"/>
          <p:nvPr/>
        </p:nvSpPr>
        <p:spPr>
          <a:xfrm>
            <a:off x="4962525" y="40846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27" name="Text Box 154"/>
          <p:cNvSpPr txBox="1"/>
          <p:nvPr/>
        </p:nvSpPr>
        <p:spPr>
          <a:xfrm>
            <a:off x="5946775" y="4087813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28" name="AutoShape 155"/>
          <p:cNvSpPr/>
          <p:nvPr/>
        </p:nvSpPr>
        <p:spPr>
          <a:xfrm>
            <a:off x="2971800" y="3014663"/>
            <a:ext cx="533400" cy="381000"/>
          </a:xfrm>
          <a:prstGeom prst="leftRightArrow">
            <a:avLst>
              <a:gd name="adj1" fmla="val 50000"/>
              <a:gd name="adj2" fmla="val 28000"/>
            </a:avLst>
          </a:prstGeom>
          <a:gradFill rotWithShape="0">
            <a:gsLst>
              <a:gs pos="0">
                <a:srgbClr val="007676"/>
              </a:gs>
              <a:gs pos="50000">
                <a:srgbClr val="00FFFF"/>
              </a:gs>
              <a:gs pos="100000">
                <a:srgbClr val="007676"/>
              </a:gs>
            </a:gsLst>
            <a:lin ang="5400000" scaled="1"/>
            <a:tileRect/>
          </a:gra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3329" name="组合 1"/>
          <p:cNvGrpSpPr/>
          <p:nvPr/>
        </p:nvGrpSpPr>
        <p:grpSpPr>
          <a:xfrm>
            <a:off x="439738" y="2003425"/>
            <a:ext cx="2436812" cy="2878138"/>
            <a:chOff x="439738" y="1211263"/>
            <a:chExt cx="2436812" cy="2878137"/>
          </a:xfrm>
        </p:grpSpPr>
        <p:sp>
          <p:nvSpPr>
            <p:cNvPr id="53364" name="Oval 4"/>
            <p:cNvSpPr/>
            <p:nvPr/>
          </p:nvSpPr>
          <p:spPr>
            <a:xfrm>
              <a:off x="1357313" y="1211263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365" name="Oval 5"/>
            <p:cNvSpPr/>
            <p:nvPr/>
          </p:nvSpPr>
          <p:spPr>
            <a:xfrm>
              <a:off x="2127250" y="1914525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3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366" name="Oval 6"/>
            <p:cNvSpPr/>
            <p:nvPr/>
          </p:nvSpPr>
          <p:spPr>
            <a:xfrm>
              <a:off x="1849438" y="2755900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367" name="Oval 7"/>
            <p:cNvSpPr/>
            <p:nvPr/>
          </p:nvSpPr>
          <p:spPr>
            <a:xfrm>
              <a:off x="1562100" y="3708400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368" name="Oval 8"/>
            <p:cNvSpPr/>
            <p:nvPr/>
          </p:nvSpPr>
          <p:spPr>
            <a:xfrm>
              <a:off x="439738" y="2800350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369" name="Oval 9"/>
            <p:cNvSpPr/>
            <p:nvPr/>
          </p:nvSpPr>
          <p:spPr>
            <a:xfrm>
              <a:off x="784225" y="1946275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370" name="Line 11"/>
            <p:cNvSpPr/>
            <p:nvPr/>
          </p:nvSpPr>
          <p:spPr>
            <a:xfrm>
              <a:off x="1725613" y="1466850"/>
              <a:ext cx="477837" cy="474663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3371" name="Line 12"/>
            <p:cNvSpPr/>
            <p:nvPr/>
          </p:nvSpPr>
          <p:spPr>
            <a:xfrm flipV="1">
              <a:off x="1025526" y="1492250"/>
              <a:ext cx="371474" cy="473076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3372" name="Oval 157"/>
            <p:cNvSpPr/>
            <p:nvPr/>
          </p:nvSpPr>
          <p:spPr>
            <a:xfrm>
              <a:off x="1095375" y="2773363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373" name="Line 158"/>
            <p:cNvSpPr/>
            <p:nvPr/>
          </p:nvSpPr>
          <p:spPr>
            <a:xfrm flipH="1">
              <a:off x="614363" y="2246313"/>
              <a:ext cx="203200" cy="59055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3374" name="Line 159"/>
            <p:cNvSpPr/>
            <p:nvPr/>
          </p:nvSpPr>
          <p:spPr>
            <a:xfrm>
              <a:off x="1106488" y="2306638"/>
              <a:ext cx="168275" cy="481012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3375" name="Oval 160"/>
            <p:cNvSpPr/>
            <p:nvPr/>
          </p:nvSpPr>
          <p:spPr>
            <a:xfrm>
              <a:off x="2495550" y="2716213"/>
              <a:ext cx="381000" cy="3810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376" name="Line 161"/>
            <p:cNvSpPr/>
            <p:nvPr/>
          </p:nvSpPr>
          <p:spPr>
            <a:xfrm flipH="1">
              <a:off x="2070100" y="2282825"/>
              <a:ext cx="179388" cy="4572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3377" name="Line 162"/>
            <p:cNvSpPr/>
            <p:nvPr/>
          </p:nvSpPr>
          <p:spPr>
            <a:xfrm>
              <a:off x="2478088" y="2246313"/>
              <a:ext cx="228600" cy="530225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3378" name="Line 163"/>
            <p:cNvSpPr/>
            <p:nvPr/>
          </p:nvSpPr>
          <p:spPr>
            <a:xfrm flipH="1">
              <a:off x="1900238" y="3100388"/>
              <a:ext cx="722312" cy="6985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3379" name="Line 164"/>
            <p:cNvSpPr/>
            <p:nvPr/>
          </p:nvSpPr>
          <p:spPr>
            <a:xfrm flipH="1">
              <a:off x="1804988" y="3124200"/>
              <a:ext cx="180975" cy="627063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3380" name="Line 165"/>
            <p:cNvSpPr/>
            <p:nvPr/>
          </p:nvSpPr>
          <p:spPr>
            <a:xfrm>
              <a:off x="1419225" y="3076575"/>
              <a:ext cx="241300" cy="6858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3381" name="Line 166"/>
            <p:cNvSpPr/>
            <p:nvPr/>
          </p:nvSpPr>
          <p:spPr>
            <a:xfrm>
              <a:off x="722313" y="3173413"/>
              <a:ext cx="841375" cy="733425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53330" name="Rectangle 168"/>
          <p:cNvSpPr/>
          <p:nvPr/>
        </p:nvSpPr>
        <p:spPr>
          <a:xfrm>
            <a:off x="3829050" y="44783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7</a:t>
            </a:r>
            <a:endParaRPr lang="en-US" altLang="zh-CN" sz="2000" b="1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331" name="Rectangle 169"/>
          <p:cNvSpPr/>
          <p:nvPr/>
        </p:nvSpPr>
        <p:spPr>
          <a:xfrm>
            <a:off x="4210050" y="4478338"/>
            <a:ext cx="3048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32" name="Rectangle 171"/>
          <p:cNvSpPr/>
          <p:nvPr/>
        </p:nvSpPr>
        <p:spPr>
          <a:xfrm>
            <a:off x="3829050" y="4851400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8</a:t>
            </a:r>
            <a:endParaRPr lang="en-US" altLang="zh-CN" sz="2000" b="1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333" name="Rectangle 172"/>
          <p:cNvSpPr/>
          <p:nvPr/>
        </p:nvSpPr>
        <p:spPr>
          <a:xfrm>
            <a:off x="4210050" y="4851400"/>
            <a:ext cx="3048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34" name="Text Box 173"/>
          <p:cNvSpPr txBox="1"/>
          <p:nvPr/>
        </p:nvSpPr>
        <p:spPr>
          <a:xfrm>
            <a:off x="3530918" y="4445000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35" name="Text Box 174"/>
          <p:cNvSpPr txBox="1"/>
          <p:nvPr/>
        </p:nvSpPr>
        <p:spPr>
          <a:xfrm>
            <a:off x="3522663" y="4779963"/>
            <a:ext cx="30988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3" name="Group 175"/>
          <p:cNvGrpSpPr/>
          <p:nvPr/>
        </p:nvGrpSpPr>
        <p:grpSpPr bwMode="auto">
          <a:xfrm>
            <a:off x="5816600" y="45418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14" name="Rectangle 176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5" name="Rectangle 177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6" name="Group 178"/>
          <p:cNvGrpSpPr/>
          <p:nvPr/>
        </p:nvGrpSpPr>
        <p:grpSpPr bwMode="auto">
          <a:xfrm>
            <a:off x="4826000" y="45545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17" name="Rectangle 179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8" name="Rectangle 180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3338" name="Line 181"/>
          <p:cNvSpPr/>
          <p:nvPr/>
        </p:nvSpPr>
        <p:spPr>
          <a:xfrm flipV="1">
            <a:off x="5435600" y="46815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339" name="Line 182"/>
          <p:cNvSpPr/>
          <p:nvPr/>
        </p:nvSpPr>
        <p:spPr>
          <a:xfrm flipV="1">
            <a:off x="4445000" y="46815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340" name="Rectangle 183"/>
          <p:cNvSpPr/>
          <p:nvPr/>
        </p:nvSpPr>
        <p:spPr>
          <a:xfrm>
            <a:off x="6284913" y="4424363"/>
            <a:ext cx="3733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41" name="Text Box 184"/>
          <p:cNvSpPr txBox="1"/>
          <p:nvPr/>
        </p:nvSpPr>
        <p:spPr>
          <a:xfrm>
            <a:off x="4962525" y="44402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42" name="Text Box 185"/>
          <p:cNvSpPr txBox="1"/>
          <p:nvPr/>
        </p:nvSpPr>
        <p:spPr>
          <a:xfrm>
            <a:off x="5946775" y="4443413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4" name="Group 186"/>
          <p:cNvGrpSpPr/>
          <p:nvPr/>
        </p:nvGrpSpPr>
        <p:grpSpPr bwMode="auto">
          <a:xfrm>
            <a:off x="7842250" y="4927600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25" name="Rectangle 187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6" name="Rectangle 188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7" name="Group 189"/>
          <p:cNvGrpSpPr/>
          <p:nvPr/>
        </p:nvGrpSpPr>
        <p:grpSpPr bwMode="auto">
          <a:xfrm>
            <a:off x="4826000" y="49228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28" name="Rectangle 190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9" name="Rectangle 191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3345" name="Line 192"/>
          <p:cNvSpPr/>
          <p:nvPr/>
        </p:nvSpPr>
        <p:spPr>
          <a:xfrm flipV="1">
            <a:off x="5435600" y="50498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346" name="Line 193"/>
          <p:cNvSpPr/>
          <p:nvPr/>
        </p:nvSpPr>
        <p:spPr>
          <a:xfrm flipV="1">
            <a:off x="4445000" y="50498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347" name="Rectangle 194"/>
          <p:cNvSpPr/>
          <p:nvPr/>
        </p:nvSpPr>
        <p:spPr>
          <a:xfrm>
            <a:off x="8353425" y="4851400"/>
            <a:ext cx="32575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48" name="Text Box 195"/>
          <p:cNvSpPr txBox="1"/>
          <p:nvPr/>
        </p:nvSpPr>
        <p:spPr>
          <a:xfrm>
            <a:off x="4962525" y="48085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49" name="Text Box 196"/>
          <p:cNvSpPr txBox="1"/>
          <p:nvPr/>
        </p:nvSpPr>
        <p:spPr>
          <a:xfrm>
            <a:off x="7972425" y="484187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5" name="Group 201"/>
          <p:cNvGrpSpPr/>
          <p:nvPr/>
        </p:nvGrpSpPr>
        <p:grpSpPr bwMode="auto">
          <a:xfrm>
            <a:off x="5816600" y="49228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36" name="Rectangle 202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7" name="Rectangle 203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3351" name="Line 204"/>
          <p:cNvSpPr/>
          <p:nvPr/>
        </p:nvSpPr>
        <p:spPr>
          <a:xfrm flipV="1">
            <a:off x="6426200" y="50752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352" name="Text Box 205"/>
          <p:cNvSpPr txBox="1"/>
          <p:nvPr/>
        </p:nvSpPr>
        <p:spPr>
          <a:xfrm>
            <a:off x="5953125" y="48339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0" name="Group 206"/>
          <p:cNvGrpSpPr/>
          <p:nvPr/>
        </p:nvGrpSpPr>
        <p:grpSpPr bwMode="auto">
          <a:xfrm>
            <a:off x="6832600" y="4910138"/>
            <a:ext cx="762000" cy="228600"/>
            <a:chOff x="3792" y="2544"/>
            <a:chExt cx="480" cy="144"/>
          </a:xfrm>
          <a:solidFill>
            <a:srgbClr val="CCFFFF"/>
          </a:solidFill>
        </p:grpSpPr>
        <p:sp>
          <p:nvSpPr>
            <p:cNvPr id="341" name="Rectangle 207"/>
            <p:cNvSpPr>
              <a:spLocks noChangeArrowheads="1"/>
            </p:cNvSpPr>
            <p:nvPr/>
          </p:nvSpPr>
          <p:spPr bwMode="auto">
            <a:xfrm>
              <a:off x="3792" y="2544"/>
              <a:ext cx="336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2" name="Rectangle 208"/>
            <p:cNvSpPr>
              <a:spLocks noChangeArrowheads="1"/>
            </p:cNvSpPr>
            <p:nvPr/>
          </p:nvSpPr>
          <p:spPr bwMode="auto">
            <a:xfrm>
              <a:off x="4128" y="2544"/>
              <a:ext cx="144" cy="144"/>
            </a:xfrm>
            <a:prstGeom prst="rect">
              <a:avLst/>
            </a:prstGeom>
            <a:grp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3354" name="Line 209"/>
          <p:cNvSpPr/>
          <p:nvPr/>
        </p:nvSpPr>
        <p:spPr>
          <a:xfrm flipV="1">
            <a:off x="7442200" y="5062538"/>
            <a:ext cx="3810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3355" name="Text Box 210"/>
          <p:cNvSpPr txBox="1"/>
          <p:nvPr/>
        </p:nvSpPr>
        <p:spPr>
          <a:xfrm>
            <a:off x="6969125" y="48212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5" name="Text Box 211"/>
          <p:cNvSpPr txBox="1"/>
          <p:nvPr/>
        </p:nvSpPr>
        <p:spPr>
          <a:xfrm>
            <a:off x="4954588" y="1936750"/>
            <a:ext cx="2984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6" name="Text Box 212"/>
          <p:cNvSpPr txBox="1"/>
          <p:nvPr/>
        </p:nvSpPr>
        <p:spPr>
          <a:xfrm>
            <a:off x="5997575" y="1943100"/>
            <a:ext cx="2984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47" name="Text Box 213"/>
          <p:cNvSpPr txBox="1"/>
          <p:nvPr/>
        </p:nvSpPr>
        <p:spPr>
          <a:xfrm>
            <a:off x="5969000" y="2376488"/>
            <a:ext cx="2984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48" name="Text Box 214"/>
          <p:cNvSpPr txBox="1"/>
          <p:nvPr/>
        </p:nvSpPr>
        <p:spPr>
          <a:xfrm>
            <a:off x="5967413" y="3163888"/>
            <a:ext cx="2984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49" name="Text Box 215"/>
          <p:cNvSpPr txBox="1"/>
          <p:nvPr/>
        </p:nvSpPr>
        <p:spPr>
          <a:xfrm>
            <a:off x="5972175" y="2773363"/>
            <a:ext cx="3111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50" name="Text Box 216"/>
          <p:cNvSpPr txBox="1"/>
          <p:nvPr/>
        </p:nvSpPr>
        <p:spPr>
          <a:xfrm>
            <a:off x="6900863" y="2760663"/>
            <a:ext cx="2984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51" name="Text Box 217"/>
          <p:cNvSpPr txBox="1"/>
          <p:nvPr/>
        </p:nvSpPr>
        <p:spPr>
          <a:xfrm>
            <a:off x="6899275" y="2362200"/>
            <a:ext cx="3111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</a:pPr>
            <a:r>
              <a: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endParaRPr lang="en-US" altLang="zh-CN" sz="18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3363" name="Text Box 2"/>
          <p:cNvSpPr txBox="1"/>
          <p:nvPr/>
        </p:nvSpPr>
        <p:spPr>
          <a:xfrm>
            <a:off x="6208713" y="82550"/>
            <a:ext cx="29352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7.3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图的遍历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/>
      <p:bldP spid="177" grpId="0"/>
      <p:bldP spid="178" grpId="0"/>
      <p:bldP spid="179" grpId="0"/>
      <p:bldP spid="180" grpId="0"/>
      <p:bldP spid="181" grpId="0"/>
      <p:bldP spid="182" grpId="0"/>
      <p:bldP spid="183" grpId="0"/>
      <p:bldP spid="345" grpId="0"/>
      <p:bldP spid="346" grpId="0"/>
      <p:bldP spid="347" grpId="0"/>
      <p:bldP spid="348" grpId="0"/>
      <p:bldP spid="349" grpId="0"/>
      <p:bldP spid="350" grpId="0"/>
      <p:bldP spid="35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Oval 7"/>
          <p:cNvSpPr/>
          <p:nvPr/>
        </p:nvSpPr>
        <p:spPr>
          <a:xfrm>
            <a:off x="506413" y="80803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5299" name="Text Box 8"/>
          <p:cNvSpPr txBox="1"/>
          <p:nvPr/>
        </p:nvSpPr>
        <p:spPr>
          <a:xfrm>
            <a:off x="720725" y="733425"/>
            <a:ext cx="3622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广度优先搜索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1" name="Rectangle 158"/>
          <p:cNvSpPr>
            <a:spLocks noChangeArrowheads="1"/>
          </p:cNvSpPr>
          <p:nvPr/>
        </p:nvSpPr>
        <p:spPr bwMode="auto">
          <a:xfrm>
            <a:off x="4203700" y="796925"/>
            <a:ext cx="4289425" cy="46037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分别为队列的头、尾指针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2" name="Rectangle 156"/>
          <p:cNvSpPr>
            <a:spLocks noChangeArrowheads="1"/>
          </p:cNvSpPr>
          <p:nvPr/>
        </p:nvSpPr>
        <p:spPr bwMode="auto">
          <a:xfrm>
            <a:off x="593725" y="1273175"/>
            <a:ext cx="5091113" cy="526224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void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bfs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 (AdjList g, int v0)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{    Visited[v0]=1;  printf(“%d”, v0);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 f=0;r=0;p=g[v0].link;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12825" y="2351088"/>
            <a:ext cx="4859338" cy="39693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do</a:t>
            </a:r>
            <a:endParaRPr lang="en-US" altLang="zh-CN" b="1" dirty="0">
              <a:solidFill>
                <a:srgbClr val="00B050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{</a:t>
            </a:r>
            <a:endParaRPr lang="en-US" altLang="zh-CN" b="1" dirty="0">
              <a:solidFill>
                <a:srgbClr val="00B050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576388" y="2711450"/>
            <a:ext cx="2636837" cy="23069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while (p!=NULL)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{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51050" y="4194175"/>
            <a:ext cx="18176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p=p-&gt;next;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36115" y="3087688"/>
            <a:ext cx="204597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v=p-&gt;adjvex;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24209" y="3460750"/>
            <a:ext cx="339217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if (Visited[v]==0)          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20888" y="3827463"/>
            <a:ext cx="6605587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{  r++;  q[r]=v;  printf(“%d”, v);  Visited[v]=1;  }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49400" y="5287963"/>
            <a:ext cx="40782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{  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  <a:sym typeface="+mn-ea"/>
              </a:rPr>
              <a:t>f++; 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v=q[f];  p=g[v].link; }</a:t>
            </a:r>
            <a:endParaRPr lang="en-US" altLang="zh-CN" b="1" dirty="0">
              <a:solidFill>
                <a:srgbClr val="FF00FF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84008" y="4894263"/>
            <a:ext cx="11563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if (f!=r)</a:t>
            </a:r>
            <a:endParaRPr lang="en-US" altLang="zh-CN" b="1" dirty="0">
              <a:solidFill>
                <a:srgbClr val="FF00FF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227138" y="5770563"/>
            <a:ext cx="3586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while ((p!=NULL)||(f!=r))</a:t>
            </a:r>
            <a:endParaRPr lang="en-US" altLang="zh-CN" sz="2400" b="1" dirty="0">
              <a:solidFill>
                <a:srgbClr val="00B050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311" name="Text Box 2"/>
          <p:cNvSpPr txBox="1"/>
          <p:nvPr/>
        </p:nvSpPr>
        <p:spPr>
          <a:xfrm>
            <a:off x="6208713" y="82550"/>
            <a:ext cx="29352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7.3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图的遍历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ldLvl="0" animBg="1"/>
      <p:bldP spid="42" grpId="0" bldLvl="0" animBg="1"/>
      <p:bldP spid="2" grpId="0"/>
      <p:bldP spid="3" grpId="0"/>
      <p:bldP spid="4" grpId="0"/>
      <p:bldP spid="5" grpId="0"/>
      <p:bldP spid="6" grpId="0"/>
      <p:bldP spid="7" grpId="0"/>
      <p:bldP spid="8" grpId="0"/>
      <p:bldP spid="10" grpId="0"/>
      <p:bldP spid="3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05" name="Text Box 233"/>
          <p:cNvSpPr txBox="1">
            <a:spLocks noChangeArrowheads="1"/>
          </p:cNvSpPr>
          <p:nvPr/>
        </p:nvSpPr>
        <p:spPr bwMode="auto">
          <a:xfrm>
            <a:off x="720725" y="1846263"/>
            <a:ext cx="8037513" cy="3091815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</a:t>
            </a:r>
            <a:endParaRPr kumimoji="0" lang="en-US" altLang="zh-CN" sz="2500" b="0" i="0" u="none" strike="noStrike" kern="120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可以用深度优先搜索或广度优先搜索算法来判断图是否连通。在对无向图进行遍历时，对于连通图，仅需要一次搜索过程，图中的顶点就全部被访问。对于非连通图，则需要多次调用搜索过程，而每次调用得到的顶点访问序列恰好为其各个连通分量中的顶点集。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7347" name="Oval 7"/>
          <p:cNvSpPr/>
          <p:nvPr/>
        </p:nvSpPr>
        <p:spPr>
          <a:xfrm>
            <a:off x="506413" y="80803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7348" name="Text Box 8"/>
          <p:cNvSpPr txBox="1"/>
          <p:nvPr/>
        </p:nvSpPr>
        <p:spPr>
          <a:xfrm>
            <a:off x="912813" y="712788"/>
            <a:ext cx="3622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求图的连通分量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7349" name="矩形 1"/>
          <p:cNvSpPr/>
          <p:nvPr/>
        </p:nvSpPr>
        <p:spPr>
          <a:xfrm>
            <a:off x="506413" y="1606550"/>
            <a:ext cx="1243012" cy="630238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</a:rPr>
              <a:t>思想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57350" name="Text Box 2"/>
          <p:cNvSpPr txBox="1"/>
          <p:nvPr/>
        </p:nvSpPr>
        <p:spPr>
          <a:xfrm>
            <a:off x="6208713" y="82550"/>
            <a:ext cx="29352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7.3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图的遍历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05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8" name="Rectangle 4"/>
          <p:cNvSpPr>
            <a:spLocks noChangeArrowheads="1"/>
          </p:cNvSpPr>
          <p:nvPr/>
        </p:nvSpPr>
        <p:spPr bwMode="auto">
          <a:xfrm>
            <a:off x="431800" y="1231900"/>
            <a:ext cx="7939088" cy="540956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void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Count_Component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(AdjList g)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{    int count;</a:t>
            </a:r>
            <a:b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for(v=1; v&lt;=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g.vexnum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; v++) / *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初始化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visited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数组 </a:t>
            </a:r>
            <a:b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visited[v]=0;</a:t>
            </a:r>
            <a:b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　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count=0;</a:t>
            </a:r>
            <a:b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　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for(v=1;v&lt;=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g.vexnum;v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++)</a:t>
            </a:r>
            <a:b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　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if(visited[v]==0)</a:t>
            </a:r>
            <a:b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　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{    count++;</a:t>
            </a:r>
            <a:b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</a:b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    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printf(“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连通分量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d%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包含以下顶点：”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, count);</a:t>
            </a:r>
            <a:b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　　　　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dfs(g, v);</a:t>
            </a:r>
            <a:b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　　  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printf(“\n”); }</a:t>
            </a:r>
            <a:b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　　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printf(“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共有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%d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个连通分量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\n”, count);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8371" name="Oval 7"/>
          <p:cNvSpPr/>
          <p:nvPr/>
        </p:nvSpPr>
        <p:spPr>
          <a:xfrm>
            <a:off x="506413" y="80803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8372" name="Text Box 8"/>
          <p:cNvSpPr txBox="1"/>
          <p:nvPr/>
        </p:nvSpPr>
        <p:spPr>
          <a:xfrm>
            <a:off x="912813" y="712788"/>
            <a:ext cx="3622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求图的连通分量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8373" name="Text Box 2"/>
          <p:cNvSpPr txBox="1"/>
          <p:nvPr/>
        </p:nvSpPr>
        <p:spPr>
          <a:xfrm>
            <a:off x="6216968" y="66040"/>
            <a:ext cx="29352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7.3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图的遍历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8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2" name="Text Box 8"/>
          <p:cNvSpPr txBox="1"/>
          <p:nvPr>
            <p:custDataLst>
              <p:tags r:id="rId1"/>
            </p:custDataLst>
          </p:nvPr>
        </p:nvSpPr>
        <p:spPr>
          <a:xfrm>
            <a:off x="81280" y="592455"/>
            <a:ext cx="468947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六度空间理论及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验证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8905" name="Text Box 23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74065" y="1439228"/>
            <a:ext cx="8037513" cy="1591310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</a:t>
            </a:r>
            <a:endParaRPr kumimoji="0" lang="en-US" altLang="zh-CN" sz="2500" b="0" i="0" u="none" strike="noStrike" kern="120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20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世纪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60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年代美国心理学家斯坦利提出：你和任何一个人之间所间隔的陌生人不会超过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个。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7349" name="矩形 1"/>
          <p:cNvSpPr/>
          <p:nvPr>
            <p:custDataLst>
              <p:tags r:id="rId3"/>
            </p:custDataLst>
          </p:nvPr>
        </p:nvSpPr>
        <p:spPr>
          <a:xfrm>
            <a:off x="559753" y="1199515"/>
            <a:ext cx="1243012" cy="630238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</a:rPr>
              <a:t>猜想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4"/>
          <a:stretch>
            <a:fillRect/>
          </a:stretch>
        </p:blipFill>
        <p:spPr>
          <a:xfrm>
            <a:off x="4671060" y="3088640"/>
            <a:ext cx="4140835" cy="3454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5"/>
          <a:stretch>
            <a:fillRect/>
          </a:stretch>
        </p:blipFill>
        <p:spPr>
          <a:xfrm>
            <a:off x="774065" y="3088640"/>
            <a:ext cx="3716655" cy="3439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373" name="Text Box 2"/>
          <p:cNvSpPr txBox="1"/>
          <p:nvPr>
            <p:custDataLst>
              <p:tags r:id="rId6"/>
            </p:custDataLst>
          </p:nvPr>
        </p:nvSpPr>
        <p:spPr>
          <a:xfrm>
            <a:off x="6208713" y="82550"/>
            <a:ext cx="29352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7.3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图的遍历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05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905" name="Text Box 23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50240" y="812483"/>
            <a:ext cx="8037513" cy="4592320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</a:t>
            </a:r>
            <a:endParaRPr kumimoji="0" lang="en-US" altLang="zh-CN" sz="2500" b="0" i="0" u="none" strike="noStrike" kern="120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将六度空间理论中的人际关系网络抽象成一个无向图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，图中的每个顶点表示一个人，两个人认识与否用图中对应两个顶点之间是否有一条边来表示。则六度空间理论问题可描述为：在图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中，任意两个顶点之间都存在一条长度不超过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7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路径。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利用广度优先搜索算法，对图中任意一点，通过对图的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7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层遍历，就可以统计出所有路径长度不超过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7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的定点数，从而得到这些顶点在所有顶点中所占的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比例。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7349" name="矩形 1"/>
          <p:cNvSpPr/>
          <p:nvPr>
            <p:custDataLst>
              <p:tags r:id="rId2"/>
            </p:custDataLst>
          </p:nvPr>
        </p:nvSpPr>
        <p:spPr>
          <a:xfrm>
            <a:off x="435928" y="572770"/>
            <a:ext cx="1243012" cy="630238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</a:rPr>
              <a:t>验证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58373" name="Text Box 2"/>
          <p:cNvSpPr txBox="1"/>
          <p:nvPr>
            <p:custDataLst>
              <p:tags r:id="rId3"/>
            </p:custDataLst>
          </p:nvPr>
        </p:nvSpPr>
        <p:spPr>
          <a:xfrm>
            <a:off x="6208713" y="82550"/>
            <a:ext cx="29352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7.3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图的遍历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05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93675" y="753110"/>
            <a:ext cx="8569325" cy="50927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2500" b="1" noProof="0" dirty="0">
                <a:ln>
                  <a:noFill/>
                </a:ln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   </a:t>
            </a:r>
            <a:r>
              <a:rPr lang="zh-CN" altLang="en-US" sz="2500" b="1" noProof="0" dirty="0">
                <a:ln>
                  <a:noFill/>
                </a:ln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六度空间理论提出以来，很多社会学家试图验证此假设的正确性。</a:t>
            </a:r>
            <a:endParaRPr lang="zh-CN" altLang="en-US" sz="2500" b="1" noProof="0" dirty="0">
              <a:ln>
                <a:noFill/>
              </a:ln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500" b="1" noProof="0" dirty="0">
                <a:ln>
                  <a:noFill/>
                </a:ln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500" b="1" noProof="0" dirty="0">
                <a:ln>
                  <a:noFill/>
                </a:ln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  </a:t>
            </a:r>
            <a:r>
              <a:rPr lang="en-US" sz="2500" b="1" noProof="0" dirty="0">
                <a:ln>
                  <a:noFill/>
                </a:ln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2001</a:t>
            </a:r>
            <a:r>
              <a:rPr lang="zh-CN" altLang="en-US" sz="2500" b="1" noProof="0" dirty="0">
                <a:ln>
                  <a:noFill/>
                </a:ln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年美国哥伦比亚大学的社会学家登肯</a:t>
            </a:r>
            <a:r>
              <a:rPr lang="en-US" altLang="zh-CN" sz="2500" b="1" noProof="0" dirty="0">
                <a:ln>
                  <a:noFill/>
                </a:ln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2500" b="1" noProof="0" dirty="0">
                <a:ln>
                  <a:noFill/>
                </a:ln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瓦兹主持了一项验证实验，</a:t>
            </a:r>
            <a:r>
              <a:rPr lang="en-US" altLang="zh-CN" sz="2500" b="1" noProof="0" dirty="0">
                <a:ln>
                  <a:noFill/>
                </a:ln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166</a:t>
            </a:r>
            <a:r>
              <a:rPr lang="zh-CN" altLang="en-US" sz="2500" b="1" noProof="0" dirty="0">
                <a:ln>
                  <a:noFill/>
                </a:ln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个国家的</a:t>
            </a:r>
            <a:r>
              <a:rPr lang="en-US" altLang="zh-CN" sz="2500" b="1" noProof="0" dirty="0">
                <a:ln>
                  <a:noFill/>
                </a:ln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6</a:t>
            </a:r>
            <a:r>
              <a:rPr lang="zh-CN" altLang="en-US" sz="2500" b="1" noProof="0" dirty="0">
                <a:ln>
                  <a:noFill/>
                </a:ln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万多名志愿者参加了该项研究。瓦兹随机选定</a:t>
            </a:r>
            <a:r>
              <a:rPr lang="en-US" altLang="zh-CN" sz="2500" b="1" noProof="0" dirty="0">
                <a:ln>
                  <a:noFill/>
                </a:ln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sz="2500" b="1" noProof="0" dirty="0">
                <a:ln>
                  <a:noFill/>
                </a:ln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名目标（如一名美国的教授、一名澳大利亚的警察和一名挪威兽医），要求志愿者选择其中的一名作为自己的目标，并发送电子邮件给自己认为最有可能发送该邮件给目标的亲友。研究取得了较好的验证成果，并在科学杂志上发表了研究论文。验证结果表明，邮件要达到目标，平均需要经历</a:t>
            </a:r>
            <a:r>
              <a:rPr lang="en-US" altLang="zh-CN" sz="2500" b="1" noProof="0" dirty="0">
                <a:ln>
                  <a:noFill/>
                </a:ln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5~7</a:t>
            </a:r>
            <a:r>
              <a:rPr lang="zh-CN" altLang="en-US" sz="2500" b="1" noProof="0" dirty="0">
                <a:ln>
                  <a:noFill/>
                </a:ln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个人</a:t>
            </a:r>
            <a:r>
              <a:rPr lang="zh-CN" altLang="en-US" sz="2500" b="1" noProof="0" dirty="0">
                <a:ln>
                  <a:noFill/>
                </a:ln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左右。</a:t>
            </a:r>
            <a:endParaRPr lang="zh-CN" altLang="en-US" sz="2500" b="1" noProof="0" dirty="0">
              <a:ln>
                <a:noFill/>
              </a:ln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8373" name="Text Box 2"/>
          <p:cNvSpPr txBox="1"/>
          <p:nvPr>
            <p:custDataLst>
              <p:tags r:id="rId1"/>
            </p:custDataLst>
          </p:nvPr>
        </p:nvSpPr>
        <p:spPr>
          <a:xfrm>
            <a:off x="6208713" y="82550"/>
            <a:ext cx="29352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7.3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图的遍历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" name="Rectangle 15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9400" y="567690"/>
            <a:ext cx="8409305" cy="60007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void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SixDegree_BFS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 (AdjList g, int v0)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{    Visited_Num = 0 ; //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记录路径长度不超过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7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的顶点个数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 Visited[v0]=1;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 f=0;r=0;  r++;  q[r] = v0;  //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队列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初始化，入队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level[0] = 1;   //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第一层入队的顶点个数为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1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 for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(len = 1;  len &lt;=6 &amp;&amp; f!=r;  len ++)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 {      f++;  v= q[f];  p=g[v].link;  //</a:t>
            </a:r>
            <a:r>
              <a:rPr kumimoji="1" lang="zh-CN" altLang="en-US" b="1" noProof="0" dirty="0">
                <a:ln>
                  <a:noFill/>
                </a:ln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  <a:sym typeface="+mn-ea"/>
              </a:rPr>
              <a:t>出队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         </a:t>
            </a:r>
            <a:r>
              <a:rPr lang="en-US" altLang="zh-CN" b="1" dirty="0">
                <a:ea typeface="楷体_GB2312" panose="02010609030101010101" pitchFamily="49" charset="-122"/>
                <a:cs typeface="Times New Roman" panose="02020603050405020304" pitchFamily="18" charset="0"/>
                <a:sym typeface="+mn-ea"/>
              </a:rPr>
              <a:t>while (p!=NULL)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ea typeface="楷体_GB2312" panose="02010609030101010101" pitchFamily="49" charset="-122"/>
                <a:cs typeface="Times New Roman" panose="02020603050405020304" pitchFamily="18" charset="0"/>
                <a:sym typeface="+mn-ea"/>
              </a:rPr>
              <a:t>              {    </a:t>
            </a:r>
            <a:r>
              <a:rPr lang="en-US" altLang="zh-CN" b="1" dirty="0">
                <a:ea typeface="楷体_GB2312" panose="02010609030101010101" pitchFamily="49" charset="-122"/>
                <a:cs typeface="Times New Roman" panose="02020603050405020304" pitchFamily="18" charset="0"/>
                <a:sym typeface="+mn-ea"/>
              </a:rPr>
              <a:t>w = p-&gt;adjvex;</a:t>
            </a:r>
            <a:endParaRPr lang="en-US" altLang="zh-CN" b="1" dirty="0">
              <a:ea typeface="楷体_GB2312" panose="0201060903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       </a:t>
            </a:r>
            <a:r>
              <a:rPr lang="en-US" altLang="zh-CN" b="1" dirty="0">
                <a:ea typeface="楷体_GB2312" panose="02010609030101010101" pitchFamily="49" charset="-122"/>
                <a:cs typeface="Times New Roman" panose="02020603050405020304" pitchFamily="18" charset="0"/>
                <a:sym typeface="+mn-ea"/>
              </a:rPr>
              <a:t>if (Visited[</a:t>
            </a:r>
            <a:r>
              <a:rPr lang="en-US" altLang="zh-CN" b="1" dirty="0">
                <a:ea typeface="楷体_GB2312" panose="02010609030101010101" pitchFamily="49" charset="-122"/>
                <a:cs typeface="Times New Roman" panose="02020603050405020304" pitchFamily="18" charset="0"/>
                <a:sym typeface="+mn-ea"/>
              </a:rPr>
              <a:t>w]==0)  </a:t>
            </a:r>
            <a:endParaRPr lang="en-US" altLang="zh-CN" b="1" dirty="0">
              <a:ea typeface="楷体_GB2312" panose="0201060903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ea typeface="楷体_GB2312" panose="02010609030101010101" pitchFamily="49" charset="-122"/>
                <a:cs typeface="Times New Roman" panose="02020603050405020304" pitchFamily="18" charset="0"/>
                <a:sym typeface="+mn-ea"/>
              </a:rPr>
              <a:t>                   {  Visited[w] = 1; Visited_Num++; level[len]++;</a:t>
            </a:r>
            <a:endParaRPr lang="en-US" altLang="zh-CN" b="1" dirty="0">
              <a:ea typeface="楷体_GB2312" panose="0201060903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ea typeface="楷体_GB2312" panose="02010609030101010101" pitchFamily="49" charset="-122"/>
                <a:cs typeface="Times New Roman" panose="02020603050405020304" pitchFamily="18" charset="0"/>
                <a:sym typeface="+mn-ea"/>
              </a:rPr>
              <a:t>                       r++; q[r] = w; }</a:t>
            </a:r>
            <a:endParaRPr lang="en-US" altLang="zh-CN" b="1" dirty="0">
              <a:ea typeface="楷体_GB2312" panose="0201060903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ea typeface="楷体_GB2312" panose="02010609030101010101" pitchFamily="49" charset="-122"/>
                <a:cs typeface="Times New Roman" panose="02020603050405020304" pitchFamily="18" charset="0"/>
                <a:sym typeface="+mn-ea"/>
              </a:rPr>
              <a:t>                   p = p-&gt;next;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ea typeface="楷体_GB2312" panose="02010609030101010101" pitchFamily="49" charset="-122"/>
                <a:cs typeface="Times New Roman" panose="02020603050405020304" pitchFamily="18" charset="0"/>
                <a:sym typeface="+mn-ea"/>
              </a:rPr>
              <a:t>              }</a:t>
            </a:r>
            <a:endParaRPr lang="en-US" altLang="zh-CN" b="1" dirty="0">
              <a:solidFill>
                <a:schemeClr val="tx1"/>
              </a:solidFill>
              <a:ea typeface="楷体_GB2312" panose="0201060903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  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cout&lt;&lt;100 * Visited_Num / Vnum;  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8373" name="Text Box 2"/>
          <p:cNvSpPr txBox="1"/>
          <p:nvPr>
            <p:custDataLst>
              <p:tags r:id="rId2"/>
            </p:custDataLst>
          </p:nvPr>
        </p:nvSpPr>
        <p:spPr>
          <a:xfrm>
            <a:off x="6208713" y="82550"/>
            <a:ext cx="29352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7.3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图的遍历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69" name="Text Box 221"/>
          <p:cNvSpPr txBox="1">
            <a:spLocks noChangeArrowheads="1"/>
          </p:cNvSpPr>
          <p:nvPr/>
        </p:nvSpPr>
        <p:spPr bwMode="auto">
          <a:xfrm>
            <a:off x="817563" y="4579938"/>
            <a:ext cx="4205288" cy="82994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）在网中选择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n-1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条边，连接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网络的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个顶点；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7870" name="Text Box 222"/>
          <p:cNvSpPr txBox="1">
            <a:spLocks noChangeArrowheads="1"/>
          </p:cNvSpPr>
          <p:nvPr/>
        </p:nvSpPr>
        <p:spPr bwMode="auto">
          <a:xfrm>
            <a:off x="822325" y="5519738"/>
            <a:ext cx="4156075" cy="82994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）尽可能选取权值为最小的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边。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9396" name="Oval 228"/>
          <p:cNvSpPr/>
          <p:nvPr/>
        </p:nvSpPr>
        <p:spPr>
          <a:xfrm>
            <a:off x="5435600" y="5518150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1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397" name="Oval 229"/>
          <p:cNvSpPr/>
          <p:nvPr/>
        </p:nvSpPr>
        <p:spPr>
          <a:xfrm>
            <a:off x="7112000" y="3994150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b="1" baseline="-20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398" name="Oval 230"/>
          <p:cNvSpPr/>
          <p:nvPr/>
        </p:nvSpPr>
        <p:spPr>
          <a:xfrm>
            <a:off x="8272463" y="4738688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1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400" b="1" baseline="-1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399" name="Oval 231"/>
          <p:cNvSpPr/>
          <p:nvPr/>
        </p:nvSpPr>
        <p:spPr>
          <a:xfrm>
            <a:off x="7112000" y="5518150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1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400" name="Oval 232"/>
          <p:cNvSpPr/>
          <p:nvPr/>
        </p:nvSpPr>
        <p:spPr>
          <a:xfrm>
            <a:off x="6273800" y="4832350"/>
            <a:ext cx="381000" cy="381000"/>
          </a:xfrm>
          <a:prstGeom prst="ellipse">
            <a:avLst/>
          </a:prstGeom>
          <a:solidFill>
            <a:schemeClr val="accent1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1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400" b="1" baseline="-1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401" name="Oval 233"/>
          <p:cNvSpPr/>
          <p:nvPr/>
        </p:nvSpPr>
        <p:spPr>
          <a:xfrm>
            <a:off x="5435600" y="4011613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1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baseline="-1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402" name="Line 234"/>
          <p:cNvSpPr/>
          <p:nvPr/>
        </p:nvSpPr>
        <p:spPr>
          <a:xfrm>
            <a:off x="5816600" y="4222750"/>
            <a:ext cx="1295400" cy="0"/>
          </a:xfrm>
          <a:prstGeom prst="line">
            <a:avLst/>
          </a:prstGeom>
          <a:ln w="28575" cap="sq" cmpd="sng">
            <a:solidFill>
              <a:srgbClr val="FFC000">
                <a:alpha val="9882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403" name="Line 235"/>
          <p:cNvSpPr/>
          <p:nvPr/>
        </p:nvSpPr>
        <p:spPr>
          <a:xfrm>
            <a:off x="5588000" y="4375150"/>
            <a:ext cx="0" cy="1143000"/>
          </a:xfrm>
          <a:prstGeom prst="line">
            <a:avLst/>
          </a:prstGeom>
          <a:ln w="28575" cap="sq" cmpd="sng">
            <a:solidFill>
              <a:schemeClr val="accent4">
                <a:lumMod val="75000"/>
                <a:alpha val="98822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404" name="Line 236"/>
          <p:cNvSpPr/>
          <p:nvPr/>
        </p:nvSpPr>
        <p:spPr>
          <a:xfrm>
            <a:off x="7493000" y="4298950"/>
            <a:ext cx="762000" cy="533400"/>
          </a:xfrm>
          <a:prstGeom prst="line">
            <a:avLst/>
          </a:prstGeom>
          <a:ln w="28575" cap="sq" cmpd="sng">
            <a:solidFill>
              <a:srgbClr val="FFC000">
                <a:alpha val="9882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405" name="Line 237"/>
          <p:cNvSpPr/>
          <p:nvPr/>
        </p:nvSpPr>
        <p:spPr>
          <a:xfrm>
            <a:off x="5816600" y="5746750"/>
            <a:ext cx="1295400" cy="0"/>
          </a:xfrm>
          <a:prstGeom prst="line">
            <a:avLst/>
          </a:prstGeom>
          <a:ln w="28575" cap="sq" cmpd="sng">
            <a:solidFill>
              <a:srgbClr val="FFC000">
                <a:alpha val="9882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406" name="Line 238"/>
          <p:cNvSpPr/>
          <p:nvPr/>
        </p:nvSpPr>
        <p:spPr>
          <a:xfrm>
            <a:off x="7340600" y="4375150"/>
            <a:ext cx="0" cy="1143000"/>
          </a:xfrm>
          <a:prstGeom prst="line">
            <a:avLst/>
          </a:prstGeom>
          <a:ln w="28575" cap="sq" cmpd="sng">
            <a:solidFill>
              <a:srgbClr val="FFC000">
                <a:alpha val="9882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407" name="Line 239"/>
          <p:cNvSpPr/>
          <p:nvPr/>
        </p:nvSpPr>
        <p:spPr>
          <a:xfrm flipV="1">
            <a:off x="7531100" y="5060950"/>
            <a:ext cx="800100" cy="609600"/>
          </a:xfrm>
          <a:prstGeom prst="line">
            <a:avLst/>
          </a:prstGeom>
          <a:ln w="28575" cap="sq" cmpd="sng">
            <a:solidFill>
              <a:schemeClr val="accent4">
                <a:lumMod val="75000"/>
                <a:alpha val="98822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408" name="Line 240"/>
          <p:cNvSpPr/>
          <p:nvPr/>
        </p:nvSpPr>
        <p:spPr>
          <a:xfrm>
            <a:off x="5759450" y="4375150"/>
            <a:ext cx="609600" cy="533400"/>
          </a:xfrm>
          <a:prstGeom prst="line">
            <a:avLst/>
          </a:prstGeom>
          <a:ln w="28575" cap="sq" cmpd="sng">
            <a:solidFill>
              <a:schemeClr val="accent4">
                <a:lumMod val="75000"/>
                <a:alpha val="98822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409" name="Line 241"/>
          <p:cNvSpPr/>
          <p:nvPr/>
        </p:nvSpPr>
        <p:spPr>
          <a:xfrm flipV="1">
            <a:off x="5816600" y="5113338"/>
            <a:ext cx="484188" cy="493712"/>
          </a:xfrm>
          <a:prstGeom prst="line">
            <a:avLst/>
          </a:prstGeom>
          <a:ln w="28575" cap="sq" cmpd="sng">
            <a:solidFill>
              <a:schemeClr val="accent4">
                <a:lumMod val="75000"/>
                <a:alpha val="98822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410" name="Line 242"/>
          <p:cNvSpPr/>
          <p:nvPr/>
        </p:nvSpPr>
        <p:spPr>
          <a:xfrm>
            <a:off x="6654800" y="5137150"/>
            <a:ext cx="533400" cy="457200"/>
          </a:xfrm>
          <a:prstGeom prst="line">
            <a:avLst/>
          </a:prstGeom>
          <a:ln w="28575" cap="sq" cmpd="sng">
            <a:solidFill>
              <a:schemeClr val="accent4">
                <a:lumMod val="75000"/>
                <a:alpha val="98822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411" name="Line 243"/>
          <p:cNvSpPr/>
          <p:nvPr/>
        </p:nvSpPr>
        <p:spPr>
          <a:xfrm flipV="1">
            <a:off x="6654800" y="4375150"/>
            <a:ext cx="533400" cy="533400"/>
          </a:xfrm>
          <a:prstGeom prst="line">
            <a:avLst/>
          </a:prstGeom>
          <a:ln w="28575" cap="sq" cmpd="sng">
            <a:solidFill>
              <a:srgbClr val="FFC000">
                <a:alpha val="9882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412" name="Text Box 244"/>
          <p:cNvSpPr txBox="1"/>
          <p:nvPr/>
        </p:nvSpPr>
        <p:spPr>
          <a:xfrm>
            <a:off x="6185535" y="3894138"/>
            <a:ext cx="436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413" name="Text Box 245"/>
          <p:cNvSpPr txBox="1"/>
          <p:nvPr/>
        </p:nvSpPr>
        <p:spPr>
          <a:xfrm>
            <a:off x="6649085" y="4298950"/>
            <a:ext cx="4241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414" name="Text Box 246"/>
          <p:cNvSpPr txBox="1"/>
          <p:nvPr/>
        </p:nvSpPr>
        <p:spPr>
          <a:xfrm>
            <a:off x="7792085" y="429895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415" name="Text Box 247"/>
          <p:cNvSpPr txBox="1"/>
          <p:nvPr/>
        </p:nvSpPr>
        <p:spPr>
          <a:xfrm>
            <a:off x="7334885" y="475615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416" name="Text Box 248"/>
          <p:cNvSpPr txBox="1"/>
          <p:nvPr/>
        </p:nvSpPr>
        <p:spPr>
          <a:xfrm>
            <a:off x="7868285" y="528955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417" name="Text Box 249"/>
          <p:cNvSpPr txBox="1"/>
          <p:nvPr/>
        </p:nvSpPr>
        <p:spPr>
          <a:xfrm>
            <a:off x="6261735" y="5670550"/>
            <a:ext cx="436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418" name="Text Box 250"/>
          <p:cNvSpPr txBox="1"/>
          <p:nvPr/>
        </p:nvSpPr>
        <p:spPr>
          <a:xfrm>
            <a:off x="6718935" y="4984750"/>
            <a:ext cx="436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419" name="Text Box 251"/>
          <p:cNvSpPr txBox="1"/>
          <p:nvPr/>
        </p:nvSpPr>
        <p:spPr>
          <a:xfrm>
            <a:off x="5239385" y="4832350"/>
            <a:ext cx="436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420" name="Text Box 252"/>
          <p:cNvSpPr txBox="1"/>
          <p:nvPr/>
        </p:nvSpPr>
        <p:spPr>
          <a:xfrm>
            <a:off x="5753735" y="5010150"/>
            <a:ext cx="436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421" name="Text Box 253"/>
          <p:cNvSpPr txBox="1"/>
          <p:nvPr/>
        </p:nvSpPr>
        <p:spPr>
          <a:xfrm>
            <a:off x="5956935" y="4298950"/>
            <a:ext cx="436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902" name="Line 254"/>
          <p:cNvSpPr/>
          <p:nvPr/>
        </p:nvSpPr>
        <p:spPr>
          <a:xfrm>
            <a:off x="5816600" y="4224338"/>
            <a:ext cx="1295400" cy="0"/>
          </a:xfrm>
          <a:prstGeom prst="line">
            <a:avLst/>
          </a:prstGeom>
          <a:ln w="28575" cap="flat" cmpd="sng">
            <a:solidFill>
              <a:srgbClr val="FF00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903" name="Line 255"/>
          <p:cNvSpPr/>
          <p:nvPr/>
        </p:nvSpPr>
        <p:spPr>
          <a:xfrm>
            <a:off x="7510463" y="4305300"/>
            <a:ext cx="762000" cy="533400"/>
          </a:xfrm>
          <a:prstGeom prst="line">
            <a:avLst/>
          </a:prstGeom>
          <a:ln w="28575" cap="flat" cmpd="sng">
            <a:solidFill>
              <a:srgbClr val="FF00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904" name="Line 256"/>
          <p:cNvSpPr/>
          <p:nvPr/>
        </p:nvSpPr>
        <p:spPr>
          <a:xfrm>
            <a:off x="7340600" y="4370388"/>
            <a:ext cx="0" cy="1119187"/>
          </a:xfrm>
          <a:prstGeom prst="line">
            <a:avLst/>
          </a:prstGeom>
          <a:ln w="28575" cap="flat" cmpd="sng">
            <a:solidFill>
              <a:srgbClr val="FF00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905" name="Line 257"/>
          <p:cNvSpPr/>
          <p:nvPr/>
        </p:nvSpPr>
        <p:spPr>
          <a:xfrm flipV="1">
            <a:off x="6667500" y="4360863"/>
            <a:ext cx="533400" cy="533400"/>
          </a:xfrm>
          <a:prstGeom prst="line">
            <a:avLst/>
          </a:prstGeom>
          <a:ln w="28575" cap="flat" cmpd="sng">
            <a:solidFill>
              <a:srgbClr val="FF00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906" name="Line 258"/>
          <p:cNvSpPr/>
          <p:nvPr/>
        </p:nvSpPr>
        <p:spPr>
          <a:xfrm>
            <a:off x="5819775" y="5746750"/>
            <a:ext cx="1295400" cy="0"/>
          </a:xfrm>
          <a:prstGeom prst="line">
            <a:avLst/>
          </a:prstGeom>
          <a:ln w="28575" cap="flat" cmpd="sng">
            <a:solidFill>
              <a:srgbClr val="FF00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907" name="Text Box 259"/>
          <p:cNvSpPr txBox="1">
            <a:spLocks noChangeArrowheads="1"/>
          </p:cNvSpPr>
          <p:nvPr/>
        </p:nvSpPr>
        <p:spPr bwMode="auto">
          <a:xfrm>
            <a:off x="5224463" y="6054725"/>
            <a:ext cx="3429000" cy="460375"/>
          </a:xfrm>
          <a:prstGeom prst="rect">
            <a:avLst/>
          </a:prstGeom>
          <a:gradFill rotWithShape="0">
            <a:gsLst>
              <a:gs pos="0">
                <a:srgbClr val="00B0F0"/>
              </a:gs>
              <a:gs pos="50000">
                <a:schemeClr val="bg1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最小生成树的权值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= 56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428" name="Oval 7"/>
          <p:cNvSpPr/>
          <p:nvPr/>
        </p:nvSpPr>
        <p:spPr>
          <a:xfrm>
            <a:off x="506413" y="80803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9429" name="Text Box 8"/>
          <p:cNvSpPr txBox="1"/>
          <p:nvPr/>
        </p:nvSpPr>
        <p:spPr>
          <a:xfrm>
            <a:off x="912813" y="712788"/>
            <a:ext cx="2738437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最小生成树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0" name="Text Box 233"/>
          <p:cNvSpPr txBox="1">
            <a:spLocks noChangeArrowheads="1"/>
          </p:cNvSpPr>
          <p:nvPr/>
        </p:nvSpPr>
        <p:spPr bwMode="auto">
          <a:xfrm>
            <a:off x="720725" y="1846263"/>
            <a:ext cx="8037513" cy="1591310"/>
          </a:xfrm>
          <a:prstGeom prst="rect">
            <a:avLst/>
          </a:prstGeom>
          <a:noFill/>
          <a:ln w="38100">
            <a:solidFill>
              <a:srgbClr val="00FFCC"/>
            </a:solidFill>
            <a:miter lim="800000"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  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带权连通图中</a:t>
            </a:r>
            <a:r>
              <a:rPr kumimoji="0" lang="zh-CN" altLang="en-US" sz="2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总的权值之和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最小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的带权生成树为最小生成树。最小生成树也称最小代价生成树，或最小花费生成树。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9431" name="矩形 1"/>
          <p:cNvSpPr/>
          <p:nvPr/>
        </p:nvSpPr>
        <p:spPr>
          <a:xfrm>
            <a:off x="385763" y="1520825"/>
            <a:ext cx="1243012" cy="630238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</a:rPr>
              <a:t>概念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73063" y="3798888"/>
            <a:ext cx="4673600" cy="2630487"/>
            <a:chOff x="373062" y="3798165"/>
            <a:chExt cx="4673602" cy="2631570"/>
          </a:xfrm>
        </p:grpSpPr>
        <p:sp>
          <p:nvSpPr>
            <p:cNvPr id="59434" name="矩形 1"/>
            <p:cNvSpPr/>
            <p:nvPr/>
          </p:nvSpPr>
          <p:spPr>
            <a:xfrm>
              <a:off x="720725" y="4238625"/>
              <a:ext cx="4325939" cy="2191110"/>
            </a:xfrm>
            <a:prstGeom prst="rect">
              <a:avLst/>
            </a:prstGeom>
            <a:noFill/>
            <a:ln w="38100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35" name="矩形 1"/>
            <p:cNvSpPr/>
            <p:nvPr/>
          </p:nvSpPr>
          <p:spPr>
            <a:xfrm>
              <a:off x="373062" y="3798165"/>
              <a:ext cx="1578285" cy="630238"/>
            </a:xfrm>
            <a:prstGeom prst="rect">
              <a:avLst/>
            </a:prstGeom>
            <a:solidFill>
              <a:srgbClr val="FF9999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  <a:ea typeface="微软雅黑" panose="020B0503020204020204" charset="-122"/>
                </a:rPr>
                <a:t>构造依据</a:t>
              </a:r>
              <a:endParaRPr lang="zh-CN" altLang="en-US" sz="2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</p:grpSp>
      <p:sp>
        <p:nvSpPr>
          <p:cNvPr id="59433" name="Text Box 2"/>
          <p:cNvSpPr txBox="1"/>
          <p:nvPr/>
        </p:nvSpPr>
        <p:spPr>
          <a:xfrm>
            <a:off x="3846513" y="82550"/>
            <a:ext cx="52974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7.4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最小生成树和最短路径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69" grpId="0"/>
      <p:bldP spid="27870" grpId="0"/>
      <p:bldP spid="27907" grpId="0" bldLvl="0" animBg="1"/>
      <p:bldP spid="50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442075" y="3913188"/>
            <a:ext cx="342687" cy="609600"/>
            <a:chOff x="6441551" y="3913188"/>
            <a:chExt cx="343766" cy="609600"/>
          </a:xfrm>
        </p:grpSpPr>
        <p:sp>
          <p:nvSpPr>
            <p:cNvPr id="60497" name="Line 133"/>
            <p:cNvSpPr/>
            <p:nvPr/>
          </p:nvSpPr>
          <p:spPr>
            <a:xfrm>
              <a:off x="6441551" y="3913188"/>
              <a:ext cx="0" cy="609600"/>
            </a:xfrm>
            <a:prstGeom prst="line">
              <a:avLst/>
            </a:prstGeom>
            <a:ln w="38100" cap="sq" cmpd="sng">
              <a:solidFill>
                <a:srgbClr val="FF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498" name="Text Box 2447"/>
            <p:cNvSpPr txBox="1"/>
            <p:nvPr/>
          </p:nvSpPr>
          <p:spPr>
            <a:xfrm>
              <a:off x="6448981" y="3947811"/>
              <a:ext cx="336336" cy="4603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0088" name="Text Box 2328"/>
          <p:cNvSpPr txBox="1">
            <a:spLocks noChangeArrowheads="1"/>
          </p:cNvSpPr>
          <p:nvPr/>
        </p:nvSpPr>
        <p:spPr bwMode="auto">
          <a:xfrm>
            <a:off x="1285875" y="2841625"/>
            <a:ext cx="7396163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②若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v,w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不和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T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中的边一起构成回路，则将边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v,w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加入到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中去。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54276" name="组合 1"/>
          <p:cNvGrpSpPr/>
          <p:nvPr/>
        </p:nvGrpSpPr>
        <p:grpSpPr>
          <a:xfrm>
            <a:off x="565150" y="3490913"/>
            <a:ext cx="2774950" cy="2555875"/>
            <a:chOff x="565150" y="3490913"/>
            <a:chExt cx="2774950" cy="2555875"/>
          </a:xfrm>
        </p:grpSpPr>
        <p:sp>
          <p:nvSpPr>
            <p:cNvPr id="60465" name="Oval 2415"/>
            <p:cNvSpPr/>
            <p:nvPr/>
          </p:nvSpPr>
          <p:spPr>
            <a:xfrm>
              <a:off x="1685925" y="3490913"/>
              <a:ext cx="457200" cy="4572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66" name="Text Box 2416"/>
            <p:cNvSpPr txBox="1"/>
            <p:nvPr/>
          </p:nvSpPr>
          <p:spPr>
            <a:xfrm>
              <a:off x="1765300" y="34940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67" name="Oval 2418"/>
            <p:cNvSpPr/>
            <p:nvPr/>
          </p:nvSpPr>
          <p:spPr>
            <a:xfrm>
              <a:off x="581025" y="4176713"/>
              <a:ext cx="457200" cy="4572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68" name="Text Box 2419"/>
            <p:cNvSpPr txBox="1"/>
            <p:nvPr/>
          </p:nvSpPr>
          <p:spPr>
            <a:xfrm>
              <a:off x="660400" y="41798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69" name="Oval 2421"/>
            <p:cNvSpPr/>
            <p:nvPr/>
          </p:nvSpPr>
          <p:spPr>
            <a:xfrm>
              <a:off x="2867025" y="4157663"/>
              <a:ext cx="457200" cy="4572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70" name="Text Box 2422"/>
            <p:cNvSpPr txBox="1"/>
            <p:nvPr/>
          </p:nvSpPr>
          <p:spPr>
            <a:xfrm>
              <a:off x="2946400" y="416083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71" name="Oval 2424"/>
            <p:cNvSpPr/>
            <p:nvPr/>
          </p:nvSpPr>
          <p:spPr>
            <a:xfrm>
              <a:off x="2676525" y="5357813"/>
              <a:ext cx="457200" cy="4572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72" name="Text Box 2425"/>
            <p:cNvSpPr txBox="1"/>
            <p:nvPr/>
          </p:nvSpPr>
          <p:spPr>
            <a:xfrm>
              <a:off x="2755900" y="53609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73" name="Oval 2427"/>
            <p:cNvSpPr/>
            <p:nvPr/>
          </p:nvSpPr>
          <p:spPr>
            <a:xfrm>
              <a:off x="942975" y="5376863"/>
              <a:ext cx="457200" cy="4572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74" name="Text Box 2428"/>
            <p:cNvSpPr txBox="1"/>
            <p:nvPr/>
          </p:nvSpPr>
          <p:spPr>
            <a:xfrm>
              <a:off x="1022350" y="538003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75" name="Oval 2430"/>
            <p:cNvSpPr/>
            <p:nvPr/>
          </p:nvSpPr>
          <p:spPr>
            <a:xfrm>
              <a:off x="1704975" y="4557713"/>
              <a:ext cx="457200" cy="4572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76" name="Text Box 2431"/>
            <p:cNvSpPr txBox="1"/>
            <p:nvPr/>
          </p:nvSpPr>
          <p:spPr>
            <a:xfrm>
              <a:off x="1784350" y="4560888"/>
              <a:ext cx="336550" cy="45720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77" name="Line 2432"/>
            <p:cNvSpPr/>
            <p:nvPr/>
          </p:nvSpPr>
          <p:spPr>
            <a:xfrm flipH="1">
              <a:off x="1000125" y="3795713"/>
              <a:ext cx="685800" cy="4572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478" name="Line 2433"/>
            <p:cNvSpPr/>
            <p:nvPr/>
          </p:nvSpPr>
          <p:spPr>
            <a:xfrm>
              <a:off x="2162175" y="3776663"/>
              <a:ext cx="762000" cy="3810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479" name="Line 2434"/>
            <p:cNvSpPr/>
            <p:nvPr/>
          </p:nvSpPr>
          <p:spPr>
            <a:xfrm>
              <a:off x="847725" y="4633913"/>
              <a:ext cx="152400" cy="7620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480" name="Line 2435"/>
            <p:cNvSpPr/>
            <p:nvPr/>
          </p:nvSpPr>
          <p:spPr>
            <a:xfrm>
              <a:off x="1438275" y="5624513"/>
              <a:ext cx="1219200" cy="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481" name="Line 2436"/>
            <p:cNvSpPr/>
            <p:nvPr/>
          </p:nvSpPr>
          <p:spPr>
            <a:xfrm flipH="1">
              <a:off x="2905125" y="4633913"/>
              <a:ext cx="152400" cy="6858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482" name="Line 2437"/>
            <p:cNvSpPr/>
            <p:nvPr/>
          </p:nvSpPr>
          <p:spPr>
            <a:xfrm>
              <a:off x="1914525" y="3948113"/>
              <a:ext cx="0" cy="6096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483" name="Line 2438"/>
            <p:cNvSpPr/>
            <p:nvPr/>
          </p:nvSpPr>
          <p:spPr>
            <a:xfrm>
              <a:off x="1019175" y="4500563"/>
              <a:ext cx="685800" cy="2286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484" name="Line 2439"/>
            <p:cNvSpPr/>
            <p:nvPr/>
          </p:nvSpPr>
          <p:spPr>
            <a:xfrm flipH="1">
              <a:off x="2143125" y="4494213"/>
              <a:ext cx="727075" cy="2921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485" name="Line 2440"/>
            <p:cNvSpPr/>
            <p:nvPr/>
          </p:nvSpPr>
          <p:spPr>
            <a:xfrm flipH="1">
              <a:off x="1314450" y="4948238"/>
              <a:ext cx="452438" cy="452437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486" name="Line 2441"/>
            <p:cNvSpPr/>
            <p:nvPr/>
          </p:nvSpPr>
          <p:spPr>
            <a:xfrm>
              <a:off x="2047875" y="4970463"/>
              <a:ext cx="685800" cy="4445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487" name="Text Box 2442"/>
            <p:cNvSpPr txBox="1"/>
            <p:nvPr/>
          </p:nvSpPr>
          <p:spPr>
            <a:xfrm>
              <a:off x="1117600" y="366553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88" name="Text Box 2443"/>
            <p:cNvSpPr txBox="1"/>
            <p:nvPr/>
          </p:nvSpPr>
          <p:spPr>
            <a:xfrm>
              <a:off x="2393950" y="35321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89" name="Text Box 2444"/>
            <p:cNvSpPr txBox="1"/>
            <p:nvPr/>
          </p:nvSpPr>
          <p:spPr>
            <a:xfrm>
              <a:off x="565150" y="47513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90" name="Text Box 2445"/>
            <p:cNvSpPr txBox="1"/>
            <p:nvPr/>
          </p:nvSpPr>
          <p:spPr>
            <a:xfrm>
              <a:off x="1936750" y="55895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91" name="Text Box 2446"/>
            <p:cNvSpPr txBox="1"/>
            <p:nvPr/>
          </p:nvSpPr>
          <p:spPr>
            <a:xfrm>
              <a:off x="3003550" y="47513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92" name="Text Box 2447"/>
            <p:cNvSpPr txBox="1"/>
            <p:nvPr/>
          </p:nvSpPr>
          <p:spPr>
            <a:xfrm>
              <a:off x="1878013" y="40655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93" name="Text Box 2448"/>
            <p:cNvSpPr txBox="1"/>
            <p:nvPr/>
          </p:nvSpPr>
          <p:spPr>
            <a:xfrm>
              <a:off x="2378075" y="45989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94" name="Text Box 2449"/>
            <p:cNvSpPr txBox="1"/>
            <p:nvPr/>
          </p:nvSpPr>
          <p:spPr>
            <a:xfrm>
              <a:off x="2149475" y="50561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95" name="Text Box 2450"/>
            <p:cNvSpPr txBox="1"/>
            <p:nvPr/>
          </p:nvSpPr>
          <p:spPr>
            <a:xfrm>
              <a:off x="1311275" y="47513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96" name="Text Box 2451"/>
            <p:cNvSpPr txBox="1"/>
            <p:nvPr/>
          </p:nvSpPr>
          <p:spPr>
            <a:xfrm>
              <a:off x="1311275" y="42179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0286" name="Group 2526"/>
          <p:cNvGrpSpPr/>
          <p:nvPr/>
        </p:nvGrpSpPr>
        <p:grpSpPr>
          <a:xfrm>
            <a:off x="3816350" y="3452813"/>
            <a:ext cx="4019550" cy="2346325"/>
            <a:chOff x="2404" y="2175"/>
            <a:chExt cx="2532" cy="1478"/>
          </a:xfrm>
        </p:grpSpPr>
        <p:sp>
          <p:nvSpPr>
            <p:cNvPr id="60452" name="Oval 2492"/>
            <p:cNvSpPr/>
            <p:nvPr/>
          </p:nvSpPr>
          <p:spPr>
            <a:xfrm>
              <a:off x="3904" y="2175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53" name="Text Box 2493"/>
            <p:cNvSpPr txBox="1"/>
            <p:nvPr/>
          </p:nvSpPr>
          <p:spPr>
            <a:xfrm>
              <a:off x="3954" y="2177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54" name="Oval 2494"/>
            <p:cNvSpPr/>
            <p:nvPr/>
          </p:nvSpPr>
          <p:spPr>
            <a:xfrm>
              <a:off x="3208" y="2607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55" name="Text Box 2495"/>
            <p:cNvSpPr txBox="1"/>
            <p:nvPr/>
          </p:nvSpPr>
          <p:spPr>
            <a:xfrm>
              <a:off x="3258" y="2609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56" name="Oval 2496"/>
            <p:cNvSpPr/>
            <p:nvPr/>
          </p:nvSpPr>
          <p:spPr>
            <a:xfrm>
              <a:off x="4648" y="2595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57" name="Text Box 2497"/>
            <p:cNvSpPr txBox="1"/>
            <p:nvPr/>
          </p:nvSpPr>
          <p:spPr>
            <a:xfrm>
              <a:off x="4698" y="2597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58" name="Oval 2498"/>
            <p:cNvSpPr/>
            <p:nvPr/>
          </p:nvSpPr>
          <p:spPr>
            <a:xfrm>
              <a:off x="4528" y="3351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59" name="Text Box 2499"/>
            <p:cNvSpPr txBox="1"/>
            <p:nvPr/>
          </p:nvSpPr>
          <p:spPr>
            <a:xfrm>
              <a:off x="4578" y="3353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60" name="Oval 2500"/>
            <p:cNvSpPr/>
            <p:nvPr/>
          </p:nvSpPr>
          <p:spPr>
            <a:xfrm>
              <a:off x="3436" y="3363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61" name="Text Box 2501"/>
            <p:cNvSpPr txBox="1"/>
            <p:nvPr/>
          </p:nvSpPr>
          <p:spPr>
            <a:xfrm>
              <a:off x="3486" y="3365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62" name="Oval 2502"/>
            <p:cNvSpPr/>
            <p:nvPr/>
          </p:nvSpPr>
          <p:spPr>
            <a:xfrm>
              <a:off x="3916" y="2847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63" name="Text Box 2503"/>
            <p:cNvSpPr txBox="1"/>
            <p:nvPr/>
          </p:nvSpPr>
          <p:spPr>
            <a:xfrm>
              <a:off x="3966" y="2849"/>
              <a:ext cx="212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64" name="AutoShape 2524"/>
            <p:cNvSpPr/>
            <p:nvPr/>
          </p:nvSpPr>
          <p:spPr>
            <a:xfrm>
              <a:off x="2404" y="2735"/>
              <a:ext cx="666" cy="112"/>
            </a:xfrm>
            <a:prstGeom prst="notchedRightArrow">
              <a:avLst>
                <a:gd name="adj1" fmla="val 50000"/>
                <a:gd name="adj2" fmla="val 148578"/>
              </a:avLst>
            </a:prstGeom>
            <a:solidFill>
              <a:srgbClr val="CCFFFF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0422" name="Oval 7"/>
          <p:cNvSpPr/>
          <p:nvPr/>
        </p:nvSpPr>
        <p:spPr>
          <a:xfrm>
            <a:off x="506413" y="80803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9933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0423" name="Text Box 8"/>
          <p:cNvSpPr txBox="1"/>
          <p:nvPr/>
        </p:nvSpPr>
        <p:spPr>
          <a:xfrm>
            <a:off x="650875" y="741363"/>
            <a:ext cx="39211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Kruskal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算法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812800" y="1519238"/>
            <a:ext cx="7932738" cy="1768475"/>
          </a:xfrm>
          <a:prstGeom prst="rect">
            <a:avLst/>
          </a:prstGeom>
          <a:noFill/>
          <a:ln w="38100" cap="flat" cmpd="sng" algn="ctr">
            <a:solidFill>
              <a:srgbClr val="66CC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14400" y="1711325"/>
            <a:ext cx="276479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）设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的初态为空集；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23925" y="2089150"/>
            <a:ext cx="6076950" cy="3987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）当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中边数小于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n-1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时做下列工作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85875" y="2444750"/>
            <a:ext cx="6691313" cy="3987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①从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E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中选取权值为最小的边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v,w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，并删除之；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0428" name="矩形 1"/>
          <p:cNvSpPr/>
          <p:nvPr/>
        </p:nvSpPr>
        <p:spPr>
          <a:xfrm>
            <a:off x="398463" y="1268413"/>
            <a:ext cx="1241425" cy="488950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</a:rPr>
              <a:t>思想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508875" y="4595813"/>
            <a:ext cx="415925" cy="727075"/>
            <a:chOff x="7508939" y="4595813"/>
            <a:chExt cx="415924" cy="727075"/>
          </a:xfrm>
        </p:grpSpPr>
        <p:sp>
          <p:nvSpPr>
            <p:cNvPr id="60450" name="Line 133"/>
            <p:cNvSpPr/>
            <p:nvPr/>
          </p:nvSpPr>
          <p:spPr>
            <a:xfrm flipH="1">
              <a:off x="7508939" y="4595813"/>
              <a:ext cx="95185" cy="727075"/>
            </a:xfrm>
            <a:prstGeom prst="line">
              <a:avLst/>
            </a:prstGeom>
            <a:ln w="38100" cap="sq" cmpd="sng">
              <a:solidFill>
                <a:srgbClr val="FF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451" name="Text Box 2447"/>
            <p:cNvSpPr txBox="1"/>
            <p:nvPr/>
          </p:nvSpPr>
          <p:spPr>
            <a:xfrm>
              <a:off x="7588313" y="4754801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368925" y="4614863"/>
            <a:ext cx="482600" cy="727075"/>
            <a:chOff x="5368466" y="4614862"/>
            <a:chExt cx="483059" cy="727075"/>
          </a:xfrm>
        </p:grpSpPr>
        <p:sp>
          <p:nvSpPr>
            <p:cNvPr id="60448" name="Line 133"/>
            <p:cNvSpPr/>
            <p:nvPr/>
          </p:nvSpPr>
          <p:spPr>
            <a:xfrm>
              <a:off x="5368466" y="4614862"/>
              <a:ext cx="257634" cy="727075"/>
            </a:xfrm>
            <a:prstGeom prst="line">
              <a:avLst/>
            </a:prstGeom>
            <a:ln w="38100" cap="sq" cmpd="sng">
              <a:solidFill>
                <a:srgbClr val="FF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449" name="Text Box 2447"/>
            <p:cNvSpPr txBox="1"/>
            <p:nvPr/>
          </p:nvSpPr>
          <p:spPr>
            <a:xfrm>
              <a:off x="5514975" y="467284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537325" y="4970463"/>
            <a:ext cx="650875" cy="612775"/>
            <a:chOff x="6537390" y="4970463"/>
            <a:chExt cx="650810" cy="612415"/>
          </a:xfrm>
        </p:grpSpPr>
        <p:sp>
          <p:nvSpPr>
            <p:cNvPr id="60446" name="Line 133"/>
            <p:cNvSpPr/>
            <p:nvPr/>
          </p:nvSpPr>
          <p:spPr>
            <a:xfrm>
              <a:off x="6537390" y="4970463"/>
              <a:ext cx="650810" cy="457200"/>
            </a:xfrm>
            <a:prstGeom prst="line">
              <a:avLst/>
            </a:prstGeom>
            <a:ln w="38100" cap="sq" cmpd="sng">
              <a:solidFill>
                <a:srgbClr val="FF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447" name="Text Box 2447"/>
            <p:cNvSpPr txBox="1"/>
            <p:nvPr/>
          </p:nvSpPr>
          <p:spPr>
            <a:xfrm>
              <a:off x="6610286" y="512567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6681788" y="4405313"/>
            <a:ext cx="674687" cy="511175"/>
            <a:chOff x="6169547" y="4100210"/>
            <a:chExt cx="675193" cy="511597"/>
          </a:xfrm>
        </p:grpSpPr>
        <p:sp>
          <p:nvSpPr>
            <p:cNvPr id="60444" name="Line 133"/>
            <p:cNvSpPr/>
            <p:nvPr/>
          </p:nvSpPr>
          <p:spPr>
            <a:xfrm flipH="1">
              <a:off x="6169547" y="4100210"/>
              <a:ext cx="675193" cy="304801"/>
            </a:xfrm>
            <a:prstGeom prst="line">
              <a:avLst/>
            </a:prstGeom>
            <a:ln w="38100" cap="sq" cmpd="sng">
              <a:solidFill>
                <a:srgbClr val="FF00FF"/>
              </a:solidFill>
              <a:prstDash val="sysDash"/>
              <a:headEnd type="none" w="sm" len="sm"/>
              <a:tailEnd type="none" w="sm" len="sm"/>
            </a:ln>
          </p:spPr>
        </p:sp>
        <p:sp>
          <p:nvSpPr>
            <p:cNvPr id="60445" name="Text Box 2447"/>
            <p:cNvSpPr txBox="1"/>
            <p:nvPr/>
          </p:nvSpPr>
          <p:spPr>
            <a:xfrm>
              <a:off x="6430653" y="4154607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6640513" y="3497263"/>
            <a:ext cx="776287" cy="679450"/>
            <a:chOff x="6169546" y="4154607"/>
            <a:chExt cx="775739" cy="678687"/>
          </a:xfrm>
        </p:grpSpPr>
        <p:sp>
          <p:nvSpPr>
            <p:cNvPr id="60442" name="Line 133"/>
            <p:cNvSpPr/>
            <p:nvPr/>
          </p:nvSpPr>
          <p:spPr>
            <a:xfrm flipH="1" flipV="1">
              <a:off x="6169546" y="4405011"/>
              <a:ext cx="775739" cy="428283"/>
            </a:xfrm>
            <a:prstGeom prst="line">
              <a:avLst/>
            </a:prstGeom>
            <a:ln w="38100" cap="sq" cmpd="sng">
              <a:solidFill>
                <a:srgbClr val="FF00FF"/>
              </a:solidFill>
              <a:prstDash val="sysDash"/>
              <a:headEnd type="none" w="sm" len="sm"/>
              <a:tailEnd type="none" w="sm" len="sm"/>
            </a:ln>
          </p:spPr>
        </p:sp>
        <p:sp>
          <p:nvSpPr>
            <p:cNvPr id="60443" name="Text Box 2447"/>
            <p:cNvSpPr txBox="1"/>
            <p:nvPr/>
          </p:nvSpPr>
          <p:spPr>
            <a:xfrm>
              <a:off x="6430653" y="4154607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5567363" y="4089400"/>
            <a:ext cx="635000" cy="581025"/>
            <a:chOff x="5368465" y="4295208"/>
            <a:chExt cx="634099" cy="580913"/>
          </a:xfrm>
        </p:grpSpPr>
        <p:sp>
          <p:nvSpPr>
            <p:cNvPr id="60440" name="Line 133"/>
            <p:cNvSpPr/>
            <p:nvPr/>
          </p:nvSpPr>
          <p:spPr>
            <a:xfrm>
              <a:off x="5368465" y="4614863"/>
              <a:ext cx="634099" cy="261258"/>
            </a:xfrm>
            <a:prstGeom prst="line">
              <a:avLst/>
            </a:prstGeom>
            <a:ln w="38100" cap="sq" cmpd="sng">
              <a:solidFill>
                <a:srgbClr val="FF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441" name="Text Box 2447"/>
            <p:cNvSpPr txBox="1"/>
            <p:nvPr/>
          </p:nvSpPr>
          <p:spPr>
            <a:xfrm>
              <a:off x="5580829" y="429520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5907088" y="4916488"/>
            <a:ext cx="549275" cy="693737"/>
            <a:chOff x="5368466" y="4059429"/>
            <a:chExt cx="548913" cy="692979"/>
          </a:xfrm>
        </p:grpSpPr>
        <p:sp>
          <p:nvSpPr>
            <p:cNvPr id="60438" name="Line 133"/>
            <p:cNvSpPr/>
            <p:nvPr/>
          </p:nvSpPr>
          <p:spPr>
            <a:xfrm flipV="1">
              <a:off x="5368466" y="4059429"/>
              <a:ext cx="369404" cy="555434"/>
            </a:xfrm>
            <a:prstGeom prst="line">
              <a:avLst/>
            </a:prstGeom>
            <a:ln w="38100" cap="sq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439" name="Text Box 2447"/>
            <p:cNvSpPr txBox="1"/>
            <p:nvPr/>
          </p:nvSpPr>
          <p:spPr>
            <a:xfrm>
              <a:off x="5580829" y="429520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1936750" y="6016625"/>
            <a:ext cx="71231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注意：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最小生成树可能不唯一，但权值总和相同。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60437" name="Text Box 2"/>
          <p:cNvSpPr txBox="1"/>
          <p:nvPr/>
        </p:nvSpPr>
        <p:spPr>
          <a:xfrm>
            <a:off x="3846513" y="82550"/>
            <a:ext cx="52974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7.4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最小生成树和最短路径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088" grpId="0"/>
      <p:bldP spid="3" grpId="0"/>
      <p:bldP spid="4" grpId="0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95" name="Group 115"/>
          <p:cNvGrpSpPr/>
          <p:nvPr/>
        </p:nvGrpSpPr>
        <p:grpSpPr>
          <a:xfrm>
            <a:off x="427038" y="4049713"/>
            <a:ext cx="8212137" cy="1998663"/>
            <a:chOff x="175" y="2614"/>
            <a:chExt cx="5300" cy="1259"/>
          </a:xfrm>
        </p:grpSpPr>
        <p:sp>
          <p:nvSpPr>
            <p:cNvPr id="61501" name="Text Box 110"/>
            <p:cNvSpPr txBox="1"/>
            <p:nvPr/>
          </p:nvSpPr>
          <p:spPr>
            <a:xfrm>
              <a:off x="242" y="2885"/>
              <a:ext cx="5233" cy="98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endPara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      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算法的思想明确、也很简单，但具体实现时比较困难，需要解决一些具体的问题，譬如如何所选的新边没有和已选的边构成回路。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61502" name="Group 111"/>
            <p:cNvGrpSpPr/>
            <p:nvPr/>
          </p:nvGrpSpPr>
          <p:grpSpPr>
            <a:xfrm>
              <a:off x="175" y="2614"/>
              <a:ext cx="1206" cy="416"/>
              <a:chOff x="288" y="336"/>
              <a:chExt cx="1920" cy="384"/>
            </a:xfrm>
          </p:grpSpPr>
          <p:sp>
            <p:nvSpPr>
              <p:cNvPr id="61503" name="AutoShape 112"/>
              <p:cNvSpPr/>
              <p:nvPr/>
            </p:nvSpPr>
            <p:spPr>
              <a:xfrm>
                <a:off x="288" y="336"/>
                <a:ext cx="1920" cy="384"/>
              </a:xfrm>
              <a:prstGeom prst="cloudCallout">
                <a:avLst>
                  <a:gd name="adj1" fmla="val 20940"/>
                  <a:gd name="adj2" fmla="val 78648"/>
                </a:avLst>
              </a:prstGeom>
              <a:gradFill rotWithShape="0">
                <a:gsLst>
                  <a:gs pos="0">
                    <a:srgbClr val="FF3300"/>
                  </a:gs>
                  <a:gs pos="50000">
                    <a:srgbClr val="F7F5AB"/>
                  </a:gs>
                  <a:gs pos="100000">
                    <a:srgbClr val="FF3300"/>
                  </a:gs>
                </a:gsLst>
                <a:lin ang="540000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</a:pPr>
                <a:endParaRPr lang="zh-CN" altLang="zh-CN" sz="24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504" name="Rectangle 113"/>
              <p:cNvSpPr/>
              <p:nvPr/>
            </p:nvSpPr>
            <p:spPr>
              <a:xfrm>
                <a:off x="368" y="366"/>
                <a:ext cx="1697" cy="26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</a:pP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charset="-122"/>
                  </a:rPr>
                  <a:t>算法讨论：</a:t>
                </a:r>
                <a:endParaRPr lang="zh-CN" altLang="en-US" sz="2400" dirty="0">
                  <a:solidFill>
                    <a:srgbClr val="003399"/>
                  </a:solidFill>
                  <a:latin typeface="Times New Roman" panose="02020603050405020304" pitchFamily="18" charset="0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61443" name="组合 30"/>
          <p:cNvGrpSpPr/>
          <p:nvPr/>
        </p:nvGrpSpPr>
        <p:grpSpPr>
          <a:xfrm>
            <a:off x="2332038" y="1177925"/>
            <a:ext cx="342900" cy="609600"/>
            <a:chOff x="6441551" y="3913188"/>
            <a:chExt cx="343980" cy="609600"/>
          </a:xfrm>
        </p:grpSpPr>
        <p:sp>
          <p:nvSpPr>
            <p:cNvPr id="61499" name="Line 133"/>
            <p:cNvSpPr/>
            <p:nvPr/>
          </p:nvSpPr>
          <p:spPr>
            <a:xfrm>
              <a:off x="6441551" y="3913188"/>
              <a:ext cx="0" cy="609600"/>
            </a:xfrm>
            <a:prstGeom prst="line">
              <a:avLst/>
            </a:prstGeom>
            <a:ln w="38100" cap="sq" cmpd="sng">
              <a:solidFill>
                <a:srgbClr val="FF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500" name="Text Box 2447"/>
            <p:cNvSpPr txBox="1"/>
            <p:nvPr/>
          </p:nvSpPr>
          <p:spPr>
            <a:xfrm>
              <a:off x="6448981" y="3947811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444" name="Group 2526"/>
          <p:cNvGrpSpPr/>
          <p:nvPr/>
        </p:nvGrpSpPr>
        <p:grpSpPr>
          <a:xfrm>
            <a:off x="982663" y="717550"/>
            <a:ext cx="2743200" cy="2346325"/>
            <a:chOff x="3208" y="2175"/>
            <a:chExt cx="1728" cy="1478"/>
          </a:xfrm>
        </p:grpSpPr>
        <p:sp>
          <p:nvSpPr>
            <p:cNvPr id="61487" name="Oval 2492"/>
            <p:cNvSpPr/>
            <p:nvPr/>
          </p:nvSpPr>
          <p:spPr>
            <a:xfrm>
              <a:off x="3904" y="2175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88" name="Text Box 2493"/>
            <p:cNvSpPr txBox="1"/>
            <p:nvPr/>
          </p:nvSpPr>
          <p:spPr>
            <a:xfrm>
              <a:off x="3954" y="2177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89" name="Oval 2494"/>
            <p:cNvSpPr/>
            <p:nvPr/>
          </p:nvSpPr>
          <p:spPr>
            <a:xfrm>
              <a:off x="3208" y="2607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90" name="Text Box 2495"/>
            <p:cNvSpPr txBox="1"/>
            <p:nvPr/>
          </p:nvSpPr>
          <p:spPr>
            <a:xfrm>
              <a:off x="3258" y="2609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91" name="Oval 2496"/>
            <p:cNvSpPr/>
            <p:nvPr/>
          </p:nvSpPr>
          <p:spPr>
            <a:xfrm>
              <a:off x="4648" y="2595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92" name="Text Box 2497"/>
            <p:cNvSpPr txBox="1"/>
            <p:nvPr/>
          </p:nvSpPr>
          <p:spPr>
            <a:xfrm>
              <a:off x="4698" y="2597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93" name="Oval 2498"/>
            <p:cNvSpPr/>
            <p:nvPr/>
          </p:nvSpPr>
          <p:spPr>
            <a:xfrm>
              <a:off x="4528" y="3351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94" name="Text Box 2499"/>
            <p:cNvSpPr txBox="1"/>
            <p:nvPr/>
          </p:nvSpPr>
          <p:spPr>
            <a:xfrm>
              <a:off x="4578" y="3353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95" name="Oval 2500"/>
            <p:cNvSpPr/>
            <p:nvPr/>
          </p:nvSpPr>
          <p:spPr>
            <a:xfrm>
              <a:off x="3436" y="3363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96" name="Text Box 2501"/>
            <p:cNvSpPr txBox="1"/>
            <p:nvPr/>
          </p:nvSpPr>
          <p:spPr>
            <a:xfrm>
              <a:off x="3486" y="3365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97" name="Oval 2502"/>
            <p:cNvSpPr/>
            <p:nvPr/>
          </p:nvSpPr>
          <p:spPr>
            <a:xfrm>
              <a:off x="3916" y="2847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98" name="Text Box 2503"/>
            <p:cNvSpPr txBox="1"/>
            <p:nvPr/>
          </p:nvSpPr>
          <p:spPr>
            <a:xfrm>
              <a:off x="3966" y="2849"/>
              <a:ext cx="212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445" name="组合 47"/>
          <p:cNvGrpSpPr/>
          <p:nvPr/>
        </p:nvGrpSpPr>
        <p:grpSpPr>
          <a:xfrm>
            <a:off x="3398838" y="1860550"/>
            <a:ext cx="415925" cy="727075"/>
            <a:chOff x="7508939" y="4595813"/>
            <a:chExt cx="415924" cy="727075"/>
          </a:xfrm>
        </p:grpSpPr>
        <p:sp>
          <p:nvSpPr>
            <p:cNvPr id="61485" name="Line 133"/>
            <p:cNvSpPr/>
            <p:nvPr/>
          </p:nvSpPr>
          <p:spPr>
            <a:xfrm flipH="1">
              <a:off x="7508939" y="4595813"/>
              <a:ext cx="95185" cy="727075"/>
            </a:xfrm>
            <a:prstGeom prst="line">
              <a:avLst/>
            </a:prstGeom>
            <a:ln w="38100" cap="sq" cmpd="sng">
              <a:solidFill>
                <a:srgbClr val="FF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486" name="Text Box 2447"/>
            <p:cNvSpPr txBox="1"/>
            <p:nvPr/>
          </p:nvSpPr>
          <p:spPr>
            <a:xfrm>
              <a:off x="7588313" y="4754801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446" name="组合 50"/>
          <p:cNvGrpSpPr/>
          <p:nvPr/>
        </p:nvGrpSpPr>
        <p:grpSpPr>
          <a:xfrm>
            <a:off x="1258888" y="1879600"/>
            <a:ext cx="482600" cy="727075"/>
            <a:chOff x="5368466" y="4614862"/>
            <a:chExt cx="483059" cy="727075"/>
          </a:xfrm>
        </p:grpSpPr>
        <p:sp>
          <p:nvSpPr>
            <p:cNvPr id="61483" name="Line 133"/>
            <p:cNvSpPr/>
            <p:nvPr/>
          </p:nvSpPr>
          <p:spPr>
            <a:xfrm>
              <a:off x="5368466" y="4614862"/>
              <a:ext cx="257634" cy="727075"/>
            </a:xfrm>
            <a:prstGeom prst="line">
              <a:avLst/>
            </a:prstGeom>
            <a:ln w="38100" cap="sq" cmpd="sng">
              <a:solidFill>
                <a:srgbClr val="FF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484" name="Text Box 2447"/>
            <p:cNvSpPr txBox="1"/>
            <p:nvPr/>
          </p:nvSpPr>
          <p:spPr>
            <a:xfrm>
              <a:off x="5514975" y="467284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447" name="组合 53"/>
          <p:cNvGrpSpPr/>
          <p:nvPr/>
        </p:nvGrpSpPr>
        <p:grpSpPr>
          <a:xfrm>
            <a:off x="2427288" y="2235200"/>
            <a:ext cx="650875" cy="612775"/>
            <a:chOff x="6537390" y="4970463"/>
            <a:chExt cx="650810" cy="612415"/>
          </a:xfrm>
        </p:grpSpPr>
        <p:sp>
          <p:nvSpPr>
            <p:cNvPr id="61481" name="Line 133"/>
            <p:cNvSpPr/>
            <p:nvPr/>
          </p:nvSpPr>
          <p:spPr>
            <a:xfrm>
              <a:off x="6537390" y="4970463"/>
              <a:ext cx="650810" cy="457200"/>
            </a:xfrm>
            <a:prstGeom prst="line">
              <a:avLst/>
            </a:prstGeom>
            <a:ln w="38100" cap="sq" cmpd="sng">
              <a:solidFill>
                <a:srgbClr val="FF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482" name="Text Box 2447"/>
            <p:cNvSpPr txBox="1"/>
            <p:nvPr/>
          </p:nvSpPr>
          <p:spPr>
            <a:xfrm>
              <a:off x="6610286" y="512567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448" name="组合 62"/>
          <p:cNvGrpSpPr/>
          <p:nvPr/>
        </p:nvGrpSpPr>
        <p:grpSpPr>
          <a:xfrm>
            <a:off x="1457325" y="1352550"/>
            <a:ext cx="635000" cy="581025"/>
            <a:chOff x="5368465" y="4295208"/>
            <a:chExt cx="634099" cy="580913"/>
          </a:xfrm>
        </p:grpSpPr>
        <p:sp>
          <p:nvSpPr>
            <p:cNvPr id="61479" name="Line 133"/>
            <p:cNvSpPr/>
            <p:nvPr/>
          </p:nvSpPr>
          <p:spPr>
            <a:xfrm>
              <a:off x="5368465" y="4614863"/>
              <a:ext cx="634099" cy="261258"/>
            </a:xfrm>
            <a:prstGeom prst="line">
              <a:avLst/>
            </a:prstGeom>
            <a:ln w="38100" cap="sq" cmpd="sng">
              <a:solidFill>
                <a:srgbClr val="FF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480" name="Text Box 2447"/>
            <p:cNvSpPr txBox="1"/>
            <p:nvPr/>
          </p:nvSpPr>
          <p:spPr>
            <a:xfrm>
              <a:off x="5580829" y="429520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449" name="组合 68"/>
          <p:cNvGrpSpPr/>
          <p:nvPr/>
        </p:nvGrpSpPr>
        <p:grpSpPr>
          <a:xfrm>
            <a:off x="6904038" y="1174750"/>
            <a:ext cx="342900" cy="609600"/>
            <a:chOff x="6441551" y="3913188"/>
            <a:chExt cx="343980" cy="609600"/>
          </a:xfrm>
        </p:grpSpPr>
        <p:sp>
          <p:nvSpPr>
            <p:cNvPr id="61477" name="Line 133"/>
            <p:cNvSpPr/>
            <p:nvPr/>
          </p:nvSpPr>
          <p:spPr>
            <a:xfrm>
              <a:off x="6441551" y="3913188"/>
              <a:ext cx="0" cy="609600"/>
            </a:xfrm>
            <a:prstGeom prst="line">
              <a:avLst/>
            </a:prstGeom>
            <a:ln w="38100" cap="sq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478" name="Text Box 2447"/>
            <p:cNvSpPr txBox="1"/>
            <p:nvPr/>
          </p:nvSpPr>
          <p:spPr>
            <a:xfrm>
              <a:off x="6448981" y="3947811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450" name="Group 2526"/>
          <p:cNvGrpSpPr/>
          <p:nvPr/>
        </p:nvGrpSpPr>
        <p:grpSpPr>
          <a:xfrm>
            <a:off x="5554663" y="714375"/>
            <a:ext cx="2743200" cy="2346325"/>
            <a:chOff x="3208" y="2175"/>
            <a:chExt cx="1728" cy="1478"/>
          </a:xfrm>
        </p:grpSpPr>
        <p:sp>
          <p:nvSpPr>
            <p:cNvPr id="61465" name="Oval 2492"/>
            <p:cNvSpPr/>
            <p:nvPr/>
          </p:nvSpPr>
          <p:spPr>
            <a:xfrm>
              <a:off x="3904" y="2175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66" name="Text Box 2493"/>
            <p:cNvSpPr txBox="1"/>
            <p:nvPr/>
          </p:nvSpPr>
          <p:spPr>
            <a:xfrm>
              <a:off x="3954" y="2177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67" name="Oval 2494"/>
            <p:cNvSpPr/>
            <p:nvPr/>
          </p:nvSpPr>
          <p:spPr>
            <a:xfrm>
              <a:off x="3208" y="2607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68" name="Text Box 2495"/>
            <p:cNvSpPr txBox="1"/>
            <p:nvPr/>
          </p:nvSpPr>
          <p:spPr>
            <a:xfrm>
              <a:off x="3258" y="2609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69" name="Oval 2496"/>
            <p:cNvSpPr/>
            <p:nvPr/>
          </p:nvSpPr>
          <p:spPr>
            <a:xfrm>
              <a:off x="4648" y="2595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70" name="Text Box 2497"/>
            <p:cNvSpPr txBox="1"/>
            <p:nvPr/>
          </p:nvSpPr>
          <p:spPr>
            <a:xfrm>
              <a:off x="4698" y="2597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71" name="Oval 2498"/>
            <p:cNvSpPr/>
            <p:nvPr/>
          </p:nvSpPr>
          <p:spPr>
            <a:xfrm>
              <a:off x="4528" y="3351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72" name="Text Box 2499"/>
            <p:cNvSpPr txBox="1"/>
            <p:nvPr/>
          </p:nvSpPr>
          <p:spPr>
            <a:xfrm>
              <a:off x="4578" y="3353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73" name="Oval 2500"/>
            <p:cNvSpPr/>
            <p:nvPr/>
          </p:nvSpPr>
          <p:spPr>
            <a:xfrm>
              <a:off x="3436" y="3363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74" name="Text Box 2501"/>
            <p:cNvSpPr txBox="1"/>
            <p:nvPr/>
          </p:nvSpPr>
          <p:spPr>
            <a:xfrm>
              <a:off x="3486" y="3365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75" name="Oval 2502"/>
            <p:cNvSpPr/>
            <p:nvPr/>
          </p:nvSpPr>
          <p:spPr>
            <a:xfrm>
              <a:off x="3916" y="2847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76" name="Text Box 2503"/>
            <p:cNvSpPr txBox="1"/>
            <p:nvPr/>
          </p:nvSpPr>
          <p:spPr>
            <a:xfrm>
              <a:off x="3966" y="2849"/>
              <a:ext cx="212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451" name="组合 85"/>
          <p:cNvGrpSpPr/>
          <p:nvPr/>
        </p:nvGrpSpPr>
        <p:grpSpPr>
          <a:xfrm>
            <a:off x="7970838" y="1857375"/>
            <a:ext cx="415925" cy="727075"/>
            <a:chOff x="7508939" y="4595813"/>
            <a:chExt cx="415924" cy="727075"/>
          </a:xfrm>
        </p:grpSpPr>
        <p:sp>
          <p:nvSpPr>
            <p:cNvPr id="61463" name="Line 133"/>
            <p:cNvSpPr/>
            <p:nvPr/>
          </p:nvSpPr>
          <p:spPr>
            <a:xfrm flipH="1">
              <a:off x="7508939" y="4595813"/>
              <a:ext cx="95185" cy="727075"/>
            </a:xfrm>
            <a:prstGeom prst="line">
              <a:avLst/>
            </a:prstGeom>
            <a:ln w="38100" cap="sq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464" name="Text Box 2447"/>
            <p:cNvSpPr txBox="1"/>
            <p:nvPr/>
          </p:nvSpPr>
          <p:spPr>
            <a:xfrm>
              <a:off x="7588313" y="4754801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452" name="组合 88"/>
          <p:cNvGrpSpPr/>
          <p:nvPr/>
        </p:nvGrpSpPr>
        <p:grpSpPr>
          <a:xfrm>
            <a:off x="5830888" y="1876425"/>
            <a:ext cx="482600" cy="727075"/>
            <a:chOff x="5368466" y="4614862"/>
            <a:chExt cx="483059" cy="727075"/>
          </a:xfrm>
        </p:grpSpPr>
        <p:sp>
          <p:nvSpPr>
            <p:cNvPr id="61461" name="Line 133"/>
            <p:cNvSpPr/>
            <p:nvPr/>
          </p:nvSpPr>
          <p:spPr>
            <a:xfrm>
              <a:off x="5368466" y="4614862"/>
              <a:ext cx="257634" cy="727075"/>
            </a:xfrm>
            <a:prstGeom prst="line">
              <a:avLst/>
            </a:prstGeom>
            <a:ln w="38100" cap="sq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462" name="Text Box 2447"/>
            <p:cNvSpPr txBox="1"/>
            <p:nvPr/>
          </p:nvSpPr>
          <p:spPr>
            <a:xfrm>
              <a:off x="5514975" y="467284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453" name="组合 91"/>
          <p:cNvGrpSpPr/>
          <p:nvPr/>
        </p:nvGrpSpPr>
        <p:grpSpPr>
          <a:xfrm>
            <a:off x="6999288" y="2232025"/>
            <a:ext cx="650875" cy="612775"/>
            <a:chOff x="6537390" y="4970463"/>
            <a:chExt cx="650810" cy="612415"/>
          </a:xfrm>
        </p:grpSpPr>
        <p:sp>
          <p:nvSpPr>
            <p:cNvPr id="61459" name="Line 133"/>
            <p:cNvSpPr/>
            <p:nvPr/>
          </p:nvSpPr>
          <p:spPr>
            <a:xfrm>
              <a:off x="6537390" y="4970463"/>
              <a:ext cx="650810" cy="457200"/>
            </a:xfrm>
            <a:prstGeom prst="line">
              <a:avLst/>
            </a:prstGeom>
            <a:ln w="38100" cap="sq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460" name="Text Box 2447"/>
            <p:cNvSpPr txBox="1"/>
            <p:nvPr/>
          </p:nvSpPr>
          <p:spPr>
            <a:xfrm>
              <a:off x="6610286" y="512567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454" name="组合 103"/>
          <p:cNvGrpSpPr/>
          <p:nvPr/>
        </p:nvGrpSpPr>
        <p:grpSpPr>
          <a:xfrm>
            <a:off x="6369050" y="2178050"/>
            <a:ext cx="549275" cy="693738"/>
            <a:chOff x="5368466" y="4059429"/>
            <a:chExt cx="548913" cy="692979"/>
          </a:xfrm>
        </p:grpSpPr>
        <p:sp>
          <p:nvSpPr>
            <p:cNvPr id="61457" name="Line 133"/>
            <p:cNvSpPr/>
            <p:nvPr/>
          </p:nvSpPr>
          <p:spPr>
            <a:xfrm flipV="1">
              <a:off x="5368466" y="4059429"/>
              <a:ext cx="369404" cy="555434"/>
            </a:xfrm>
            <a:prstGeom prst="line">
              <a:avLst/>
            </a:prstGeom>
            <a:ln w="38100" cap="sq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458" name="Text Box 2447"/>
            <p:cNvSpPr txBox="1"/>
            <p:nvPr/>
          </p:nvSpPr>
          <p:spPr>
            <a:xfrm>
              <a:off x="5580829" y="429520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47700" y="3352800"/>
            <a:ext cx="54006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总权值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=1+2+3+4+5=15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1456" name="Text Box 2"/>
          <p:cNvSpPr txBox="1"/>
          <p:nvPr/>
        </p:nvSpPr>
        <p:spPr>
          <a:xfrm>
            <a:off x="3846513" y="82550"/>
            <a:ext cx="52974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99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99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99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7.4 </a:t>
            </a:r>
            <a:r>
              <a:rPr lang="zh-CN" altLang="en-US" b="1" dirty="0">
                <a:solidFill>
                  <a:srgbClr val="FFFF99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最小生成树和最短路径</a:t>
            </a:r>
            <a:endParaRPr lang="zh-CN" altLang="en-US" b="1" dirty="0">
              <a:solidFill>
                <a:srgbClr val="FFFF99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Grp="1"/>
          </p:cNvSpPr>
          <p:nvPr>
            <p:ph idx="4294967295"/>
          </p:nvPr>
        </p:nvSpPr>
        <p:spPr>
          <a:xfrm>
            <a:off x="177800" y="654685"/>
            <a:ext cx="4541520" cy="6615430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#define Vnum 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图中顶点个数的最大值</a:t>
            </a:r>
            <a:endParaRPr lang="zh-CN" altLang="en-US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#define Enum 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图中边数的最大值</a:t>
            </a:r>
            <a:endParaRPr lang="zh-CN" altLang="en-US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struct TreeEdge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    int start;  //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边中第一个顶点的编号</a:t>
            </a:r>
            <a:endParaRPr lang="zh-CN" altLang="en-US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 end;   //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边中另外一个顶点的编号</a:t>
            </a:r>
            <a:endParaRPr lang="zh-CN" altLang="en-US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float weight;  //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边上的权值</a:t>
            </a:r>
            <a:endParaRPr lang="zh-CN" altLang="en-US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void Kruskal(graph g, TreeEdge tree[], int n)  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// n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为图中的顶点数</a:t>
            </a:r>
            <a:endParaRPr lang="zh-CN" altLang="en-US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int Component[Vnum];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TreeEdge edge[Enum];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for(i=1; i&lt;=n; i++)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Component[i] = i;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m = 0;  //m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为图中的边数</a:t>
            </a:r>
            <a:endParaRPr lang="zh-CN" altLang="en-US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for(i=1; i&lt;=n-1; i++)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for(j=i+1; j&lt;=n; j++) 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//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无向图的连接矩阵为对称阵，只扫描其上三角部分</a:t>
            </a:r>
            <a:endParaRPr lang="zh-CN" altLang="en-US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if(g.arcs[i][j] != maxint)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{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m++;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edge[m].start = i;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edge[m].end = j;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edge[m].weight = g.arcs[i][j];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}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}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467" name="Rectangle 4"/>
          <p:cNvSpPr/>
          <p:nvPr/>
        </p:nvSpPr>
        <p:spPr>
          <a:xfrm>
            <a:off x="4603750" y="585470"/>
            <a:ext cx="4540250" cy="606425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Sort(edge, m);  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条边按照权值从小到大排序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= 1; //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当前考察的边的序号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 sum = 0;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for(k=1; k&lt;=n-1; k++)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while(Component[edge[v].start] ==                 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Component[edge[v].end])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v++; 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tree[k] = edge[v];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//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将当前扫描到的边加入到生成树中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= sum + tree[k].weight;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for(j=1; j&lt;=n; j++)     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//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将两个连通分量合并为一个连通分量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(Component[j] == 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Component[edge[v].end])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Component[j] = Component[edge[v].start];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v++;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printf("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最小生成树中的边如下：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起点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终点    权值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\n");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for(i=1; i&lt;=n-1; i++)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printf("%d    %d   %f\n", tree[i].start,      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tree[i].end, tree[i].weight);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printf("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最小生成树上各边的权值之和为：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%f\n", sum);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468" name="Line 5"/>
          <p:cNvSpPr/>
          <p:nvPr/>
        </p:nvSpPr>
        <p:spPr>
          <a:xfrm flipH="1">
            <a:off x="4558030" y="98425"/>
            <a:ext cx="44450" cy="6692900"/>
          </a:xfrm>
          <a:prstGeom prst="line">
            <a:avLst/>
          </a:prstGeom>
          <a:ln w="19050" cap="sq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Oval 7"/>
          <p:cNvSpPr/>
          <p:nvPr/>
        </p:nvSpPr>
        <p:spPr>
          <a:xfrm>
            <a:off x="506413" y="80803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9933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3491" name="Text Box 8"/>
          <p:cNvSpPr txBox="1"/>
          <p:nvPr/>
        </p:nvSpPr>
        <p:spPr>
          <a:xfrm>
            <a:off x="350838" y="723900"/>
            <a:ext cx="39211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Prim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算法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Text Box 2328"/>
          <p:cNvSpPr txBox="1">
            <a:spLocks noChangeArrowheads="1"/>
          </p:cNvSpPr>
          <p:nvPr/>
        </p:nvSpPr>
        <p:spPr bwMode="auto">
          <a:xfrm>
            <a:off x="1219200" y="3422650"/>
            <a:ext cx="7396163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②将顶点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j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加入到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V(T)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中去；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812800" y="1519238"/>
            <a:ext cx="7932738" cy="2835275"/>
          </a:xfrm>
          <a:prstGeom prst="rect">
            <a:avLst/>
          </a:prstGeom>
          <a:noFill/>
          <a:ln w="38100" cap="flat" cmpd="sng" algn="ctr">
            <a:solidFill>
              <a:srgbClr val="66CC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14400" y="1711325"/>
            <a:ext cx="681355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）设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V(T)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的初态为空集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(V(T)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为落在生成树上的顶点集合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；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23925" y="2089150"/>
            <a:ext cx="6608763" cy="3987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）在连通图上任选一顶点加入到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V(T)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集合中去；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19200" y="2995613"/>
            <a:ext cx="7610475" cy="3987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①在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属于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V(T)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j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不属于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V(T)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的边中，选权值最小的边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i,j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；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3497" name="矩形 1"/>
          <p:cNvSpPr/>
          <p:nvPr/>
        </p:nvSpPr>
        <p:spPr>
          <a:xfrm>
            <a:off x="398463" y="1268413"/>
            <a:ext cx="1241425" cy="488950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</a:rPr>
              <a:t>思想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4400" y="2517775"/>
            <a:ext cx="3048000" cy="3987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）将下列步骤重复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n-1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次：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2328"/>
          <p:cNvSpPr txBox="1">
            <a:spLocks noChangeArrowheads="1"/>
          </p:cNvSpPr>
          <p:nvPr/>
        </p:nvSpPr>
        <p:spPr bwMode="auto">
          <a:xfrm>
            <a:off x="1219200" y="3876675"/>
            <a:ext cx="7396163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③输出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i,j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及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W</a:t>
            </a:r>
            <a:r>
              <a:rPr kumimoji="0" lang="en-US" altLang="zh-CN" sz="20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ij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3500" name="Text Box 2"/>
          <p:cNvSpPr txBox="1"/>
          <p:nvPr/>
        </p:nvSpPr>
        <p:spPr>
          <a:xfrm>
            <a:off x="3846513" y="82550"/>
            <a:ext cx="52974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7.4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最小生成树和最短路径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2" grpId="0"/>
      <p:bldP spid="1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Oval 7"/>
          <p:cNvSpPr/>
          <p:nvPr/>
        </p:nvSpPr>
        <p:spPr>
          <a:xfrm>
            <a:off x="506413" y="80803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9933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4515" name="Text Box 8"/>
          <p:cNvSpPr txBox="1"/>
          <p:nvPr/>
        </p:nvSpPr>
        <p:spPr>
          <a:xfrm>
            <a:off x="350838" y="723900"/>
            <a:ext cx="39211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Prim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算法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7" name="组合 1"/>
          <p:cNvGrpSpPr/>
          <p:nvPr/>
        </p:nvGrpSpPr>
        <p:grpSpPr>
          <a:xfrm>
            <a:off x="528638" y="1431925"/>
            <a:ext cx="2774950" cy="2555875"/>
            <a:chOff x="565150" y="3490913"/>
            <a:chExt cx="2774950" cy="2555875"/>
          </a:xfrm>
        </p:grpSpPr>
        <p:sp>
          <p:nvSpPr>
            <p:cNvPr id="64537" name="Oval 2415"/>
            <p:cNvSpPr/>
            <p:nvPr/>
          </p:nvSpPr>
          <p:spPr>
            <a:xfrm>
              <a:off x="1685925" y="3490913"/>
              <a:ext cx="457200" cy="4572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38" name="Text Box 2416"/>
            <p:cNvSpPr txBox="1"/>
            <p:nvPr/>
          </p:nvSpPr>
          <p:spPr>
            <a:xfrm>
              <a:off x="1765300" y="34940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39" name="Oval 2418"/>
            <p:cNvSpPr/>
            <p:nvPr/>
          </p:nvSpPr>
          <p:spPr>
            <a:xfrm>
              <a:off x="581025" y="4176713"/>
              <a:ext cx="457200" cy="4572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40" name="Text Box 2419"/>
            <p:cNvSpPr txBox="1"/>
            <p:nvPr/>
          </p:nvSpPr>
          <p:spPr>
            <a:xfrm>
              <a:off x="660400" y="41798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41" name="Oval 2421"/>
            <p:cNvSpPr/>
            <p:nvPr/>
          </p:nvSpPr>
          <p:spPr>
            <a:xfrm>
              <a:off x="2867025" y="4157663"/>
              <a:ext cx="457200" cy="4572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42" name="Text Box 2422"/>
            <p:cNvSpPr txBox="1"/>
            <p:nvPr/>
          </p:nvSpPr>
          <p:spPr>
            <a:xfrm>
              <a:off x="2946400" y="416083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43" name="Oval 2424"/>
            <p:cNvSpPr/>
            <p:nvPr/>
          </p:nvSpPr>
          <p:spPr>
            <a:xfrm>
              <a:off x="2676525" y="5357813"/>
              <a:ext cx="457200" cy="4572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44" name="Text Box 2425"/>
            <p:cNvSpPr txBox="1"/>
            <p:nvPr/>
          </p:nvSpPr>
          <p:spPr>
            <a:xfrm>
              <a:off x="2755900" y="53609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45" name="Oval 2427"/>
            <p:cNvSpPr/>
            <p:nvPr/>
          </p:nvSpPr>
          <p:spPr>
            <a:xfrm>
              <a:off x="942975" y="5376863"/>
              <a:ext cx="457200" cy="4572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46" name="Text Box 2428"/>
            <p:cNvSpPr txBox="1"/>
            <p:nvPr/>
          </p:nvSpPr>
          <p:spPr>
            <a:xfrm>
              <a:off x="1022350" y="538003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47" name="Oval 2430"/>
            <p:cNvSpPr/>
            <p:nvPr/>
          </p:nvSpPr>
          <p:spPr>
            <a:xfrm>
              <a:off x="1704975" y="4557713"/>
              <a:ext cx="457200" cy="4572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48" name="Text Box 2431"/>
            <p:cNvSpPr txBox="1"/>
            <p:nvPr/>
          </p:nvSpPr>
          <p:spPr>
            <a:xfrm>
              <a:off x="1784350" y="4560888"/>
              <a:ext cx="336550" cy="45720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49" name="Line 2432"/>
            <p:cNvSpPr/>
            <p:nvPr/>
          </p:nvSpPr>
          <p:spPr>
            <a:xfrm flipH="1">
              <a:off x="1000125" y="3795713"/>
              <a:ext cx="685800" cy="4572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4550" name="Line 2433"/>
            <p:cNvSpPr/>
            <p:nvPr/>
          </p:nvSpPr>
          <p:spPr>
            <a:xfrm>
              <a:off x="2162175" y="3776663"/>
              <a:ext cx="762000" cy="3810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4551" name="Line 2434"/>
            <p:cNvSpPr/>
            <p:nvPr/>
          </p:nvSpPr>
          <p:spPr>
            <a:xfrm>
              <a:off x="847725" y="4633913"/>
              <a:ext cx="152400" cy="7620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4552" name="Line 2435"/>
            <p:cNvSpPr/>
            <p:nvPr/>
          </p:nvSpPr>
          <p:spPr>
            <a:xfrm>
              <a:off x="1438275" y="5624513"/>
              <a:ext cx="1219200" cy="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4553" name="Line 2436"/>
            <p:cNvSpPr/>
            <p:nvPr/>
          </p:nvSpPr>
          <p:spPr>
            <a:xfrm flipH="1">
              <a:off x="2905125" y="4633913"/>
              <a:ext cx="152400" cy="6858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4554" name="Line 2437"/>
            <p:cNvSpPr/>
            <p:nvPr/>
          </p:nvSpPr>
          <p:spPr>
            <a:xfrm>
              <a:off x="1914525" y="3948113"/>
              <a:ext cx="0" cy="6096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4555" name="Line 2438"/>
            <p:cNvSpPr/>
            <p:nvPr/>
          </p:nvSpPr>
          <p:spPr>
            <a:xfrm>
              <a:off x="1019175" y="4500563"/>
              <a:ext cx="685800" cy="2286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4556" name="Line 2439"/>
            <p:cNvSpPr/>
            <p:nvPr/>
          </p:nvSpPr>
          <p:spPr>
            <a:xfrm flipH="1">
              <a:off x="2143125" y="4494213"/>
              <a:ext cx="727075" cy="2921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4557" name="Line 2440"/>
            <p:cNvSpPr/>
            <p:nvPr/>
          </p:nvSpPr>
          <p:spPr>
            <a:xfrm flipH="1">
              <a:off x="1314450" y="4948238"/>
              <a:ext cx="452438" cy="452437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4558" name="Line 2441"/>
            <p:cNvSpPr/>
            <p:nvPr/>
          </p:nvSpPr>
          <p:spPr>
            <a:xfrm>
              <a:off x="2047875" y="4970463"/>
              <a:ext cx="685800" cy="44450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4559" name="Text Box 2442"/>
            <p:cNvSpPr txBox="1"/>
            <p:nvPr/>
          </p:nvSpPr>
          <p:spPr>
            <a:xfrm>
              <a:off x="1117600" y="366553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60" name="Text Box 2443"/>
            <p:cNvSpPr txBox="1"/>
            <p:nvPr/>
          </p:nvSpPr>
          <p:spPr>
            <a:xfrm>
              <a:off x="2393950" y="35321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61" name="Text Box 2444"/>
            <p:cNvSpPr txBox="1"/>
            <p:nvPr/>
          </p:nvSpPr>
          <p:spPr>
            <a:xfrm>
              <a:off x="565150" y="47513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62" name="Text Box 2445"/>
            <p:cNvSpPr txBox="1"/>
            <p:nvPr/>
          </p:nvSpPr>
          <p:spPr>
            <a:xfrm>
              <a:off x="1936750" y="55895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63" name="Text Box 2446"/>
            <p:cNvSpPr txBox="1"/>
            <p:nvPr/>
          </p:nvSpPr>
          <p:spPr>
            <a:xfrm>
              <a:off x="3003550" y="47513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64" name="Text Box 2447"/>
            <p:cNvSpPr txBox="1"/>
            <p:nvPr/>
          </p:nvSpPr>
          <p:spPr>
            <a:xfrm>
              <a:off x="1878013" y="40655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65" name="Text Box 2448"/>
            <p:cNvSpPr txBox="1"/>
            <p:nvPr/>
          </p:nvSpPr>
          <p:spPr>
            <a:xfrm>
              <a:off x="2378075" y="45989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66" name="Text Box 2449"/>
            <p:cNvSpPr txBox="1"/>
            <p:nvPr/>
          </p:nvSpPr>
          <p:spPr>
            <a:xfrm>
              <a:off x="2149475" y="50561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67" name="Text Box 2450"/>
            <p:cNvSpPr txBox="1"/>
            <p:nvPr/>
          </p:nvSpPr>
          <p:spPr>
            <a:xfrm>
              <a:off x="1311275" y="47513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68" name="Text Box 2451"/>
            <p:cNvSpPr txBox="1"/>
            <p:nvPr/>
          </p:nvSpPr>
          <p:spPr>
            <a:xfrm>
              <a:off x="1311275" y="4217988"/>
              <a:ext cx="33655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Rectangle 41"/>
          <p:cNvSpPr>
            <a:spLocks noChangeArrowheads="1"/>
          </p:cNvSpPr>
          <p:nvPr/>
        </p:nvSpPr>
        <p:spPr bwMode="auto">
          <a:xfrm>
            <a:off x="355600" y="4062413"/>
            <a:ext cx="1312863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过程：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1128" y="4498975"/>
            <a:ext cx="292862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）①初态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V(T)=φ 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86619" y="4924425"/>
            <a:ext cx="34766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②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选顶点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1=&gt;V(T)=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｝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80181" y="5337175"/>
            <a:ext cx="349567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V(T), j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V(T)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的边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96449" y="5716588"/>
            <a:ext cx="324739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(1,2,</a:t>
            </a:r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(1,3,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(1,4,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 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06463" y="6148388"/>
            <a:ext cx="1986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V(T)=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｛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1,3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｝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cxnSp>
        <p:nvCxnSpPr>
          <p:cNvPr id="55" name="直接连接符 54"/>
          <p:cNvCxnSpPr/>
          <p:nvPr/>
        </p:nvCxnSpPr>
        <p:spPr>
          <a:xfrm>
            <a:off x="4351338" y="666750"/>
            <a:ext cx="68262" cy="5851525"/>
          </a:xfrm>
          <a:prstGeom prst="line">
            <a:avLst/>
          </a:prstGeom>
          <a:ln w="38100" cap="flat" cmpd="dbl">
            <a:solidFill>
              <a:srgbClr val="00B0F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9" name="矩形 58"/>
          <p:cNvSpPr/>
          <p:nvPr/>
        </p:nvSpPr>
        <p:spPr>
          <a:xfrm>
            <a:off x="4295776" y="773113"/>
            <a:ext cx="349567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V(T), j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V(T)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的边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996498" y="1190625"/>
            <a:ext cx="4043680" cy="82994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(1,2,</a:t>
            </a:r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(1,4,</a:t>
            </a:r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(3,2,</a:t>
            </a:r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(3,4,</a:t>
            </a:r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(3,5,</a:t>
            </a:r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(3,6,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5024438" y="2009775"/>
            <a:ext cx="2240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V(T)=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｛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1,3,6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｝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4295776" y="2441575"/>
            <a:ext cx="349567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V(T), j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V(T)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的边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996498" y="2859088"/>
            <a:ext cx="4043680" cy="82994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(1,2,</a:t>
            </a:r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(1,4,</a:t>
            </a:r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(3,2,</a:t>
            </a:r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(3,4,</a:t>
            </a:r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(3,5,</a:t>
            </a:r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(6,4,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(6,5,</a:t>
            </a:r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5024438" y="3678238"/>
            <a:ext cx="2494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V(T)=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｛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1,3,6,4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｝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306094" y="4106863"/>
            <a:ext cx="349567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V(T), j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V(T)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的边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5025866" y="4524375"/>
            <a:ext cx="3967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(1,2,</a:t>
            </a:r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(3,2,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(3,5,</a:t>
            </a:r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(6,5,</a:t>
            </a:r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022850" y="4938713"/>
            <a:ext cx="2748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V(T)=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｛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1,3,6,4,2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｝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4306094" y="5359400"/>
            <a:ext cx="349567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V(T), j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V(T)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的边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5009991" y="5784850"/>
            <a:ext cx="2926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(3,5,</a:t>
            </a:r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(6,5,</a:t>
            </a:r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), (2,5,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5024438" y="6145213"/>
            <a:ext cx="3002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V(T)=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｛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1,3,6,4,2,5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｝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4536" name="Text Box 2"/>
          <p:cNvSpPr txBox="1"/>
          <p:nvPr/>
        </p:nvSpPr>
        <p:spPr>
          <a:xfrm>
            <a:off x="3846513" y="82550"/>
            <a:ext cx="52974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7.4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最小生成树和最短路径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3" grpId="0"/>
      <p:bldP spid="15" grpId="0"/>
      <p:bldP spid="53" grpId="0"/>
      <p:bldP spid="54" grpId="0"/>
      <p:bldP spid="51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43"/>
          <p:cNvSpPr/>
          <p:nvPr/>
        </p:nvSpPr>
        <p:spPr>
          <a:xfrm>
            <a:off x="4579938" y="1052513"/>
            <a:ext cx="30988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endParaRPr lang="zh-CN" altLang="zh-CN" sz="2400" dirty="0">
              <a:solidFill>
                <a:schemeClr val="accent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5539" name="Oval 46"/>
          <p:cNvSpPr/>
          <p:nvPr/>
        </p:nvSpPr>
        <p:spPr>
          <a:xfrm>
            <a:off x="765175" y="1839913"/>
            <a:ext cx="4572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40" name="Text Box 47"/>
          <p:cNvSpPr txBox="1"/>
          <p:nvPr/>
        </p:nvSpPr>
        <p:spPr>
          <a:xfrm>
            <a:off x="844550" y="1843088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41" name="Oval 49"/>
          <p:cNvSpPr/>
          <p:nvPr/>
        </p:nvSpPr>
        <p:spPr>
          <a:xfrm>
            <a:off x="2613025" y="1839913"/>
            <a:ext cx="4572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42" name="Text Box 50"/>
          <p:cNvSpPr txBox="1"/>
          <p:nvPr/>
        </p:nvSpPr>
        <p:spPr>
          <a:xfrm>
            <a:off x="2692400" y="1843088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43" name="Oval 52"/>
          <p:cNvSpPr/>
          <p:nvPr/>
        </p:nvSpPr>
        <p:spPr>
          <a:xfrm>
            <a:off x="2593975" y="3611563"/>
            <a:ext cx="4572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44" name="Text Box 53"/>
          <p:cNvSpPr txBox="1"/>
          <p:nvPr/>
        </p:nvSpPr>
        <p:spPr>
          <a:xfrm>
            <a:off x="2673350" y="3614738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45" name="Oval 55"/>
          <p:cNvSpPr/>
          <p:nvPr/>
        </p:nvSpPr>
        <p:spPr>
          <a:xfrm>
            <a:off x="1736725" y="2678113"/>
            <a:ext cx="4572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46" name="Text Box 56"/>
          <p:cNvSpPr txBox="1"/>
          <p:nvPr/>
        </p:nvSpPr>
        <p:spPr>
          <a:xfrm>
            <a:off x="1816100" y="2681288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47" name="Oval 58"/>
          <p:cNvSpPr/>
          <p:nvPr/>
        </p:nvSpPr>
        <p:spPr>
          <a:xfrm>
            <a:off x="803275" y="3573463"/>
            <a:ext cx="4572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48" name="Text Box 59"/>
          <p:cNvSpPr txBox="1"/>
          <p:nvPr/>
        </p:nvSpPr>
        <p:spPr>
          <a:xfrm>
            <a:off x="882650" y="3576638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49" name="Oval 61"/>
          <p:cNvSpPr/>
          <p:nvPr/>
        </p:nvSpPr>
        <p:spPr>
          <a:xfrm>
            <a:off x="3717925" y="2659063"/>
            <a:ext cx="4572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50" name="Text Box 62"/>
          <p:cNvSpPr txBox="1"/>
          <p:nvPr/>
        </p:nvSpPr>
        <p:spPr>
          <a:xfrm>
            <a:off x="3797300" y="2662238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51" name="Line 63"/>
          <p:cNvSpPr/>
          <p:nvPr/>
        </p:nvSpPr>
        <p:spPr>
          <a:xfrm>
            <a:off x="3032125" y="2220913"/>
            <a:ext cx="685800" cy="5334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552" name="Line 64"/>
          <p:cNvSpPr/>
          <p:nvPr/>
        </p:nvSpPr>
        <p:spPr>
          <a:xfrm flipV="1">
            <a:off x="2955925" y="3059113"/>
            <a:ext cx="762000" cy="6096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553" name="Line 65"/>
          <p:cNvSpPr/>
          <p:nvPr/>
        </p:nvSpPr>
        <p:spPr>
          <a:xfrm>
            <a:off x="993775" y="2297113"/>
            <a:ext cx="0" cy="12954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554" name="Line 66"/>
          <p:cNvSpPr/>
          <p:nvPr/>
        </p:nvSpPr>
        <p:spPr>
          <a:xfrm>
            <a:off x="1222375" y="2068513"/>
            <a:ext cx="1371600" cy="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555" name="Line 67"/>
          <p:cNvSpPr/>
          <p:nvPr/>
        </p:nvSpPr>
        <p:spPr>
          <a:xfrm>
            <a:off x="2822575" y="2297113"/>
            <a:ext cx="0" cy="12954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556" name="Line 68"/>
          <p:cNvSpPr/>
          <p:nvPr/>
        </p:nvSpPr>
        <p:spPr>
          <a:xfrm>
            <a:off x="1298575" y="3821113"/>
            <a:ext cx="1276350" cy="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557" name="Line 69"/>
          <p:cNvSpPr/>
          <p:nvPr/>
        </p:nvSpPr>
        <p:spPr>
          <a:xfrm>
            <a:off x="1184275" y="2239963"/>
            <a:ext cx="533400" cy="5334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558" name="Line 70"/>
          <p:cNvSpPr/>
          <p:nvPr/>
        </p:nvSpPr>
        <p:spPr>
          <a:xfrm flipH="1">
            <a:off x="2117725" y="2220913"/>
            <a:ext cx="533400" cy="5334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559" name="Line 71"/>
          <p:cNvSpPr/>
          <p:nvPr/>
        </p:nvSpPr>
        <p:spPr>
          <a:xfrm>
            <a:off x="2098675" y="3116263"/>
            <a:ext cx="533400" cy="5334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560" name="Line 72"/>
          <p:cNvSpPr/>
          <p:nvPr/>
        </p:nvSpPr>
        <p:spPr>
          <a:xfrm flipH="1">
            <a:off x="1184275" y="3059113"/>
            <a:ext cx="609600" cy="6096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561" name="Text Box 75"/>
          <p:cNvSpPr txBox="1"/>
          <p:nvPr/>
        </p:nvSpPr>
        <p:spPr>
          <a:xfrm>
            <a:off x="1739900" y="1674813"/>
            <a:ext cx="52197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62" name="Text Box 76"/>
          <p:cNvSpPr txBox="1"/>
          <p:nvPr/>
        </p:nvSpPr>
        <p:spPr>
          <a:xfrm>
            <a:off x="3244850" y="2033588"/>
            <a:ext cx="352425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63" name="Text Box 77"/>
          <p:cNvSpPr txBox="1"/>
          <p:nvPr/>
        </p:nvSpPr>
        <p:spPr>
          <a:xfrm>
            <a:off x="3244850" y="3252788"/>
            <a:ext cx="352425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64" name="Text Box 78"/>
          <p:cNvSpPr txBox="1"/>
          <p:nvPr/>
        </p:nvSpPr>
        <p:spPr>
          <a:xfrm>
            <a:off x="1644650" y="3786188"/>
            <a:ext cx="52197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65" name="Text Box 79"/>
          <p:cNvSpPr txBox="1"/>
          <p:nvPr/>
        </p:nvSpPr>
        <p:spPr>
          <a:xfrm>
            <a:off x="549275" y="2643188"/>
            <a:ext cx="52197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66" name="Text Box 80"/>
          <p:cNvSpPr txBox="1"/>
          <p:nvPr/>
        </p:nvSpPr>
        <p:spPr>
          <a:xfrm>
            <a:off x="1111250" y="2338388"/>
            <a:ext cx="52197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67" name="Text Box 81"/>
          <p:cNvSpPr txBox="1"/>
          <p:nvPr/>
        </p:nvSpPr>
        <p:spPr>
          <a:xfrm>
            <a:off x="2038350" y="2185988"/>
            <a:ext cx="49911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68" name="Text Box 82"/>
          <p:cNvSpPr txBox="1"/>
          <p:nvPr/>
        </p:nvSpPr>
        <p:spPr>
          <a:xfrm>
            <a:off x="2287588" y="3019425"/>
            <a:ext cx="52197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69" name="Text Box 83"/>
          <p:cNvSpPr txBox="1"/>
          <p:nvPr/>
        </p:nvSpPr>
        <p:spPr>
          <a:xfrm>
            <a:off x="1193800" y="2947988"/>
            <a:ext cx="52197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70" name="Text Box 84"/>
          <p:cNvSpPr txBox="1"/>
          <p:nvPr/>
        </p:nvSpPr>
        <p:spPr>
          <a:xfrm>
            <a:off x="2863850" y="2566988"/>
            <a:ext cx="352425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5571" name="Picture 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425" y="566738"/>
            <a:ext cx="963613" cy="917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72" name="文本框 1"/>
          <p:cNvSpPr txBox="1"/>
          <p:nvPr/>
        </p:nvSpPr>
        <p:spPr>
          <a:xfrm>
            <a:off x="1260475" y="762000"/>
            <a:ext cx="6877050" cy="5708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应用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Prim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方法构造下面给定网络图的最小生成树？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41" name="Group 308"/>
          <p:cNvGrpSpPr/>
          <p:nvPr/>
        </p:nvGrpSpPr>
        <p:grpSpPr>
          <a:xfrm>
            <a:off x="4254500" y="1687513"/>
            <a:ext cx="4411663" cy="2555875"/>
            <a:chOff x="2783" y="1830"/>
            <a:chExt cx="2779" cy="1610"/>
          </a:xfrm>
        </p:grpSpPr>
        <p:sp>
          <p:nvSpPr>
            <p:cNvPr id="65581" name="Oval 274"/>
            <p:cNvSpPr/>
            <p:nvPr/>
          </p:nvSpPr>
          <p:spPr>
            <a:xfrm>
              <a:off x="3414" y="1926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582" name="Text Box 275"/>
            <p:cNvSpPr txBox="1"/>
            <p:nvPr/>
          </p:nvSpPr>
          <p:spPr>
            <a:xfrm>
              <a:off x="3464" y="1928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583" name="Oval 276"/>
            <p:cNvSpPr/>
            <p:nvPr/>
          </p:nvSpPr>
          <p:spPr>
            <a:xfrm>
              <a:off x="4578" y="1926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584" name="Text Box 277"/>
            <p:cNvSpPr txBox="1"/>
            <p:nvPr/>
          </p:nvSpPr>
          <p:spPr>
            <a:xfrm>
              <a:off x="4628" y="1928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585" name="Oval 278"/>
            <p:cNvSpPr/>
            <p:nvPr/>
          </p:nvSpPr>
          <p:spPr>
            <a:xfrm>
              <a:off x="4566" y="3042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586" name="Text Box 279"/>
            <p:cNvSpPr txBox="1"/>
            <p:nvPr/>
          </p:nvSpPr>
          <p:spPr>
            <a:xfrm>
              <a:off x="4616" y="3044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587" name="Oval 280"/>
            <p:cNvSpPr/>
            <p:nvPr/>
          </p:nvSpPr>
          <p:spPr>
            <a:xfrm>
              <a:off x="4026" y="2454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588" name="Text Box 281"/>
            <p:cNvSpPr txBox="1"/>
            <p:nvPr/>
          </p:nvSpPr>
          <p:spPr>
            <a:xfrm>
              <a:off x="4076" y="2456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589" name="Oval 282"/>
            <p:cNvSpPr/>
            <p:nvPr/>
          </p:nvSpPr>
          <p:spPr>
            <a:xfrm>
              <a:off x="3438" y="3018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590" name="Text Box 283"/>
            <p:cNvSpPr txBox="1"/>
            <p:nvPr/>
          </p:nvSpPr>
          <p:spPr>
            <a:xfrm>
              <a:off x="3488" y="3020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591" name="Oval 284"/>
            <p:cNvSpPr/>
            <p:nvPr/>
          </p:nvSpPr>
          <p:spPr>
            <a:xfrm>
              <a:off x="5274" y="2442"/>
              <a:ext cx="288" cy="288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592" name="Text Box 285"/>
            <p:cNvSpPr txBox="1"/>
            <p:nvPr/>
          </p:nvSpPr>
          <p:spPr>
            <a:xfrm>
              <a:off x="5324" y="2444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593" name="Line 286"/>
            <p:cNvSpPr/>
            <p:nvPr/>
          </p:nvSpPr>
          <p:spPr>
            <a:xfrm>
              <a:off x="4842" y="2166"/>
              <a:ext cx="432" cy="336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5594" name="Line 287"/>
            <p:cNvSpPr/>
            <p:nvPr/>
          </p:nvSpPr>
          <p:spPr>
            <a:xfrm flipV="1">
              <a:off x="4794" y="2694"/>
              <a:ext cx="480" cy="384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5595" name="Line 289"/>
            <p:cNvSpPr/>
            <p:nvPr/>
          </p:nvSpPr>
          <p:spPr>
            <a:xfrm>
              <a:off x="3702" y="2070"/>
              <a:ext cx="864" cy="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5596" name="Line 291"/>
            <p:cNvSpPr/>
            <p:nvPr/>
          </p:nvSpPr>
          <p:spPr>
            <a:xfrm>
              <a:off x="3750" y="3174"/>
              <a:ext cx="804" cy="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5597" name="Line 293"/>
            <p:cNvSpPr/>
            <p:nvPr/>
          </p:nvSpPr>
          <p:spPr>
            <a:xfrm flipH="1">
              <a:off x="4266" y="2166"/>
              <a:ext cx="336" cy="336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5598" name="Text Box 296"/>
            <p:cNvSpPr txBox="1"/>
            <p:nvPr/>
          </p:nvSpPr>
          <p:spPr>
            <a:xfrm>
              <a:off x="4016" y="1830"/>
              <a:ext cx="30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599" name="Text Box 297"/>
            <p:cNvSpPr txBox="1"/>
            <p:nvPr/>
          </p:nvSpPr>
          <p:spPr>
            <a:xfrm>
              <a:off x="4976" y="2048"/>
              <a:ext cx="21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600" name="Text Box 298"/>
            <p:cNvSpPr txBox="1"/>
            <p:nvPr/>
          </p:nvSpPr>
          <p:spPr>
            <a:xfrm>
              <a:off x="4976" y="2816"/>
              <a:ext cx="21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601" name="Text Box 299"/>
            <p:cNvSpPr txBox="1"/>
            <p:nvPr/>
          </p:nvSpPr>
          <p:spPr>
            <a:xfrm>
              <a:off x="3968" y="3152"/>
              <a:ext cx="30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18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602" name="Text Box 302"/>
            <p:cNvSpPr txBox="1"/>
            <p:nvPr/>
          </p:nvSpPr>
          <p:spPr>
            <a:xfrm>
              <a:off x="4180" y="2133"/>
              <a:ext cx="30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603" name="AutoShape 306"/>
            <p:cNvSpPr/>
            <p:nvPr/>
          </p:nvSpPr>
          <p:spPr>
            <a:xfrm>
              <a:off x="2783" y="2536"/>
              <a:ext cx="501" cy="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CCFFFF">
                <a:alpha val="100000"/>
              </a:srgbClr>
            </a:solidFill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65" name="Group 193"/>
          <p:cNvGrpSpPr/>
          <p:nvPr/>
        </p:nvGrpSpPr>
        <p:grpSpPr>
          <a:xfrm>
            <a:off x="5289550" y="4338638"/>
            <a:ext cx="3065463" cy="1116012"/>
            <a:chOff x="2053" y="3477"/>
            <a:chExt cx="1931" cy="703"/>
          </a:xfrm>
        </p:grpSpPr>
        <p:grpSp>
          <p:nvGrpSpPr>
            <p:cNvPr id="65576" name="Group 194"/>
            <p:cNvGrpSpPr/>
            <p:nvPr/>
          </p:nvGrpSpPr>
          <p:grpSpPr>
            <a:xfrm>
              <a:off x="2053" y="3477"/>
              <a:ext cx="528" cy="703"/>
              <a:chOff x="2053" y="3477"/>
              <a:chExt cx="528" cy="703"/>
            </a:xfrm>
          </p:grpSpPr>
          <p:sp>
            <p:nvSpPr>
              <p:cNvPr id="65578" name="Rectangle 195"/>
              <p:cNvSpPr/>
              <p:nvPr/>
            </p:nvSpPr>
            <p:spPr>
              <a:xfrm>
                <a:off x="2064" y="3552"/>
                <a:ext cx="469" cy="48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</a:pPr>
                <a:r>
                  <a:rPr lang="en-US" altLang="zh-CN" sz="4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∑</a:t>
                </a:r>
                <a:endParaRPr lang="en-US" altLang="zh-CN" sz="4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579" name="Text Box 196"/>
              <p:cNvSpPr txBox="1"/>
              <p:nvPr/>
            </p:nvSpPr>
            <p:spPr>
              <a:xfrm>
                <a:off x="2053" y="3949"/>
                <a:ext cx="528" cy="23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i=1</a:t>
                </a:r>
                <a:endParaRPr lang="en-US" altLang="zh-CN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580" name="Text Box 197"/>
              <p:cNvSpPr txBox="1"/>
              <p:nvPr/>
            </p:nvSpPr>
            <p:spPr>
              <a:xfrm>
                <a:off x="2171" y="3477"/>
                <a:ext cx="288" cy="23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en-US" altLang="zh-CN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5577" name="Text Box 198"/>
            <p:cNvSpPr txBox="1"/>
            <p:nvPr/>
          </p:nvSpPr>
          <p:spPr>
            <a:xfrm>
              <a:off x="2348" y="3681"/>
              <a:ext cx="163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Weight     =   56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5575" name="Text Box 2"/>
          <p:cNvSpPr txBox="1"/>
          <p:nvPr/>
        </p:nvSpPr>
        <p:spPr>
          <a:xfrm>
            <a:off x="3846513" y="82550"/>
            <a:ext cx="52974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7.4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最小生成树和最短路径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72"/>
          <p:cNvSpPr txBox="1"/>
          <p:nvPr/>
        </p:nvSpPr>
        <p:spPr>
          <a:xfrm>
            <a:off x="387350" y="1247775"/>
            <a:ext cx="1790700" cy="521970"/>
          </a:xfrm>
          <a:prstGeom prst="rect">
            <a:avLst/>
          </a:prstGeom>
          <a:solidFill>
            <a:srgbClr val="FF9900"/>
          </a:solidFill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</a:rPr>
              <a:t>路径长度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66563" name="Text Box 73"/>
          <p:cNvSpPr txBox="1"/>
          <p:nvPr/>
        </p:nvSpPr>
        <p:spPr>
          <a:xfrm>
            <a:off x="692150" y="1717675"/>
            <a:ext cx="731520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）不带权的图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路径上所经过的边的数目。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6564" name="Text Box 74"/>
          <p:cNvSpPr txBox="1"/>
          <p:nvPr/>
        </p:nvSpPr>
        <p:spPr>
          <a:xfrm>
            <a:off x="711200" y="2085975"/>
            <a:ext cx="659828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2) 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带权的图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路径上所经过的边上的权值之和。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3867" name="Text Box 75"/>
          <p:cNvSpPr txBox="1"/>
          <p:nvPr/>
        </p:nvSpPr>
        <p:spPr>
          <a:xfrm>
            <a:off x="412750" y="3343275"/>
            <a:ext cx="1044575" cy="521970"/>
          </a:xfrm>
          <a:prstGeom prst="rect">
            <a:avLst/>
          </a:prstGeom>
          <a:solidFill>
            <a:srgbClr val="FF9900"/>
          </a:solidFill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</a:rPr>
              <a:t>源点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33868" name="Text Box 76"/>
          <p:cNvSpPr txBox="1"/>
          <p:nvPr/>
        </p:nvSpPr>
        <p:spPr>
          <a:xfrm>
            <a:off x="387350" y="3895725"/>
            <a:ext cx="5287963" cy="521970"/>
          </a:xfrm>
          <a:prstGeom prst="rect">
            <a:avLst/>
          </a:prstGeom>
          <a:solidFill>
            <a:srgbClr val="FF9900"/>
          </a:solidFill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</a:rPr>
              <a:t>解决问题所需要确定的数据结构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grpSp>
        <p:nvGrpSpPr>
          <p:cNvPr id="33869" name="Group 77"/>
          <p:cNvGrpSpPr/>
          <p:nvPr/>
        </p:nvGrpSpPr>
        <p:grpSpPr>
          <a:xfrm>
            <a:off x="704850" y="4505325"/>
            <a:ext cx="7759700" cy="1865313"/>
            <a:chOff x="584" y="2880"/>
            <a:chExt cx="4888" cy="1175"/>
          </a:xfrm>
        </p:grpSpPr>
        <p:sp>
          <p:nvSpPr>
            <p:cNvPr id="66574" name="Text Box 78"/>
            <p:cNvSpPr txBox="1"/>
            <p:nvPr/>
          </p:nvSpPr>
          <p:spPr>
            <a:xfrm>
              <a:off x="584" y="2880"/>
              <a:ext cx="4888" cy="117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457200" lvl="0" indent="-457200" eaLnBrk="1" hangingPunct="1"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）图的存储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: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以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~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n 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分别代表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n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个顶点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,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采用邻接矩阵存 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457200" lvl="0" indent="-457200" eaLnBrk="1" hangingPunct="1">
                <a:spcBef>
                  <a:spcPct val="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 储该图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,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有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457200" lvl="0" indent="-457200" eaLnBrk="1" hangingPunct="1">
                <a:spcBef>
                  <a:spcPct val="0"/>
                </a:spcBef>
              </a:pPr>
              <a:r>
                <a:rPr lang="en-US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               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400" baseline="-26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ij    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当顶点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2400" baseline="-18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i 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到顶点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2400" baseline="-18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j 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有边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,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且权为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400" baseline="-26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ij 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457200" lvl="0" indent="-457200" eaLnBrk="1" hangingPunct="1"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 A[i, j]=    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  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当顶点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2400" baseline="-18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i 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到顶点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2400" baseline="-14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j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无边时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457200" lvl="0" indent="-457200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                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0    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2400" baseline="-18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=v</a:t>
              </a:r>
              <a:r>
                <a:rPr lang="en-US" altLang="zh-CN" sz="2400" baseline="-18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j 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时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66575" name="Text Box 79"/>
            <p:cNvSpPr txBox="1"/>
            <p:nvPr/>
          </p:nvSpPr>
          <p:spPr>
            <a:xfrm>
              <a:off x="1266" y="3400"/>
              <a:ext cx="323" cy="57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54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</a:t>
              </a:r>
              <a:endParaRPr lang="en-US" altLang="zh-CN" sz="5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33872" name="Text Box 80"/>
          <p:cNvSpPr txBox="1"/>
          <p:nvPr/>
        </p:nvSpPr>
        <p:spPr>
          <a:xfrm>
            <a:off x="1477963" y="3394075"/>
            <a:ext cx="5897562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设出发顶点为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v(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通常称为源点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6569" name="Oval 7"/>
          <p:cNvSpPr/>
          <p:nvPr/>
        </p:nvSpPr>
        <p:spPr>
          <a:xfrm>
            <a:off x="547688" y="796925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6570" name="Text Box 8"/>
          <p:cNvSpPr txBox="1"/>
          <p:nvPr/>
        </p:nvSpPr>
        <p:spPr>
          <a:xfrm>
            <a:off x="912813" y="712788"/>
            <a:ext cx="3659187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最短路径问题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6" name="Oval 7"/>
          <p:cNvSpPr/>
          <p:nvPr/>
        </p:nvSpPr>
        <p:spPr>
          <a:xfrm>
            <a:off x="547688" y="2682875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9933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8"/>
          <p:cNvSpPr txBox="1"/>
          <p:nvPr/>
        </p:nvSpPr>
        <p:spPr>
          <a:xfrm>
            <a:off x="762000" y="2616200"/>
            <a:ext cx="39211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）单源最短路径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6573" name="Text Box 2"/>
          <p:cNvSpPr txBox="1"/>
          <p:nvPr/>
        </p:nvSpPr>
        <p:spPr>
          <a:xfrm>
            <a:off x="3846513" y="82550"/>
            <a:ext cx="52974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7.4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最小生成树和最短路径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67" grpId="0" bldLvl="0" animBg="1"/>
      <p:bldP spid="33868" grpId="0" bldLvl="0" animBg="1"/>
      <p:bldP spid="33872" grpId="0"/>
      <p:bldP spid="16" grpId="0" animBg="1"/>
      <p:bldP spid="1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0" name="Text Box 131"/>
          <p:cNvSpPr txBox="1">
            <a:spLocks noChangeArrowheads="1"/>
          </p:cNvSpPr>
          <p:nvPr/>
        </p:nvSpPr>
        <p:spPr bwMode="auto">
          <a:xfrm>
            <a:off x="341313" y="623888"/>
            <a:ext cx="8610600" cy="2232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）设置一个标志数组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S[1:n]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记录源点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到图中哪些顶点的最短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路径已经找到，有：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1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表示源点到顶点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的最短路径已经找到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S[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 =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           0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表示源点到顶点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的最短路径尚未找到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初始时，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S[v]=1,     S[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]=0 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=1, 2,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, n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 v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4949" name="Text Box 133"/>
          <p:cNvSpPr txBox="1">
            <a:spLocks noChangeArrowheads="1"/>
          </p:cNvSpPr>
          <p:nvPr/>
        </p:nvSpPr>
        <p:spPr bwMode="auto">
          <a:xfrm>
            <a:off x="411163" y="3003550"/>
            <a:ext cx="8329613" cy="1863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）设置数组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dist[1:n]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分别记录源点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到图中各顶点的最短路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径的路径长度，其中，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dist[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记录源点到顶点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的最短路径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的长度；初始时，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dist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数组的值为邻接矩阵第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行的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个元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素值。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4950" name="Text Box 134"/>
          <p:cNvSpPr txBox="1">
            <a:spLocks noChangeArrowheads="1"/>
          </p:cNvSpPr>
          <p:nvPr/>
        </p:nvSpPr>
        <p:spPr bwMode="auto">
          <a:xfrm>
            <a:off x="387350" y="4866005"/>
            <a:ext cx="8435975" cy="14204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-781050" algn="just" defTabSz="914400" rtl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）设置数组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path[1:n]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分别记录源点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到图中各顶点的最短路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-781050" algn="just" defTabSz="914400" rtl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径所经过的顶点序列，其中，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path[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记录源点到顶点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-781050" algn="just" defTabSz="914400" rtl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径，初始时，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path[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]=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 v ,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 =1, 2, 3,  , n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7589" name="左大括号 1"/>
          <p:cNvSpPr/>
          <p:nvPr/>
        </p:nvSpPr>
        <p:spPr>
          <a:xfrm>
            <a:off x="1630363" y="1579563"/>
            <a:ext cx="227012" cy="701675"/>
          </a:xfrm>
          <a:prstGeom prst="leftBrace">
            <a:avLst>
              <a:gd name="adj1" fmla="val 8285"/>
              <a:gd name="adj2" fmla="val 50000"/>
            </a:avLst>
          </a:prstGeom>
          <a:noFill/>
          <a:ln w="28575" cap="flat" cmpd="sng">
            <a:solidFill>
              <a:schemeClr val="accent4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590" name="Text Box 2"/>
          <p:cNvSpPr txBox="1"/>
          <p:nvPr/>
        </p:nvSpPr>
        <p:spPr>
          <a:xfrm>
            <a:off x="3846513" y="82550"/>
            <a:ext cx="52974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7.4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最小生成树和最短路径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49" grpId="0"/>
      <p:bldP spid="3495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Oval 6"/>
          <p:cNvSpPr/>
          <p:nvPr/>
        </p:nvSpPr>
        <p:spPr>
          <a:xfrm>
            <a:off x="530225" y="1676400"/>
            <a:ext cx="4572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1" name="Text Box 7"/>
          <p:cNvSpPr txBox="1"/>
          <p:nvPr/>
        </p:nvSpPr>
        <p:spPr>
          <a:xfrm>
            <a:off x="609600" y="1679575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2" name="Oval 9"/>
          <p:cNvSpPr/>
          <p:nvPr/>
        </p:nvSpPr>
        <p:spPr>
          <a:xfrm>
            <a:off x="2378075" y="1847850"/>
            <a:ext cx="4572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3" name="Text Box 10"/>
          <p:cNvSpPr txBox="1"/>
          <p:nvPr/>
        </p:nvSpPr>
        <p:spPr>
          <a:xfrm>
            <a:off x="2457450" y="1851025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4" name="Oval 12"/>
          <p:cNvSpPr/>
          <p:nvPr/>
        </p:nvSpPr>
        <p:spPr>
          <a:xfrm>
            <a:off x="2359025" y="3181350"/>
            <a:ext cx="4572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5" name="Text Box 13"/>
          <p:cNvSpPr txBox="1"/>
          <p:nvPr/>
        </p:nvSpPr>
        <p:spPr>
          <a:xfrm>
            <a:off x="2438400" y="3184525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6" name="Oval 15"/>
          <p:cNvSpPr/>
          <p:nvPr/>
        </p:nvSpPr>
        <p:spPr>
          <a:xfrm>
            <a:off x="3959225" y="3159125"/>
            <a:ext cx="4572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7" name="Text Box 16"/>
          <p:cNvSpPr txBox="1"/>
          <p:nvPr/>
        </p:nvSpPr>
        <p:spPr>
          <a:xfrm>
            <a:off x="4038600" y="3162300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8" name="Oval 18"/>
          <p:cNvSpPr/>
          <p:nvPr/>
        </p:nvSpPr>
        <p:spPr>
          <a:xfrm>
            <a:off x="549275" y="3143250"/>
            <a:ext cx="4572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9" name="Text Box 19"/>
          <p:cNvSpPr txBox="1"/>
          <p:nvPr/>
        </p:nvSpPr>
        <p:spPr>
          <a:xfrm>
            <a:off x="628650" y="3146425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20" name="Oval 21"/>
          <p:cNvSpPr/>
          <p:nvPr/>
        </p:nvSpPr>
        <p:spPr>
          <a:xfrm>
            <a:off x="3959225" y="1676400"/>
            <a:ext cx="4572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21" name="Text Box 22"/>
          <p:cNvSpPr txBox="1"/>
          <p:nvPr/>
        </p:nvSpPr>
        <p:spPr>
          <a:xfrm>
            <a:off x="4038600" y="1679575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22" name="Line 23"/>
          <p:cNvSpPr/>
          <p:nvPr/>
        </p:nvSpPr>
        <p:spPr>
          <a:xfrm>
            <a:off x="677863" y="2122488"/>
            <a:ext cx="0" cy="10287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triangle" w="med" len="med"/>
            <a:tailEnd type="none" w="sm" len="sm"/>
          </a:ln>
        </p:spPr>
      </p:sp>
      <p:sp>
        <p:nvSpPr>
          <p:cNvPr id="68623" name="Line 24"/>
          <p:cNvSpPr/>
          <p:nvPr/>
        </p:nvSpPr>
        <p:spPr>
          <a:xfrm>
            <a:off x="987425" y="1981200"/>
            <a:ext cx="1371600" cy="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68624" name="Line 25"/>
          <p:cNvSpPr/>
          <p:nvPr/>
        </p:nvSpPr>
        <p:spPr>
          <a:xfrm>
            <a:off x="1044575" y="3390900"/>
            <a:ext cx="1276350" cy="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68625" name="Line 26"/>
          <p:cNvSpPr/>
          <p:nvPr/>
        </p:nvSpPr>
        <p:spPr>
          <a:xfrm>
            <a:off x="2816225" y="2000250"/>
            <a:ext cx="1143000" cy="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68626" name="Line 27"/>
          <p:cNvSpPr/>
          <p:nvPr/>
        </p:nvSpPr>
        <p:spPr>
          <a:xfrm>
            <a:off x="987425" y="1809750"/>
            <a:ext cx="2971800" cy="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68627" name="Line 28"/>
          <p:cNvSpPr/>
          <p:nvPr/>
        </p:nvSpPr>
        <p:spPr>
          <a:xfrm>
            <a:off x="844550" y="2125663"/>
            <a:ext cx="0" cy="10287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68628" name="Line 29"/>
          <p:cNvSpPr/>
          <p:nvPr/>
        </p:nvSpPr>
        <p:spPr>
          <a:xfrm>
            <a:off x="2816225" y="3409950"/>
            <a:ext cx="1143000" cy="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68629" name="Line 30"/>
          <p:cNvSpPr/>
          <p:nvPr/>
        </p:nvSpPr>
        <p:spPr>
          <a:xfrm>
            <a:off x="2587625" y="2305050"/>
            <a:ext cx="0" cy="8382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68630" name="Line 31"/>
          <p:cNvSpPr/>
          <p:nvPr/>
        </p:nvSpPr>
        <p:spPr>
          <a:xfrm flipH="1">
            <a:off x="987425" y="2228850"/>
            <a:ext cx="1447800" cy="9906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8631" name="Line 32"/>
          <p:cNvSpPr/>
          <p:nvPr/>
        </p:nvSpPr>
        <p:spPr>
          <a:xfrm flipH="1">
            <a:off x="2760663" y="2076450"/>
            <a:ext cx="1198562" cy="1190625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68632" name="Line 33"/>
          <p:cNvSpPr/>
          <p:nvPr/>
        </p:nvSpPr>
        <p:spPr>
          <a:xfrm flipH="1">
            <a:off x="2816225" y="2070100"/>
            <a:ext cx="1260475" cy="126365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8633" name="Text Box 34"/>
          <p:cNvSpPr txBox="1"/>
          <p:nvPr/>
        </p:nvSpPr>
        <p:spPr>
          <a:xfrm>
            <a:off x="2400300" y="144303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34" name="Text Box 35"/>
          <p:cNvSpPr txBox="1"/>
          <p:nvPr/>
        </p:nvSpPr>
        <p:spPr>
          <a:xfrm>
            <a:off x="1524000" y="195738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35" name="Text Box 36"/>
          <p:cNvSpPr txBox="1"/>
          <p:nvPr/>
        </p:nvSpPr>
        <p:spPr>
          <a:xfrm>
            <a:off x="3105150" y="197643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36" name="Text Box 37"/>
          <p:cNvSpPr txBox="1"/>
          <p:nvPr/>
        </p:nvSpPr>
        <p:spPr>
          <a:xfrm>
            <a:off x="280988" y="247173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37" name="Text Box 38"/>
          <p:cNvSpPr txBox="1"/>
          <p:nvPr/>
        </p:nvSpPr>
        <p:spPr>
          <a:xfrm>
            <a:off x="838200" y="245268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38" name="Text Box 39"/>
          <p:cNvSpPr txBox="1"/>
          <p:nvPr/>
        </p:nvSpPr>
        <p:spPr>
          <a:xfrm>
            <a:off x="1657350" y="264318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39" name="Text Box 40"/>
          <p:cNvSpPr txBox="1"/>
          <p:nvPr/>
        </p:nvSpPr>
        <p:spPr>
          <a:xfrm>
            <a:off x="1543050" y="302418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40" name="Text Box 41"/>
          <p:cNvSpPr txBox="1"/>
          <p:nvPr/>
        </p:nvSpPr>
        <p:spPr>
          <a:xfrm>
            <a:off x="2209800" y="262413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41" name="Text Box 42"/>
          <p:cNvSpPr txBox="1"/>
          <p:nvPr/>
        </p:nvSpPr>
        <p:spPr>
          <a:xfrm>
            <a:off x="3390900" y="3062288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42" name="Text Box 43"/>
          <p:cNvSpPr txBox="1"/>
          <p:nvPr/>
        </p:nvSpPr>
        <p:spPr>
          <a:xfrm>
            <a:off x="2838450" y="245268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43" name="Text Box 44"/>
          <p:cNvSpPr txBox="1"/>
          <p:nvPr/>
        </p:nvSpPr>
        <p:spPr>
          <a:xfrm>
            <a:off x="3562350" y="254793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500" name="Rectangle 45"/>
          <p:cNvSpPr>
            <a:spLocks noChangeArrowheads="1"/>
          </p:cNvSpPr>
          <p:nvPr/>
        </p:nvSpPr>
        <p:spPr bwMode="auto">
          <a:xfrm>
            <a:off x="4679950" y="1509713"/>
            <a:ext cx="3943350" cy="3860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2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是源点               最短路径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699000" y="1917700"/>
            <a:ext cx="12160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v0→v2 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035959" y="1916113"/>
            <a:ext cx="521970" cy="3860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10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0" y="2360613"/>
            <a:ext cx="184277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v0→v2→v3 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61188" y="2425700"/>
            <a:ext cx="1555750" cy="3860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10+15=25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73600" y="2776538"/>
            <a:ext cx="246951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v0→v2→v3→v1 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961188" y="2868613"/>
            <a:ext cx="1555750" cy="3860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10+15+20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73600" y="3227388"/>
            <a:ext cx="12160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v0→v4 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038341" y="3267075"/>
            <a:ext cx="521970" cy="3860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45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699000" y="3662363"/>
            <a:ext cx="12160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v0→v5 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057073" y="3719513"/>
            <a:ext cx="1402080" cy="3860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2" indent="0" algn="just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无路可走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9138" y="4557713"/>
            <a:ext cx="7981950" cy="1939925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42913" y="4289425"/>
            <a:ext cx="2316480" cy="460375"/>
          </a:xfrm>
          <a:prstGeom prst="rect">
            <a:avLst/>
          </a:prstGeom>
          <a:solidFill>
            <a:srgbClr val="FF9933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最短路径特点：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60450" y="4957763"/>
            <a:ext cx="20116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或者是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&lt;v0,x&gt;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057275" y="5508625"/>
            <a:ext cx="7643813" cy="82994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或者是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&lt;v0, u,…, v, x&gt;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u,…,v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都是已求得的最短路径终点。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8659" name="Oval 7"/>
          <p:cNvSpPr/>
          <p:nvPr/>
        </p:nvSpPr>
        <p:spPr>
          <a:xfrm>
            <a:off x="414338" y="825500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9933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8660" name="Text Box 8"/>
          <p:cNvSpPr txBox="1"/>
          <p:nvPr/>
        </p:nvSpPr>
        <p:spPr>
          <a:xfrm>
            <a:off x="628650" y="758825"/>
            <a:ext cx="39211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）单源最短路径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8661" name="Text Box 2"/>
          <p:cNvSpPr txBox="1"/>
          <p:nvPr/>
        </p:nvSpPr>
        <p:spPr>
          <a:xfrm>
            <a:off x="3846513" y="82550"/>
            <a:ext cx="52974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7.4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最小生成树和最短路径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00" grpId="0"/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3" grpId="0" animBg="1"/>
      <p:bldP spid="12" grpId="0" bldLvl="0" animBg="1"/>
      <p:bldP spid="14" grpId="0"/>
      <p:bldP spid="5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6"/>
          <p:cNvSpPr>
            <a:spLocks noChangeArrowheads="1"/>
          </p:cNvSpPr>
          <p:nvPr/>
        </p:nvSpPr>
        <p:spPr bwMode="auto">
          <a:xfrm>
            <a:off x="449263" y="1495425"/>
            <a:ext cx="2908300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Dijkstra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算法思想：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36199" name="Text Box 7"/>
          <p:cNvSpPr txBox="1">
            <a:spLocks noChangeArrowheads="1"/>
          </p:cNvSpPr>
          <p:nvPr/>
        </p:nvSpPr>
        <p:spPr bwMode="auto">
          <a:xfrm>
            <a:off x="506413" y="1933575"/>
            <a:ext cx="8188325" cy="2306955"/>
          </a:xfrm>
          <a:prstGeom prst="rect">
            <a:avLst/>
          </a:prstGeom>
          <a:noFill/>
          <a:ln>
            <a:noFill/>
          </a:ln>
        </p:spPr>
        <p:txBody>
          <a:bodyPr lIns="0" rIns="0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2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假设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为已求得的最短路径的终点的集合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初态为空集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，则下一条长度次短的最短路径（设终点为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或者是弧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&lt;v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 x&gt;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或者是中间经过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集合中顶点，最后到达顶点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的路径。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9636" name="Oval 7"/>
          <p:cNvSpPr/>
          <p:nvPr/>
        </p:nvSpPr>
        <p:spPr>
          <a:xfrm>
            <a:off x="420688" y="825500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9933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9637" name="Text Box 8"/>
          <p:cNvSpPr txBox="1"/>
          <p:nvPr/>
        </p:nvSpPr>
        <p:spPr>
          <a:xfrm>
            <a:off x="635000" y="758825"/>
            <a:ext cx="39211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）单源最短路径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9638" name="Text Box 2"/>
          <p:cNvSpPr txBox="1"/>
          <p:nvPr/>
        </p:nvSpPr>
        <p:spPr>
          <a:xfrm>
            <a:off x="3846513" y="82550"/>
            <a:ext cx="52974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7.4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最小生成树和最短路径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6" name="Text Box 36"/>
          <p:cNvSpPr txBox="1">
            <a:spLocks noChangeArrowheads="1"/>
          </p:cNvSpPr>
          <p:nvPr/>
        </p:nvSpPr>
        <p:spPr bwMode="auto">
          <a:xfrm>
            <a:off x="531813" y="1228725"/>
            <a:ext cx="570865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）确定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dist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path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三个数组的初值。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5877" name="Text Box 37"/>
          <p:cNvSpPr txBox="1">
            <a:spLocks noChangeArrowheads="1"/>
          </p:cNvSpPr>
          <p:nvPr/>
        </p:nvSpPr>
        <p:spPr bwMode="auto">
          <a:xfrm>
            <a:off x="531813" y="1687513"/>
            <a:ext cx="7894638" cy="82994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）利用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数组与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dist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数组在那些尚未找到最短路径的顶点中确定一个与源点最近的顶点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u,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并置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S[u]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，同时将顶点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u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加入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path[u]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5878" name="Text Box 38"/>
          <p:cNvSpPr txBox="1">
            <a:spLocks noChangeArrowheads="1"/>
          </p:cNvSpPr>
          <p:nvPr/>
        </p:nvSpPr>
        <p:spPr bwMode="auto">
          <a:xfrm>
            <a:off x="531813" y="2546350"/>
            <a:ext cx="8291513" cy="26765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）根据顶点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u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修改源点到所有尚未找到最短路径的顶点的路径长度。即：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仿宋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①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将源点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到顶点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u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最短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路径长度分别加到源点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通过顶点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u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可以直接到达、且尚未找到最短路径那些的顶点的路径长度上；若加后的长度小于原来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到某顶点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的路径长度，则用加后的长度替代原来的长度，否则不替代。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仿宋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②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若替代，将源点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到顶点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u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的路径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最短路径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上经过的所有顶点替换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path[r].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5879" name="Text Box 39"/>
          <p:cNvSpPr txBox="1">
            <a:spLocks noChangeArrowheads="1"/>
          </p:cNvSpPr>
          <p:nvPr/>
        </p:nvSpPr>
        <p:spPr bwMode="auto">
          <a:xfrm>
            <a:off x="531813" y="5478463"/>
            <a:ext cx="4341813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）重复第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2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至第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3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n-1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次。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09575" y="717550"/>
            <a:ext cx="2215515" cy="460375"/>
          </a:xfrm>
          <a:prstGeom prst="rect">
            <a:avLst/>
          </a:prstGeom>
          <a:solidFill>
            <a:srgbClr val="FF9933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Dijkstra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算法：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0663" name="Text Box 2"/>
          <p:cNvSpPr txBox="1"/>
          <p:nvPr/>
        </p:nvSpPr>
        <p:spPr>
          <a:xfrm>
            <a:off x="3846513" y="82550"/>
            <a:ext cx="52974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7.4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最小生成树和最短路径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76" grpId="0"/>
      <p:bldP spid="35877" grpId="0"/>
      <p:bldP spid="35878" grpId="0"/>
      <p:bldP spid="35879" grpId="0"/>
      <p:bldP spid="24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Oval 6"/>
          <p:cNvSpPr/>
          <p:nvPr/>
        </p:nvSpPr>
        <p:spPr>
          <a:xfrm>
            <a:off x="549275" y="1308100"/>
            <a:ext cx="4572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83" name="Text Box 7"/>
          <p:cNvSpPr txBox="1"/>
          <p:nvPr/>
        </p:nvSpPr>
        <p:spPr>
          <a:xfrm>
            <a:off x="628650" y="1311275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84" name="Oval 9"/>
          <p:cNvSpPr/>
          <p:nvPr/>
        </p:nvSpPr>
        <p:spPr>
          <a:xfrm>
            <a:off x="2397125" y="1479550"/>
            <a:ext cx="4572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85" name="Text Box 10"/>
          <p:cNvSpPr txBox="1"/>
          <p:nvPr/>
        </p:nvSpPr>
        <p:spPr>
          <a:xfrm>
            <a:off x="2476500" y="1482725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86" name="Oval 12"/>
          <p:cNvSpPr/>
          <p:nvPr/>
        </p:nvSpPr>
        <p:spPr>
          <a:xfrm>
            <a:off x="2378075" y="2813050"/>
            <a:ext cx="4572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87" name="Text Box 13"/>
          <p:cNvSpPr txBox="1"/>
          <p:nvPr/>
        </p:nvSpPr>
        <p:spPr>
          <a:xfrm>
            <a:off x="2457450" y="2816225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88" name="Oval 15"/>
          <p:cNvSpPr/>
          <p:nvPr/>
        </p:nvSpPr>
        <p:spPr>
          <a:xfrm>
            <a:off x="3978275" y="2790825"/>
            <a:ext cx="4572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89" name="Text Box 16"/>
          <p:cNvSpPr txBox="1"/>
          <p:nvPr/>
        </p:nvSpPr>
        <p:spPr>
          <a:xfrm>
            <a:off x="4057650" y="2794000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90" name="Oval 18"/>
          <p:cNvSpPr/>
          <p:nvPr/>
        </p:nvSpPr>
        <p:spPr>
          <a:xfrm>
            <a:off x="568325" y="2774950"/>
            <a:ext cx="4572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91" name="Text Box 19"/>
          <p:cNvSpPr txBox="1"/>
          <p:nvPr/>
        </p:nvSpPr>
        <p:spPr>
          <a:xfrm>
            <a:off x="647700" y="2778125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92" name="Oval 21"/>
          <p:cNvSpPr/>
          <p:nvPr/>
        </p:nvSpPr>
        <p:spPr>
          <a:xfrm>
            <a:off x="3978275" y="1308100"/>
            <a:ext cx="4572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93" name="Text Box 22"/>
          <p:cNvSpPr txBox="1"/>
          <p:nvPr/>
        </p:nvSpPr>
        <p:spPr>
          <a:xfrm>
            <a:off x="4057650" y="1311275"/>
            <a:ext cx="35242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94" name="Line 23"/>
          <p:cNvSpPr/>
          <p:nvPr/>
        </p:nvSpPr>
        <p:spPr>
          <a:xfrm>
            <a:off x="696913" y="1754188"/>
            <a:ext cx="0" cy="10287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triangle" w="med" len="med"/>
            <a:tailEnd type="none" w="sm" len="sm"/>
          </a:ln>
        </p:spPr>
      </p:sp>
      <p:sp>
        <p:nvSpPr>
          <p:cNvPr id="71695" name="Line 24"/>
          <p:cNvSpPr/>
          <p:nvPr/>
        </p:nvSpPr>
        <p:spPr>
          <a:xfrm>
            <a:off x="1006475" y="1612900"/>
            <a:ext cx="1371600" cy="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71696" name="Line 25"/>
          <p:cNvSpPr/>
          <p:nvPr/>
        </p:nvSpPr>
        <p:spPr>
          <a:xfrm>
            <a:off x="1063625" y="3022600"/>
            <a:ext cx="1276350" cy="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71697" name="Line 26"/>
          <p:cNvSpPr/>
          <p:nvPr/>
        </p:nvSpPr>
        <p:spPr>
          <a:xfrm>
            <a:off x="2835275" y="1631950"/>
            <a:ext cx="1143000" cy="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71698" name="Line 27"/>
          <p:cNvSpPr/>
          <p:nvPr/>
        </p:nvSpPr>
        <p:spPr>
          <a:xfrm>
            <a:off x="1006475" y="1441450"/>
            <a:ext cx="2971800" cy="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71699" name="Line 28"/>
          <p:cNvSpPr/>
          <p:nvPr/>
        </p:nvSpPr>
        <p:spPr>
          <a:xfrm>
            <a:off x="863600" y="1757363"/>
            <a:ext cx="0" cy="10287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71700" name="Line 29"/>
          <p:cNvSpPr/>
          <p:nvPr/>
        </p:nvSpPr>
        <p:spPr>
          <a:xfrm>
            <a:off x="2835275" y="3041650"/>
            <a:ext cx="1143000" cy="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triangle" w="med" len="med"/>
            <a:tailEnd type="none" w="sm" len="sm"/>
          </a:ln>
        </p:spPr>
      </p:sp>
      <p:sp>
        <p:nvSpPr>
          <p:cNvPr id="71701" name="Line 30"/>
          <p:cNvSpPr/>
          <p:nvPr/>
        </p:nvSpPr>
        <p:spPr>
          <a:xfrm>
            <a:off x="2606675" y="1936750"/>
            <a:ext cx="0" cy="8382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71702" name="Line 31"/>
          <p:cNvSpPr/>
          <p:nvPr/>
        </p:nvSpPr>
        <p:spPr>
          <a:xfrm flipH="1">
            <a:off x="1006475" y="1860550"/>
            <a:ext cx="1447800" cy="9906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703" name="Line 32"/>
          <p:cNvSpPr/>
          <p:nvPr/>
        </p:nvSpPr>
        <p:spPr>
          <a:xfrm flipH="1">
            <a:off x="2779713" y="1708150"/>
            <a:ext cx="1198562" cy="1190625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71704" name="Line 33"/>
          <p:cNvSpPr/>
          <p:nvPr/>
        </p:nvSpPr>
        <p:spPr>
          <a:xfrm flipH="1">
            <a:off x="2835275" y="1701800"/>
            <a:ext cx="1260475" cy="126365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705" name="Text Box 34"/>
          <p:cNvSpPr txBox="1"/>
          <p:nvPr/>
        </p:nvSpPr>
        <p:spPr>
          <a:xfrm>
            <a:off x="2419350" y="107473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06" name="Text Box 35"/>
          <p:cNvSpPr txBox="1"/>
          <p:nvPr/>
        </p:nvSpPr>
        <p:spPr>
          <a:xfrm>
            <a:off x="1543050" y="158908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07" name="Text Box 36"/>
          <p:cNvSpPr txBox="1"/>
          <p:nvPr/>
        </p:nvSpPr>
        <p:spPr>
          <a:xfrm>
            <a:off x="3124200" y="160813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08" name="Text Box 37"/>
          <p:cNvSpPr txBox="1"/>
          <p:nvPr/>
        </p:nvSpPr>
        <p:spPr>
          <a:xfrm>
            <a:off x="300038" y="210343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09" name="Text Box 38"/>
          <p:cNvSpPr txBox="1"/>
          <p:nvPr/>
        </p:nvSpPr>
        <p:spPr>
          <a:xfrm>
            <a:off x="857250" y="208438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10" name="Text Box 39"/>
          <p:cNvSpPr txBox="1"/>
          <p:nvPr/>
        </p:nvSpPr>
        <p:spPr>
          <a:xfrm>
            <a:off x="1676400" y="227488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11" name="Text Box 40"/>
          <p:cNvSpPr txBox="1"/>
          <p:nvPr/>
        </p:nvSpPr>
        <p:spPr>
          <a:xfrm>
            <a:off x="1562100" y="265588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12" name="Text Box 41"/>
          <p:cNvSpPr txBox="1"/>
          <p:nvPr/>
        </p:nvSpPr>
        <p:spPr>
          <a:xfrm>
            <a:off x="2228850" y="225583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13" name="Text Box 42"/>
          <p:cNvSpPr txBox="1"/>
          <p:nvPr/>
        </p:nvSpPr>
        <p:spPr>
          <a:xfrm>
            <a:off x="3409950" y="2693988"/>
            <a:ext cx="32385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14" name="Text Box 43"/>
          <p:cNvSpPr txBox="1"/>
          <p:nvPr/>
        </p:nvSpPr>
        <p:spPr>
          <a:xfrm>
            <a:off x="2857500" y="208438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15" name="Text Box 44"/>
          <p:cNvSpPr txBox="1"/>
          <p:nvPr/>
        </p:nvSpPr>
        <p:spPr>
          <a:xfrm>
            <a:off x="3581400" y="2179638"/>
            <a:ext cx="46482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716" name="直接连接符 15"/>
          <p:cNvCxnSpPr/>
          <p:nvPr/>
        </p:nvCxnSpPr>
        <p:spPr>
          <a:xfrm>
            <a:off x="407988" y="3308350"/>
            <a:ext cx="4276725" cy="0"/>
          </a:xfrm>
          <a:prstGeom prst="line">
            <a:avLst/>
          </a:prstGeom>
          <a:ln w="76200" cap="flat" cmpd="dbl">
            <a:solidFill>
              <a:srgbClr val="00B0F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1717" name="直接连接符 17"/>
          <p:cNvCxnSpPr/>
          <p:nvPr/>
        </p:nvCxnSpPr>
        <p:spPr>
          <a:xfrm>
            <a:off x="4656138" y="731838"/>
            <a:ext cx="0" cy="2608262"/>
          </a:xfrm>
          <a:prstGeom prst="line">
            <a:avLst/>
          </a:prstGeom>
          <a:ln w="76200" cap="flat" cmpd="dbl">
            <a:solidFill>
              <a:srgbClr val="00B0F0"/>
            </a:solidFill>
            <a:prstDash val="solid"/>
            <a:headEnd type="none" w="med" len="med"/>
            <a:tailEnd type="none" w="med" len="med"/>
          </a:ln>
        </p:spPr>
      </p:cxnSp>
      <p:graphicFrame>
        <p:nvGraphicFramePr>
          <p:cNvPr id="24" name="表格 2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36563" y="3387725"/>
          <a:ext cx="4135438" cy="1477962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830152"/>
                <a:gridCol w="548326"/>
                <a:gridCol w="689240"/>
                <a:gridCol w="689240"/>
                <a:gridCol w="689240"/>
                <a:gridCol w="689240"/>
              </a:tblGrid>
              <a:tr h="370742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</a:tr>
              <a:tr h="3707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dist[</a:t>
                      </a:r>
                      <a:r>
                        <a:rPr lang="en-US" altLang="zh-CN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accent3"/>
                    </a:solidFill>
                  </a:tcPr>
                </a:tc>
              </a:tr>
              <a:tr h="365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Path[</a:t>
                      </a:r>
                      <a:r>
                        <a:rPr lang="en-US" altLang="zh-CN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0-&gt;1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0-&gt;2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0-&gt;3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0-&gt;4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0-&gt;5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accent3"/>
                    </a:solidFill>
                  </a:tcPr>
                </a:tc>
              </a:tr>
              <a:tr h="3707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S[</a:t>
                      </a:r>
                      <a:r>
                        <a:rPr lang="en-US" altLang="zh-CN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1920875" y="3796030"/>
            <a:ext cx="457200" cy="276225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833563" y="4173538"/>
            <a:ext cx="708025" cy="262890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0-&gt;2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968500" y="4533900"/>
            <a:ext cx="457200" cy="306705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9" name="表格 24"/>
          <p:cNvGraphicFramePr>
            <a:graphicFrameLocks noGrp="1"/>
          </p:cNvGraphicFramePr>
          <p:nvPr/>
        </p:nvGraphicFramePr>
        <p:xfrm>
          <a:off x="444500" y="5051425"/>
          <a:ext cx="4135438" cy="1477962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830152"/>
                <a:gridCol w="548326"/>
                <a:gridCol w="689240"/>
                <a:gridCol w="689240"/>
                <a:gridCol w="689240"/>
                <a:gridCol w="689240"/>
              </a:tblGrid>
              <a:tr h="370742"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(2)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</a:tr>
              <a:tr h="3707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dist[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1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</a:tr>
              <a:tr h="365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Path[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0-&gt;1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0-&gt;2</a:t>
                      </a:r>
                      <a:endParaRPr lang="en-US" altLang="zh-CN" sz="1400" b="1" kern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0-&gt;3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0-&gt;4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0-&gt;5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</a:tr>
              <a:tr h="3707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S[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3" name="文本框 72"/>
          <p:cNvSpPr txBox="1"/>
          <p:nvPr/>
        </p:nvSpPr>
        <p:spPr>
          <a:xfrm>
            <a:off x="2625725" y="5491163"/>
            <a:ext cx="457200" cy="28448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1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en-US" altLang="zh-CN" sz="180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2419350" y="5840413"/>
            <a:ext cx="942975" cy="24193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14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0-&gt;2-&gt;3</a:t>
            </a:r>
            <a:endParaRPr lang="en-US" altLang="zh-CN" sz="140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2625725" y="5461000"/>
            <a:ext cx="457200" cy="27051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2363788" y="5840413"/>
            <a:ext cx="942975" cy="26289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0-&gt;2-&gt;3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667000" y="6197600"/>
            <a:ext cx="457200" cy="3067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8" name="表格 2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724400" y="750888"/>
          <a:ext cx="4135437" cy="1477962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830152"/>
                <a:gridCol w="657838"/>
                <a:gridCol w="593861"/>
                <a:gridCol w="782387"/>
                <a:gridCol w="581959"/>
                <a:gridCol w="689240"/>
              </a:tblGrid>
              <a:tr h="370742"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(3)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</a:tr>
              <a:tr h="3707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dist[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US" altLang="zh-CN" sz="1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</a:tr>
              <a:tr h="3657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Path[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0-&gt;1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0-&gt;2</a:t>
                      </a:r>
                      <a:endParaRPr lang="en-US" altLang="zh-CN" sz="1400" b="1" kern="1200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0-&gt;2-&gt;3</a:t>
                      </a:r>
                      <a:endParaRPr lang="en-US" altLang="zh-CN" sz="1400" b="1" kern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0-&gt;4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0-&gt;5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</a:tr>
              <a:tr h="3707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S[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9" name="文本框 78"/>
          <p:cNvSpPr txBox="1"/>
          <p:nvPr/>
        </p:nvSpPr>
        <p:spPr>
          <a:xfrm>
            <a:off x="5665788" y="1165225"/>
            <a:ext cx="457200" cy="28448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1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en-US" altLang="zh-CN" sz="180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5464175" y="1560830"/>
            <a:ext cx="862330" cy="2444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0" rIns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14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0-&gt;2-&gt;3-&gt;1</a:t>
            </a:r>
            <a:endParaRPr lang="en-US" altLang="zh-CN" sz="140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7680325" y="1154430"/>
            <a:ext cx="457200" cy="28765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7585075" y="1543050"/>
            <a:ext cx="642938" cy="26289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0-&gt;4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7770813" y="1895475"/>
            <a:ext cx="457200" cy="3067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4" name="表格 24"/>
          <p:cNvGraphicFramePr>
            <a:graphicFrameLocks noGrp="1"/>
          </p:cNvGraphicFramePr>
          <p:nvPr/>
        </p:nvGraphicFramePr>
        <p:xfrm>
          <a:off x="4716463" y="2289175"/>
          <a:ext cx="4135437" cy="1477962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830152"/>
                <a:gridCol w="872647"/>
                <a:gridCol w="443038"/>
                <a:gridCol w="718401"/>
                <a:gridCol w="581959"/>
                <a:gridCol w="689240"/>
              </a:tblGrid>
              <a:tr h="370742"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(4)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</a:tr>
              <a:tr h="3707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dist[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altLang="zh-CN" sz="1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</a:tr>
              <a:tr h="365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Path[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0-&gt;2-&gt;3-&gt;1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0-&gt;2</a:t>
                      </a:r>
                      <a:endParaRPr lang="en-US" altLang="zh-CN" sz="1400" b="1" kern="1200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0-&gt;2-&gt;3</a:t>
                      </a:r>
                      <a:endParaRPr lang="en-US" altLang="zh-CN" sz="1400" b="1" kern="1200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0-&gt;4</a:t>
                      </a:r>
                      <a:endParaRPr lang="en-US" altLang="zh-CN" sz="1400" b="1" kern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0-&gt;5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</a:tr>
              <a:tr h="3707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S[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7" name="文本框 86"/>
          <p:cNvSpPr txBox="1"/>
          <p:nvPr/>
        </p:nvSpPr>
        <p:spPr>
          <a:xfrm>
            <a:off x="5759450" y="2698750"/>
            <a:ext cx="455930" cy="2667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5489575" y="3084830"/>
            <a:ext cx="989330" cy="25463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0" rIns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0-&gt;2-&gt;3-&gt;1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5759450" y="3433763"/>
            <a:ext cx="455613" cy="3067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0" name="表格 24"/>
          <p:cNvGraphicFramePr>
            <a:graphicFrameLocks noGrp="1"/>
          </p:cNvGraphicFramePr>
          <p:nvPr/>
        </p:nvGraphicFramePr>
        <p:xfrm>
          <a:off x="4719638" y="3821113"/>
          <a:ext cx="4135437" cy="1477962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830152"/>
                <a:gridCol w="872647"/>
                <a:gridCol w="443038"/>
                <a:gridCol w="718401"/>
                <a:gridCol w="581959"/>
                <a:gridCol w="689240"/>
              </a:tblGrid>
              <a:tr h="370742"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(5)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</a:tr>
              <a:tr h="3707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dist[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altLang="zh-CN" sz="1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</a:tr>
              <a:tr h="3657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Path[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0-&gt;2-&gt;3-&gt;1</a:t>
                      </a:r>
                      <a:endParaRPr lang="en-US" altLang="zh-CN" sz="1400" b="1" kern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0-&gt;2</a:t>
                      </a:r>
                      <a:endParaRPr lang="en-US" altLang="zh-CN" sz="1400" b="1" kern="1200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0-&gt;2-&gt;3</a:t>
                      </a:r>
                      <a:endParaRPr lang="en-US" altLang="zh-CN" sz="1400" b="1" kern="1200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0-&gt;4</a:t>
                      </a:r>
                      <a:endParaRPr lang="en-US" altLang="zh-CN" sz="1400" b="1" kern="1200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0-&gt;5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</a:tr>
              <a:tr h="3707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S[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4" name="文本框 93"/>
          <p:cNvSpPr txBox="1"/>
          <p:nvPr/>
        </p:nvSpPr>
        <p:spPr>
          <a:xfrm>
            <a:off x="8367713" y="4230688"/>
            <a:ext cx="457200" cy="3067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8342313" y="4648200"/>
            <a:ext cx="473075" cy="26289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0-&gt;5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8361363" y="4970463"/>
            <a:ext cx="457200" cy="3067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7" name="表格 24"/>
          <p:cNvGraphicFramePr>
            <a:graphicFrameLocks noGrp="1"/>
          </p:cNvGraphicFramePr>
          <p:nvPr/>
        </p:nvGraphicFramePr>
        <p:xfrm>
          <a:off x="4721225" y="5345113"/>
          <a:ext cx="4135437" cy="1477962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830152"/>
                <a:gridCol w="872647"/>
                <a:gridCol w="443038"/>
                <a:gridCol w="718401"/>
                <a:gridCol w="581959"/>
                <a:gridCol w="689240"/>
              </a:tblGrid>
              <a:tr h="370742"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(6)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rgbClr val="B2B2B2"/>
                    </a:solidFill>
                  </a:tcPr>
                </a:tc>
              </a:tr>
              <a:tr h="3707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dist[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sz="1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</a:tr>
              <a:tr h="3657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Path[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200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0-&gt;2-&gt;3-&gt;1</a:t>
                      </a:r>
                      <a:endParaRPr lang="en-US" altLang="zh-CN" sz="1400" b="1" kern="1200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0-&gt;2</a:t>
                      </a:r>
                      <a:endParaRPr lang="en-US" altLang="zh-CN" sz="1400" b="1" kern="1200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0-&gt;2-&gt;3</a:t>
                      </a:r>
                      <a:endParaRPr lang="en-US" altLang="zh-CN" sz="1400" b="1" kern="1200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0-&gt;4</a:t>
                      </a:r>
                      <a:endParaRPr lang="en-US" altLang="zh-CN" sz="1400" b="1" kern="1200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0-&gt;5</a:t>
                      </a:r>
                      <a:endParaRPr lang="en-US" altLang="zh-CN" sz="1400" b="1" kern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</a:tr>
              <a:tr h="3707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S[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6" marR="91436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5708" marB="45708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1" name="文本框 100"/>
          <p:cNvSpPr txBox="1"/>
          <p:nvPr/>
        </p:nvSpPr>
        <p:spPr>
          <a:xfrm>
            <a:off x="8342313" y="5775325"/>
            <a:ext cx="457200" cy="28448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1800" b="1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altLang="zh-CN" sz="1800" b="1" dirty="0">
              <a:solidFill>
                <a:srgbClr val="0099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8334375" y="6149975"/>
            <a:ext cx="474663" cy="24193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0-&gt;5</a:t>
            </a:r>
            <a:endParaRPr lang="en-US" altLang="zh-CN" sz="1400" b="1" dirty="0">
              <a:solidFill>
                <a:srgbClr val="0099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8342313" y="6511925"/>
            <a:ext cx="457200" cy="28448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70000"/>
              </a:lnSpc>
              <a:spcBef>
                <a:spcPct val="0"/>
              </a:spcBef>
            </a:pPr>
            <a:r>
              <a:rPr lang="en-US" altLang="zh-CN" sz="1800" b="1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b="1" dirty="0">
              <a:solidFill>
                <a:srgbClr val="0099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932" name="Oval 7"/>
          <p:cNvSpPr/>
          <p:nvPr/>
        </p:nvSpPr>
        <p:spPr>
          <a:xfrm>
            <a:off x="431800" y="701675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9933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1933" name="Text Box 8"/>
          <p:cNvSpPr txBox="1"/>
          <p:nvPr/>
        </p:nvSpPr>
        <p:spPr>
          <a:xfrm>
            <a:off x="646113" y="635000"/>
            <a:ext cx="39211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）单源最短路径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1934" name="Text Box 2"/>
          <p:cNvSpPr txBox="1"/>
          <p:nvPr/>
        </p:nvSpPr>
        <p:spPr>
          <a:xfrm>
            <a:off x="3846513" y="82550"/>
            <a:ext cx="52974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7.4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最小生成树和最短路径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67" grpId="0" bldLvl="0" animBg="1"/>
      <p:bldP spid="68" grpId="0" bldLvl="0" animBg="1"/>
      <p:bldP spid="73" grpId="0" bldLvl="0" animBg="1"/>
      <p:bldP spid="74" grpId="0" bldLvl="0" animBg="1"/>
      <p:bldP spid="75" grpId="0" bldLvl="0" animBg="1"/>
      <p:bldP spid="76" grpId="0" bldLvl="0" animBg="1"/>
      <p:bldP spid="77" grpId="0" bldLvl="0" animBg="1"/>
      <p:bldP spid="79" grpId="0" bldLvl="0" animBg="1"/>
      <p:bldP spid="80" grpId="0" bldLvl="0" animBg="1"/>
      <p:bldP spid="81" grpId="0" bldLvl="0" animBg="1"/>
      <p:bldP spid="82" grpId="0" bldLvl="0" animBg="1"/>
      <p:bldP spid="83" grpId="0" bldLvl="0" animBg="1"/>
      <p:bldP spid="87" grpId="0" bldLvl="0" animBg="1"/>
      <p:bldP spid="88" grpId="0" bldLvl="0" animBg="1"/>
      <p:bldP spid="89" grpId="0" bldLvl="0" animBg="1"/>
      <p:bldP spid="94" grpId="0" bldLvl="0" animBg="1"/>
      <p:bldP spid="95" grpId="0" bldLvl="0" animBg="1"/>
      <p:bldP spid="96" grpId="0" bldLvl="0" animBg="1"/>
      <p:bldP spid="101" grpId="0" bldLvl="0" animBg="1"/>
      <p:bldP spid="102" grpId="0" bldLvl="0" animBg="1"/>
      <p:bldP spid="103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/>
          </p:cNvSpPr>
          <p:nvPr>
            <p:ph idx="4294967295"/>
          </p:nvPr>
        </p:nvSpPr>
        <p:spPr>
          <a:xfrm>
            <a:off x="238125" y="635635"/>
            <a:ext cx="8905875" cy="5834380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算法如下：</a:t>
            </a:r>
            <a:endParaRPr lang="zh-CN" altLang="en-US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void shortpath(float cost [][], int v0 , int n) //n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为图中的顶点数</a:t>
            </a:r>
            <a:endParaRPr lang="zh-CN" altLang="en-US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求从源点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v0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到其它各顶点的最短路径，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为有向图的带权邻接矩阵，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v0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为其中某个</a:t>
            </a:r>
            <a:endParaRPr lang="zh-CN" altLang="en-US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顶点的编号；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dist[i]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为当前找到的从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v0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的最短路径长度；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path[i]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为相应的路径；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为计算机内允许的最大值</a:t>
            </a:r>
            <a:endParaRPr lang="zh-CN" altLang="en-US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for (i=0; i&lt;n; i++)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dist[i ] = cost[v0][i];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if (dist[i] &lt; max)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path[i] =  [v0] + [i];  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//[]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表示集合，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表示集合运算，表示两个集合相并</a:t>
            </a:r>
            <a:endParaRPr lang="zh-CN" altLang="en-US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path[i] = [];  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//[]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表示为空集</a:t>
            </a:r>
            <a:endParaRPr lang="zh-CN" altLang="en-US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//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建立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及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的初态</a:t>
            </a:r>
            <a:endParaRPr lang="zh-CN" altLang="en-US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 = [v0];  num=0;  // S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为已找到最短路径的终点的集合</a:t>
            </a:r>
            <a:endParaRPr lang="zh-CN" altLang="en-US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while (num &lt; n-1)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wm = max;  u = v0;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for (i=0; i&lt;n; i++)  //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选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dist[i]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的最小值</a:t>
            </a:r>
            <a:endParaRPr lang="zh-CN" altLang="en-US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 (!(i in S))  //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不属于</a:t>
            </a: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if (dist[i] &lt; wm)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{ u = i;  wm = dist[i];}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r>
              <a:rPr lang="en-US" altLang="zh-CN" sz="1600" b="1" spc="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5000"/>
              </a:lnSpc>
              <a:spcAft>
                <a:spcPts val="0"/>
              </a:spcAft>
              <a:buNone/>
            </a:pPr>
            <a:endParaRPr lang="en-US" altLang="zh-CN" sz="1600" b="1" spc="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700" name="Rectangle 4"/>
          <p:cNvSpPr/>
          <p:nvPr/>
        </p:nvSpPr>
        <p:spPr>
          <a:xfrm>
            <a:off x="5323205" y="1729740"/>
            <a:ext cx="3654425" cy="4545965"/>
          </a:xfrm>
          <a:prstGeom prst="rect">
            <a:avLst/>
          </a:prstGeom>
          <a:noFill/>
          <a:ln w="19050" cap="sq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endParaRPr lang="en-US" altLang="zh-CN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dist[i]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的最小值选取了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S = S + [u];  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//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加入最短路径的终点集合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for (i=0; i&lt;n; i++)  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(!(i in S))  //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不属于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{   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 (dist[u] + cost[u][i] &lt; dist[i])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dist[i] = dist[u] + cost[u][i];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path[i] = path[u] + [i];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}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num++;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934" name="Text Box 2"/>
          <p:cNvSpPr txBox="1"/>
          <p:nvPr>
            <p:custDataLst>
              <p:tags r:id="rId1"/>
            </p:custDataLst>
          </p:nvPr>
        </p:nvSpPr>
        <p:spPr>
          <a:xfrm>
            <a:off x="3846513" y="82550"/>
            <a:ext cx="52974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7.4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最小生成树和最短路径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0" grpId="0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76"/>
          <p:cNvSpPr>
            <a:spLocks noChangeArrowheads="1"/>
          </p:cNvSpPr>
          <p:nvPr/>
        </p:nvSpPr>
        <p:spPr bwMode="auto">
          <a:xfrm>
            <a:off x="541338" y="1527175"/>
            <a:ext cx="8258175" cy="1391285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从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j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的路径上每次增加一个结点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k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，看这个增加了一个结点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k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的新路径的长度是否比原来的路径长度小，若小，则以新路径代之，否则保持原路径。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6565" name="Rectangle 79"/>
          <p:cNvSpPr>
            <a:spLocks noChangeArrowheads="1"/>
          </p:cNvSpPr>
          <p:nvPr/>
        </p:nvSpPr>
        <p:spPr bwMode="auto">
          <a:xfrm>
            <a:off x="541338" y="3189288"/>
            <a:ext cx="8258175" cy="930275"/>
          </a:xfrm>
          <a:prstGeom prst="rect">
            <a:avLst/>
          </a:prstGeom>
          <a:noFill/>
          <a:ln w="38100">
            <a:solidFill>
              <a:schemeClr val="accent2"/>
            </a:solidFill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6566" name="Text Box 81"/>
          <p:cNvSpPr txBox="1"/>
          <p:nvPr/>
        </p:nvSpPr>
        <p:spPr>
          <a:xfrm>
            <a:off x="1066800" y="3409950"/>
            <a:ext cx="7403465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zh-CN" sz="24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(k)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[i, j] = min</a:t>
            </a:r>
            <a:r>
              <a:rPr lang="en-US" altLang="zh-CN" sz="3600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{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zh-CN" sz="24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(k-1)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[i, j],    A</a:t>
            </a:r>
            <a:r>
              <a:rPr lang="en-US" altLang="zh-CN" sz="24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(k-1)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[i, k]+A</a:t>
            </a:r>
            <a:r>
              <a:rPr lang="en-US" altLang="zh-CN" sz="24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(k-1)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[k, j]</a:t>
            </a:r>
            <a:r>
              <a:rPr lang="en-US" altLang="zh-CN" sz="3600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(1≤k≤n)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6567" name="Rectangle 82"/>
          <p:cNvSpPr>
            <a:spLocks noChangeArrowheads="1"/>
          </p:cNvSpPr>
          <p:nvPr/>
        </p:nvSpPr>
        <p:spPr bwMode="auto">
          <a:xfrm>
            <a:off x="436563" y="3048000"/>
            <a:ext cx="2400935" cy="460375"/>
          </a:xfrm>
          <a:prstGeom prst="rect">
            <a:avLst/>
          </a:prstGeom>
          <a:solidFill>
            <a:srgbClr val="FF9933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算法计算公式：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6568" name="Text Box 83"/>
          <p:cNvSpPr txBox="1">
            <a:spLocks noChangeArrowheads="1"/>
          </p:cNvSpPr>
          <p:nvPr/>
        </p:nvSpPr>
        <p:spPr bwMode="auto">
          <a:xfrm>
            <a:off x="436563" y="4376738"/>
            <a:ext cx="761365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其中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: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6569" name="Text Box 84"/>
          <p:cNvSpPr txBox="1">
            <a:spLocks noChangeArrowheads="1"/>
          </p:cNvSpPr>
          <p:nvPr/>
        </p:nvSpPr>
        <p:spPr bwMode="auto">
          <a:xfrm>
            <a:off x="971550" y="4764088"/>
            <a:ext cx="658495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(k)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[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i,j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表示顶点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 j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之间的中间点的序号不大于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k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的最短距离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6570" name="Text Box 86"/>
          <p:cNvSpPr txBox="1">
            <a:spLocks noChangeArrowheads="1"/>
          </p:cNvSpPr>
          <p:nvPr/>
        </p:nvSpPr>
        <p:spPr bwMode="auto">
          <a:xfrm>
            <a:off x="414338" y="5430838"/>
            <a:ext cx="8350250" cy="9772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由于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中顶点编号不大于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，所以最后到了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i,j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就代表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j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的最短路径之长。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3737" name="Oval 7"/>
          <p:cNvSpPr/>
          <p:nvPr/>
        </p:nvSpPr>
        <p:spPr>
          <a:xfrm>
            <a:off x="436563" y="715963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9933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3738" name="Text Box 8"/>
          <p:cNvSpPr txBox="1"/>
          <p:nvPr/>
        </p:nvSpPr>
        <p:spPr>
          <a:xfrm>
            <a:off x="650875" y="649288"/>
            <a:ext cx="39211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2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）点对点最短路径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6572" name="Rectangle 75"/>
          <p:cNvSpPr>
            <a:spLocks noChangeArrowheads="1"/>
          </p:cNvSpPr>
          <p:nvPr/>
        </p:nvSpPr>
        <p:spPr bwMode="auto">
          <a:xfrm>
            <a:off x="414338" y="1289050"/>
            <a:ext cx="2773045" cy="460375"/>
          </a:xfrm>
          <a:prstGeom prst="rect">
            <a:avLst/>
          </a:prstGeom>
          <a:solidFill>
            <a:srgbClr val="FF9933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Floyed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算法思想：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3740" name="Text Box 2"/>
          <p:cNvSpPr txBox="1"/>
          <p:nvPr/>
        </p:nvSpPr>
        <p:spPr>
          <a:xfrm>
            <a:off x="3846513" y="82550"/>
            <a:ext cx="52974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7.4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最小生成树和最短路径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ldLvl="0" animBg="1"/>
      <p:bldP spid="66565" grpId="0" animBg="1"/>
      <p:bldP spid="66566" grpId="0"/>
      <p:bldP spid="66567" grpId="0" bldLvl="0" animBg="1"/>
      <p:bldP spid="66568" grpId="0"/>
      <p:bldP spid="66569" grpId="0"/>
      <p:bldP spid="66570" grpId="0"/>
      <p:bldP spid="66572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54" name="Group 133"/>
          <p:cNvGrpSpPr/>
          <p:nvPr/>
        </p:nvGrpSpPr>
        <p:grpSpPr>
          <a:xfrm>
            <a:off x="3397250" y="836613"/>
            <a:ext cx="2438400" cy="1603375"/>
            <a:chOff x="1872" y="2640"/>
            <a:chExt cx="1536" cy="1010"/>
          </a:xfrm>
        </p:grpSpPr>
        <p:sp>
          <p:nvSpPr>
            <p:cNvPr id="74801" name="Rectangle 134"/>
            <p:cNvSpPr/>
            <p:nvPr/>
          </p:nvSpPr>
          <p:spPr>
            <a:xfrm>
              <a:off x="1872" y="2976"/>
              <a:ext cx="545" cy="29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cost=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4802" name="AutoShape 135"/>
            <p:cNvSpPr/>
            <p:nvPr/>
          </p:nvSpPr>
          <p:spPr>
            <a:xfrm>
              <a:off x="2448" y="2640"/>
              <a:ext cx="48" cy="1008"/>
            </a:xfrm>
            <a:prstGeom prst="leftBracket">
              <a:avLst>
                <a:gd name="adj" fmla="val 175000"/>
              </a:avLst>
            </a:prstGeom>
            <a:noFill/>
            <a:ln w="2540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803" name="AutoShape 136"/>
            <p:cNvSpPr/>
            <p:nvPr/>
          </p:nvSpPr>
          <p:spPr>
            <a:xfrm flipH="1">
              <a:off x="3360" y="2640"/>
              <a:ext cx="48" cy="1008"/>
            </a:xfrm>
            <a:prstGeom prst="leftBracket">
              <a:avLst>
                <a:gd name="adj" fmla="val 175000"/>
              </a:avLst>
            </a:prstGeom>
            <a:noFill/>
            <a:ln w="2540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804" name="Rectangle 137"/>
            <p:cNvSpPr/>
            <p:nvPr/>
          </p:nvSpPr>
          <p:spPr>
            <a:xfrm>
              <a:off x="2454" y="2655"/>
              <a:ext cx="872" cy="29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0    4    11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4805" name="Rectangle 138"/>
            <p:cNvSpPr/>
            <p:nvPr/>
          </p:nvSpPr>
          <p:spPr>
            <a:xfrm>
              <a:off x="2441" y="3024"/>
              <a:ext cx="895" cy="29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6     0     2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4806" name="Rectangle 139"/>
            <p:cNvSpPr/>
            <p:nvPr/>
          </p:nvSpPr>
          <p:spPr>
            <a:xfrm>
              <a:off x="2428" y="3360"/>
              <a:ext cx="876" cy="29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3    ∞     0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4755" name="Group 140"/>
          <p:cNvGrpSpPr/>
          <p:nvPr/>
        </p:nvGrpSpPr>
        <p:grpSpPr>
          <a:xfrm>
            <a:off x="6013450" y="633413"/>
            <a:ext cx="2792413" cy="1676400"/>
            <a:chOff x="3772" y="2592"/>
            <a:chExt cx="1759" cy="1056"/>
          </a:xfrm>
        </p:grpSpPr>
        <p:sp>
          <p:nvSpPr>
            <p:cNvPr id="74798" name="Rectangle 141"/>
            <p:cNvSpPr/>
            <p:nvPr/>
          </p:nvSpPr>
          <p:spPr>
            <a:xfrm>
              <a:off x="3772" y="2592"/>
              <a:ext cx="1759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cost: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带权邻接矩阵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4799" name="Rectangle 142"/>
            <p:cNvSpPr/>
            <p:nvPr/>
          </p:nvSpPr>
          <p:spPr>
            <a:xfrm>
              <a:off x="3792" y="2976"/>
              <a:ext cx="1564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：最短路径长度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4800" name="Rectangle 143"/>
            <p:cNvSpPr/>
            <p:nvPr/>
          </p:nvSpPr>
          <p:spPr>
            <a:xfrm>
              <a:off x="3792" y="3360"/>
              <a:ext cx="1371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P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：相应的路径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4756" name="Rectangle 144"/>
          <p:cNvSpPr/>
          <p:nvPr/>
        </p:nvSpPr>
        <p:spPr>
          <a:xfrm>
            <a:off x="249079" y="632460"/>
            <a:ext cx="94869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例：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757" name="Oval 148"/>
          <p:cNvSpPr/>
          <p:nvPr/>
        </p:nvSpPr>
        <p:spPr>
          <a:xfrm>
            <a:off x="1392238" y="847725"/>
            <a:ext cx="3810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58" name="Oval 151"/>
          <p:cNvSpPr/>
          <p:nvPr/>
        </p:nvSpPr>
        <p:spPr>
          <a:xfrm>
            <a:off x="2012950" y="1990725"/>
            <a:ext cx="3810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59" name="Oval 154"/>
          <p:cNvSpPr/>
          <p:nvPr/>
        </p:nvSpPr>
        <p:spPr>
          <a:xfrm>
            <a:off x="2774950" y="847725"/>
            <a:ext cx="381000" cy="4572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60" name="Line 155"/>
          <p:cNvSpPr/>
          <p:nvPr/>
        </p:nvSpPr>
        <p:spPr>
          <a:xfrm>
            <a:off x="1708150" y="923925"/>
            <a:ext cx="1066800" cy="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74761" name="Line 156"/>
          <p:cNvSpPr/>
          <p:nvPr/>
        </p:nvSpPr>
        <p:spPr>
          <a:xfrm flipH="1">
            <a:off x="1708150" y="1228725"/>
            <a:ext cx="1066800" cy="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74762" name="Line 157"/>
          <p:cNvSpPr/>
          <p:nvPr/>
        </p:nvSpPr>
        <p:spPr>
          <a:xfrm>
            <a:off x="1708150" y="1304925"/>
            <a:ext cx="461963" cy="6985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74763" name="Line 158"/>
          <p:cNvSpPr/>
          <p:nvPr/>
        </p:nvSpPr>
        <p:spPr>
          <a:xfrm flipH="1" flipV="1">
            <a:off x="1479550" y="1304925"/>
            <a:ext cx="533400" cy="8382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74764" name="Line 159"/>
          <p:cNvSpPr/>
          <p:nvPr/>
        </p:nvSpPr>
        <p:spPr>
          <a:xfrm flipH="1">
            <a:off x="2393950" y="1228725"/>
            <a:ext cx="685800" cy="990600"/>
          </a:xfrm>
          <a:prstGeom prst="line">
            <a:avLst/>
          </a:prstGeom>
          <a:ln w="28575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74765" name="Text Box 160"/>
          <p:cNvSpPr txBox="1"/>
          <p:nvPr/>
        </p:nvSpPr>
        <p:spPr>
          <a:xfrm>
            <a:off x="2089150" y="542925"/>
            <a:ext cx="38100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66" name="Text Box 161"/>
          <p:cNvSpPr txBox="1"/>
          <p:nvPr/>
        </p:nvSpPr>
        <p:spPr>
          <a:xfrm>
            <a:off x="2089150" y="847725"/>
            <a:ext cx="38100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67" name="Text Box 162"/>
          <p:cNvSpPr txBox="1"/>
          <p:nvPr/>
        </p:nvSpPr>
        <p:spPr>
          <a:xfrm>
            <a:off x="1936750" y="1381125"/>
            <a:ext cx="53340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68" name="Text Box 163"/>
          <p:cNvSpPr txBox="1"/>
          <p:nvPr/>
        </p:nvSpPr>
        <p:spPr>
          <a:xfrm>
            <a:off x="1555750" y="1685925"/>
            <a:ext cx="45720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69" name="Text Box 164"/>
          <p:cNvSpPr txBox="1"/>
          <p:nvPr/>
        </p:nvSpPr>
        <p:spPr>
          <a:xfrm>
            <a:off x="2698750" y="1533525"/>
            <a:ext cx="38100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70" name="Text Box 165"/>
          <p:cNvSpPr txBox="1"/>
          <p:nvPr/>
        </p:nvSpPr>
        <p:spPr>
          <a:xfrm>
            <a:off x="981075" y="890588"/>
            <a:ext cx="45720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71" name="Text Box 166"/>
          <p:cNvSpPr txBox="1"/>
          <p:nvPr/>
        </p:nvSpPr>
        <p:spPr>
          <a:xfrm>
            <a:off x="3155950" y="771525"/>
            <a:ext cx="388938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72" name="Text Box 167"/>
          <p:cNvSpPr txBox="1"/>
          <p:nvPr/>
        </p:nvSpPr>
        <p:spPr>
          <a:xfrm>
            <a:off x="2012950" y="2371725"/>
            <a:ext cx="38100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73" name="Text Box 192"/>
          <p:cNvSpPr txBox="1"/>
          <p:nvPr/>
        </p:nvSpPr>
        <p:spPr>
          <a:xfrm>
            <a:off x="2062163" y="1989138"/>
            <a:ext cx="38100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74" name="Text Box 193"/>
          <p:cNvSpPr txBox="1"/>
          <p:nvPr/>
        </p:nvSpPr>
        <p:spPr>
          <a:xfrm>
            <a:off x="2806700" y="809625"/>
            <a:ext cx="38100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75" name="Text Box 194"/>
          <p:cNvSpPr txBox="1"/>
          <p:nvPr/>
        </p:nvSpPr>
        <p:spPr>
          <a:xfrm>
            <a:off x="1428750" y="814388"/>
            <a:ext cx="38100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76" name="Rectangle 195"/>
          <p:cNvSpPr/>
          <p:nvPr/>
        </p:nvSpPr>
        <p:spPr>
          <a:xfrm>
            <a:off x="325438" y="3275013"/>
            <a:ext cx="186817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初态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K=0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时，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777" name="Rectangle 198"/>
          <p:cNvSpPr/>
          <p:nvPr/>
        </p:nvSpPr>
        <p:spPr>
          <a:xfrm>
            <a:off x="1284288" y="3902075"/>
            <a:ext cx="63754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(0)</a:t>
            </a:r>
            <a:endParaRPr lang="en-US" altLang="zh-CN" sz="2400" b="1" baseline="30000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778" name="Line 199"/>
          <p:cNvSpPr/>
          <p:nvPr/>
        </p:nvSpPr>
        <p:spPr>
          <a:xfrm>
            <a:off x="1239838" y="4359275"/>
            <a:ext cx="2590800" cy="0"/>
          </a:xfrm>
          <a:prstGeom prst="line">
            <a:avLst/>
          </a:prstGeom>
          <a:ln w="19050" cap="flat" cmpd="sng">
            <a:solidFill>
              <a:srgbClr val="0000FF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74779" name="Line 200"/>
          <p:cNvSpPr/>
          <p:nvPr/>
        </p:nvSpPr>
        <p:spPr>
          <a:xfrm>
            <a:off x="2001838" y="3902075"/>
            <a:ext cx="0" cy="2057400"/>
          </a:xfrm>
          <a:prstGeom prst="line">
            <a:avLst/>
          </a:prstGeom>
          <a:ln w="19050" cap="flat" cmpd="sng">
            <a:solidFill>
              <a:srgbClr val="0000FF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74780" name="Rectangle 201"/>
          <p:cNvSpPr/>
          <p:nvPr/>
        </p:nvSpPr>
        <p:spPr>
          <a:xfrm>
            <a:off x="2154238" y="3902075"/>
            <a:ext cx="1635125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1   2   3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781" name="Rectangle 202"/>
          <p:cNvSpPr/>
          <p:nvPr/>
        </p:nvSpPr>
        <p:spPr>
          <a:xfrm>
            <a:off x="1360488" y="4435475"/>
            <a:ext cx="49022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1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782" name="Rectangle 203"/>
          <p:cNvSpPr/>
          <p:nvPr/>
        </p:nvSpPr>
        <p:spPr>
          <a:xfrm>
            <a:off x="1360488" y="4892675"/>
            <a:ext cx="64389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2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783" name="Rectangle 204"/>
          <p:cNvSpPr/>
          <p:nvPr/>
        </p:nvSpPr>
        <p:spPr>
          <a:xfrm>
            <a:off x="1360488" y="5426075"/>
            <a:ext cx="49022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3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784" name="Rectangle 205"/>
          <p:cNvSpPr/>
          <p:nvPr/>
        </p:nvSpPr>
        <p:spPr>
          <a:xfrm>
            <a:off x="2154238" y="4435475"/>
            <a:ext cx="1662112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0   4  11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785" name="Rectangle 206"/>
          <p:cNvSpPr/>
          <p:nvPr/>
        </p:nvSpPr>
        <p:spPr>
          <a:xfrm>
            <a:off x="2154238" y="4968875"/>
            <a:ext cx="173990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6   0   2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786" name="Rectangle 207"/>
          <p:cNvSpPr/>
          <p:nvPr/>
        </p:nvSpPr>
        <p:spPr>
          <a:xfrm>
            <a:off x="2154238" y="5426075"/>
            <a:ext cx="171831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3  ∞   0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787" name="Rectangle 209"/>
          <p:cNvSpPr/>
          <p:nvPr/>
        </p:nvSpPr>
        <p:spPr>
          <a:xfrm>
            <a:off x="6954838" y="4435475"/>
            <a:ext cx="170815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AB   AC 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788" name="Rectangle 211"/>
          <p:cNvSpPr/>
          <p:nvPr/>
        </p:nvSpPr>
        <p:spPr>
          <a:xfrm>
            <a:off x="5157788" y="3902075"/>
            <a:ext cx="109855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Path</a:t>
            </a:r>
            <a:r>
              <a:rPr lang="en-US" altLang="zh-CN" sz="24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(0)</a:t>
            </a:r>
            <a:endParaRPr lang="en-US" altLang="zh-CN" sz="2400" b="1" baseline="30000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789" name="Line 212"/>
          <p:cNvSpPr/>
          <p:nvPr/>
        </p:nvSpPr>
        <p:spPr>
          <a:xfrm>
            <a:off x="5233988" y="4359275"/>
            <a:ext cx="2940050" cy="0"/>
          </a:xfrm>
          <a:prstGeom prst="line">
            <a:avLst/>
          </a:prstGeom>
          <a:ln w="19050" cap="flat" cmpd="sng">
            <a:solidFill>
              <a:srgbClr val="0000FF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74790" name="Line 213"/>
          <p:cNvSpPr/>
          <p:nvPr/>
        </p:nvSpPr>
        <p:spPr>
          <a:xfrm>
            <a:off x="6345238" y="3902075"/>
            <a:ext cx="0" cy="2057400"/>
          </a:xfrm>
          <a:prstGeom prst="line">
            <a:avLst/>
          </a:prstGeom>
          <a:ln w="19050" cap="flat" cmpd="sng">
            <a:solidFill>
              <a:srgbClr val="0000FF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74791" name="Rectangle 214"/>
          <p:cNvSpPr/>
          <p:nvPr/>
        </p:nvSpPr>
        <p:spPr>
          <a:xfrm>
            <a:off x="6497638" y="3902075"/>
            <a:ext cx="1687512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1   2   3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792" name="Rectangle 215"/>
          <p:cNvSpPr/>
          <p:nvPr/>
        </p:nvSpPr>
        <p:spPr>
          <a:xfrm>
            <a:off x="5703888" y="4435475"/>
            <a:ext cx="531812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1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793" name="Rectangle 216"/>
          <p:cNvSpPr/>
          <p:nvPr/>
        </p:nvSpPr>
        <p:spPr>
          <a:xfrm>
            <a:off x="5703888" y="4892675"/>
            <a:ext cx="64389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2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794" name="Rectangle 217"/>
          <p:cNvSpPr/>
          <p:nvPr/>
        </p:nvSpPr>
        <p:spPr>
          <a:xfrm>
            <a:off x="5703888" y="5426075"/>
            <a:ext cx="531812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3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795" name="Rectangle 218"/>
          <p:cNvSpPr/>
          <p:nvPr/>
        </p:nvSpPr>
        <p:spPr>
          <a:xfrm>
            <a:off x="6497638" y="4968875"/>
            <a:ext cx="1776412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BA      BC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796" name="Rectangle 219"/>
          <p:cNvSpPr/>
          <p:nvPr/>
        </p:nvSpPr>
        <p:spPr>
          <a:xfrm>
            <a:off x="6497638" y="5426075"/>
            <a:ext cx="1703387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CA     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797" name="Text Box 2"/>
          <p:cNvSpPr txBox="1"/>
          <p:nvPr/>
        </p:nvSpPr>
        <p:spPr>
          <a:xfrm>
            <a:off x="3846513" y="82550"/>
            <a:ext cx="52974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7.4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最小生成树和最短路径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 bwMode="auto">
          <a:xfrm>
            <a:off x="4614863" y="3589338"/>
            <a:ext cx="4405313" cy="18970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79" name="Rectangle 195"/>
          <p:cNvSpPr/>
          <p:nvPr/>
        </p:nvSpPr>
        <p:spPr>
          <a:xfrm>
            <a:off x="233363" y="579438"/>
            <a:ext cx="1588770" cy="39878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zh-CN" altLang="en-US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初态</a:t>
            </a: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K=0</a:t>
            </a:r>
            <a:r>
              <a:rPr lang="zh-CN" altLang="en-US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时，</a:t>
            </a:r>
            <a:endParaRPr lang="zh-CN" altLang="en-US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75780" name="组合 8"/>
          <p:cNvGrpSpPr/>
          <p:nvPr/>
        </p:nvGrpSpPr>
        <p:grpSpPr>
          <a:xfrm>
            <a:off x="244475" y="958850"/>
            <a:ext cx="2100263" cy="1685925"/>
            <a:chOff x="64874" y="382622"/>
            <a:chExt cx="2099269" cy="1685955"/>
          </a:xfrm>
        </p:grpSpPr>
        <p:sp>
          <p:nvSpPr>
            <p:cNvPr id="75885" name="Rectangle 198"/>
            <p:cNvSpPr/>
            <p:nvPr/>
          </p:nvSpPr>
          <p:spPr>
            <a:xfrm>
              <a:off x="109324" y="382622"/>
              <a:ext cx="57419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A</a:t>
              </a:r>
              <a:r>
                <a:rPr lang="en-US" altLang="zh-CN" sz="2000" b="1" baseline="30000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(0)</a:t>
              </a:r>
              <a:endParaRPr lang="en-US" altLang="zh-CN" sz="2000" b="1" baseline="300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86" name="Rectangle 201"/>
            <p:cNvSpPr/>
            <p:nvPr/>
          </p:nvSpPr>
          <p:spPr>
            <a:xfrm>
              <a:off x="669222" y="420722"/>
              <a:ext cx="1494921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1   2   3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87" name="Rectangle 202"/>
            <p:cNvSpPr/>
            <p:nvPr/>
          </p:nvSpPr>
          <p:spPr>
            <a:xfrm>
              <a:off x="64874" y="746825"/>
              <a:ext cx="444352" cy="1320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1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2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3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88" name="Rectangle 205"/>
            <p:cNvSpPr/>
            <p:nvPr/>
          </p:nvSpPr>
          <p:spPr>
            <a:xfrm>
              <a:off x="672868" y="830327"/>
              <a:ext cx="1481492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0   4  11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89" name="Rectangle 206"/>
            <p:cNvSpPr/>
            <p:nvPr/>
          </p:nvSpPr>
          <p:spPr>
            <a:xfrm>
              <a:off x="669222" y="1258862"/>
              <a:ext cx="1481491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6   0   2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90" name="Rectangle 207"/>
            <p:cNvSpPr/>
            <p:nvPr/>
          </p:nvSpPr>
          <p:spPr>
            <a:xfrm>
              <a:off x="682647" y="1668467"/>
              <a:ext cx="148149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3  ∞   0 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cxnSp>
          <p:nvCxnSpPr>
            <p:cNvPr id="75891" name="直接连接符 2"/>
            <p:cNvCxnSpPr/>
            <p:nvPr/>
          </p:nvCxnSpPr>
          <p:spPr>
            <a:xfrm>
              <a:off x="682647" y="420722"/>
              <a:ext cx="1" cy="164665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ash"/>
              <a:headEnd type="none" w="med" len="med"/>
              <a:tailEnd type="none" w="med" len="med"/>
            </a:ln>
          </p:spPr>
        </p:cxnSp>
        <p:cxnSp>
          <p:nvCxnSpPr>
            <p:cNvPr id="75892" name="直接连接符 4"/>
            <p:cNvCxnSpPr/>
            <p:nvPr/>
          </p:nvCxnSpPr>
          <p:spPr>
            <a:xfrm>
              <a:off x="200423" y="746825"/>
              <a:ext cx="183051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ash"/>
              <a:headEnd type="none" w="med" len="med"/>
              <a:tailEnd type="none" w="med" len="med"/>
            </a:ln>
          </p:spPr>
        </p:cxnSp>
      </p:grpSp>
      <p:grpSp>
        <p:nvGrpSpPr>
          <p:cNvPr id="75781" name="组合 9"/>
          <p:cNvGrpSpPr/>
          <p:nvPr/>
        </p:nvGrpSpPr>
        <p:grpSpPr>
          <a:xfrm>
            <a:off x="2266950" y="968375"/>
            <a:ext cx="2362200" cy="1685925"/>
            <a:chOff x="2087044" y="392117"/>
            <a:chExt cx="2362819" cy="1685955"/>
          </a:xfrm>
        </p:grpSpPr>
        <p:sp>
          <p:nvSpPr>
            <p:cNvPr id="75877" name="Rectangle 198"/>
            <p:cNvSpPr/>
            <p:nvPr/>
          </p:nvSpPr>
          <p:spPr>
            <a:xfrm>
              <a:off x="2087044" y="392117"/>
              <a:ext cx="963725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path</a:t>
              </a:r>
              <a:r>
                <a:rPr lang="en-US" altLang="zh-CN" sz="2000" b="1" baseline="30000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(0)</a:t>
              </a:r>
              <a:endParaRPr lang="en-US" altLang="zh-CN" sz="2000" b="1" baseline="300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78" name="Rectangle 201"/>
            <p:cNvSpPr/>
            <p:nvPr/>
          </p:nvSpPr>
          <p:spPr>
            <a:xfrm>
              <a:off x="2954942" y="430217"/>
              <a:ext cx="1494921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1   2   3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79" name="Rectangle 202"/>
            <p:cNvSpPr/>
            <p:nvPr/>
          </p:nvSpPr>
          <p:spPr>
            <a:xfrm>
              <a:off x="2350594" y="756320"/>
              <a:ext cx="444352" cy="1320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1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2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3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80" name="Rectangle 205"/>
            <p:cNvSpPr/>
            <p:nvPr/>
          </p:nvSpPr>
          <p:spPr>
            <a:xfrm>
              <a:off x="2958588" y="839822"/>
              <a:ext cx="1481492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  AB  AC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81" name="Rectangle 206"/>
            <p:cNvSpPr/>
            <p:nvPr/>
          </p:nvSpPr>
          <p:spPr>
            <a:xfrm>
              <a:off x="2954943" y="1268357"/>
              <a:ext cx="1361710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BA     BC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82" name="Rectangle 207"/>
            <p:cNvSpPr/>
            <p:nvPr/>
          </p:nvSpPr>
          <p:spPr>
            <a:xfrm>
              <a:off x="2968367" y="1677962"/>
              <a:ext cx="444352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CA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cxnSp>
          <p:nvCxnSpPr>
            <p:cNvPr id="75883" name="直接连接符 65"/>
            <p:cNvCxnSpPr/>
            <p:nvPr/>
          </p:nvCxnSpPr>
          <p:spPr>
            <a:xfrm>
              <a:off x="2968367" y="430217"/>
              <a:ext cx="1" cy="164665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ash"/>
              <a:headEnd type="none" w="med" len="med"/>
              <a:tailEnd type="none" w="med" len="med"/>
            </a:ln>
          </p:spPr>
        </p:cxnSp>
        <p:cxnSp>
          <p:nvCxnSpPr>
            <p:cNvPr id="75884" name="直接连接符 66"/>
            <p:cNvCxnSpPr/>
            <p:nvPr/>
          </p:nvCxnSpPr>
          <p:spPr>
            <a:xfrm>
              <a:off x="2486143" y="756320"/>
              <a:ext cx="183051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ash"/>
              <a:headEnd type="none" w="med" len="med"/>
              <a:tailEnd type="none" w="med" len="med"/>
            </a:ln>
          </p:spPr>
        </p:cxnSp>
      </p:grpSp>
      <p:sp>
        <p:nvSpPr>
          <p:cNvPr id="68" name="Rectangle 21"/>
          <p:cNvSpPr/>
          <p:nvPr/>
        </p:nvSpPr>
        <p:spPr>
          <a:xfrm>
            <a:off x="300038" y="3187700"/>
            <a:ext cx="125603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K=1</a:t>
            </a:r>
            <a:r>
              <a:rPr lang="zh-CN" altLang="en-US" sz="24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时，</a:t>
            </a:r>
            <a:endParaRPr lang="zh-CN" altLang="en-US" sz="2400" b="1" dirty="0">
              <a:solidFill>
                <a:srgbClr val="0000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249238" y="3635375"/>
            <a:ext cx="2098675" cy="1684338"/>
            <a:chOff x="64874" y="382622"/>
            <a:chExt cx="2099269" cy="1684757"/>
          </a:xfrm>
        </p:grpSpPr>
        <p:sp>
          <p:nvSpPr>
            <p:cNvPr id="75869" name="Rectangle 198"/>
            <p:cNvSpPr/>
            <p:nvPr/>
          </p:nvSpPr>
          <p:spPr>
            <a:xfrm>
              <a:off x="109324" y="382622"/>
              <a:ext cx="57419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A</a:t>
              </a:r>
              <a:r>
                <a:rPr lang="en-US" altLang="zh-CN" sz="2000" b="1" baseline="30000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(1)</a:t>
              </a:r>
              <a:endParaRPr lang="en-US" altLang="zh-CN" sz="2000" b="1" baseline="300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70" name="Rectangle 201"/>
            <p:cNvSpPr/>
            <p:nvPr/>
          </p:nvSpPr>
          <p:spPr>
            <a:xfrm>
              <a:off x="669222" y="420722"/>
              <a:ext cx="1494921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1   2   3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71" name="Rectangle 202"/>
            <p:cNvSpPr/>
            <p:nvPr/>
          </p:nvSpPr>
          <p:spPr>
            <a:xfrm>
              <a:off x="64874" y="746825"/>
              <a:ext cx="444352" cy="1320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1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2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3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72" name="Rectangle 205"/>
            <p:cNvSpPr/>
            <p:nvPr/>
          </p:nvSpPr>
          <p:spPr>
            <a:xfrm>
              <a:off x="672868" y="830327"/>
              <a:ext cx="351354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0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73" name="Rectangle 206"/>
            <p:cNvSpPr/>
            <p:nvPr/>
          </p:nvSpPr>
          <p:spPr>
            <a:xfrm>
              <a:off x="1179225" y="1220942"/>
              <a:ext cx="444352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0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74" name="Rectangle 207"/>
            <p:cNvSpPr/>
            <p:nvPr/>
          </p:nvSpPr>
          <p:spPr>
            <a:xfrm>
              <a:off x="1679582" y="1661494"/>
              <a:ext cx="351351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0 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cxnSp>
          <p:nvCxnSpPr>
            <p:cNvPr id="75875" name="直接连接符 83"/>
            <p:cNvCxnSpPr/>
            <p:nvPr/>
          </p:nvCxnSpPr>
          <p:spPr>
            <a:xfrm>
              <a:off x="682647" y="420722"/>
              <a:ext cx="1" cy="164665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ash"/>
              <a:headEnd type="none" w="med" len="med"/>
              <a:tailEnd type="none" w="med" len="med"/>
            </a:ln>
          </p:spPr>
        </p:cxnSp>
        <p:cxnSp>
          <p:nvCxnSpPr>
            <p:cNvPr id="75876" name="直接连接符 84"/>
            <p:cNvCxnSpPr/>
            <p:nvPr/>
          </p:nvCxnSpPr>
          <p:spPr>
            <a:xfrm>
              <a:off x="200423" y="746825"/>
              <a:ext cx="183051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ash"/>
              <a:headEnd type="none" w="med" len="med"/>
              <a:tailEnd type="none" w="med" len="med"/>
            </a:ln>
          </p:spPr>
        </p:cxnSp>
      </p:grpSp>
      <p:sp>
        <p:nvSpPr>
          <p:cNvPr id="86" name="Rectangle 207"/>
          <p:cNvSpPr/>
          <p:nvPr/>
        </p:nvSpPr>
        <p:spPr>
          <a:xfrm>
            <a:off x="1354138" y="4086225"/>
            <a:ext cx="350837" cy="3987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4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87" name="Rectangle 207"/>
          <p:cNvSpPr/>
          <p:nvPr/>
        </p:nvSpPr>
        <p:spPr>
          <a:xfrm>
            <a:off x="1836737" y="4087813"/>
            <a:ext cx="522287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11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88" name="Rectangle 207"/>
          <p:cNvSpPr/>
          <p:nvPr/>
        </p:nvSpPr>
        <p:spPr>
          <a:xfrm>
            <a:off x="865188" y="4502150"/>
            <a:ext cx="350837" cy="3987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6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89" name="Rectangle 207"/>
          <p:cNvSpPr/>
          <p:nvPr/>
        </p:nvSpPr>
        <p:spPr>
          <a:xfrm>
            <a:off x="1870074" y="4479925"/>
            <a:ext cx="464875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90" name="Rectangle 207"/>
          <p:cNvSpPr/>
          <p:nvPr/>
        </p:nvSpPr>
        <p:spPr>
          <a:xfrm>
            <a:off x="868363" y="4911725"/>
            <a:ext cx="350837" cy="3987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3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91" name="Rectangle 207"/>
          <p:cNvSpPr/>
          <p:nvPr/>
        </p:nvSpPr>
        <p:spPr>
          <a:xfrm>
            <a:off x="1381125" y="4914900"/>
            <a:ext cx="350838" cy="3987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7 </a:t>
            </a:r>
            <a:endParaRPr lang="en-US" altLang="zh-CN" sz="2000" b="1" dirty="0">
              <a:solidFill>
                <a:srgbClr val="00B05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2284413" y="3624263"/>
            <a:ext cx="2363787" cy="1685925"/>
            <a:chOff x="2087044" y="392117"/>
            <a:chExt cx="2362819" cy="1685955"/>
          </a:xfrm>
        </p:grpSpPr>
        <p:sp>
          <p:nvSpPr>
            <p:cNvPr id="75861" name="Rectangle 198"/>
            <p:cNvSpPr/>
            <p:nvPr/>
          </p:nvSpPr>
          <p:spPr>
            <a:xfrm>
              <a:off x="2087044" y="392117"/>
              <a:ext cx="963725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path</a:t>
              </a:r>
              <a:r>
                <a:rPr lang="en-US" altLang="zh-CN" sz="2000" b="1" baseline="30000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(1)</a:t>
              </a:r>
              <a:endParaRPr lang="en-US" altLang="zh-CN" sz="2000" b="1" baseline="300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62" name="Rectangle 201"/>
            <p:cNvSpPr/>
            <p:nvPr/>
          </p:nvSpPr>
          <p:spPr>
            <a:xfrm>
              <a:off x="2954942" y="430217"/>
              <a:ext cx="1494921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1   2   3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63" name="Rectangle 202"/>
            <p:cNvSpPr/>
            <p:nvPr/>
          </p:nvSpPr>
          <p:spPr>
            <a:xfrm>
              <a:off x="2350594" y="756320"/>
              <a:ext cx="444352" cy="1320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1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2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3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64" name="Rectangle 205"/>
            <p:cNvSpPr/>
            <p:nvPr/>
          </p:nvSpPr>
          <p:spPr>
            <a:xfrm>
              <a:off x="2958588" y="839822"/>
              <a:ext cx="1481492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  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65" name="Rectangle 206"/>
            <p:cNvSpPr/>
            <p:nvPr/>
          </p:nvSpPr>
          <p:spPr>
            <a:xfrm>
              <a:off x="2954943" y="1268357"/>
              <a:ext cx="1361710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66" name="Rectangle 207"/>
            <p:cNvSpPr/>
            <p:nvPr/>
          </p:nvSpPr>
          <p:spPr>
            <a:xfrm>
              <a:off x="2968367" y="1677962"/>
              <a:ext cx="184731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cxnSp>
          <p:nvCxnSpPr>
            <p:cNvPr id="75867" name="直接连接符 99"/>
            <p:cNvCxnSpPr/>
            <p:nvPr/>
          </p:nvCxnSpPr>
          <p:spPr>
            <a:xfrm>
              <a:off x="2968367" y="430217"/>
              <a:ext cx="1" cy="164665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ash"/>
              <a:headEnd type="none" w="med" len="med"/>
              <a:tailEnd type="none" w="med" len="med"/>
            </a:ln>
          </p:spPr>
        </p:cxnSp>
        <p:cxnSp>
          <p:nvCxnSpPr>
            <p:cNvPr id="75868" name="直接连接符 100"/>
            <p:cNvCxnSpPr/>
            <p:nvPr/>
          </p:nvCxnSpPr>
          <p:spPr>
            <a:xfrm>
              <a:off x="2486143" y="756320"/>
              <a:ext cx="183051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ash"/>
              <a:headEnd type="none" w="med" len="med"/>
              <a:tailEnd type="none" w="med" len="med"/>
            </a:ln>
          </p:spPr>
        </p:cxnSp>
      </p:grpSp>
      <p:sp>
        <p:nvSpPr>
          <p:cNvPr id="111" name="Rectangle 207"/>
          <p:cNvSpPr/>
          <p:nvPr/>
        </p:nvSpPr>
        <p:spPr>
          <a:xfrm>
            <a:off x="3621088" y="4016375"/>
            <a:ext cx="582886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AB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12" name="Rectangle 207"/>
          <p:cNvSpPr/>
          <p:nvPr/>
        </p:nvSpPr>
        <p:spPr>
          <a:xfrm>
            <a:off x="4100513" y="4016375"/>
            <a:ext cx="573326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AC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13" name="Rectangle 207"/>
          <p:cNvSpPr/>
          <p:nvPr/>
        </p:nvSpPr>
        <p:spPr>
          <a:xfrm>
            <a:off x="3174999" y="4470400"/>
            <a:ext cx="582885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BA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14" name="Rectangle 207"/>
          <p:cNvSpPr/>
          <p:nvPr/>
        </p:nvSpPr>
        <p:spPr>
          <a:xfrm>
            <a:off x="4111625" y="4457700"/>
            <a:ext cx="638047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BC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15" name="Rectangle 207"/>
          <p:cNvSpPr/>
          <p:nvPr/>
        </p:nvSpPr>
        <p:spPr>
          <a:xfrm>
            <a:off x="3175000" y="4895850"/>
            <a:ext cx="580716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CA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16" name="Rectangle 207"/>
          <p:cNvSpPr/>
          <p:nvPr/>
        </p:nvSpPr>
        <p:spPr>
          <a:xfrm>
            <a:off x="3581399" y="4886325"/>
            <a:ext cx="826891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CAB </a:t>
            </a:r>
            <a:endParaRPr lang="en-US" altLang="zh-CN" sz="2000" b="1" dirty="0">
              <a:solidFill>
                <a:srgbClr val="00B05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17" name="Rectangle 21"/>
          <p:cNvSpPr/>
          <p:nvPr/>
        </p:nvSpPr>
        <p:spPr>
          <a:xfrm>
            <a:off x="4548188" y="584200"/>
            <a:ext cx="125603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K=2</a:t>
            </a:r>
            <a:r>
              <a:rPr lang="zh-CN" altLang="en-US" sz="24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时，</a:t>
            </a:r>
            <a:endParaRPr lang="zh-CN" altLang="en-US" sz="2400" b="1" dirty="0">
              <a:solidFill>
                <a:srgbClr val="0000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4500563" y="952500"/>
            <a:ext cx="2098675" cy="1684338"/>
            <a:chOff x="64874" y="382622"/>
            <a:chExt cx="2099269" cy="1684757"/>
          </a:xfrm>
        </p:grpSpPr>
        <p:sp>
          <p:nvSpPr>
            <p:cNvPr id="75853" name="Rectangle 198"/>
            <p:cNvSpPr/>
            <p:nvPr/>
          </p:nvSpPr>
          <p:spPr>
            <a:xfrm>
              <a:off x="109324" y="382622"/>
              <a:ext cx="57419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A</a:t>
              </a:r>
              <a:r>
                <a:rPr lang="en-US" altLang="zh-CN" sz="2000" b="1" baseline="30000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(2)</a:t>
              </a:r>
              <a:endParaRPr lang="en-US" altLang="zh-CN" sz="2000" b="1" baseline="300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54" name="Rectangle 201"/>
            <p:cNvSpPr/>
            <p:nvPr/>
          </p:nvSpPr>
          <p:spPr>
            <a:xfrm>
              <a:off x="669222" y="420722"/>
              <a:ext cx="1494921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1   2   3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55" name="Rectangle 202"/>
            <p:cNvSpPr/>
            <p:nvPr/>
          </p:nvSpPr>
          <p:spPr>
            <a:xfrm>
              <a:off x="64874" y="746825"/>
              <a:ext cx="444352" cy="1320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1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2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3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56" name="Rectangle 205"/>
            <p:cNvSpPr/>
            <p:nvPr/>
          </p:nvSpPr>
          <p:spPr>
            <a:xfrm>
              <a:off x="672868" y="830327"/>
              <a:ext cx="351354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0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57" name="Rectangle 206"/>
            <p:cNvSpPr/>
            <p:nvPr/>
          </p:nvSpPr>
          <p:spPr>
            <a:xfrm>
              <a:off x="1179225" y="1220942"/>
              <a:ext cx="444352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0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58" name="Rectangle 207"/>
            <p:cNvSpPr/>
            <p:nvPr/>
          </p:nvSpPr>
          <p:spPr>
            <a:xfrm>
              <a:off x="1679582" y="1661494"/>
              <a:ext cx="351351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0 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cxnSp>
          <p:nvCxnSpPr>
            <p:cNvPr id="75859" name="直接连接符 124"/>
            <p:cNvCxnSpPr/>
            <p:nvPr/>
          </p:nvCxnSpPr>
          <p:spPr>
            <a:xfrm>
              <a:off x="682647" y="420722"/>
              <a:ext cx="1" cy="164665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ash"/>
              <a:headEnd type="none" w="med" len="med"/>
              <a:tailEnd type="none" w="med" len="med"/>
            </a:ln>
          </p:spPr>
        </p:cxnSp>
        <p:cxnSp>
          <p:nvCxnSpPr>
            <p:cNvPr id="75860" name="直接连接符 125"/>
            <p:cNvCxnSpPr/>
            <p:nvPr/>
          </p:nvCxnSpPr>
          <p:spPr>
            <a:xfrm>
              <a:off x="200423" y="746825"/>
              <a:ext cx="183051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ash"/>
              <a:headEnd type="none" w="med" len="med"/>
              <a:tailEnd type="none" w="med" len="med"/>
            </a:ln>
          </p:spPr>
        </p:cxnSp>
      </p:grpSp>
      <p:sp>
        <p:nvSpPr>
          <p:cNvPr id="127" name="Rectangle 207"/>
          <p:cNvSpPr/>
          <p:nvPr/>
        </p:nvSpPr>
        <p:spPr>
          <a:xfrm>
            <a:off x="5605463" y="1403350"/>
            <a:ext cx="350837" cy="3987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4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28" name="Rectangle 207"/>
          <p:cNvSpPr/>
          <p:nvPr/>
        </p:nvSpPr>
        <p:spPr>
          <a:xfrm>
            <a:off x="6088063" y="1404938"/>
            <a:ext cx="482600" cy="3987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FF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6</a:t>
            </a: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29" name="Rectangle 207"/>
          <p:cNvSpPr/>
          <p:nvPr/>
        </p:nvSpPr>
        <p:spPr>
          <a:xfrm>
            <a:off x="5116513" y="1817688"/>
            <a:ext cx="350837" cy="3987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6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30" name="Rectangle 207"/>
          <p:cNvSpPr/>
          <p:nvPr/>
        </p:nvSpPr>
        <p:spPr>
          <a:xfrm>
            <a:off x="6121400" y="1795463"/>
            <a:ext cx="350838" cy="3987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31" name="Rectangle 207"/>
          <p:cNvSpPr/>
          <p:nvPr/>
        </p:nvSpPr>
        <p:spPr>
          <a:xfrm>
            <a:off x="5119688" y="2227263"/>
            <a:ext cx="350837" cy="3987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3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32" name="Rectangle 207"/>
          <p:cNvSpPr/>
          <p:nvPr/>
        </p:nvSpPr>
        <p:spPr>
          <a:xfrm>
            <a:off x="5632450" y="2230438"/>
            <a:ext cx="350838" cy="3987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7</a:t>
            </a: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6535738" y="939800"/>
            <a:ext cx="2363787" cy="1685925"/>
            <a:chOff x="2087044" y="392117"/>
            <a:chExt cx="2362819" cy="1685955"/>
          </a:xfrm>
        </p:grpSpPr>
        <p:sp>
          <p:nvSpPr>
            <p:cNvPr id="75845" name="Rectangle 198"/>
            <p:cNvSpPr/>
            <p:nvPr/>
          </p:nvSpPr>
          <p:spPr>
            <a:xfrm>
              <a:off x="2087044" y="392117"/>
              <a:ext cx="963725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path</a:t>
              </a:r>
              <a:r>
                <a:rPr lang="en-US" altLang="zh-CN" sz="2000" b="1" baseline="30000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(1)</a:t>
              </a:r>
              <a:endParaRPr lang="en-US" altLang="zh-CN" sz="2000" b="1" baseline="300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46" name="Rectangle 201"/>
            <p:cNvSpPr/>
            <p:nvPr/>
          </p:nvSpPr>
          <p:spPr>
            <a:xfrm>
              <a:off x="2954942" y="430217"/>
              <a:ext cx="1494921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1   2   3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47" name="Rectangle 202"/>
            <p:cNvSpPr/>
            <p:nvPr/>
          </p:nvSpPr>
          <p:spPr>
            <a:xfrm>
              <a:off x="2350594" y="756320"/>
              <a:ext cx="444352" cy="1320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1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2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3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48" name="Rectangle 205"/>
            <p:cNvSpPr/>
            <p:nvPr/>
          </p:nvSpPr>
          <p:spPr>
            <a:xfrm>
              <a:off x="2958588" y="839822"/>
              <a:ext cx="1481492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  </a:t>
              </a: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49" name="Rectangle 206"/>
            <p:cNvSpPr/>
            <p:nvPr/>
          </p:nvSpPr>
          <p:spPr>
            <a:xfrm>
              <a:off x="2954943" y="1268357"/>
              <a:ext cx="1361710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50" name="Rectangle 207"/>
            <p:cNvSpPr/>
            <p:nvPr/>
          </p:nvSpPr>
          <p:spPr>
            <a:xfrm>
              <a:off x="2968367" y="1677962"/>
              <a:ext cx="184731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endPara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cxnSp>
          <p:nvCxnSpPr>
            <p:cNvPr id="75851" name="直接连接符 139"/>
            <p:cNvCxnSpPr/>
            <p:nvPr/>
          </p:nvCxnSpPr>
          <p:spPr>
            <a:xfrm>
              <a:off x="2968367" y="430217"/>
              <a:ext cx="1" cy="164665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ash"/>
              <a:headEnd type="none" w="med" len="med"/>
              <a:tailEnd type="none" w="med" len="med"/>
            </a:ln>
          </p:spPr>
        </p:cxnSp>
        <p:cxnSp>
          <p:nvCxnSpPr>
            <p:cNvPr id="75852" name="直接连接符 140"/>
            <p:cNvCxnSpPr/>
            <p:nvPr/>
          </p:nvCxnSpPr>
          <p:spPr>
            <a:xfrm>
              <a:off x="2486143" y="756320"/>
              <a:ext cx="183051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ash"/>
              <a:headEnd type="none" w="med" len="med"/>
              <a:tailEnd type="none" w="med" len="med"/>
            </a:ln>
          </p:spPr>
        </p:cxnSp>
      </p:grpSp>
      <p:sp>
        <p:nvSpPr>
          <p:cNvPr id="142" name="Rectangle 207"/>
          <p:cNvSpPr/>
          <p:nvPr/>
        </p:nvSpPr>
        <p:spPr>
          <a:xfrm>
            <a:off x="7872413" y="1333500"/>
            <a:ext cx="578124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AB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43" name="Rectangle 207"/>
          <p:cNvSpPr/>
          <p:nvPr/>
        </p:nvSpPr>
        <p:spPr>
          <a:xfrm>
            <a:off x="8351838" y="1333500"/>
            <a:ext cx="786978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FF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ABC</a:t>
            </a:r>
            <a:r>
              <a:rPr lang="en-US" altLang="zh-CN" sz="2000" b="1" dirty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en-US" altLang="zh-CN" sz="2000" b="1" dirty="0">
              <a:solidFill>
                <a:schemeClr val="bg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44" name="Rectangle 207"/>
          <p:cNvSpPr/>
          <p:nvPr/>
        </p:nvSpPr>
        <p:spPr>
          <a:xfrm>
            <a:off x="7427912" y="1785938"/>
            <a:ext cx="632123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BA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45" name="Rectangle 207"/>
          <p:cNvSpPr/>
          <p:nvPr/>
        </p:nvSpPr>
        <p:spPr>
          <a:xfrm>
            <a:off x="8362949" y="1774825"/>
            <a:ext cx="576803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BC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46" name="Rectangle 207"/>
          <p:cNvSpPr/>
          <p:nvPr/>
        </p:nvSpPr>
        <p:spPr>
          <a:xfrm>
            <a:off x="7427912" y="2211388"/>
            <a:ext cx="676275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CA </a:t>
            </a:r>
            <a:endParaRPr lang="en-US" altLang="zh-CN" sz="20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47" name="Rectangle 207"/>
          <p:cNvSpPr/>
          <p:nvPr/>
        </p:nvSpPr>
        <p:spPr>
          <a:xfrm>
            <a:off x="7832724" y="2201863"/>
            <a:ext cx="817227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CAB </a:t>
            </a:r>
            <a:endParaRPr lang="en-US" altLang="zh-CN" sz="2000" b="1" dirty="0">
              <a:solidFill>
                <a:srgbClr val="00B05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cxnSp>
        <p:nvCxnSpPr>
          <p:cNvPr id="75812" name="直接连接符 147"/>
          <p:cNvCxnSpPr/>
          <p:nvPr/>
        </p:nvCxnSpPr>
        <p:spPr>
          <a:xfrm>
            <a:off x="4572000" y="650875"/>
            <a:ext cx="0" cy="6207125"/>
          </a:xfrm>
          <a:prstGeom prst="line">
            <a:avLst/>
          </a:prstGeom>
          <a:ln w="76200" cap="flat" cmpd="dbl">
            <a:solidFill>
              <a:srgbClr val="00B0F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51" name="Rectangle 21"/>
          <p:cNvSpPr/>
          <p:nvPr/>
        </p:nvSpPr>
        <p:spPr>
          <a:xfrm>
            <a:off x="4537075" y="3217863"/>
            <a:ext cx="125603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K=3</a:t>
            </a:r>
            <a:r>
              <a:rPr lang="zh-CN" altLang="en-US" sz="24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时，</a:t>
            </a:r>
            <a:endParaRPr lang="zh-CN" altLang="en-US" sz="2400" b="1" dirty="0">
              <a:solidFill>
                <a:srgbClr val="0000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152" name="组合 151"/>
          <p:cNvGrpSpPr/>
          <p:nvPr/>
        </p:nvGrpSpPr>
        <p:grpSpPr>
          <a:xfrm>
            <a:off x="4491038" y="3624263"/>
            <a:ext cx="2098675" cy="1684337"/>
            <a:chOff x="64874" y="382622"/>
            <a:chExt cx="2099269" cy="1684757"/>
          </a:xfrm>
        </p:grpSpPr>
        <p:sp>
          <p:nvSpPr>
            <p:cNvPr id="75837" name="Rectangle 198"/>
            <p:cNvSpPr/>
            <p:nvPr/>
          </p:nvSpPr>
          <p:spPr>
            <a:xfrm>
              <a:off x="109324" y="382622"/>
              <a:ext cx="57419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A</a:t>
              </a:r>
              <a:r>
                <a:rPr lang="en-US" altLang="zh-CN" sz="2000" b="1" baseline="30000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(2)</a:t>
              </a:r>
              <a:endParaRPr lang="en-US" altLang="zh-CN" sz="2000" b="1" baseline="30000" dirty="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38" name="Rectangle 201"/>
            <p:cNvSpPr/>
            <p:nvPr/>
          </p:nvSpPr>
          <p:spPr>
            <a:xfrm>
              <a:off x="669222" y="420722"/>
              <a:ext cx="1494921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1   2   3</a:t>
              </a:r>
              <a:endParaRPr lang="en-US" altLang="zh-CN" sz="2000" b="1" dirty="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39" name="Rectangle 202"/>
            <p:cNvSpPr/>
            <p:nvPr/>
          </p:nvSpPr>
          <p:spPr>
            <a:xfrm>
              <a:off x="64874" y="746825"/>
              <a:ext cx="444352" cy="1320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 1</a:t>
              </a:r>
              <a:endParaRPr lang="en-US" altLang="zh-CN" sz="2000" b="1" dirty="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rgbClr val="000055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2</a:t>
              </a:r>
              <a:endParaRPr lang="en-US" altLang="zh-CN" sz="2000" b="1" dirty="0">
                <a:solidFill>
                  <a:srgbClr val="000055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rgbClr val="000055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3</a:t>
              </a:r>
              <a:endParaRPr lang="en-US" altLang="zh-CN" sz="2000" b="1" dirty="0">
                <a:solidFill>
                  <a:srgbClr val="000055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40" name="Rectangle 205"/>
            <p:cNvSpPr/>
            <p:nvPr/>
          </p:nvSpPr>
          <p:spPr>
            <a:xfrm>
              <a:off x="672868" y="830327"/>
              <a:ext cx="351354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0</a:t>
              </a:r>
              <a:endParaRPr lang="en-US" altLang="zh-CN" sz="2000" b="1" dirty="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41" name="Rectangle 206"/>
            <p:cNvSpPr/>
            <p:nvPr/>
          </p:nvSpPr>
          <p:spPr>
            <a:xfrm>
              <a:off x="1179225" y="1239796"/>
              <a:ext cx="444352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0</a:t>
              </a:r>
              <a:endParaRPr lang="en-US" altLang="zh-CN" sz="2000" b="1" dirty="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42" name="Rectangle 207"/>
            <p:cNvSpPr/>
            <p:nvPr/>
          </p:nvSpPr>
          <p:spPr>
            <a:xfrm>
              <a:off x="1679582" y="1661494"/>
              <a:ext cx="351351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0</a:t>
              </a:r>
              <a:r>
                <a:rPr lang="en-US" altLang="zh-CN" sz="2000" b="1" dirty="0">
                  <a:solidFill>
                    <a:srgbClr val="000055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</a:t>
              </a:r>
              <a:endParaRPr lang="en-US" altLang="zh-CN" sz="2000" b="1" dirty="0">
                <a:solidFill>
                  <a:srgbClr val="000055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cxnSp>
          <p:nvCxnSpPr>
            <p:cNvPr id="75843" name="直接连接符 158"/>
            <p:cNvCxnSpPr/>
            <p:nvPr/>
          </p:nvCxnSpPr>
          <p:spPr>
            <a:xfrm>
              <a:off x="682647" y="420722"/>
              <a:ext cx="1" cy="164665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</p:cxnSp>
        <p:cxnSp>
          <p:nvCxnSpPr>
            <p:cNvPr id="75844" name="直接连接符 159"/>
            <p:cNvCxnSpPr/>
            <p:nvPr/>
          </p:nvCxnSpPr>
          <p:spPr>
            <a:xfrm>
              <a:off x="200423" y="746825"/>
              <a:ext cx="183051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</p:cxnSp>
      </p:grpSp>
      <p:sp>
        <p:nvSpPr>
          <p:cNvPr id="161" name="Rectangle 207"/>
          <p:cNvSpPr/>
          <p:nvPr/>
        </p:nvSpPr>
        <p:spPr>
          <a:xfrm>
            <a:off x="5595938" y="4075113"/>
            <a:ext cx="350837" cy="3987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4</a:t>
            </a:r>
            <a:r>
              <a:rPr lang="en-US" altLang="zh-CN" sz="2000" b="1" dirty="0">
                <a:solidFill>
                  <a:srgbClr val="000055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en-US" altLang="zh-CN" sz="2000" b="1" dirty="0">
              <a:solidFill>
                <a:srgbClr val="000055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62" name="Rectangle 207"/>
          <p:cNvSpPr/>
          <p:nvPr/>
        </p:nvSpPr>
        <p:spPr>
          <a:xfrm>
            <a:off x="6078538" y="4076700"/>
            <a:ext cx="482600" cy="3987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FF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6</a:t>
            </a:r>
            <a:r>
              <a:rPr lang="en-US" altLang="zh-CN" sz="20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en-US" altLang="zh-CN" sz="2000" b="1" dirty="0">
              <a:solidFill>
                <a:srgbClr val="0000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63" name="Rectangle 207"/>
          <p:cNvSpPr/>
          <p:nvPr/>
        </p:nvSpPr>
        <p:spPr>
          <a:xfrm>
            <a:off x="5106988" y="4489450"/>
            <a:ext cx="350837" cy="3987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5</a:t>
            </a:r>
            <a:r>
              <a:rPr lang="en-US" altLang="zh-CN" sz="2000" b="1" dirty="0">
                <a:solidFill>
                  <a:srgbClr val="0099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en-US" altLang="zh-CN" sz="2000" b="1" dirty="0">
              <a:solidFill>
                <a:srgbClr val="0099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64" name="Rectangle 207"/>
          <p:cNvSpPr/>
          <p:nvPr/>
        </p:nvSpPr>
        <p:spPr>
          <a:xfrm>
            <a:off x="6111875" y="4486275"/>
            <a:ext cx="350838" cy="3987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en-US" altLang="zh-CN" sz="2000" b="1" dirty="0">
                <a:solidFill>
                  <a:srgbClr val="000055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en-US" altLang="zh-CN" sz="2000" b="1" dirty="0">
              <a:solidFill>
                <a:srgbClr val="000055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65" name="Rectangle 207"/>
          <p:cNvSpPr/>
          <p:nvPr/>
        </p:nvSpPr>
        <p:spPr>
          <a:xfrm>
            <a:off x="5110163" y="4899025"/>
            <a:ext cx="350837" cy="3987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3</a:t>
            </a:r>
            <a:r>
              <a:rPr lang="en-US" altLang="zh-CN" sz="2000" b="1" dirty="0">
                <a:solidFill>
                  <a:srgbClr val="000055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en-US" altLang="zh-CN" sz="2000" b="1" dirty="0">
              <a:solidFill>
                <a:srgbClr val="000055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66" name="Rectangle 207"/>
          <p:cNvSpPr/>
          <p:nvPr/>
        </p:nvSpPr>
        <p:spPr>
          <a:xfrm>
            <a:off x="5622925" y="4902200"/>
            <a:ext cx="350838" cy="39878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7</a:t>
            </a:r>
            <a:r>
              <a:rPr lang="en-US" altLang="zh-CN" sz="20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en-US" altLang="zh-CN" sz="20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167" name="组合 166"/>
          <p:cNvGrpSpPr/>
          <p:nvPr/>
        </p:nvGrpSpPr>
        <p:grpSpPr>
          <a:xfrm>
            <a:off x="6526213" y="3611563"/>
            <a:ext cx="2363787" cy="1685925"/>
            <a:chOff x="2087044" y="392117"/>
            <a:chExt cx="2362819" cy="1685955"/>
          </a:xfrm>
        </p:grpSpPr>
        <p:sp>
          <p:nvSpPr>
            <p:cNvPr id="75829" name="Rectangle 198"/>
            <p:cNvSpPr/>
            <p:nvPr/>
          </p:nvSpPr>
          <p:spPr>
            <a:xfrm>
              <a:off x="2087044" y="392117"/>
              <a:ext cx="963725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path</a:t>
              </a:r>
              <a:r>
                <a:rPr lang="en-US" altLang="zh-CN" sz="2000" b="1" baseline="30000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(1)</a:t>
              </a:r>
              <a:endParaRPr lang="en-US" altLang="zh-CN" sz="2000" b="1" baseline="30000" dirty="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30" name="Rectangle 201"/>
            <p:cNvSpPr/>
            <p:nvPr/>
          </p:nvSpPr>
          <p:spPr>
            <a:xfrm>
              <a:off x="2954942" y="430217"/>
              <a:ext cx="1494921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1   2   3</a:t>
              </a:r>
              <a:endParaRPr lang="en-US" altLang="zh-CN" sz="2000" b="1" dirty="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31" name="Rectangle 202"/>
            <p:cNvSpPr/>
            <p:nvPr/>
          </p:nvSpPr>
          <p:spPr>
            <a:xfrm>
              <a:off x="2350594" y="756320"/>
              <a:ext cx="444352" cy="1320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 1</a:t>
              </a:r>
              <a:endParaRPr lang="en-US" altLang="zh-CN" sz="2000" b="1" dirty="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rgbClr val="000055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2</a:t>
              </a:r>
              <a:endParaRPr lang="en-US" altLang="zh-CN" sz="2000" b="1" dirty="0">
                <a:solidFill>
                  <a:srgbClr val="000055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rgbClr val="000055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3</a:t>
              </a:r>
              <a:endParaRPr lang="en-US" altLang="zh-CN" sz="2000" b="1" dirty="0">
                <a:solidFill>
                  <a:srgbClr val="000055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32" name="Rectangle 205"/>
            <p:cNvSpPr/>
            <p:nvPr/>
          </p:nvSpPr>
          <p:spPr>
            <a:xfrm>
              <a:off x="2958588" y="839822"/>
              <a:ext cx="1481492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   </a:t>
              </a:r>
              <a:endParaRPr lang="en-US" altLang="zh-CN" sz="2000" b="1" dirty="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33" name="Rectangle 206"/>
            <p:cNvSpPr/>
            <p:nvPr/>
          </p:nvSpPr>
          <p:spPr>
            <a:xfrm>
              <a:off x="2954943" y="1268357"/>
              <a:ext cx="1361710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endParaRPr lang="en-US" altLang="zh-CN" sz="2000" b="1" dirty="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75834" name="Rectangle 207"/>
            <p:cNvSpPr/>
            <p:nvPr/>
          </p:nvSpPr>
          <p:spPr>
            <a:xfrm>
              <a:off x="2968367" y="1677962"/>
              <a:ext cx="184731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endParaRPr lang="en-US" altLang="zh-CN" sz="2000" b="1" dirty="0">
                <a:solidFill>
                  <a:srgbClr val="000055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cxnSp>
          <p:nvCxnSpPr>
            <p:cNvPr id="75835" name="直接连接符 173"/>
            <p:cNvCxnSpPr/>
            <p:nvPr/>
          </p:nvCxnSpPr>
          <p:spPr>
            <a:xfrm>
              <a:off x="2968367" y="430217"/>
              <a:ext cx="1" cy="164665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</p:cxnSp>
        <p:cxnSp>
          <p:nvCxnSpPr>
            <p:cNvPr id="75836" name="直接连接符 174"/>
            <p:cNvCxnSpPr/>
            <p:nvPr/>
          </p:nvCxnSpPr>
          <p:spPr>
            <a:xfrm>
              <a:off x="2486143" y="756320"/>
              <a:ext cx="183051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</p:cxnSp>
      </p:grpSp>
      <p:sp>
        <p:nvSpPr>
          <p:cNvPr id="176" name="Rectangle 207"/>
          <p:cNvSpPr/>
          <p:nvPr/>
        </p:nvSpPr>
        <p:spPr>
          <a:xfrm>
            <a:off x="7862888" y="4005263"/>
            <a:ext cx="572972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AB</a:t>
            </a:r>
            <a:r>
              <a:rPr lang="en-US" altLang="zh-CN" sz="2000" b="1" dirty="0">
                <a:solidFill>
                  <a:srgbClr val="000055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en-US" altLang="zh-CN" sz="2000" b="1" dirty="0">
              <a:solidFill>
                <a:srgbClr val="000055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77" name="Rectangle 207"/>
          <p:cNvSpPr/>
          <p:nvPr/>
        </p:nvSpPr>
        <p:spPr>
          <a:xfrm>
            <a:off x="8342312" y="4005263"/>
            <a:ext cx="720725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FF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ABC</a:t>
            </a:r>
            <a:r>
              <a:rPr lang="en-US" altLang="zh-CN" sz="20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en-US" altLang="zh-CN" sz="2000" b="1" dirty="0">
              <a:solidFill>
                <a:srgbClr val="0000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78" name="Rectangle 207"/>
          <p:cNvSpPr/>
          <p:nvPr/>
        </p:nvSpPr>
        <p:spPr>
          <a:xfrm>
            <a:off x="7418388" y="4459288"/>
            <a:ext cx="761544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BCA</a:t>
            </a:r>
            <a:r>
              <a:rPr lang="en-US" altLang="zh-CN" sz="2000" b="1" dirty="0">
                <a:solidFill>
                  <a:srgbClr val="0099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en-US" altLang="zh-CN" sz="2000" b="1" dirty="0">
              <a:solidFill>
                <a:srgbClr val="0099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79" name="Rectangle 207"/>
          <p:cNvSpPr/>
          <p:nvPr/>
        </p:nvSpPr>
        <p:spPr>
          <a:xfrm>
            <a:off x="8353425" y="4446588"/>
            <a:ext cx="586326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BC</a:t>
            </a:r>
            <a:r>
              <a:rPr lang="en-US" altLang="zh-CN" sz="2000" b="1" dirty="0">
                <a:solidFill>
                  <a:srgbClr val="000055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en-US" altLang="zh-CN" sz="2000" b="1" dirty="0">
              <a:solidFill>
                <a:srgbClr val="000055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80" name="Rectangle 207"/>
          <p:cNvSpPr/>
          <p:nvPr/>
        </p:nvSpPr>
        <p:spPr>
          <a:xfrm>
            <a:off x="7418387" y="4884738"/>
            <a:ext cx="659113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CA</a:t>
            </a:r>
            <a:r>
              <a:rPr lang="en-US" altLang="zh-CN" sz="2000" b="1" dirty="0">
                <a:solidFill>
                  <a:srgbClr val="000055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en-US" altLang="zh-CN" sz="2000" b="1" dirty="0">
              <a:solidFill>
                <a:srgbClr val="000055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81" name="Rectangle 207"/>
          <p:cNvSpPr/>
          <p:nvPr/>
        </p:nvSpPr>
        <p:spPr>
          <a:xfrm>
            <a:off x="7823200" y="4873625"/>
            <a:ext cx="720860" cy="39878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0099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CAB</a:t>
            </a:r>
            <a:r>
              <a:rPr lang="en-US" altLang="zh-CN" sz="20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en-US" altLang="zh-CN" sz="2000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5828" name="Text Box 2"/>
          <p:cNvSpPr txBox="1"/>
          <p:nvPr/>
        </p:nvSpPr>
        <p:spPr>
          <a:xfrm>
            <a:off x="3846513" y="82550"/>
            <a:ext cx="52974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7.4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最小生成树和最短路径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8" grpId="0"/>
      <p:bldP spid="86" grpId="0"/>
      <p:bldP spid="87" grpId="0"/>
      <p:bldP spid="88" grpId="0"/>
      <p:bldP spid="89" grpId="0"/>
      <p:bldP spid="90" grpId="0"/>
      <p:bldP spid="91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27" grpId="0"/>
      <p:bldP spid="128" grpId="0"/>
      <p:bldP spid="129" grpId="0"/>
      <p:bldP spid="130" grpId="0"/>
      <p:bldP spid="131" grpId="0"/>
      <p:bldP spid="132" grpId="0"/>
      <p:bldP spid="142" grpId="0"/>
      <p:bldP spid="143" grpId="0"/>
      <p:bldP spid="144" grpId="0"/>
      <p:bldP spid="145" grpId="0"/>
      <p:bldP spid="146" grpId="0"/>
      <p:bldP spid="147" grpId="0"/>
      <p:bldP spid="151" grpId="0"/>
      <p:bldP spid="161" grpId="0"/>
      <p:bldP spid="162" grpId="0"/>
      <p:bldP spid="163" grpId="0"/>
      <p:bldP spid="164" grpId="0"/>
      <p:bldP spid="165" grpId="0"/>
      <p:bldP spid="166" grpId="0"/>
      <p:bldP spid="176" grpId="0"/>
      <p:bldP spid="177" grpId="0"/>
      <p:bldP spid="178" grpId="0"/>
      <p:bldP spid="179" grpId="0"/>
      <p:bldP spid="180" grpId="0"/>
      <p:bldP spid="18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3"/>
          <p:cNvSpPr/>
          <p:nvPr/>
        </p:nvSpPr>
        <p:spPr>
          <a:xfrm>
            <a:off x="287338" y="481013"/>
            <a:ext cx="8856662" cy="51133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724" name="Text Box 4"/>
          <p:cNvSpPr txBox="1">
            <a:spLocks noChangeArrowheads="1"/>
          </p:cNvSpPr>
          <p:nvPr/>
        </p:nvSpPr>
        <p:spPr bwMode="auto">
          <a:xfrm>
            <a:off x="345123" y="668020"/>
            <a:ext cx="6840538" cy="57854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算法描述：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void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allpths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(cost) //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建立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A(0)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path(0)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，即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path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的初始矩阵 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{    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for(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=1;i&lt;=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n;i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++)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   for(j=1;j&lt;=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n;j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++)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  {      a[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][j]=cost[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][j];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          if ((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!=j)&amp;&amp;(a[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][j]&lt;max))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              path[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][j]=[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]+[j];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    }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8725" name="Text Box 5"/>
          <p:cNvSpPr txBox="1"/>
          <p:nvPr/>
        </p:nvSpPr>
        <p:spPr>
          <a:xfrm>
            <a:off x="826453" y="3752533"/>
            <a:ext cx="5629275" cy="230695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for(k=1;k&lt;=n;k++)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for(i=1;i&lt;=n;i++)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for(j=1;j&lt;=n;j++)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if(a[i][k]+a[k][j]&lt;a[i][j])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 { 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       a[i][j]=a[i][k]+a[k][j];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       path[i][j]=path[j][k]+path[k][j];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  }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6805" name="Text Box 2"/>
          <p:cNvSpPr txBox="1"/>
          <p:nvPr/>
        </p:nvSpPr>
        <p:spPr>
          <a:xfrm>
            <a:off x="3846513" y="82550"/>
            <a:ext cx="52974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7.4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最小生成树和最短路径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4" grpId="0"/>
      <p:bldP spid="1587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84" name="Group 56"/>
          <p:cNvGrpSpPr/>
          <p:nvPr/>
        </p:nvGrpSpPr>
        <p:grpSpPr>
          <a:xfrm>
            <a:off x="795338" y="2470150"/>
            <a:ext cx="7786687" cy="2533650"/>
            <a:chOff x="636" y="1865"/>
            <a:chExt cx="4541" cy="1596"/>
          </a:xfrm>
        </p:grpSpPr>
        <p:sp>
          <p:nvSpPr>
            <p:cNvPr id="77833" name="Oval 16"/>
            <p:cNvSpPr/>
            <p:nvPr/>
          </p:nvSpPr>
          <p:spPr>
            <a:xfrm>
              <a:off x="4766" y="2412"/>
              <a:ext cx="411" cy="36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834" name="Text Box 17"/>
            <p:cNvSpPr txBox="1"/>
            <p:nvPr/>
          </p:nvSpPr>
          <p:spPr>
            <a:xfrm>
              <a:off x="4762" y="2483"/>
              <a:ext cx="403" cy="25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charset="-122"/>
                </a:rPr>
                <a:t>验收</a:t>
              </a:r>
              <a:endParaRPr lang="zh-CN" altLang="en-US" sz="20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7835" name="Oval 18"/>
            <p:cNvSpPr/>
            <p:nvPr/>
          </p:nvSpPr>
          <p:spPr>
            <a:xfrm>
              <a:off x="636" y="2537"/>
              <a:ext cx="410" cy="36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836" name="Text Box 19"/>
            <p:cNvSpPr txBox="1"/>
            <p:nvPr/>
          </p:nvSpPr>
          <p:spPr>
            <a:xfrm>
              <a:off x="636" y="2628"/>
              <a:ext cx="403" cy="25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charset="-122"/>
                </a:rPr>
                <a:t>筹备</a:t>
              </a:r>
              <a:endParaRPr lang="zh-CN" altLang="en-US" sz="20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7837" name="Oval 20"/>
            <p:cNvSpPr/>
            <p:nvPr/>
          </p:nvSpPr>
          <p:spPr>
            <a:xfrm>
              <a:off x="1300" y="2002"/>
              <a:ext cx="410" cy="36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838" name="Text Box 21"/>
            <p:cNvSpPr txBox="1"/>
            <p:nvPr/>
          </p:nvSpPr>
          <p:spPr>
            <a:xfrm>
              <a:off x="1300" y="2049"/>
              <a:ext cx="403" cy="25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charset="-122"/>
                </a:rPr>
                <a:t>招标</a:t>
              </a:r>
              <a:endParaRPr lang="zh-CN" altLang="en-US" sz="20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7839" name="Oval 22"/>
            <p:cNvSpPr/>
            <p:nvPr/>
          </p:nvSpPr>
          <p:spPr>
            <a:xfrm>
              <a:off x="1306" y="3051"/>
              <a:ext cx="410" cy="36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840" name="Text Box 23"/>
            <p:cNvSpPr txBox="1"/>
            <p:nvPr/>
          </p:nvSpPr>
          <p:spPr>
            <a:xfrm>
              <a:off x="1300" y="3097"/>
              <a:ext cx="403" cy="25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charset="-122"/>
                </a:rPr>
                <a:t>备料</a:t>
              </a:r>
              <a:endParaRPr lang="zh-CN" altLang="en-US" sz="20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7841" name="Oval 24"/>
            <p:cNvSpPr/>
            <p:nvPr/>
          </p:nvSpPr>
          <p:spPr>
            <a:xfrm>
              <a:off x="2212" y="2275"/>
              <a:ext cx="411" cy="36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842" name="Text Box 25"/>
            <p:cNvSpPr txBox="1"/>
            <p:nvPr/>
          </p:nvSpPr>
          <p:spPr>
            <a:xfrm>
              <a:off x="2216" y="2257"/>
              <a:ext cx="373" cy="4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进驻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marL="0" lvl="0" indent="0" eaLnBrk="1" hangingPunct="1"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工地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7843" name="Oval 26"/>
            <p:cNvSpPr/>
            <p:nvPr/>
          </p:nvSpPr>
          <p:spPr>
            <a:xfrm>
              <a:off x="2212" y="3051"/>
              <a:ext cx="411" cy="36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844" name="Text Box 27"/>
            <p:cNvSpPr txBox="1"/>
            <p:nvPr/>
          </p:nvSpPr>
          <p:spPr>
            <a:xfrm>
              <a:off x="2217" y="3097"/>
              <a:ext cx="403" cy="25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charset="-122"/>
                </a:rPr>
                <a:t>测量</a:t>
              </a:r>
              <a:endParaRPr lang="zh-CN" altLang="en-US" sz="20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7845" name="Oval 28"/>
            <p:cNvSpPr/>
            <p:nvPr/>
          </p:nvSpPr>
          <p:spPr>
            <a:xfrm>
              <a:off x="3010" y="3096"/>
              <a:ext cx="410" cy="36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846" name="Text Box 29"/>
            <p:cNvSpPr txBox="1"/>
            <p:nvPr/>
          </p:nvSpPr>
          <p:spPr>
            <a:xfrm>
              <a:off x="2948" y="3150"/>
              <a:ext cx="507" cy="23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挖地基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7847" name="Oval 30"/>
            <p:cNvSpPr/>
            <p:nvPr/>
          </p:nvSpPr>
          <p:spPr>
            <a:xfrm>
              <a:off x="3398" y="2458"/>
              <a:ext cx="410" cy="36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848" name="Text Box 31"/>
            <p:cNvSpPr txBox="1"/>
            <p:nvPr/>
          </p:nvSpPr>
          <p:spPr>
            <a:xfrm>
              <a:off x="3398" y="2448"/>
              <a:ext cx="373" cy="4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浇注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marL="0" lvl="0" indent="0" eaLnBrk="1" hangingPunct="1"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水泥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7849" name="Oval 32"/>
            <p:cNvSpPr/>
            <p:nvPr/>
          </p:nvSpPr>
          <p:spPr>
            <a:xfrm>
              <a:off x="2929" y="1865"/>
              <a:ext cx="410" cy="365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850" name="Text Box 33"/>
            <p:cNvSpPr txBox="1"/>
            <p:nvPr/>
          </p:nvSpPr>
          <p:spPr>
            <a:xfrm>
              <a:off x="2948" y="1869"/>
              <a:ext cx="404" cy="406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搭架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 子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7851" name="Line 34"/>
            <p:cNvSpPr/>
            <p:nvPr/>
          </p:nvSpPr>
          <p:spPr>
            <a:xfrm flipV="1">
              <a:off x="1027" y="2321"/>
              <a:ext cx="364" cy="274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7852" name="Line 35"/>
            <p:cNvSpPr/>
            <p:nvPr/>
          </p:nvSpPr>
          <p:spPr>
            <a:xfrm>
              <a:off x="981" y="2868"/>
              <a:ext cx="365" cy="274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7853" name="Line 36"/>
            <p:cNvSpPr/>
            <p:nvPr/>
          </p:nvSpPr>
          <p:spPr>
            <a:xfrm>
              <a:off x="1711" y="2230"/>
              <a:ext cx="501" cy="182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7854" name="Line 37"/>
            <p:cNvSpPr/>
            <p:nvPr/>
          </p:nvSpPr>
          <p:spPr>
            <a:xfrm flipV="1">
              <a:off x="1665" y="2595"/>
              <a:ext cx="593" cy="501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7855" name="Line 38"/>
            <p:cNvSpPr/>
            <p:nvPr/>
          </p:nvSpPr>
          <p:spPr>
            <a:xfrm>
              <a:off x="2395" y="2640"/>
              <a:ext cx="0" cy="411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7856" name="Line 39"/>
            <p:cNvSpPr/>
            <p:nvPr/>
          </p:nvSpPr>
          <p:spPr>
            <a:xfrm flipV="1">
              <a:off x="2604" y="2190"/>
              <a:ext cx="365" cy="228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7857" name="Line 40"/>
            <p:cNvSpPr/>
            <p:nvPr/>
          </p:nvSpPr>
          <p:spPr>
            <a:xfrm>
              <a:off x="2531" y="2595"/>
              <a:ext cx="548" cy="547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7858" name="Line 41"/>
            <p:cNvSpPr/>
            <p:nvPr/>
          </p:nvSpPr>
          <p:spPr>
            <a:xfrm>
              <a:off x="3261" y="2184"/>
              <a:ext cx="228" cy="319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7859" name="Line 42"/>
            <p:cNvSpPr/>
            <p:nvPr/>
          </p:nvSpPr>
          <p:spPr>
            <a:xfrm flipV="1">
              <a:off x="3352" y="2823"/>
              <a:ext cx="228" cy="319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7860" name="Line 43"/>
            <p:cNvSpPr/>
            <p:nvPr/>
          </p:nvSpPr>
          <p:spPr>
            <a:xfrm>
              <a:off x="2604" y="3257"/>
              <a:ext cx="410" cy="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7861" name="Line 44"/>
            <p:cNvSpPr/>
            <p:nvPr/>
          </p:nvSpPr>
          <p:spPr>
            <a:xfrm flipV="1">
              <a:off x="3717" y="2230"/>
              <a:ext cx="183" cy="273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7862" name="Line 45"/>
            <p:cNvSpPr/>
            <p:nvPr/>
          </p:nvSpPr>
          <p:spPr>
            <a:xfrm>
              <a:off x="3763" y="2777"/>
              <a:ext cx="319" cy="182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7863" name="Line 46"/>
            <p:cNvSpPr/>
            <p:nvPr/>
          </p:nvSpPr>
          <p:spPr>
            <a:xfrm>
              <a:off x="3808" y="2640"/>
              <a:ext cx="274" cy="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7864" name="Line 47"/>
            <p:cNvSpPr/>
            <p:nvPr/>
          </p:nvSpPr>
          <p:spPr>
            <a:xfrm>
              <a:off x="4538" y="2640"/>
              <a:ext cx="228" cy="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7865" name="Text Box 48"/>
            <p:cNvSpPr txBox="1"/>
            <p:nvPr/>
          </p:nvSpPr>
          <p:spPr>
            <a:xfrm>
              <a:off x="4177" y="2458"/>
              <a:ext cx="28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1685" name="Group 49"/>
          <p:cNvGrpSpPr/>
          <p:nvPr/>
        </p:nvGrpSpPr>
        <p:grpSpPr>
          <a:xfrm>
            <a:off x="646113" y="1703388"/>
            <a:ext cx="955675" cy="909637"/>
            <a:chOff x="449" y="1344"/>
            <a:chExt cx="602" cy="573"/>
          </a:xfrm>
        </p:grpSpPr>
        <p:sp>
          <p:nvSpPr>
            <p:cNvPr id="77831" name="AutoShape 50"/>
            <p:cNvSpPr/>
            <p:nvPr/>
          </p:nvSpPr>
          <p:spPr>
            <a:xfrm rot="1446386">
              <a:off x="449" y="1344"/>
              <a:ext cx="602" cy="573"/>
            </a:xfrm>
            <a:prstGeom prst="star8">
              <a:avLst>
                <a:gd name="adj" fmla="val 28903"/>
              </a:avLst>
            </a:prstGeom>
            <a:gradFill rotWithShape="0">
              <a:gsLst>
                <a:gs pos="0">
                  <a:srgbClr val="FF00FF"/>
                </a:gs>
                <a:gs pos="100000">
                  <a:srgbClr val="760076"/>
                </a:gs>
              </a:gsLst>
              <a:path path="shape">
                <a:fillToRect l="50000" t="50000" r="50000" b="50000"/>
              </a:path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832" name="Text Box 51"/>
            <p:cNvSpPr txBox="1"/>
            <p:nvPr/>
          </p:nvSpPr>
          <p:spPr>
            <a:xfrm>
              <a:off x="541" y="1477"/>
              <a:ext cx="441" cy="31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zh-CN" altLang="en-US" sz="27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例</a:t>
              </a:r>
              <a:r>
                <a:rPr lang="en-US" altLang="zh-CN" sz="27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1</a:t>
              </a:r>
              <a:endParaRPr lang="en-US" altLang="zh-CN" sz="2600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7828" name="Oval 7"/>
          <p:cNvSpPr/>
          <p:nvPr/>
        </p:nvSpPr>
        <p:spPr>
          <a:xfrm>
            <a:off x="547688" y="862013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7829" name="Text Box 8"/>
          <p:cNvSpPr txBox="1"/>
          <p:nvPr/>
        </p:nvSpPr>
        <p:spPr>
          <a:xfrm>
            <a:off x="971550" y="777875"/>
            <a:ext cx="579501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AOV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-Activity On Vertex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7830" name="Text Box 2"/>
          <p:cNvSpPr txBox="1"/>
          <p:nvPr/>
        </p:nvSpPr>
        <p:spPr>
          <a:xfrm>
            <a:off x="4788535" y="86995"/>
            <a:ext cx="4385310" cy="5835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7.5 AOV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网与拓扑排序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850" name="Group 211"/>
          <p:cNvGrpSpPr/>
          <p:nvPr/>
        </p:nvGrpSpPr>
        <p:grpSpPr>
          <a:xfrm>
            <a:off x="1273175" y="2524125"/>
            <a:ext cx="7091363" cy="3389313"/>
            <a:chOff x="1005" y="1008"/>
            <a:chExt cx="4146" cy="2135"/>
          </a:xfrm>
        </p:grpSpPr>
        <p:sp>
          <p:nvSpPr>
            <p:cNvPr id="78858" name="Oval 151"/>
            <p:cNvSpPr/>
            <p:nvPr/>
          </p:nvSpPr>
          <p:spPr>
            <a:xfrm>
              <a:off x="1737" y="1008"/>
              <a:ext cx="392" cy="349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859" name="Text Box 152"/>
            <p:cNvSpPr txBox="1"/>
            <p:nvPr/>
          </p:nvSpPr>
          <p:spPr>
            <a:xfrm>
              <a:off x="1747" y="1019"/>
              <a:ext cx="374" cy="33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程序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语言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8860" name="Oval 153"/>
            <p:cNvSpPr/>
            <p:nvPr/>
          </p:nvSpPr>
          <p:spPr>
            <a:xfrm>
              <a:off x="2579" y="1330"/>
              <a:ext cx="393" cy="349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861" name="Text Box 154"/>
            <p:cNvSpPr txBox="1"/>
            <p:nvPr/>
          </p:nvSpPr>
          <p:spPr>
            <a:xfrm>
              <a:off x="2596" y="1368"/>
              <a:ext cx="374" cy="33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数据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结构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8862" name="Oval 155"/>
            <p:cNvSpPr/>
            <p:nvPr/>
          </p:nvSpPr>
          <p:spPr>
            <a:xfrm>
              <a:off x="1781" y="1880"/>
              <a:ext cx="392" cy="349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863" name="Text Box 156"/>
            <p:cNvSpPr txBox="1"/>
            <p:nvPr/>
          </p:nvSpPr>
          <p:spPr>
            <a:xfrm>
              <a:off x="1804" y="1899"/>
              <a:ext cx="374" cy="33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离散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数学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8864" name="Oval 157"/>
            <p:cNvSpPr/>
            <p:nvPr/>
          </p:nvSpPr>
          <p:spPr>
            <a:xfrm>
              <a:off x="4745" y="1600"/>
              <a:ext cx="391" cy="349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865" name="Text Box 158"/>
            <p:cNvSpPr txBox="1"/>
            <p:nvPr/>
          </p:nvSpPr>
          <p:spPr>
            <a:xfrm>
              <a:off x="4777" y="1629"/>
              <a:ext cx="374" cy="33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软件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工程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8866" name="Oval 159"/>
            <p:cNvSpPr/>
            <p:nvPr/>
          </p:nvSpPr>
          <p:spPr>
            <a:xfrm>
              <a:off x="3872" y="2603"/>
              <a:ext cx="393" cy="35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867" name="Text Box 160"/>
            <p:cNvSpPr txBox="1"/>
            <p:nvPr/>
          </p:nvSpPr>
          <p:spPr>
            <a:xfrm>
              <a:off x="3895" y="2625"/>
              <a:ext cx="374" cy="33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操作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系统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8868" name="Oval 161"/>
            <p:cNvSpPr/>
            <p:nvPr/>
          </p:nvSpPr>
          <p:spPr>
            <a:xfrm>
              <a:off x="3785" y="1077"/>
              <a:ext cx="393" cy="349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869" name="Text Box 162"/>
            <p:cNvSpPr txBox="1"/>
            <p:nvPr/>
          </p:nvSpPr>
          <p:spPr>
            <a:xfrm>
              <a:off x="3807" y="1103"/>
              <a:ext cx="374" cy="33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编译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原理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8870" name="Oval 163"/>
            <p:cNvSpPr/>
            <p:nvPr/>
          </p:nvSpPr>
          <p:spPr>
            <a:xfrm>
              <a:off x="3797" y="1871"/>
              <a:ext cx="391" cy="349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871" name="Text Box 164"/>
            <p:cNvSpPr txBox="1"/>
            <p:nvPr/>
          </p:nvSpPr>
          <p:spPr>
            <a:xfrm>
              <a:off x="3747" y="1927"/>
              <a:ext cx="508" cy="19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数据库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8872" name="Oval 165"/>
            <p:cNvSpPr/>
            <p:nvPr/>
          </p:nvSpPr>
          <p:spPr>
            <a:xfrm>
              <a:off x="2696" y="2124"/>
              <a:ext cx="392" cy="349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873" name="Text Box 166"/>
            <p:cNvSpPr txBox="1"/>
            <p:nvPr/>
          </p:nvSpPr>
          <p:spPr>
            <a:xfrm>
              <a:off x="2643" y="2172"/>
              <a:ext cx="508" cy="33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计算机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组成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8874" name="Oval 167"/>
            <p:cNvSpPr/>
            <p:nvPr/>
          </p:nvSpPr>
          <p:spPr>
            <a:xfrm>
              <a:off x="2870" y="2647"/>
              <a:ext cx="392" cy="35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875" name="Text Box 168"/>
            <p:cNvSpPr txBox="1"/>
            <p:nvPr/>
          </p:nvSpPr>
          <p:spPr>
            <a:xfrm>
              <a:off x="2889" y="2708"/>
              <a:ext cx="374" cy="19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汇编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8876" name="Oval 169"/>
            <p:cNvSpPr/>
            <p:nvPr/>
          </p:nvSpPr>
          <p:spPr>
            <a:xfrm>
              <a:off x="4740" y="2429"/>
              <a:ext cx="393" cy="349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877" name="Text Box 170"/>
            <p:cNvSpPr txBox="1"/>
            <p:nvPr/>
          </p:nvSpPr>
          <p:spPr>
            <a:xfrm>
              <a:off x="4756" y="2487"/>
              <a:ext cx="374" cy="19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网络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8878" name="Oval 171"/>
            <p:cNvSpPr/>
            <p:nvPr/>
          </p:nvSpPr>
          <p:spPr>
            <a:xfrm>
              <a:off x="1868" y="2753"/>
              <a:ext cx="393" cy="349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879" name="Text Box 172"/>
            <p:cNvSpPr txBox="1"/>
            <p:nvPr/>
          </p:nvSpPr>
          <p:spPr>
            <a:xfrm>
              <a:off x="1898" y="2807"/>
              <a:ext cx="374" cy="33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数字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逻辑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8880" name="Oval 173"/>
            <p:cNvSpPr/>
            <p:nvPr/>
          </p:nvSpPr>
          <p:spPr>
            <a:xfrm>
              <a:off x="1061" y="2167"/>
              <a:ext cx="392" cy="349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881" name="Text Box 174"/>
            <p:cNvSpPr txBox="1"/>
            <p:nvPr/>
          </p:nvSpPr>
          <p:spPr>
            <a:xfrm>
              <a:off x="1005" y="2203"/>
              <a:ext cx="508" cy="33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计算机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marL="0" lvl="0" indent="0"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charset="-122"/>
                </a:rPr>
                <a:t>导论</a:t>
              </a:r>
              <a:endParaRPr lang="zh-CN" altLang="en-US" sz="18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78882" name="Line 175"/>
            <p:cNvSpPr/>
            <p:nvPr/>
          </p:nvSpPr>
          <p:spPr>
            <a:xfrm flipV="1">
              <a:off x="1301" y="1339"/>
              <a:ext cx="523" cy="828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8883" name="Line 176"/>
            <p:cNvSpPr/>
            <p:nvPr/>
          </p:nvSpPr>
          <p:spPr>
            <a:xfrm flipV="1">
              <a:off x="1432" y="2124"/>
              <a:ext cx="349" cy="131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8884" name="Line 177"/>
            <p:cNvSpPr/>
            <p:nvPr/>
          </p:nvSpPr>
          <p:spPr>
            <a:xfrm>
              <a:off x="2120" y="1284"/>
              <a:ext cx="436" cy="175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8885" name="Line 178"/>
            <p:cNvSpPr/>
            <p:nvPr/>
          </p:nvSpPr>
          <p:spPr>
            <a:xfrm flipV="1">
              <a:off x="2173" y="1644"/>
              <a:ext cx="436" cy="305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8886" name="Line 179"/>
            <p:cNvSpPr/>
            <p:nvPr/>
          </p:nvSpPr>
          <p:spPr>
            <a:xfrm flipV="1">
              <a:off x="2217" y="2429"/>
              <a:ext cx="523" cy="393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8887" name="Line 180"/>
            <p:cNvSpPr/>
            <p:nvPr/>
          </p:nvSpPr>
          <p:spPr>
            <a:xfrm flipV="1">
              <a:off x="1475" y="2298"/>
              <a:ext cx="1221" cy="87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8888" name="Line 181"/>
            <p:cNvSpPr/>
            <p:nvPr/>
          </p:nvSpPr>
          <p:spPr>
            <a:xfrm flipV="1">
              <a:off x="2958" y="1295"/>
              <a:ext cx="827" cy="175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8889" name="Line 182"/>
            <p:cNvSpPr/>
            <p:nvPr/>
          </p:nvSpPr>
          <p:spPr>
            <a:xfrm>
              <a:off x="2958" y="1600"/>
              <a:ext cx="827" cy="393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8890" name="Line 183"/>
            <p:cNvSpPr/>
            <p:nvPr/>
          </p:nvSpPr>
          <p:spPr>
            <a:xfrm>
              <a:off x="2871" y="1688"/>
              <a:ext cx="1045" cy="959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8891" name="Line 184"/>
            <p:cNvSpPr/>
            <p:nvPr/>
          </p:nvSpPr>
          <p:spPr>
            <a:xfrm>
              <a:off x="3088" y="2385"/>
              <a:ext cx="784" cy="349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8892" name="Line 185"/>
            <p:cNvSpPr/>
            <p:nvPr/>
          </p:nvSpPr>
          <p:spPr>
            <a:xfrm flipV="1">
              <a:off x="3262" y="2822"/>
              <a:ext cx="610" cy="44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8893" name="Line 186"/>
            <p:cNvSpPr/>
            <p:nvPr/>
          </p:nvSpPr>
          <p:spPr>
            <a:xfrm>
              <a:off x="4177" y="1339"/>
              <a:ext cx="567" cy="349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8894" name="Line 187"/>
            <p:cNvSpPr/>
            <p:nvPr/>
          </p:nvSpPr>
          <p:spPr>
            <a:xfrm flipV="1">
              <a:off x="4265" y="2647"/>
              <a:ext cx="479" cy="87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8895" name="Line 188"/>
            <p:cNvSpPr/>
            <p:nvPr/>
          </p:nvSpPr>
          <p:spPr>
            <a:xfrm>
              <a:off x="1388" y="2473"/>
              <a:ext cx="523" cy="349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8896" name="Line 189"/>
            <p:cNvSpPr/>
            <p:nvPr/>
          </p:nvSpPr>
          <p:spPr>
            <a:xfrm>
              <a:off x="1432" y="2429"/>
              <a:ext cx="1439" cy="393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8897" name="Line 190"/>
            <p:cNvSpPr/>
            <p:nvPr/>
          </p:nvSpPr>
          <p:spPr>
            <a:xfrm flipV="1">
              <a:off x="4221" y="1862"/>
              <a:ext cx="567" cy="175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78898" name="Line 191"/>
            <p:cNvSpPr/>
            <p:nvPr/>
          </p:nvSpPr>
          <p:spPr>
            <a:xfrm>
              <a:off x="2217" y="2037"/>
              <a:ext cx="1568" cy="43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</p:grpSp>
      <p:grpSp>
        <p:nvGrpSpPr>
          <p:cNvPr id="78851" name="Group 207"/>
          <p:cNvGrpSpPr/>
          <p:nvPr/>
        </p:nvGrpSpPr>
        <p:grpSpPr>
          <a:xfrm>
            <a:off x="390525" y="1838325"/>
            <a:ext cx="955675" cy="909638"/>
            <a:chOff x="449" y="1344"/>
            <a:chExt cx="602" cy="573"/>
          </a:xfrm>
        </p:grpSpPr>
        <p:sp>
          <p:nvSpPr>
            <p:cNvPr id="78856" name="AutoShape 208"/>
            <p:cNvSpPr/>
            <p:nvPr/>
          </p:nvSpPr>
          <p:spPr>
            <a:xfrm rot="1446386">
              <a:off x="449" y="1344"/>
              <a:ext cx="602" cy="573"/>
            </a:xfrm>
            <a:prstGeom prst="star8">
              <a:avLst>
                <a:gd name="adj" fmla="val 28903"/>
              </a:avLst>
            </a:prstGeom>
            <a:gradFill rotWithShape="0">
              <a:gsLst>
                <a:gs pos="0">
                  <a:srgbClr val="FF00FF"/>
                </a:gs>
                <a:gs pos="100000">
                  <a:srgbClr val="760076"/>
                </a:gs>
              </a:gsLst>
              <a:path path="shape">
                <a:fillToRect l="50000" t="50000" r="50000" b="50000"/>
              </a:path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857" name="Text Box 209"/>
            <p:cNvSpPr txBox="1"/>
            <p:nvPr/>
          </p:nvSpPr>
          <p:spPr>
            <a:xfrm>
              <a:off x="541" y="1477"/>
              <a:ext cx="441" cy="31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zh-CN" altLang="en-US" sz="27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例</a:t>
              </a:r>
              <a:r>
                <a:rPr lang="en-US" altLang="zh-CN" sz="27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2</a:t>
              </a:r>
              <a:endParaRPr lang="en-US" altLang="zh-CN" sz="2600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2196" name="AutoShape 212"/>
          <p:cNvSpPr>
            <a:spLocks noChangeArrowheads="1"/>
          </p:cNvSpPr>
          <p:nvPr/>
        </p:nvSpPr>
        <p:spPr bwMode="auto">
          <a:xfrm>
            <a:off x="4502150" y="1571625"/>
            <a:ext cx="1687513" cy="609600"/>
          </a:xfrm>
          <a:prstGeom prst="wedgeRoundRectCallout">
            <a:avLst>
              <a:gd name="adj1" fmla="val -60819"/>
              <a:gd name="adj2" fmla="val 194532"/>
              <a:gd name="adj3" fmla="val 16667"/>
            </a:avLst>
          </a:prstGeom>
          <a:gradFill rotWithShape="1">
            <a:gsLst>
              <a:gs pos="0">
                <a:srgbClr val="BABFE0"/>
              </a:gs>
              <a:gs pos="50000">
                <a:schemeClr val="bg1"/>
              </a:gs>
              <a:gs pos="100000">
                <a:srgbClr val="BABFE0"/>
              </a:gs>
            </a:gsLst>
            <a:lin ang="5400000" scaled="1"/>
          </a:gra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编译原理”的直接前驱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8853" name="Oval 7"/>
          <p:cNvSpPr/>
          <p:nvPr/>
        </p:nvSpPr>
        <p:spPr>
          <a:xfrm>
            <a:off x="547688" y="92868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8854" name="Text Box 8"/>
          <p:cNvSpPr txBox="1"/>
          <p:nvPr/>
        </p:nvSpPr>
        <p:spPr>
          <a:xfrm>
            <a:off x="971550" y="844550"/>
            <a:ext cx="572643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AOV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-Activity On Vertex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8855" name="Text Box 2"/>
          <p:cNvSpPr txBox="1"/>
          <p:nvPr/>
        </p:nvSpPr>
        <p:spPr>
          <a:xfrm>
            <a:off x="4700270" y="84455"/>
            <a:ext cx="4347210" cy="5835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7.5 AOV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网与拓扑排序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96" grpId="0" bldLvl="0" animBg="1"/>
      <p:bldP spid="42196" grpId="1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98" name="Text Box 66"/>
          <p:cNvSpPr txBox="1"/>
          <p:nvPr/>
        </p:nvSpPr>
        <p:spPr>
          <a:xfrm>
            <a:off x="712788" y="3078163"/>
            <a:ext cx="7786687" cy="17887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15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AOV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网中，若顶点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到顶点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j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之间有有向路径， 则称顶点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为顶点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j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的前驱，顶点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j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为顶点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的后继；若顶点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到顶点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j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之间为一条有向边，则称顶点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为顶点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j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的直接前驱，顶点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j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为顶点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的直接后继。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9875" name="Text Box 69"/>
          <p:cNvSpPr txBox="1"/>
          <p:nvPr/>
        </p:nvSpPr>
        <p:spPr>
          <a:xfrm>
            <a:off x="762000" y="1741488"/>
            <a:ext cx="7786688" cy="9398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15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以顶点表示活动，以有向边表示活动之间的优先关系的有向图称为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AOV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9876" name="Oval 7"/>
          <p:cNvSpPr/>
          <p:nvPr/>
        </p:nvSpPr>
        <p:spPr>
          <a:xfrm>
            <a:off x="547688" y="92868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9877" name="Text Box 8"/>
          <p:cNvSpPr txBox="1"/>
          <p:nvPr/>
        </p:nvSpPr>
        <p:spPr>
          <a:xfrm>
            <a:off x="971550" y="844550"/>
            <a:ext cx="354171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AOV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网定义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9878" name="Text Box 2"/>
          <p:cNvSpPr txBox="1"/>
          <p:nvPr/>
        </p:nvSpPr>
        <p:spPr>
          <a:xfrm>
            <a:off x="4678045" y="84455"/>
            <a:ext cx="4376420" cy="5835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7.5 AOV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网与拓扑排序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98" grpId="0" bldLvl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176"/>
          <p:cNvSpPr txBox="1"/>
          <p:nvPr/>
        </p:nvSpPr>
        <p:spPr>
          <a:xfrm>
            <a:off x="762000" y="1482725"/>
            <a:ext cx="7853363" cy="939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15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检查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AOV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网是否存在回路的方法是对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AOV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网进行拓扑排序，构造一个序列，使得该序列满足条件：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Text Box 177"/>
          <p:cNvSpPr txBox="1"/>
          <p:nvPr/>
        </p:nvSpPr>
        <p:spPr>
          <a:xfrm>
            <a:off x="846138" y="4994275"/>
            <a:ext cx="7853362" cy="9772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       3.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若能够构造出拓扑序列，则拓扑序列包含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AOV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网的全部顶点。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80900" name="Oval 7"/>
          <p:cNvSpPr/>
          <p:nvPr/>
        </p:nvSpPr>
        <p:spPr>
          <a:xfrm>
            <a:off x="547688" y="92868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0901" name="Text Box 8"/>
          <p:cNvSpPr txBox="1"/>
          <p:nvPr/>
        </p:nvSpPr>
        <p:spPr>
          <a:xfrm>
            <a:off x="971550" y="844550"/>
            <a:ext cx="5418138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</a:t>
            </a:r>
            <a:r>
              <a:rPr lang="zh-CN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拓扑排序</a:t>
            </a:r>
            <a:endParaRPr lang="zh-CN" altLang="zh-CN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62000" y="3381375"/>
            <a:ext cx="7900988" cy="14204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若在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AOV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网中，顶点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与顶点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之间不存在优先关系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则在该序列中建立它们的优先关系，即顶点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优先于顶点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，或顶点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j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优先于顶点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14375" y="2416175"/>
            <a:ext cx="7900988" cy="9772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若在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AOV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网中，顶点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优先于顶点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j ,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则在该序列中也是顶点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优先于顶点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j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80904" name="Text Box 2"/>
          <p:cNvSpPr txBox="1"/>
          <p:nvPr/>
        </p:nvSpPr>
        <p:spPr>
          <a:xfrm>
            <a:off x="4513263" y="84138"/>
            <a:ext cx="46370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7.5 AOV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网与拓扑排序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137"/>
          <p:cNvSpPr txBox="1"/>
          <p:nvPr/>
        </p:nvSpPr>
        <p:spPr>
          <a:xfrm>
            <a:off x="561975" y="1751013"/>
            <a:ext cx="8066088" cy="290766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1.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从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AOV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网中任选择一个没有前驱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入度为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0)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的顶点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；</a:t>
            </a:r>
            <a:endParaRPr lang="zh-CN" altLang="en-US" sz="2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从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AOV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网中去掉该顶点以及以该顶点为出发点的所有边；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重复上述过程，直到：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网中的所有顶点都被去掉；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或者网中还有顶点，但不存在入度为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的顶点；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1923" name="Oval 7"/>
          <p:cNvSpPr/>
          <p:nvPr/>
        </p:nvSpPr>
        <p:spPr>
          <a:xfrm>
            <a:off x="547688" y="92868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1924" name="Text Box 8"/>
          <p:cNvSpPr txBox="1"/>
          <p:nvPr/>
        </p:nvSpPr>
        <p:spPr>
          <a:xfrm>
            <a:off x="971550" y="844550"/>
            <a:ext cx="5418138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4. </a:t>
            </a:r>
            <a:r>
              <a:rPr lang="zh-CN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拓扑排序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方法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94225" y="3545205"/>
            <a:ext cx="17957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无回路</a:t>
            </a:r>
            <a:endParaRPr lang="zh-CN" altLang="en-US" sz="2400" b="1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40575" y="4132580"/>
            <a:ext cx="175831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有回路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1927" name="Text Box 2"/>
          <p:cNvSpPr txBox="1"/>
          <p:nvPr/>
        </p:nvSpPr>
        <p:spPr>
          <a:xfrm>
            <a:off x="4725670" y="84455"/>
            <a:ext cx="4424680" cy="5835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7.5 AOV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网与拓扑排序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53" name="Group 149"/>
          <p:cNvGrpSpPr/>
          <p:nvPr/>
        </p:nvGrpSpPr>
        <p:grpSpPr>
          <a:xfrm>
            <a:off x="1431925" y="5870575"/>
            <a:ext cx="3114675" cy="460375"/>
            <a:chOff x="1494" y="3744"/>
            <a:chExt cx="1962" cy="290"/>
          </a:xfrm>
        </p:grpSpPr>
        <p:sp>
          <p:nvSpPr>
            <p:cNvPr id="83040" name="Text Box 53"/>
            <p:cNvSpPr txBox="1"/>
            <p:nvPr/>
          </p:nvSpPr>
          <p:spPr>
            <a:xfrm>
              <a:off x="1494" y="3744"/>
              <a:ext cx="274" cy="29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30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b="1" baseline="-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41" name="Text Box 54"/>
            <p:cNvSpPr txBox="1"/>
            <p:nvPr/>
          </p:nvSpPr>
          <p:spPr>
            <a:xfrm>
              <a:off x="1788" y="3744"/>
              <a:ext cx="276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30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baseline="-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42" name="Text Box 55"/>
            <p:cNvSpPr txBox="1"/>
            <p:nvPr/>
          </p:nvSpPr>
          <p:spPr>
            <a:xfrm>
              <a:off x="3180" y="3744"/>
              <a:ext cx="276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30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400" b="1" baseline="-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43" name="Text Box 56"/>
            <p:cNvSpPr txBox="1"/>
            <p:nvPr/>
          </p:nvSpPr>
          <p:spPr>
            <a:xfrm>
              <a:off x="2604" y="3744"/>
              <a:ext cx="276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30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400" b="1" baseline="-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44" name="Text Box 57"/>
            <p:cNvSpPr txBox="1"/>
            <p:nvPr/>
          </p:nvSpPr>
          <p:spPr>
            <a:xfrm>
              <a:off x="2076" y="3744"/>
              <a:ext cx="276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30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b="1" baseline="-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45" name="Text Box 58"/>
            <p:cNvSpPr txBox="1"/>
            <p:nvPr/>
          </p:nvSpPr>
          <p:spPr>
            <a:xfrm>
              <a:off x="2316" y="3744"/>
              <a:ext cx="276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30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 baseline="-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46" name="Text Box 59"/>
            <p:cNvSpPr txBox="1"/>
            <p:nvPr/>
          </p:nvSpPr>
          <p:spPr>
            <a:xfrm>
              <a:off x="2892" y="3744"/>
              <a:ext cx="276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30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400" b="1" baseline="-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249" name="Group 145"/>
          <p:cNvGrpSpPr/>
          <p:nvPr/>
        </p:nvGrpSpPr>
        <p:grpSpPr>
          <a:xfrm>
            <a:off x="381000" y="700088"/>
            <a:ext cx="4038600" cy="1728787"/>
            <a:chOff x="240" y="328"/>
            <a:chExt cx="2544" cy="1089"/>
          </a:xfrm>
        </p:grpSpPr>
        <p:sp>
          <p:nvSpPr>
            <p:cNvPr id="83015" name="Oval 31"/>
            <p:cNvSpPr/>
            <p:nvPr/>
          </p:nvSpPr>
          <p:spPr>
            <a:xfrm>
              <a:off x="970" y="515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16" name="Text Box 32"/>
            <p:cNvSpPr txBox="1"/>
            <p:nvPr/>
          </p:nvSpPr>
          <p:spPr>
            <a:xfrm>
              <a:off x="1007" y="506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17" name="Oval 33"/>
            <p:cNvSpPr/>
            <p:nvPr/>
          </p:nvSpPr>
          <p:spPr>
            <a:xfrm>
              <a:off x="1609" y="1143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18" name="Text Box 34"/>
            <p:cNvSpPr txBox="1"/>
            <p:nvPr/>
          </p:nvSpPr>
          <p:spPr>
            <a:xfrm>
              <a:off x="1613" y="1137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19" name="Oval 35"/>
            <p:cNvSpPr/>
            <p:nvPr/>
          </p:nvSpPr>
          <p:spPr>
            <a:xfrm>
              <a:off x="1472" y="698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20" name="Text Box 36"/>
            <p:cNvSpPr txBox="1"/>
            <p:nvPr/>
          </p:nvSpPr>
          <p:spPr>
            <a:xfrm>
              <a:off x="1502" y="690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21" name="Oval 37"/>
            <p:cNvSpPr/>
            <p:nvPr/>
          </p:nvSpPr>
          <p:spPr>
            <a:xfrm>
              <a:off x="970" y="1017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22" name="Text Box 38"/>
            <p:cNvSpPr txBox="1"/>
            <p:nvPr/>
          </p:nvSpPr>
          <p:spPr>
            <a:xfrm>
              <a:off x="989" y="1019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23" name="Oval 39"/>
            <p:cNvSpPr/>
            <p:nvPr/>
          </p:nvSpPr>
          <p:spPr>
            <a:xfrm>
              <a:off x="2075" y="480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24" name="Text Box 40"/>
            <p:cNvSpPr txBox="1"/>
            <p:nvPr/>
          </p:nvSpPr>
          <p:spPr>
            <a:xfrm>
              <a:off x="2095" y="475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25" name="Oval 41"/>
            <p:cNvSpPr/>
            <p:nvPr/>
          </p:nvSpPr>
          <p:spPr>
            <a:xfrm>
              <a:off x="1472" y="333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26" name="Text Box 42"/>
            <p:cNvSpPr txBox="1"/>
            <p:nvPr/>
          </p:nvSpPr>
          <p:spPr>
            <a:xfrm>
              <a:off x="1491" y="328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27" name="Oval 43"/>
            <p:cNvSpPr/>
            <p:nvPr/>
          </p:nvSpPr>
          <p:spPr>
            <a:xfrm>
              <a:off x="2510" y="694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28" name="Text Box 44"/>
            <p:cNvSpPr txBox="1"/>
            <p:nvPr/>
          </p:nvSpPr>
          <p:spPr>
            <a:xfrm>
              <a:off x="2529" y="686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29" name="Line 45"/>
            <p:cNvSpPr/>
            <p:nvPr/>
          </p:nvSpPr>
          <p:spPr>
            <a:xfrm flipV="1">
              <a:off x="1259" y="912"/>
              <a:ext cx="274" cy="182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3030" name="Line 46"/>
            <p:cNvSpPr/>
            <p:nvPr/>
          </p:nvSpPr>
          <p:spPr>
            <a:xfrm>
              <a:off x="1244" y="743"/>
              <a:ext cx="228" cy="92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3031" name="Line 47"/>
            <p:cNvSpPr/>
            <p:nvPr/>
          </p:nvSpPr>
          <p:spPr>
            <a:xfrm>
              <a:off x="1244" y="1200"/>
              <a:ext cx="410" cy="91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3032" name="Line 48"/>
            <p:cNvSpPr/>
            <p:nvPr/>
          </p:nvSpPr>
          <p:spPr>
            <a:xfrm>
              <a:off x="1757" y="481"/>
              <a:ext cx="319" cy="91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3033" name="Line 49"/>
            <p:cNvSpPr/>
            <p:nvPr/>
          </p:nvSpPr>
          <p:spPr>
            <a:xfrm flipV="1">
              <a:off x="1746" y="835"/>
              <a:ext cx="775" cy="45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3034" name="Line 50"/>
            <p:cNvSpPr/>
            <p:nvPr/>
          </p:nvSpPr>
          <p:spPr>
            <a:xfrm>
              <a:off x="2326" y="661"/>
              <a:ext cx="182" cy="137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3035" name="Line 51"/>
            <p:cNvSpPr/>
            <p:nvPr/>
          </p:nvSpPr>
          <p:spPr>
            <a:xfrm flipV="1">
              <a:off x="1859" y="926"/>
              <a:ext cx="684" cy="319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3036" name="Line 52"/>
            <p:cNvSpPr/>
            <p:nvPr/>
          </p:nvSpPr>
          <p:spPr>
            <a:xfrm flipV="1">
              <a:off x="1244" y="515"/>
              <a:ext cx="274" cy="92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grpSp>
          <p:nvGrpSpPr>
            <p:cNvPr id="83037" name="Group 61"/>
            <p:cNvGrpSpPr/>
            <p:nvPr/>
          </p:nvGrpSpPr>
          <p:grpSpPr>
            <a:xfrm>
              <a:off x="240" y="336"/>
              <a:ext cx="576" cy="576"/>
              <a:chOff x="480" y="3408"/>
              <a:chExt cx="576" cy="576"/>
            </a:xfrm>
          </p:grpSpPr>
          <p:sp>
            <p:nvSpPr>
              <p:cNvPr id="83038" name="AutoShape 62"/>
              <p:cNvSpPr/>
              <p:nvPr/>
            </p:nvSpPr>
            <p:spPr>
              <a:xfrm rot="2209811">
                <a:off x="480" y="3408"/>
                <a:ext cx="576" cy="576"/>
              </a:xfrm>
              <a:prstGeom prst="irregularSeal2">
                <a:avLst/>
              </a:prstGeom>
              <a:gradFill rotWithShape="0">
                <a:gsLst>
                  <a:gs pos="0">
                    <a:srgbClr val="761800"/>
                  </a:gs>
                  <a:gs pos="100000">
                    <a:srgbClr val="FF3300"/>
                  </a:gs>
                </a:gsLst>
                <a:path path="shape">
                  <a:fillToRect l="50000" t="50000" r="50000" b="50000"/>
                </a:path>
                <a:tileRect/>
              </a:gradFill>
              <a:ln w="12700" cap="sq" cmpd="sng">
                <a:solidFill>
                  <a:srgbClr val="808080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</a:pP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039" name="Text Box 63"/>
              <p:cNvSpPr txBox="1"/>
              <p:nvPr/>
            </p:nvSpPr>
            <p:spPr>
              <a:xfrm>
                <a:off x="568" y="3506"/>
                <a:ext cx="356" cy="34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</a:pPr>
                <a:r>
                  <a:rPr lang="zh-CN" altLang="en-US" sz="3000" b="1" dirty="0"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例</a:t>
                </a:r>
                <a:endParaRPr lang="zh-CN" altLang="en-US" sz="3000" b="1" dirty="0"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</p:grpSp>
      <p:grpSp>
        <p:nvGrpSpPr>
          <p:cNvPr id="47250" name="Group 146"/>
          <p:cNvGrpSpPr/>
          <p:nvPr/>
        </p:nvGrpSpPr>
        <p:grpSpPr>
          <a:xfrm>
            <a:off x="5402263" y="712788"/>
            <a:ext cx="2879725" cy="1728787"/>
            <a:chOff x="3403" y="336"/>
            <a:chExt cx="1814" cy="1089"/>
          </a:xfrm>
        </p:grpSpPr>
        <p:sp>
          <p:nvSpPr>
            <p:cNvPr id="82997" name="Oval 95"/>
            <p:cNvSpPr/>
            <p:nvPr/>
          </p:nvSpPr>
          <p:spPr>
            <a:xfrm>
              <a:off x="4042" y="1151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98" name="Text Box 96"/>
            <p:cNvSpPr txBox="1"/>
            <p:nvPr/>
          </p:nvSpPr>
          <p:spPr>
            <a:xfrm>
              <a:off x="4046" y="1145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99" name="Oval 97"/>
            <p:cNvSpPr/>
            <p:nvPr/>
          </p:nvSpPr>
          <p:spPr>
            <a:xfrm>
              <a:off x="3905" y="706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00" name="Text Box 98"/>
            <p:cNvSpPr txBox="1"/>
            <p:nvPr/>
          </p:nvSpPr>
          <p:spPr>
            <a:xfrm>
              <a:off x="3935" y="698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01" name="Oval 99"/>
            <p:cNvSpPr/>
            <p:nvPr/>
          </p:nvSpPr>
          <p:spPr>
            <a:xfrm>
              <a:off x="3403" y="1025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02" name="Text Box 100"/>
            <p:cNvSpPr txBox="1"/>
            <p:nvPr/>
          </p:nvSpPr>
          <p:spPr>
            <a:xfrm>
              <a:off x="3422" y="1027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03" name="Oval 101"/>
            <p:cNvSpPr/>
            <p:nvPr/>
          </p:nvSpPr>
          <p:spPr>
            <a:xfrm>
              <a:off x="4508" y="488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04" name="Text Box 102"/>
            <p:cNvSpPr txBox="1"/>
            <p:nvPr/>
          </p:nvSpPr>
          <p:spPr>
            <a:xfrm>
              <a:off x="4528" y="483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05" name="Oval 103"/>
            <p:cNvSpPr/>
            <p:nvPr/>
          </p:nvSpPr>
          <p:spPr>
            <a:xfrm>
              <a:off x="3905" y="341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06" name="Text Box 104"/>
            <p:cNvSpPr txBox="1"/>
            <p:nvPr/>
          </p:nvSpPr>
          <p:spPr>
            <a:xfrm>
              <a:off x="3924" y="336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07" name="Oval 105"/>
            <p:cNvSpPr/>
            <p:nvPr/>
          </p:nvSpPr>
          <p:spPr>
            <a:xfrm>
              <a:off x="4943" y="702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08" name="Text Box 106"/>
            <p:cNvSpPr txBox="1"/>
            <p:nvPr/>
          </p:nvSpPr>
          <p:spPr>
            <a:xfrm>
              <a:off x="4962" y="694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09" name="Line 107"/>
            <p:cNvSpPr/>
            <p:nvPr/>
          </p:nvSpPr>
          <p:spPr>
            <a:xfrm flipV="1">
              <a:off x="3692" y="920"/>
              <a:ext cx="274" cy="182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3010" name="Line 108"/>
            <p:cNvSpPr/>
            <p:nvPr/>
          </p:nvSpPr>
          <p:spPr>
            <a:xfrm>
              <a:off x="3677" y="1208"/>
              <a:ext cx="410" cy="91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3011" name="Line 109"/>
            <p:cNvSpPr/>
            <p:nvPr/>
          </p:nvSpPr>
          <p:spPr>
            <a:xfrm>
              <a:off x="4190" y="489"/>
              <a:ext cx="319" cy="91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3012" name="Line 110"/>
            <p:cNvSpPr/>
            <p:nvPr/>
          </p:nvSpPr>
          <p:spPr>
            <a:xfrm flipV="1">
              <a:off x="4179" y="843"/>
              <a:ext cx="775" cy="45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3013" name="Line 111"/>
            <p:cNvSpPr/>
            <p:nvPr/>
          </p:nvSpPr>
          <p:spPr>
            <a:xfrm>
              <a:off x="4759" y="669"/>
              <a:ext cx="182" cy="137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3014" name="Line 112"/>
            <p:cNvSpPr/>
            <p:nvPr/>
          </p:nvSpPr>
          <p:spPr>
            <a:xfrm flipV="1">
              <a:off x="4292" y="934"/>
              <a:ext cx="684" cy="319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</p:grpSp>
      <p:grpSp>
        <p:nvGrpSpPr>
          <p:cNvPr id="47254" name="Group 150"/>
          <p:cNvGrpSpPr/>
          <p:nvPr/>
        </p:nvGrpSpPr>
        <p:grpSpPr>
          <a:xfrm>
            <a:off x="1463675" y="2770188"/>
            <a:ext cx="2879725" cy="1495425"/>
            <a:chOff x="922" y="1632"/>
            <a:chExt cx="1814" cy="942"/>
          </a:xfrm>
        </p:grpSpPr>
        <p:sp>
          <p:nvSpPr>
            <p:cNvPr id="82982" name="Oval 79"/>
            <p:cNvSpPr/>
            <p:nvPr/>
          </p:nvSpPr>
          <p:spPr>
            <a:xfrm>
              <a:off x="1561" y="2300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83" name="Text Box 80"/>
            <p:cNvSpPr txBox="1"/>
            <p:nvPr/>
          </p:nvSpPr>
          <p:spPr>
            <a:xfrm>
              <a:off x="1565" y="2294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84" name="Oval 81"/>
            <p:cNvSpPr/>
            <p:nvPr/>
          </p:nvSpPr>
          <p:spPr>
            <a:xfrm>
              <a:off x="1424" y="1855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85" name="Text Box 82"/>
            <p:cNvSpPr txBox="1"/>
            <p:nvPr/>
          </p:nvSpPr>
          <p:spPr>
            <a:xfrm>
              <a:off x="1454" y="1847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86" name="Oval 83"/>
            <p:cNvSpPr/>
            <p:nvPr/>
          </p:nvSpPr>
          <p:spPr>
            <a:xfrm>
              <a:off x="922" y="2174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87" name="Text Box 84"/>
            <p:cNvSpPr txBox="1"/>
            <p:nvPr/>
          </p:nvSpPr>
          <p:spPr>
            <a:xfrm>
              <a:off x="941" y="2176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88" name="Oval 85"/>
            <p:cNvSpPr/>
            <p:nvPr/>
          </p:nvSpPr>
          <p:spPr>
            <a:xfrm>
              <a:off x="2027" y="1637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89" name="Text Box 86"/>
            <p:cNvSpPr txBox="1"/>
            <p:nvPr/>
          </p:nvSpPr>
          <p:spPr>
            <a:xfrm>
              <a:off x="2047" y="1632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90" name="Oval 87"/>
            <p:cNvSpPr/>
            <p:nvPr/>
          </p:nvSpPr>
          <p:spPr>
            <a:xfrm>
              <a:off x="2462" y="1851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91" name="Text Box 88"/>
            <p:cNvSpPr txBox="1"/>
            <p:nvPr/>
          </p:nvSpPr>
          <p:spPr>
            <a:xfrm>
              <a:off x="2481" y="1843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92" name="Line 89"/>
            <p:cNvSpPr/>
            <p:nvPr/>
          </p:nvSpPr>
          <p:spPr>
            <a:xfrm flipV="1">
              <a:off x="1211" y="2069"/>
              <a:ext cx="274" cy="182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2993" name="Line 90"/>
            <p:cNvSpPr/>
            <p:nvPr/>
          </p:nvSpPr>
          <p:spPr>
            <a:xfrm>
              <a:off x="1196" y="2357"/>
              <a:ext cx="410" cy="91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2994" name="Line 91"/>
            <p:cNvSpPr/>
            <p:nvPr/>
          </p:nvSpPr>
          <p:spPr>
            <a:xfrm flipV="1">
              <a:off x="1698" y="1992"/>
              <a:ext cx="775" cy="45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2995" name="Line 92"/>
            <p:cNvSpPr/>
            <p:nvPr/>
          </p:nvSpPr>
          <p:spPr>
            <a:xfrm>
              <a:off x="2278" y="1818"/>
              <a:ext cx="182" cy="137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2996" name="Line 93"/>
            <p:cNvSpPr/>
            <p:nvPr/>
          </p:nvSpPr>
          <p:spPr>
            <a:xfrm flipV="1">
              <a:off x="1811" y="2083"/>
              <a:ext cx="684" cy="319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</p:grpSp>
      <p:grpSp>
        <p:nvGrpSpPr>
          <p:cNvPr id="47256" name="Group 152"/>
          <p:cNvGrpSpPr/>
          <p:nvPr/>
        </p:nvGrpSpPr>
        <p:grpSpPr>
          <a:xfrm>
            <a:off x="2184400" y="4598988"/>
            <a:ext cx="2082800" cy="1160462"/>
            <a:chOff x="1376" y="2784"/>
            <a:chExt cx="1312" cy="731"/>
          </a:xfrm>
        </p:grpSpPr>
        <p:sp>
          <p:nvSpPr>
            <p:cNvPr id="82974" name="Oval 127"/>
            <p:cNvSpPr/>
            <p:nvPr/>
          </p:nvSpPr>
          <p:spPr>
            <a:xfrm>
              <a:off x="1513" y="3241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75" name="Text Box 128"/>
            <p:cNvSpPr txBox="1"/>
            <p:nvPr/>
          </p:nvSpPr>
          <p:spPr>
            <a:xfrm>
              <a:off x="1517" y="3235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76" name="Oval 129"/>
            <p:cNvSpPr/>
            <p:nvPr/>
          </p:nvSpPr>
          <p:spPr>
            <a:xfrm>
              <a:off x="1376" y="2796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77" name="Text Box 130"/>
            <p:cNvSpPr txBox="1"/>
            <p:nvPr/>
          </p:nvSpPr>
          <p:spPr>
            <a:xfrm>
              <a:off x="1406" y="2788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78" name="Oval 131"/>
            <p:cNvSpPr/>
            <p:nvPr/>
          </p:nvSpPr>
          <p:spPr>
            <a:xfrm>
              <a:off x="2414" y="2792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79" name="Text Box 132"/>
            <p:cNvSpPr txBox="1"/>
            <p:nvPr/>
          </p:nvSpPr>
          <p:spPr>
            <a:xfrm>
              <a:off x="2433" y="2784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80" name="Line 133"/>
            <p:cNvSpPr/>
            <p:nvPr/>
          </p:nvSpPr>
          <p:spPr>
            <a:xfrm flipV="1">
              <a:off x="1650" y="2933"/>
              <a:ext cx="775" cy="45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2981" name="Line 134"/>
            <p:cNvSpPr/>
            <p:nvPr/>
          </p:nvSpPr>
          <p:spPr>
            <a:xfrm flipV="1">
              <a:off x="1763" y="3024"/>
              <a:ext cx="684" cy="319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</p:grpSp>
      <p:grpSp>
        <p:nvGrpSpPr>
          <p:cNvPr id="47255" name="Group 151"/>
          <p:cNvGrpSpPr/>
          <p:nvPr/>
        </p:nvGrpSpPr>
        <p:grpSpPr>
          <a:xfrm>
            <a:off x="5402263" y="3074988"/>
            <a:ext cx="2879725" cy="1160462"/>
            <a:chOff x="3403" y="1824"/>
            <a:chExt cx="1814" cy="731"/>
          </a:xfrm>
        </p:grpSpPr>
        <p:sp>
          <p:nvSpPr>
            <p:cNvPr id="82962" name="Oval 114"/>
            <p:cNvSpPr/>
            <p:nvPr/>
          </p:nvSpPr>
          <p:spPr>
            <a:xfrm>
              <a:off x="4042" y="2281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63" name="Text Box 115"/>
            <p:cNvSpPr txBox="1"/>
            <p:nvPr/>
          </p:nvSpPr>
          <p:spPr>
            <a:xfrm>
              <a:off x="4046" y="2275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64" name="Oval 116"/>
            <p:cNvSpPr/>
            <p:nvPr/>
          </p:nvSpPr>
          <p:spPr>
            <a:xfrm>
              <a:off x="3905" y="1836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65" name="Text Box 117"/>
            <p:cNvSpPr txBox="1"/>
            <p:nvPr/>
          </p:nvSpPr>
          <p:spPr>
            <a:xfrm>
              <a:off x="3935" y="1828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66" name="Oval 118"/>
            <p:cNvSpPr/>
            <p:nvPr/>
          </p:nvSpPr>
          <p:spPr>
            <a:xfrm>
              <a:off x="3403" y="2155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67" name="Text Box 119"/>
            <p:cNvSpPr txBox="1"/>
            <p:nvPr/>
          </p:nvSpPr>
          <p:spPr>
            <a:xfrm>
              <a:off x="3422" y="2157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68" name="Oval 120"/>
            <p:cNvSpPr/>
            <p:nvPr/>
          </p:nvSpPr>
          <p:spPr>
            <a:xfrm>
              <a:off x="4943" y="1832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69" name="Text Box 121"/>
            <p:cNvSpPr txBox="1"/>
            <p:nvPr/>
          </p:nvSpPr>
          <p:spPr>
            <a:xfrm>
              <a:off x="4962" y="1824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70" name="Line 122"/>
            <p:cNvSpPr/>
            <p:nvPr/>
          </p:nvSpPr>
          <p:spPr>
            <a:xfrm flipV="1">
              <a:off x="3692" y="2050"/>
              <a:ext cx="274" cy="182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2971" name="Line 123"/>
            <p:cNvSpPr/>
            <p:nvPr/>
          </p:nvSpPr>
          <p:spPr>
            <a:xfrm>
              <a:off x="3677" y="2338"/>
              <a:ext cx="410" cy="91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2972" name="Line 124"/>
            <p:cNvSpPr/>
            <p:nvPr/>
          </p:nvSpPr>
          <p:spPr>
            <a:xfrm flipV="1">
              <a:off x="4179" y="1973"/>
              <a:ext cx="775" cy="45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2973" name="Line 125"/>
            <p:cNvSpPr/>
            <p:nvPr/>
          </p:nvSpPr>
          <p:spPr>
            <a:xfrm flipV="1">
              <a:off x="4292" y="2064"/>
              <a:ext cx="684" cy="319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</p:grpSp>
      <p:grpSp>
        <p:nvGrpSpPr>
          <p:cNvPr id="47257" name="Group 153"/>
          <p:cNvGrpSpPr/>
          <p:nvPr/>
        </p:nvGrpSpPr>
        <p:grpSpPr>
          <a:xfrm>
            <a:off x="5526088" y="4675188"/>
            <a:ext cx="1865312" cy="1196975"/>
            <a:chOff x="3481" y="2832"/>
            <a:chExt cx="1175" cy="754"/>
          </a:xfrm>
        </p:grpSpPr>
        <p:sp>
          <p:nvSpPr>
            <p:cNvPr id="82957" name="Oval 136"/>
            <p:cNvSpPr/>
            <p:nvPr/>
          </p:nvSpPr>
          <p:spPr>
            <a:xfrm>
              <a:off x="3481" y="3312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rgbClr val="000080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58" name="Text Box 138"/>
            <p:cNvSpPr txBox="1"/>
            <p:nvPr/>
          </p:nvSpPr>
          <p:spPr>
            <a:xfrm>
              <a:off x="3485" y="3283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59" name="Oval 139"/>
            <p:cNvSpPr/>
            <p:nvPr/>
          </p:nvSpPr>
          <p:spPr>
            <a:xfrm>
              <a:off x="4382" y="2840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60" name="Text Box 140"/>
            <p:cNvSpPr txBox="1"/>
            <p:nvPr/>
          </p:nvSpPr>
          <p:spPr>
            <a:xfrm>
              <a:off x="4401" y="2832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61" name="Line 141"/>
            <p:cNvSpPr/>
            <p:nvPr/>
          </p:nvSpPr>
          <p:spPr>
            <a:xfrm flipV="1">
              <a:off x="3731" y="3072"/>
              <a:ext cx="684" cy="319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</p:grpSp>
      <p:grpSp>
        <p:nvGrpSpPr>
          <p:cNvPr id="47258" name="Group 154"/>
          <p:cNvGrpSpPr/>
          <p:nvPr/>
        </p:nvGrpSpPr>
        <p:grpSpPr>
          <a:xfrm>
            <a:off x="8077200" y="4675188"/>
            <a:ext cx="434975" cy="447675"/>
            <a:chOff x="5088" y="2832"/>
            <a:chExt cx="274" cy="282"/>
          </a:xfrm>
        </p:grpSpPr>
        <p:sp>
          <p:nvSpPr>
            <p:cNvPr id="82955" name="Oval 143"/>
            <p:cNvSpPr/>
            <p:nvPr/>
          </p:nvSpPr>
          <p:spPr>
            <a:xfrm>
              <a:off x="5088" y="2840"/>
              <a:ext cx="274" cy="274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56" name="Text Box 144"/>
            <p:cNvSpPr txBox="1"/>
            <p:nvPr/>
          </p:nvSpPr>
          <p:spPr>
            <a:xfrm>
              <a:off x="5107" y="2832"/>
              <a:ext cx="248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2954" name="Text Box 2"/>
          <p:cNvSpPr txBox="1"/>
          <p:nvPr/>
        </p:nvSpPr>
        <p:spPr>
          <a:xfrm>
            <a:off x="4513263" y="84138"/>
            <a:ext cx="46370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99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99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99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7.5 AOV</a:t>
            </a:r>
            <a:r>
              <a:rPr lang="zh-CN" altLang="en-US" b="1" dirty="0">
                <a:solidFill>
                  <a:srgbClr val="FFFF99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网与拓扑排序</a:t>
            </a:r>
            <a:endParaRPr lang="zh-CN" altLang="en-US" b="1" dirty="0">
              <a:solidFill>
                <a:srgbClr val="FFFF99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文本框 3"/>
          <p:cNvSpPr txBox="1"/>
          <p:nvPr/>
        </p:nvSpPr>
        <p:spPr>
          <a:xfrm>
            <a:off x="735013" y="884238"/>
            <a:ext cx="81549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66700" indent="-266700">
              <a:buNone/>
            </a:pPr>
            <a:r>
              <a:rPr lang="en-US" altLang="en-US" b="1" dirty="0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问题：</a:t>
            </a:r>
            <a:r>
              <a:rPr lang="en-US" altLang="zh-CN" b="1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下列选项中，不是如下有向图的拓扑序列的是(     )。</a:t>
            </a:r>
            <a:endParaRPr lang="en-US" altLang="zh-CN" b="1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3972" name="表格 83971"/>
          <p:cNvGraphicFramePr/>
          <p:nvPr>
            <p:custDataLst>
              <p:tags r:id="rId1"/>
            </p:custDataLst>
          </p:nvPr>
        </p:nvGraphicFramePr>
        <p:xfrm>
          <a:off x="854075" y="3925888"/>
          <a:ext cx="7099300" cy="733742"/>
        </p:xfrm>
        <a:graphic>
          <a:graphicData uri="http://schemas.openxmlformats.org/drawingml/2006/table">
            <a:tbl>
              <a:tblPr/>
              <a:tblGrid>
                <a:gridCol w="3549650"/>
                <a:gridCol w="3549650"/>
              </a:tblGrid>
              <a:tr h="36703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A.1，5，2，3，6，4</a:t>
                      </a:r>
                      <a:endParaRPr lang="en-US" altLang="zh-CN" b="1" dirty="0">
                        <a:solidFill>
                          <a:schemeClr val="tx1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B.5，1，2，6，3，4</a:t>
                      </a:r>
                      <a:endParaRPr lang="en-US" altLang="zh-CN" b="1" dirty="0">
                        <a:solidFill>
                          <a:schemeClr val="tx1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C.5，1，2，3，6，4</a:t>
                      </a:r>
                      <a:endParaRPr lang="en-US" altLang="zh-CN" b="1" dirty="0">
                        <a:solidFill>
                          <a:schemeClr val="tx1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D.5，2，1，6，3，4</a:t>
                      </a:r>
                      <a:endParaRPr lang="en-US" altLang="zh-CN" b="1" dirty="0">
                        <a:solidFill>
                          <a:schemeClr val="tx1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3977" name="Text Box 5"/>
          <p:cNvSpPr txBox="1"/>
          <p:nvPr/>
        </p:nvSpPr>
        <p:spPr>
          <a:xfrm>
            <a:off x="7524750" y="122238"/>
            <a:ext cx="162083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互动答题</a:t>
            </a:r>
            <a:endParaRPr lang="zh-CN" altLang="en-US" sz="2800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883535" y="1668145"/>
            <a:ext cx="3040380" cy="1634490"/>
            <a:chOff x="6662" y="3074"/>
            <a:chExt cx="4788" cy="2574"/>
          </a:xfrm>
        </p:grpSpPr>
        <p:grpSp>
          <p:nvGrpSpPr>
            <p:cNvPr id="3" name="组合 2"/>
            <p:cNvGrpSpPr/>
            <p:nvPr/>
          </p:nvGrpSpPr>
          <p:grpSpPr>
            <a:xfrm>
              <a:off x="6662" y="3074"/>
              <a:ext cx="4789" cy="2574"/>
              <a:chOff x="8272" y="2657"/>
              <a:chExt cx="4789" cy="2574"/>
            </a:xfrm>
          </p:grpSpPr>
          <p:grpSp>
            <p:nvGrpSpPr>
              <p:cNvPr id="45126" name="组合 1"/>
              <p:cNvGrpSpPr/>
              <p:nvPr/>
            </p:nvGrpSpPr>
            <p:grpSpPr>
              <a:xfrm>
                <a:off x="8272" y="2657"/>
                <a:ext cx="4789" cy="2574"/>
                <a:chOff x="525780" y="1583373"/>
                <a:chExt cx="3041015" cy="1634490"/>
              </a:xfrm>
            </p:grpSpPr>
            <p:sp>
              <p:nvSpPr>
                <p:cNvPr id="45172" name="Oval 4"/>
                <p:cNvSpPr/>
                <p:nvPr/>
              </p:nvSpPr>
              <p:spPr>
                <a:xfrm>
                  <a:off x="2326323" y="1583373"/>
                  <a:ext cx="381000" cy="381000"/>
                </a:xfrm>
                <a:prstGeom prst="ellipse">
                  <a:avLst/>
                </a:prstGeom>
                <a:solidFill>
                  <a:srgbClr val="00FFCC"/>
                </a:solidFill>
                <a:ln w="1905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3</a:t>
                  </a:r>
                  <a:endParaRPr lang="en-US" altLang="zh-CN" sz="20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173" name="Oval 5"/>
                <p:cNvSpPr/>
                <p:nvPr/>
              </p:nvSpPr>
              <p:spPr>
                <a:xfrm>
                  <a:off x="3185795" y="1986915"/>
                  <a:ext cx="381000" cy="381000"/>
                </a:xfrm>
                <a:prstGeom prst="ellipse">
                  <a:avLst/>
                </a:prstGeom>
                <a:solidFill>
                  <a:srgbClr val="00FFCC"/>
                </a:solidFill>
                <a:ln w="1905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/>
                  <a:r>
                    <a:rPr lang="en-US" altLang="zh-CN" sz="2000" b="1" dirty="0"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4</a:t>
                  </a:r>
                  <a:endParaRPr lang="en-US" altLang="zh-CN" sz="20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176" name="Oval 8"/>
                <p:cNvSpPr/>
                <p:nvPr/>
              </p:nvSpPr>
              <p:spPr>
                <a:xfrm>
                  <a:off x="952183" y="2836545"/>
                  <a:ext cx="381000" cy="381000"/>
                </a:xfrm>
                <a:prstGeom prst="ellipse">
                  <a:avLst/>
                </a:prstGeom>
                <a:solidFill>
                  <a:srgbClr val="00FFCC"/>
                </a:solidFill>
                <a:ln w="1905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/>
                  <a:r>
                    <a:rPr lang="en-US" altLang="zh-CN" sz="2000" b="1" dirty="0"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5</a:t>
                  </a:r>
                  <a:endParaRPr lang="en-US" altLang="zh-CN" sz="20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177" name="Oval 9"/>
                <p:cNvSpPr/>
                <p:nvPr/>
              </p:nvSpPr>
              <p:spPr>
                <a:xfrm>
                  <a:off x="525780" y="1937385"/>
                  <a:ext cx="381000" cy="381000"/>
                </a:xfrm>
                <a:prstGeom prst="ellipse">
                  <a:avLst/>
                </a:prstGeom>
                <a:solidFill>
                  <a:srgbClr val="00FFCC"/>
                </a:solidFill>
                <a:ln w="1905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/>
                  <a:r>
                    <a:rPr lang="en-US" altLang="zh-CN" sz="2000" b="1" dirty="0"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1</a:t>
                  </a:r>
                  <a:endParaRPr lang="en-US" altLang="zh-CN" sz="20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178" name="Line 11"/>
                <p:cNvSpPr/>
                <p:nvPr/>
              </p:nvSpPr>
              <p:spPr>
                <a:xfrm>
                  <a:off x="2640965" y="1796733"/>
                  <a:ext cx="544195" cy="292100"/>
                </a:xfrm>
                <a:prstGeom prst="line">
                  <a:avLst/>
                </a:prstGeom>
                <a:ln w="28575" cap="sq" cmpd="sng">
                  <a:solidFill>
                    <a:schemeClr val="accent4">
                      <a:lumMod val="75000"/>
                    </a:schemeClr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5179" name="Line 12"/>
                <p:cNvSpPr/>
                <p:nvPr/>
              </p:nvSpPr>
              <p:spPr>
                <a:xfrm flipV="1">
                  <a:off x="902970" y="1748473"/>
                  <a:ext cx="1423035" cy="300990"/>
                </a:xfrm>
                <a:prstGeom prst="line">
                  <a:avLst/>
                </a:prstGeom>
                <a:ln w="28575" cap="sq" cmpd="sng">
                  <a:solidFill>
                    <a:schemeClr val="accent4">
                      <a:lumMod val="75000"/>
                    </a:schemeClr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5182" name="Line 159"/>
                <p:cNvSpPr/>
                <p:nvPr/>
              </p:nvSpPr>
              <p:spPr>
                <a:xfrm rot="11100000">
                  <a:off x="900430" y="2215833"/>
                  <a:ext cx="739775" cy="119380"/>
                </a:xfrm>
                <a:prstGeom prst="line">
                  <a:avLst/>
                </a:prstGeom>
                <a:ln w="28575" cap="sq" cmpd="sng">
                  <a:solidFill>
                    <a:schemeClr val="accent4">
                      <a:lumMod val="75000"/>
                    </a:schemeClr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5183" name="Oval 160"/>
                <p:cNvSpPr/>
                <p:nvPr/>
              </p:nvSpPr>
              <p:spPr>
                <a:xfrm>
                  <a:off x="2151380" y="2836863"/>
                  <a:ext cx="381000" cy="381000"/>
                </a:xfrm>
                <a:prstGeom prst="ellipse">
                  <a:avLst/>
                </a:prstGeom>
                <a:solidFill>
                  <a:srgbClr val="00FFCC"/>
                </a:solidFill>
                <a:ln w="1905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/>
                  <a:r>
                    <a:rPr lang="en-US" altLang="zh-CN" sz="2000" b="1" dirty="0"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6</a:t>
                  </a:r>
                  <a:endParaRPr lang="en-US" altLang="zh-CN" sz="2000" b="1" dirty="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184" name="Line 161"/>
                <p:cNvSpPr/>
                <p:nvPr/>
              </p:nvSpPr>
              <p:spPr>
                <a:xfrm flipH="1">
                  <a:off x="1338580" y="2208213"/>
                  <a:ext cx="1846580" cy="767080"/>
                </a:xfrm>
                <a:prstGeom prst="line">
                  <a:avLst/>
                </a:prstGeom>
                <a:ln w="28575" cap="sq" cmpd="sng">
                  <a:solidFill>
                    <a:schemeClr val="accent4">
                      <a:lumMod val="75000"/>
                    </a:schemeClr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5185" name="Line 162"/>
                <p:cNvSpPr/>
                <p:nvPr/>
              </p:nvSpPr>
              <p:spPr>
                <a:xfrm flipV="1">
                  <a:off x="1272540" y="2539683"/>
                  <a:ext cx="428625" cy="359410"/>
                </a:xfrm>
                <a:prstGeom prst="line">
                  <a:avLst/>
                </a:prstGeom>
                <a:ln w="28575" cap="sq" cmpd="sng">
                  <a:solidFill>
                    <a:schemeClr val="accent4">
                      <a:lumMod val="75000"/>
                    </a:schemeClr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5189" name="Line 166"/>
                <p:cNvSpPr/>
                <p:nvPr/>
              </p:nvSpPr>
              <p:spPr>
                <a:xfrm rot="14580000" flipV="1">
                  <a:off x="1903730" y="2685098"/>
                  <a:ext cx="439420" cy="76835"/>
                </a:xfrm>
                <a:prstGeom prst="line">
                  <a:avLst/>
                </a:prstGeom>
                <a:ln w="28575" cap="sq" cmpd="sng">
                  <a:solidFill>
                    <a:schemeClr val="accent4">
                      <a:lumMod val="75000"/>
                    </a:schemeClr>
                  </a:solidFill>
                  <a:prstDash val="solid"/>
                  <a:headEnd type="triangle" w="med" len="med"/>
                  <a:tailEnd type="none" w="sm" len="sm"/>
                </a:ln>
              </p:spPr>
            </p:sp>
          </p:grpSp>
          <p:sp>
            <p:nvSpPr>
              <p:cNvPr id="2" name="Line 11"/>
              <p:cNvSpPr/>
              <p:nvPr/>
            </p:nvSpPr>
            <p:spPr>
              <a:xfrm rot="14580000">
                <a:off x="10937" y="3014"/>
                <a:ext cx="120" cy="981"/>
              </a:xfrm>
              <a:prstGeom prst="line">
                <a:avLst/>
              </a:prstGeom>
              <a:ln w="28575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4" name="Oval 5"/>
            <p:cNvSpPr/>
            <p:nvPr/>
          </p:nvSpPr>
          <p:spPr>
            <a:xfrm>
              <a:off x="8419" y="4058"/>
              <a:ext cx="600" cy="600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Line 11"/>
            <p:cNvSpPr/>
            <p:nvPr/>
          </p:nvSpPr>
          <p:spPr>
            <a:xfrm rot="14580000">
              <a:off x="10203" y="3975"/>
              <a:ext cx="337" cy="1486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</p:grpSp>
      <p:sp>
        <p:nvSpPr>
          <p:cNvPr id="8" name="文本框 7"/>
          <p:cNvSpPr txBox="1"/>
          <p:nvPr/>
        </p:nvSpPr>
        <p:spPr>
          <a:xfrm>
            <a:off x="7954169" y="897076"/>
            <a:ext cx="381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D</a:t>
            </a:r>
            <a:endParaRPr lang="en-US" altLang="zh-CN" b="1" dirty="0">
              <a:solidFill>
                <a:srgbClr val="0000FF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/>
      <p:bldP spid="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4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388" y="2405063"/>
            <a:ext cx="2268537" cy="28495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4995" name="Text Box 8"/>
          <p:cNvSpPr txBox="1"/>
          <p:nvPr/>
        </p:nvSpPr>
        <p:spPr>
          <a:xfrm>
            <a:off x="468313" y="5472113"/>
            <a:ext cx="17494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742950" lvl="0" indent="-285750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有向图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84996" name="Rectangle 9"/>
          <p:cNvSpPr/>
          <p:nvPr/>
        </p:nvSpPr>
        <p:spPr>
          <a:xfrm>
            <a:off x="377825" y="1490663"/>
            <a:ext cx="71945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-285750"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　　采用邻接表为存储结构，并增加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入度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记录区域：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grpSp>
        <p:nvGrpSpPr>
          <p:cNvPr id="77831" name="Group 10"/>
          <p:cNvGrpSpPr/>
          <p:nvPr/>
        </p:nvGrpSpPr>
        <p:grpSpPr bwMode="auto">
          <a:xfrm>
            <a:off x="2859088" y="2454275"/>
            <a:ext cx="5835650" cy="3759200"/>
            <a:chOff x="864" y="1104"/>
            <a:chExt cx="3794" cy="1875"/>
          </a:xfrm>
          <a:solidFill>
            <a:srgbClr val="CCFFFF"/>
          </a:solidFill>
        </p:grpSpPr>
        <p:sp>
          <p:nvSpPr>
            <p:cNvPr id="80906" name="Line 11"/>
            <p:cNvSpPr>
              <a:spLocks noChangeShapeType="1"/>
            </p:cNvSpPr>
            <p:nvPr/>
          </p:nvSpPr>
          <p:spPr bwMode="auto">
            <a:xfrm>
              <a:off x="2821" y="1883"/>
              <a:ext cx="624" cy="0"/>
            </a:xfrm>
            <a:prstGeom prst="line">
              <a:avLst/>
            </a:prstGeom>
            <a:solidFill>
              <a:srgbClr val="CCFFFF"/>
            </a:solidFill>
            <a:ln w="25400" cap="sq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med"/>
            </a:ln>
          </p:spPr>
          <p:txBody>
            <a:bodyPr>
              <a:noAutofit/>
            </a:bodyPr>
            <a:lstStyle/>
            <a:p>
              <a:pPr lvl="0" algn="l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effectLst/>
                <a:uLnTx/>
                <a:uFillTx/>
                <a:sym typeface="+mn-ea"/>
              </a:endParaRPr>
            </a:p>
          </p:txBody>
        </p:sp>
        <p:grpSp>
          <p:nvGrpSpPr>
            <p:cNvPr id="80907" name="Group 12"/>
            <p:cNvGrpSpPr/>
            <p:nvPr/>
          </p:nvGrpSpPr>
          <p:grpSpPr bwMode="auto">
            <a:xfrm>
              <a:off x="864" y="1104"/>
              <a:ext cx="3794" cy="1875"/>
              <a:chOff x="186" y="1773"/>
              <a:chExt cx="3794" cy="1875"/>
            </a:xfrm>
            <a:grpFill/>
          </p:grpSpPr>
          <p:grpSp>
            <p:nvGrpSpPr>
              <p:cNvPr id="80908" name="Group 13"/>
              <p:cNvGrpSpPr/>
              <p:nvPr/>
            </p:nvGrpSpPr>
            <p:grpSpPr bwMode="auto">
              <a:xfrm>
                <a:off x="186" y="1773"/>
                <a:ext cx="1259" cy="1875"/>
                <a:chOff x="186" y="1773"/>
                <a:chExt cx="1259" cy="1875"/>
              </a:xfrm>
              <a:grpFill/>
            </p:grpSpPr>
            <p:sp>
              <p:nvSpPr>
                <p:cNvPr id="145422" name="Rectangle 14"/>
                <p:cNvSpPr>
                  <a:spLocks noChangeArrowheads="1"/>
                </p:cNvSpPr>
                <p:nvPr/>
              </p:nvSpPr>
              <p:spPr bwMode="auto">
                <a:xfrm>
                  <a:off x="192" y="1776"/>
                  <a:ext cx="1248" cy="1872"/>
                </a:xfrm>
                <a:prstGeom prst="rect">
                  <a:avLst/>
                </a:prstGeom>
                <a:grpFill/>
                <a:ln w="254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>
                  <a:lvl1pPr marL="742950" indent="-285750" algn="l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algn="l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algn="l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algn="l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algn="l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742950" marR="0" lvl="0" indent="-28575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955" name="Line 15"/>
                <p:cNvSpPr>
                  <a:spLocks noChangeShapeType="1"/>
                </p:cNvSpPr>
                <p:nvPr/>
              </p:nvSpPr>
              <p:spPr bwMode="auto">
                <a:xfrm>
                  <a:off x="583" y="1776"/>
                  <a:ext cx="0" cy="1872"/>
                </a:xfrm>
                <a:prstGeom prst="line">
                  <a:avLst/>
                </a:prstGeom>
                <a:grpFill/>
                <a:ln w="254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0956" name="Line 16"/>
                <p:cNvSpPr>
                  <a:spLocks noChangeShapeType="1"/>
                </p:cNvSpPr>
                <p:nvPr/>
              </p:nvSpPr>
              <p:spPr bwMode="auto">
                <a:xfrm>
                  <a:off x="1044" y="1773"/>
                  <a:ext cx="0" cy="1872"/>
                </a:xfrm>
                <a:prstGeom prst="line">
                  <a:avLst/>
                </a:prstGeom>
                <a:grpFill/>
                <a:ln w="254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0957" name="Line 17"/>
                <p:cNvSpPr>
                  <a:spLocks noChangeShapeType="1"/>
                </p:cNvSpPr>
                <p:nvPr/>
              </p:nvSpPr>
              <p:spPr bwMode="auto">
                <a:xfrm>
                  <a:off x="192" y="2736"/>
                  <a:ext cx="1248" cy="0"/>
                </a:xfrm>
                <a:prstGeom prst="line">
                  <a:avLst/>
                </a:prstGeom>
                <a:grpFill/>
                <a:ln w="254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0958" name="Line 18"/>
                <p:cNvSpPr>
                  <a:spLocks noChangeShapeType="1"/>
                </p:cNvSpPr>
                <p:nvPr/>
              </p:nvSpPr>
              <p:spPr bwMode="auto">
                <a:xfrm>
                  <a:off x="189" y="3030"/>
                  <a:ext cx="1248" cy="0"/>
                </a:xfrm>
                <a:prstGeom prst="line">
                  <a:avLst/>
                </a:prstGeom>
                <a:grpFill/>
                <a:ln w="254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0959" name="Line 19"/>
                <p:cNvSpPr>
                  <a:spLocks noChangeShapeType="1"/>
                </p:cNvSpPr>
                <p:nvPr/>
              </p:nvSpPr>
              <p:spPr bwMode="auto">
                <a:xfrm>
                  <a:off x="197" y="3346"/>
                  <a:ext cx="1248" cy="0"/>
                </a:xfrm>
                <a:prstGeom prst="line">
                  <a:avLst/>
                </a:prstGeom>
                <a:grpFill/>
                <a:ln w="254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0960" name="Line 20"/>
                <p:cNvSpPr>
                  <a:spLocks noChangeShapeType="1"/>
                </p:cNvSpPr>
                <p:nvPr/>
              </p:nvSpPr>
              <p:spPr bwMode="auto">
                <a:xfrm>
                  <a:off x="186" y="2090"/>
                  <a:ext cx="1248" cy="0"/>
                </a:xfrm>
                <a:prstGeom prst="line">
                  <a:avLst/>
                </a:prstGeom>
                <a:grpFill/>
                <a:ln w="254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0961" name="Line 21"/>
                <p:cNvSpPr>
                  <a:spLocks noChangeShapeType="1"/>
                </p:cNvSpPr>
                <p:nvPr/>
              </p:nvSpPr>
              <p:spPr bwMode="auto">
                <a:xfrm>
                  <a:off x="194" y="2406"/>
                  <a:ext cx="1248" cy="0"/>
                </a:xfrm>
                <a:prstGeom prst="line">
                  <a:avLst/>
                </a:prstGeom>
                <a:grpFill/>
                <a:ln w="254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80909" name="Rectangle 22"/>
              <p:cNvSpPr>
                <a:spLocks noChangeArrowheads="1"/>
              </p:cNvSpPr>
              <p:nvPr/>
            </p:nvSpPr>
            <p:spPr bwMode="auto">
              <a:xfrm>
                <a:off x="240" y="1802"/>
                <a:ext cx="304" cy="2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V1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楷体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10" name="Rectangle 23"/>
              <p:cNvSpPr>
                <a:spLocks noChangeArrowheads="1"/>
              </p:cNvSpPr>
              <p:nvPr/>
            </p:nvSpPr>
            <p:spPr bwMode="auto">
              <a:xfrm>
                <a:off x="231" y="2110"/>
                <a:ext cx="304" cy="226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V2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楷体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11" name="Rectangle 24"/>
              <p:cNvSpPr>
                <a:spLocks noChangeArrowheads="1"/>
              </p:cNvSpPr>
              <p:nvPr/>
            </p:nvSpPr>
            <p:spPr bwMode="auto">
              <a:xfrm>
                <a:off x="234" y="2438"/>
                <a:ext cx="304" cy="226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V3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楷体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12" name="Rectangle 25"/>
              <p:cNvSpPr>
                <a:spLocks noChangeArrowheads="1"/>
              </p:cNvSpPr>
              <p:nvPr/>
            </p:nvSpPr>
            <p:spPr bwMode="auto">
              <a:xfrm>
                <a:off x="220" y="2758"/>
                <a:ext cx="304" cy="226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V4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楷体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13" name="Rectangle 26"/>
              <p:cNvSpPr>
                <a:spLocks noChangeArrowheads="1"/>
              </p:cNvSpPr>
              <p:nvPr/>
            </p:nvSpPr>
            <p:spPr bwMode="auto">
              <a:xfrm>
                <a:off x="228" y="3050"/>
                <a:ext cx="305" cy="226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V5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楷体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14" name="Rectangle 27"/>
              <p:cNvSpPr>
                <a:spLocks noChangeArrowheads="1"/>
              </p:cNvSpPr>
              <p:nvPr/>
            </p:nvSpPr>
            <p:spPr bwMode="auto">
              <a:xfrm>
                <a:off x="225" y="3364"/>
                <a:ext cx="305" cy="2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V6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楷体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15" name="Rectangle 28"/>
              <p:cNvSpPr>
                <a:spLocks noChangeArrowheads="1"/>
              </p:cNvSpPr>
              <p:nvPr/>
            </p:nvSpPr>
            <p:spPr bwMode="auto">
              <a:xfrm>
                <a:off x="709" y="1787"/>
                <a:ext cx="211" cy="2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0</a:t>
                </a:r>
                <a:endPara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楷体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16" name="Rectangle 29"/>
              <p:cNvSpPr>
                <a:spLocks noChangeArrowheads="1"/>
              </p:cNvSpPr>
              <p:nvPr/>
            </p:nvSpPr>
            <p:spPr bwMode="auto">
              <a:xfrm>
                <a:off x="706" y="2108"/>
                <a:ext cx="210" cy="2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2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楷体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17" name="Rectangle 30"/>
              <p:cNvSpPr>
                <a:spLocks noChangeArrowheads="1"/>
              </p:cNvSpPr>
              <p:nvPr/>
            </p:nvSpPr>
            <p:spPr bwMode="auto">
              <a:xfrm>
                <a:off x="703" y="2426"/>
                <a:ext cx="210" cy="2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1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楷体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18" name="Rectangle 31"/>
              <p:cNvSpPr>
                <a:spLocks noChangeArrowheads="1"/>
              </p:cNvSpPr>
              <p:nvPr/>
            </p:nvSpPr>
            <p:spPr bwMode="auto">
              <a:xfrm>
                <a:off x="717" y="2750"/>
                <a:ext cx="210" cy="226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2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楷体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19" name="Rectangle 32"/>
              <p:cNvSpPr>
                <a:spLocks noChangeArrowheads="1"/>
              </p:cNvSpPr>
              <p:nvPr/>
            </p:nvSpPr>
            <p:spPr bwMode="auto">
              <a:xfrm>
                <a:off x="694" y="3046"/>
                <a:ext cx="210" cy="226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3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楷体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20" name="Rectangle 33"/>
              <p:cNvSpPr>
                <a:spLocks noChangeArrowheads="1"/>
              </p:cNvSpPr>
              <p:nvPr/>
            </p:nvSpPr>
            <p:spPr bwMode="auto">
              <a:xfrm>
                <a:off x="702" y="3360"/>
                <a:ext cx="210" cy="2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0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楷体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21" name="Rectangle 34"/>
              <p:cNvSpPr>
                <a:spLocks noChangeArrowheads="1"/>
              </p:cNvSpPr>
              <p:nvPr/>
            </p:nvSpPr>
            <p:spPr bwMode="auto">
              <a:xfrm>
                <a:off x="1093" y="2112"/>
                <a:ext cx="304" cy="2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∧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楷体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22" name="Rectangle 35"/>
              <p:cNvSpPr>
                <a:spLocks noChangeArrowheads="1"/>
              </p:cNvSpPr>
              <p:nvPr/>
            </p:nvSpPr>
            <p:spPr bwMode="auto">
              <a:xfrm>
                <a:off x="1078" y="3050"/>
                <a:ext cx="305" cy="226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楷体_GB2312" panose="02010609030101010101" pitchFamily="49" charset="-122"/>
                    <a:cs typeface="Times New Roman" panose="02020603050405020304" pitchFamily="18" charset="0"/>
                  </a:rPr>
                  <a:t>∧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楷体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0923" name="Group 36"/>
              <p:cNvGrpSpPr/>
              <p:nvPr/>
            </p:nvGrpSpPr>
            <p:grpSpPr bwMode="auto">
              <a:xfrm>
                <a:off x="1872" y="1831"/>
                <a:ext cx="380" cy="180"/>
                <a:chOff x="1872" y="1776"/>
                <a:chExt cx="380" cy="180"/>
              </a:xfrm>
              <a:grpFill/>
            </p:grpSpPr>
            <p:sp>
              <p:nvSpPr>
                <p:cNvPr id="80952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1872" y="1776"/>
                  <a:ext cx="192" cy="180"/>
                </a:xfrm>
                <a:prstGeom prst="rect">
                  <a:avLst/>
                </a:prstGeom>
                <a:grpFill/>
                <a:ln w="254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lIns="18000" tIns="10800" rIns="18000" bIns="10800">
                  <a:spAutoFit/>
                </a:bodyPr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4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953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2060" y="1776"/>
                  <a:ext cx="192" cy="180"/>
                </a:xfrm>
                <a:prstGeom prst="rect">
                  <a:avLst/>
                </a:prstGeom>
                <a:grpFill/>
                <a:ln w="254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lIns="18000" tIns="10800" rIns="18000" bIns="10800">
                  <a:spAutoFit/>
                </a:bodyPr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0924" name="Group 39"/>
              <p:cNvGrpSpPr/>
              <p:nvPr/>
            </p:nvGrpSpPr>
            <p:grpSpPr bwMode="auto">
              <a:xfrm>
                <a:off x="2788" y="1835"/>
                <a:ext cx="380" cy="180"/>
                <a:chOff x="1872" y="1776"/>
                <a:chExt cx="380" cy="180"/>
              </a:xfrm>
              <a:grpFill/>
            </p:grpSpPr>
            <p:sp>
              <p:nvSpPr>
                <p:cNvPr id="80950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1872" y="1776"/>
                  <a:ext cx="192" cy="180"/>
                </a:xfrm>
                <a:prstGeom prst="rect">
                  <a:avLst/>
                </a:prstGeom>
                <a:grpFill/>
                <a:ln w="254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lIns="18000" tIns="10800" rIns="18000" bIns="10800">
                  <a:spAutoFit/>
                </a:bodyPr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3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951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2060" y="1776"/>
                  <a:ext cx="192" cy="180"/>
                </a:xfrm>
                <a:prstGeom prst="rect">
                  <a:avLst/>
                </a:prstGeom>
                <a:grpFill/>
                <a:ln w="254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lIns="18000" tIns="10800" rIns="18000" bIns="10800">
                  <a:spAutoFit/>
                </a:bodyPr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0925" name="Group 42"/>
              <p:cNvGrpSpPr/>
              <p:nvPr/>
            </p:nvGrpSpPr>
            <p:grpSpPr bwMode="auto">
              <a:xfrm>
                <a:off x="3600" y="1846"/>
                <a:ext cx="380" cy="180"/>
                <a:chOff x="1872" y="1776"/>
                <a:chExt cx="380" cy="180"/>
              </a:xfrm>
              <a:grpFill/>
            </p:grpSpPr>
            <p:sp>
              <p:nvSpPr>
                <p:cNvPr id="80948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1872" y="1776"/>
                  <a:ext cx="192" cy="180"/>
                </a:xfrm>
                <a:prstGeom prst="rect">
                  <a:avLst/>
                </a:prstGeom>
                <a:grpFill/>
                <a:ln w="254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lIns="18000" tIns="10800" rIns="18000" bIns="10800">
                  <a:spAutoFit/>
                </a:bodyPr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2</a:t>
                  </a:r>
                  <a:endPara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949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2060" y="1776"/>
                  <a:ext cx="192" cy="180"/>
                </a:xfrm>
                <a:prstGeom prst="rect">
                  <a:avLst/>
                </a:prstGeom>
                <a:grpFill/>
                <a:ln w="254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lIns="18000" tIns="10800" rIns="18000" bIns="10800">
                  <a:spAutoFit/>
                </a:bodyPr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^</a:t>
                  </a:r>
                  <a:endPara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0926" name="Group 45"/>
              <p:cNvGrpSpPr/>
              <p:nvPr/>
            </p:nvGrpSpPr>
            <p:grpSpPr bwMode="auto">
              <a:xfrm>
                <a:off x="1872" y="2806"/>
                <a:ext cx="380" cy="180"/>
                <a:chOff x="1872" y="1776"/>
                <a:chExt cx="380" cy="180"/>
              </a:xfrm>
              <a:grpFill/>
            </p:grpSpPr>
            <p:sp>
              <p:nvSpPr>
                <p:cNvPr id="80946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1872" y="1776"/>
                  <a:ext cx="192" cy="180"/>
                </a:xfrm>
                <a:prstGeom prst="rect">
                  <a:avLst/>
                </a:prstGeom>
                <a:grpFill/>
                <a:ln w="254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lIns="18000" tIns="10800" rIns="18000" bIns="10800">
                  <a:spAutoFit/>
                </a:bodyPr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5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947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2060" y="1776"/>
                  <a:ext cx="192" cy="180"/>
                </a:xfrm>
                <a:prstGeom prst="rect">
                  <a:avLst/>
                </a:prstGeom>
                <a:grpFill/>
                <a:ln w="254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lIns="18000" tIns="10800" rIns="18000" bIns="10800">
                  <a:spAutoFit/>
                </a:bodyPr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^</a:t>
                  </a:r>
                  <a:endPara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0927" name="Group 48"/>
              <p:cNvGrpSpPr/>
              <p:nvPr/>
            </p:nvGrpSpPr>
            <p:grpSpPr bwMode="auto">
              <a:xfrm>
                <a:off x="1872" y="2437"/>
                <a:ext cx="380" cy="180"/>
                <a:chOff x="1872" y="1776"/>
                <a:chExt cx="380" cy="180"/>
              </a:xfrm>
              <a:grpFill/>
            </p:grpSpPr>
            <p:sp>
              <p:nvSpPr>
                <p:cNvPr id="80944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1872" y="1776"/>
                  <a:ext cx="192" cy="180"/>
                </a:xfrm>
                <a:prstGeom prst="rect">
                  <a:avLst/>
                </a:prstGeom>
                <a:grpFill/>
                <a:ln w="254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lIns="18000" tIns="10800" rIns="18000" bIns="10800">
                  <a:spAutoFit/>
                </a:bodyPr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5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945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2060" y="1776"/>
                  <a:ext cx="192" cy="180"/>
                </a:xfrm>
                <a:prstGeom prst="rect">
                  <a:avLst/>
                </a:prstGeom>
                <a:grpFill/>
                <a:ln w="254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lIns="18000" tIns="10800" rIns="18000" bIns="10800">
                  <a:spAutoFit/>
                </a:bodyPr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0928" name="Group 51"/>
              <p:cNvGrpSpPr/>
              <p:nvPr/>
            </p:nvGrpSpPr>
            <p:grpSpPr bwMode="auto">
              <a:xfrm>
                <a:off x="2788" y="2441"/>
                <a:ext cx="380" cy="180"/>
                <a:chOff x="1872" y="1776"/>
                <a:chExt cx="380" cy="180"/>
              </a:xfrm>
              <a:grpFill/>
            </p:grpSpPr>
            <p:sp>
              <p:nvSpPr>
                <p:cNvPr id="80942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1872" y="1776"/>
                  <a:ext cx="192" cy="180"/>
                </a:xfrm>
                <a:prstGeom prst="rect">
                  <a:avLst/>
                </a:prstGeom>
                <a:grpFill/>
                <a:ln w="254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lIns="18000" tIns="10800" rIns="18000" bIns="10800">
                  <a:spAutoFit/>
                </a:bodyPr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2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943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2060" y="1776"/>
                  <a:ext cx="192" cy="180"/>
                </a:xfrm>
                <a:prstGeom prst="rect">
                  <a:avLst/>
                </a:prstGeom>
                <a:grpFill/>
                <a:ln w="254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lIns="18000" tIns="10800" rIns="18000" bIns="10800">
                  <a:spAutoFit/>
                </a:bodyPr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^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0929" name="Group 54"/>
              <p:cNvGrpSpPr/>
              <p:nvPr/>
            </p:nvGrpSpPr>
            <p:grpSpPr bwMode="auto">
              <a:xfrm>
                <a:off x="1872" y="3386"/>
                <a:ext cx="380" cy="180"/>
                <a:chOff x="1872" y="1776"/>
                <a:chExt cx="380" cy="180"/>
              </a:xfrm>
              <a:grpFill/>
            </p:grpSpPr>
            <p:sp>
              <p:nvSpPr>
                <p:cNvPr id="80940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1872" y="1776"/>
                  <a:ext cx="192" cy="180"/>
                </a:xfrm>
                <a:prstGeom prst="rect">
                  <a:avLst/>
                </a:prstGeom>
                <a:grpFill/>
                <a:ln w="254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lIns="18000" tIns="10800" rIns="18000" bIns="10800">
                  <a:spAutoFit/>
                </a:bodyPr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5</a:t>
                  </a:r>
                  <a:endPara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941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2060" y="1776"/>
                  <a:ext cx="192" cy="180"/>
                </a:xfrm>
                <a:prstGeom prst="rect">
                  <a:avLst/>
                </a:prstGeom>
                <a:grpFill/>
                <a:ln w="254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lIns="18000" tIns="10800" rIns="18000" bIns="10800">
                  <a:spAutoFit/>
                </a:bodyPr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0930" name="Group 57"/>
              <p:cNvGrpSpPr/>
              <p:nvPr/>
            </p:nvGrpSpPr>
            <p:grpSpPr bwMode="auto">
              <a:xfrm>
                <a:off x="2788" y="3379"/>
                <a:ext cx="380" cy="180"/>
                <a:chOff x="1872" y="1776"/>
                <a:chExt cx="380" cy="180"/>
              </a:xfrm>
              <a:grpFill/>
            </p:grpSpPr>
            <p:sp>
              <p:nvSpPr>
                <p:cNvPr id="80938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1872" y="1776"/>
                  <a:ext cx="192" cy="180"/>
                </a:xfrm>
                <a:prstGeom prst="rect">
                  <a:avLst/>
                </a:prstGeom>
                <a:grpFill/>
                <a:ln w="254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lIns="18000" tIns="10800" rIns="18000" bIns="10800">
                  <a:spAutoFit/>
                </a:bodyPr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4</a:t>
                  </a:r>
                  <a:endPara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939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2060" y="1776"/>
                  <a:ext cx="192" cy="180"/>
                </a:xfrm>
                <a:prstGeom prst="rect">
                  <a:avLst/>
                </a:prstGeom>
                <a:grpFill/>
                <a:ln w="254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lIns="18000" tIns="10800" rIns="18000" bIns="10800">
                  <a:spAutoFit/>
                </a:bodyPr>
                <a:lstStyle>
                  <a:lvl1pPr>
                    <a:spcBef>
                      <a:spcPct val="20000"/>
                    </a:spcBef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^</a:t>
                  </a:r>
                  <a:endPara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0931" name="Line 60"/>
              <p:cNvSpPr>
                <a:spLocks noChangeShapeType="1"/>
              </p:cNvSpPr>
              <p:nvPr/>
            </p:nvSpPr>
            <p:spPr bwMode="auto">
              <a:xfrm>
                <a:off x="1296" y="1942"/>
                <a:ext cx="576" cy="0"/>
              </a:xfrm>
              <a:prstGeom prst="line">
                <a:avLst/>
              </a:prstGeom>
              <a:grpFill/>
              <a:ln w="25400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932" name="Line 61"/>
              <p:cNvSpPr>
                <a:spLocks noChangeShapeType="1"/>
              </p:cNvSpPr>
              <p:nvPr/>
            </p:nvSpPr>
            <p:spPr bwMode="auto">
              <a:xfrm>
                <a:off x="2160" y="1942"/>
                <a:ext cx="624" cy="0"/>
              </a:xfrm>
              <a:prstGeom prst="line">
                <a:avLst/>
              </a:prstGeom>
              <a:solidFill>
                <a:srgbClr val="CCFFFF"/>
              </a:solidFill>
              <a:ln w="25400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med"/>
              </a:ln>
            </p:spPr>
            <p:txBody>
              <a:bodyPr>
                <a:noAutofit/>
              </a:bodyPr>
              <a:lstStyle/>
              <a:p>
                <a:pPr lvl="0" algn="l">
                  <a:buClrTx/>
                  <a:buSzTx/>
                  <a:buFontTx/>
                  <a:defRPr/>
                </a:pPr>
                <a:endParaRPr lang="zh-CN" altLang="en-US" noProof="0">
                  <a:ln>
                    <a:noFill/>
                  </a:ln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80933" name="Line 62"/>
              <p:cNvSpPr>
                <a:spLocks noChangeShapeType="1"/>
              </p:cNvSpPr>
              <p:nvPr/>
            </p:nvSpPr>
            <p:spPr bwMode="auto">
              <a:xfrm>
                <a:off x="3094" y="1946"/>
                <a:ext cx="480" cy="0"/>
              </a:xfrm>
              <a:prstGeom prst="line">
                <a:avLst/>
              </a:prstGeom>
              <a:solidFill>
                <a:srgbClr val="CCFFFF"/>
              </a:solidFill>
              <a:ln w="25400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med"/>
              </a:ln>
            </p:spPr>
            <p:txBody>
              <a:bodyPr>
                <a:noAutofit/>
              </a:bodyPr>
              <a:lstStyle/>
              <a:p>
                <a:pPr lvl="0" algn="l">
                  <a:buClrTx/>
                  <a:buSzTx/>
                  <a:buFontTx/>
                  <a:defRPr/>
                </a:pPr>
                <a:endParaRPr lang="zh-CN" altLang="en-US" noProof="0">
                  <a:ln>
                    <a:noFill/>
                  </a:ln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80934" name="Line 63"/>
              <p:cNvSpPr>
                <a:spLocks noChangeShapeType="1"/>
              </p:cNvSpPr>
              <p:nvPr/>
            </p:nvSpPr>
            <p:spPr bwMode="auto">
              <a:xfrm>
                <a:off x="1248" y="2544"/>
                <a:ext cx="624" cy="0"/>
              </a:xfrm>
              <a:prstGeom prst="line">
                <a:avLst/>
              </a:prstGeom>
              <a:solidFill>
                <a:srgbClr val="CCFFFF"/>
              </a:solidFill>
              <a:ln w="25400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med"/>
              </a:ln>
            </p:spPr>
            <p:txBody>
              <a:bodyPr>
                <a:noAutofit/>
              </a:bodyPr>
              <a:lstStyle/>
              <a:p>
                <a:pPr lvl="0" algn="l">
                  <a:buClrTx/>
                  <a:buSzTx/>
                  <a:buFontTx/>
                  <a:defRPr/>
                </a:pPr>
                <a:endParaRPr lang="zh-CN" altLang="en-US" noProof="0">
                  <a:ln>
                    <a:noFill/>
                  </a:ln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80935" name="Line 64"/>
              <p:cNvSpPr>
                <a:spLocks noChangeShapeType="1"/>
              </p:cNvSpPr>
              <p:nvPr/>
            </p:nvSpPr>
            <p:spPr bwMode="auto">
              <a:xfrm>
                <a:off x="1248" y="2902"/>
                <a:ext cx="624" cy="0"/>
              </a:xfrm>
              <a:prstGeom prst="line">
                <a:avLst/>
              </a:prstGeom>
              <a:solidFill>
                <a:srgbClr val="CCFFFF"/>
              </a:solidFill>
              <a:ln w="25400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med"/>
              </a:ln>
            </p:spPr>
            <p:txBody>
              <a:bodyPr>
                <a:noAutofit/>
              </a:bodyPr>
              <a:lstStyle/>
              <a:p>
                <a:pPr lvl="0" algn="l">
                  <a:buClrTx/>
                  <a:buSzTx/>
                  <a:buFontTx/>
                  <a:defRPr/>
                </a:pPr>
                <a:endParaRPr lang="zh-CN" altLang="en-US" noProof="0">
                  <a:ln>
                    <a:noFill/>
                  </a:ln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80936" name="Line 65"/>
              <p:cNvSpPr>
                <a:spLocks noChangeShapeType="1"/>
              </p:cNvSpPr>
              <p:nvPr/>
            </p:nvSpPr>
            <p:spPr bwMode="auto">
              <a:xfrm>
                <a:off x="1248" y="3504"/>
                <a:ext cx="624" cy="0"/>
              </a:xfrm>
              <a:prstGeom prst="line">
                <a:avLst/>
              </a:prstGeom>
              <a:solidFill>
                <a:srgbClr val="CCFFFF"/>
              </a:solidFill>
              <a:ln w="25400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med"/>
              </a:ln>
            </p:spPr>
            <p:txBody>
              <a:bodyPr>
                <a:noAutofit/>
              </a:bodyPr>
              <a:lstStyle/>
              <a:p>
                <a:pPr lvl="0" algn="l">
                  <a:buClrTx/>
                  <a:buSzTx/>
                  <a:buFontTx/>
                  <a:defRPr/>
                </a:pPr>
                <a:endParaRPr lang="zh-CN" altLang="en-US" noProof="0">
                  <a:ln>
                    <a:noFill/>
                  </a:ln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80937" name="Line 66"/>
              <p:cNvSpPr>
                <a:spLocks noChangeShapeType="1"/>
              </p:cNvSpPr>
              <p:nvPr/>
            </p:nvSpPr>
            <p:spPr bwMode="auto">
              <a:xfrm>
                <a:off x="2160" y="3504"/>
                <a:ext cx="624" cy="0"/>
              </a:xfrm>
              <a:prstGeom prst="line">
                <a:avLst/>
              </a:prstGeom>
              <a:solidFill>
                <a:srgbClr val="CCFFFF"/>
              </a:solidFill>
              <a:ln w="25400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med"/>
              </a:ln>
            </p:spPr>
            <p:txBody>
              <a:bodyPr>
                <a:noAutofit/>
              </a:bodyPr>
              <a:lstStyle/>
              <a:p>
                <a:pPr lvl="0" algn="l">
                  <a:buClrTx/>
                  <a:buSzTx/>
                  <a:buFontTx/>
                  <a:defRPr/>
                </a:pPr>
                <a:endParaRPr lang="zh-CN" altLang="en-US" noProof="0">
                  <a:ln>
                    <a:noFill/>
                  </a:ln>
                  <a:effectLst/>
                  <a:uLnTx/>
                  <a:uFillTx/>
                  <a:sym typeface="+mn-ea"/>
                </a:endParaRPr>
              </a:p>
            </p:txBody>
          </p:sp>
        </p:grpSp>
      </p:grpSp>
      <p:sp>
        <p:nvSpPr>
          <p:cNvPr id="84998" name="Oval 7"/>
          <p:cNvSpPr/>
          <p:nvPr/>
        </p:nvSpPr>
        <p:spPr>
          <a:xfrm>
            <a:off x="547688" y="92868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4999" name="Text Box 8"/>
          <p:cNvSpPr txBox="1"/>
          <p:nvPr/>
        </p:nvSpPr>
        <p:spPr>
          <a:xfrm>
            <a:off x="971550" y="844550"/>
            <a:ext cx="5418138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5. </a:t>
            </a:r>
            <a:r>
              <a:rPr lang="zh-CN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拓扑排序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方法算法实现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5000" name="Text Box 2"/>
          <p:cNvSpPr txBox="1"/>
          <p:nvPr/>
        </p:nvSpPr>
        <p:spPr>
          <a:xfrm>
            <a:off x="4721225" y="84455"/>
            <a:ext cx="4429125" cy="5835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7.5 AOV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网与拓扑排序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5"/>
          <p:cNvSpPr txBox="1"/>
          <p:nvPr/>
        </p:nvSpPr>
        <p:spPr>
          <a:xfrm>
            <a:off x="388938" y="1249998"/>
            <a:ext cx="8475662" cy="54082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（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）查找邻接表中入度为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的顶点，并进栈。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（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）当栈非空时，进行拓扑排序：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    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）输出栈顶的顶点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并退栈；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    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）在邻接表中查找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的直接后继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k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(k=1,2,…),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将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k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         入度减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，并将入度减至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的顶点进栈。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（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）若栈空时输出的顶点数不足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AOV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－网中顶点数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，则说明有向图中存在有向环，否则拓扑排序完毕。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另外，由于当一个顶点的入度为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时，该顶点的数据域也就没有用处了，可以借用入度为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的点的数据域来存放带链的栈指针（下一个入度为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的顶点的序号），而不必为栈另开辟存储单元。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这一技巧只适用于在表头结点向量中，表头结点的序号与顶点一致的情况下。</a:t>
            </a:r>
            <a:endParaRPr lang="zh-CN" altLang="en-US" sz="2400" b="1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6019" name="Oval 7"/>
          <p:cNvSpPr/>
          <p:nvPr/>
        </p:nvSpPr>
        <p:spPr>
          <a:xfrm>
            <a:off x="547688" y="81311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6020" name="Text Box 8"/>
          <p:cNvSpPr txBox="1"/>
          <p:nvPr/>
        </p:nvSpPr>
        <p:spPr>
          <a:xfrm>
            <a:off x="971550" y="728980"/>
            <a:ext cx="5418138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5. </a:t>
            </a:r>
            <a:r>
              <a:rPr lang="zh-CN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拓扑排序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方法算法实现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6021" name="Text Box 2"/>
          <p:cNvSpPr txBox="1"/>
          <p:nvPr/>
        </p:nvSpPr>
        <p:spPr>
          <a:xfrm>
            <a:off x="4513263" y="84138"/>
            <a:ext cx="4637087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7.5 AOV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网与拓扑排序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4"/>
          <p:cNvSpPr/>
          <p:nvPr/>
        </p:nvSpPr>
        <p:spPr>
          <a:xfrm>
            <a:off x="584200" y="3061018"/>
            <a:ext cx="9913938" cy="3597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14400" lvl="2" indent="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　 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for(i=1;i&lt;=n;i++)  //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查入度为零的顶点，并建立链栈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if (g[i].in==0)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{g[i].in=top;top=i;}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m=0;  //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为计数器计算输出的顶点个数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while(top!=0)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{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j=top;top=g[top].in;   //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退栈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printf(“v%d”,j);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m++;   //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输出顶点并计数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      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q=g[j].link;  //q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是指针，指示以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为尾的弧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90000"/>
              </a:lnSpc>
              <a:spcBef>
                <a:spcPct val="50000"/>
              </a:spcBef>
              <a:buNone/>
            </a:pP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7461" name="Rectangle 5"/>
          <p:cNvSpPr>
            <a:spLocks noChangeArrowheads="1"/>
          </p:cNvSpPr>
          <p:nvPr/>
        </p:nvSpPr>
        <p:spPr bwMode="auto">
          <a:xfrm>
            <a:off x="-166687" y="560070"/>
            <a:ext cx="4020185" cy="965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marL="742950" indent="-28575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7429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算法如下：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7429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void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toposort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(AdjList g)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7462" name="Rectangle 6"/>
          <p:cNvSpPr>
            <a:spLocks noChangeArrowheads="1"/>
          </p:cNvSpPr>
          <p:nvPr/>
        </p:nvSpPr>
        <p:spPr bwMode="auto">
          <a:xfrm>
            <a:off x="0" y="1545908"/>
            <a:ext cx="9144000" cy="215773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742950" indent="-28575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914400" marR="0" lvl="2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//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假设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为有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个顶点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,e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条弧的有向图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,g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是它的邻接表的表头向量，每个分量有两个域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vex,next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，对入度为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的顶点设计带链的栈，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top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指示栈顶元素，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in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为入度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{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readlist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();   //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e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条弧并建立邻接表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top=0;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7045" name="Text Box 2"/>
          <p:cNvSpPr txBox="1"/>
          <p:nvPr/>
        </p:nvSpPr>
        <p:spPr>
          <a:xfrm>
            <a:off x="4730115" y="84455"/>
            <a:ext cx="4420235" cy="5835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7.5 AOV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网与拓扑排序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-147637" y="779463"/>
            <a:ext cx="9320213" cy="519938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742950" indent="-28575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while (q!=NULL)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{    k=q-&gt;vex;  //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顶点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的直接后继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g[k].in= g[k].in-1;  //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入度减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1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     if (g[k].in==0)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     {   g[k].in=top; top=k;  //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入度为零的顶点进栈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     q=q-&gt;next;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   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if (m&lt;n)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     printf(“the network have cycle”);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//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输出顶点数不足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，说明网中有环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8067" name="Text Box 2"/>
          <p:cNvSpPr txBox="1"/>
          <p:nvPr/>
        </p:nvSpPr>
        <p:spPr>
          <a:xfrm>
            <a:off x="4702175" y="84455"/>
            <a:ext cx="4448175" cy="5835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7.5 AOV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网与拓扑排序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4"/>
          <p:cNvSpPr>
            <a:spLocks noChangeArrowheads="1"/>
          </p:cNvSpPr>
          <p:nvPr/>
        </p:nvSpPr>
        <p:spPr bwMode="auto">
          <a:xfrm>
            <a:off x="349250" y="1431925"/>
            <a:ext cx="8512175" cy="47434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2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算法分析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假设有向图有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个顶点，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条边，那么建立邻接表的执行时间为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O(e)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；搜索入度为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的时间为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O(n)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；在拓扑排序过程中，若有向图无环，则每个顶点进一次栈，入度减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的运算在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While top≠0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的语句中共执行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次，所以总的执行时间为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O(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n+e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当有向图中无环时，也可利用深度优先搜索进行拓扑排序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因为图中无环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则由图中某点出发进行深度优先搜索遍历时，最先退出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dfs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过程的顶点，即出度为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的顶点，是拓扑有序序列中最后一个顶点。由此， 按退出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dfs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深度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过程的先后记录下来的顶点序列，即为逆向的拓扑有序序列。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9091" name="Oval 7"/>
          <p:cNvSpPr/>
          <p:nvPr/>
        </p:nvSpPr>
        <p:spPr>
          <a:xfrm>
            <a:off x="547688" y="847725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9092" name="Text Box 8"/>
          <p:cNvSpPr txBox="1"/>
          <p:nvPr/>
        </p:nvSpPr>
        <p:spPr>
          <a:xfrm>
            <a:off x="971550" y="763588"/>
            <a:ext cx="5418138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5. </a:t>
            </a:r>
            <a:r>
              <a:rPr lang="zh-CN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拓扑排序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方法算法实现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9093" name="Text Box 2"/>
          <p:cNvSpPr txBox="1"/>
          <p:nvPr/>
        </p:nvSpPr>
        <p:spPr>
          <a:xfrm>
            <a:off x="4687570" y="84455"/>
            <a:ext cx="4462780" cy="5835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7.5 AOV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网与拓扑排序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2713" y="758825"/>
            <a:ext cx="8504238" cy="175323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66700"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b="1" kern="100" cap="none" spc="0" normalizeH="0" baseline="0" noProof="0" dirty="0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问题：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若对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个顶点、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e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条边的有向图采用邻接表存储，则</a:t>
            </a:r>
            <a:endParaRPr kumimoji="0" lang="en-US" altLang="zh-CN" b="1" kern="100" cap="none" spc="0" normalizeH="0" baseline="0" noProof="0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66700"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拓扑排序算法的时间复杂度是（ 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   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）。</a:t>
            </a:r>
            <a:endParaRPr kumimoji="0" lang="zh-CN" altLang="zh-CN" b="1" kern="100" cap="none" spc="0" normalizeH="0" baseline="0" noProof="0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66700"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   A.O(n)              B. O(</a:t>
            </a:r>
            <a:r>
              <a:rPr kumimoji="0" lang="en-US" altLang="zh-CN" b="1" kern="100" cap="none" spc="0" normalizeH="0" baseline="0" noProof="0" dirty="0" err="1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n+e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)          C.O(n</a:t>
            </a:r>
            <a:r>
              <a:rPr kumimoji="0" lang="en-US" altLang="zh-CN" b="1" kern="100" cap="none" spc="0" normalizeH="0" baseline="3000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)          D.O(n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*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e)</a:t>
            </a:r>
            <a:endParaRPr kumimoji="0" lang="en-US" altLang="zh-CN" b="1" kern="100" cap="none" spc="0" normalizeH="0" baseline="0" noProof="0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0115" name="Text Box 5"/>
          <p:cNvSpPr txBox="1"/>
          <p:nvPr/>
        </p:nvSpPr>
        <p:spPr>
          <a:xfrm>
            <a:off x="7524750" y="122238"/>
            <a:ext cx="162083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互动答题</a:t>
            </a:r>
            <a:endParaRPr lang="zh-CN" altLang="en-US" sz="2800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1820" y="2565400"/>
            <a:ext cx="8214995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b="1" kern="100" cap="none" spc="0" normalizeH="0" baseline="0" noProof="0" dirty="0">
                <a:solidFill>
                  <a:srgbClr val="00B050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         </a:t>
            </a:r>
            <a:r>
              <a:rPr kumimoji="0" lang="zh-CN" altLang="zh-CN" b="1" kern="100" cap="none" spc="0" normalizeH="0" baseline="0" noProof="0" dirty="0">
                <a:solidFill>
                  <a:srgbClr val="00B050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解析</a:t>
            </a:r>
            <a:r>
              <a:rPr kumimoji="0" lang="zh-CN" altLang="en-US" b="1" kern="100" cap="none" spc="0" normalizeH="0" baseline="0" noProof="0" dirty="0">
                <a:solidFill>
                  <a:srgbClr val="00B050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采用邻接表作为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AOV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网的存储结构进行拓扑排序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需要对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个顶点进行进栈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,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出栈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,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输出各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次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在处理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e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条边时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需要检测这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个顶点的边链表的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e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个边结点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共需要的时间代价为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O(</a:t>
            </a:r>
            <a:r>
              <a:rPr kumimoji="0" lang="en-US" altLang="zh-CN" b="1" kern="100" cap="none" spc="0" normalizeH="0" baseline="0" noProof="0" dirty="0" err="1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n+e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若采用邻接矩阵作为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AOV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网的存储结构进行拓扑排序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在处理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e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条边时需要对每个顶点中的某一行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寻找与它相关联的边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以便对这些边的入度减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需要的时间代价为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O(n</a:t>
            </a:r>
            <a:r>
              <a:rPr kumimoji="0" lang="en-US" altLang="zh-CN" b="1" kern="100" cap="none" spc="0" normalizeH="0" baseline="3000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b="1" kern="1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kumimoji="0" lang="zh-CN" altLang="en-US" b="1" kern="100" cap="none" spc="0" normalizeH="0" baseline="0" noProof="0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72050" y="1474153"/>
            <a:ext cx="4191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00" cap="none" spc="0" normalizeH="0" baseline="0" noProof="0" dirty="0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endParaRPr kumimoji="0" lang="en-US" altLang="zh-CN" b="1" kern="100" cap="none" spc="0" normalizeH="0" baseline="0" noProof="0" dirty="0">
              <a:solidFill>
                <a:srgbClr val="0000FF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38" name="Group 260"/>
          <p:cNvGrpSpPr/>
          <p:nvPr/>
        </p:nvGrpSpPr>
        <p:grpSpPr>
          <a:xfrm>
            <a:off x="762000" y="2432050"/>
            <a:ext cx="7853363" cy="3013075"/>
            <a:chOff x="940" y="1152"/>
            <a:chExt cx="4331" cy="1780"/>
          </a:xfrm>
        </p:grpSpPr>
        <p:sp>
          <p:nvSpPr>
            <p:cNvPr id="91145" name="Oval 93"/>
            <p:cNvSpPr/>
            <p:nvPr/>
          </p:nvSpPr>
          <p:spPr>
            <a:xfrm>
              <a:off x="940" y="1791"/>
              <a:ext cx="456" cy="456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46" name="Text Box 94"/>
            <p:cNvSpPr txBox="1"/>
            <p:nvPr/>
          </p:nvSpPr>
          <p:spPr>
            <a:xfrm>
              <a:off x="977" y="1918"/>
              <a:ext cx="421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charset="-122"/>
                </a:rPr>
                <a:t>筹备</a:t>
              </a:r>
              <a:endParaRPr lang="zh-CN" altLang="en-US" sz="20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91147" name="Oval 95"/>
            <p:cNvSpPr/>
            <p:nvPr/>
          </p:nvSpPr>
          <p:spPr>
            <a:xfrm>
              <a:off x="1988" y="2476"/>
              <a:ext cx="456" cy="456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48" name="Text Box 96"/>
            <p:cNvSpPr txBox="1"/>
            <p:nvPr/>
          </p:nvSpPr>
          <p:spPr>
            <a:xfrm>
              <a:off x="2024" y="2603"/>
              <a:ext cx="421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charset="-122"/>
                </a:rPr>
                <a:t>付款</a:t>
              </a:r>
              <a:endParaRPr lang="zh-CN" altLang="en-US" sz="20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91149" name="Oval 97"/>
            <p:cNvSpPr/>
            <p:nvPr/>
          </p:nvSpPr>
          <p:spPr>
            <a:xfrm>
              <a:off x="1797" y="1152"/>
              <a:ext cx="456" cy="456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50" name="Text Box 98"/>
            <p:cNvSpPr txBox="1"/>
            <p:nvPr/>
          </p:nvSpPr>
          <p:spPr>
            <a:xfrm>
              <a:off x="1756" y="1287"/>
              <a:ext cx="554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zh-CN" altLang="en-US" sz="1900" dirty="0">
                  <a:latin typeface="Times New Roman" panose="02020603050405020304" pitchFamily="18" charset="0"/>
                  <a:ea typeface="微软雅黑" panose="020B0503020204020204" charset="-122"/>
                </a:rPr>
                <a:t>签合同</a:t>
              </a:r>
              <a:endParaRPr lang="zh-CN" altLang="en-US" sz="19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91151" name="Oval 99"/>
            <p:cNvSpPr/>
            <p:nvPr/>
          </p:nvSpPr>
          <p:spPr>
            <a:xfrm>
              <a:off x="2991" y="2430"/>
              <a:ext cx="456" cy="456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52" name="Text Box 100"/>
            <p:cNvSpPr txBox="1"/>
            <p:nvPr/>
          </p:nvSpPr>
          <p:spPr>
            <a:xfrm>
              <a:off x="3018" y="2488"/>
              <a:ext cx="421" cy="38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85000"/>
                </a:lnSpc>
                <a:spcBef>
                  <a:spcPct val="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charset="-122"/>
                </a:rPr>
                <a:t>做预</a:t>
              </a:r>
              <a:endParaRPr lang="zh-CN" altLang="en-US" sz="20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marL="0" lvl="0" indent="0" algn="ctr" eaLnBrk="1" hangingPunct="1">
                <a:lnSpc>
                  <a:spcPct val="85000"/>
                </a:lnSpc>
                <a:spcBef>
                  <a:spcPct val="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charset="-122"/>
                </a:rPr>
                <a:t>置件</a:t>
              </a:r>
              <a:endParaRPr lang="zh-CN" altLang="en-US" sz="20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91153" name="Oval 101"/>
            <p:cNvSpPr/>
            <p:nvPr/>
          </p:nvSpPr>
          <p:spPr>
            <a:xfrm>
              <a:off x="4814" y="1791"/>
              <a:ext cx="456" cy="456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54" name="Text Box 102"/>
            <p:cNvSpPr txBox="1"/>
            <p:nvPr/>
          </p:nvSpPr>
          <p:spPr>
            <a:xfrm>
              <a:off x="4850" y="1918"/>
              <a:ext cx="421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charset="-122"/>
                </a:rPr>
                <a:t>验收</a:t>
              </a:r>
              <a:endParaRPr lang="zh-CN" altLang="en-US" sz="20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91155" name="Oval 103"/>
            <p:cNvSpPr/>
            <p:nvPr/>
          </p:nvSpPr>
          <p:spPr>
            <a:xfrm>
              <a:off x="3072" y="1488"/>
              <a:ext cx="456" cy="457"/>
            </a:xfrm>
            <a:prstGeom prst="ellipse">
              <a:avLst/>
            </a:prstGeom>
            <a:solidFill>
              <a:srgbClr val="00FFCC"/>
            </a:solidFill>
            <a:ln w="1905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56" name="Text Box 104"/>
            <p:cNvSpPr txBox="1"/>
            <p:nvPr/>
          </p:nvSpPr>
          <p:spPr>
            <a:xfrm>
              <a:off x="3108" y="1616"/>
              <a:ext cx="421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charset="-122"/>
                </a:rPr>
                <a:t>施工</a:t>
              </a:r>
              <a:endParaRPr lang="zh-CN" altLang="en-US" sz="20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91157" name="Line 105"/>
            <p:cNvSpPr/>
            <p:nvPr/>
          </p:nvSpPr>
          <p:spPr>
            <a:xfrm flipV="1">
              <a:off x="1350" y="1471"/>
              <a:ext cx="456" cy="411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1158" name="Line 106"/>
            <p:cNvSpPr/>
            <p:nvPr/>
          </p:nvSpPr>
          <p:spPr>
            <a:xfrm>
              <a:off x="1350" y="2202"/>
              <a:ext cx="638" cy="411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1159" name="Line 107"/>
            <p:cNvSpPr/>
            <p:nvPr/>
          </p:nvSpPr>
          <p:spPr>
            <a:xfrm flipV="1">
              <a:off x="1441" y="1837"/>
              <a:ext cx="1687" cy="182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1160" name="Line 108"/>
            <p:cNvSpPr/>
            <p:nvPr/>
          </p:nvSpPr>
          <p:spPr>
            <a:xfrm>
              <a:off x="2262" y="1380"/>
              <a:ext cx="820" cy="228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1161" name="Line 109"/>
            <p:cNvSpPr/>
            <p:nvPr/>
          </p:nvSpPr>
          <p:spPr>
            <a:xfrm flipV="1">
              <a:off x="2444" y="2704"/>
              <a:ext cx="547" cy="45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1162" name="Line 110"/>
            <p:cNvSpPr/>
            <p:nvPr/>
          </p:nvSpPr>
          <p:spPr>
            <a:xfrm>
              <a:off x="2079" y="1608"/>
              <a:ext cx="137" cy="868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1163" name="Line 111"/>
            <p:cNvSpPr/>
            <p:nvPr/>
          </p:nvSpPr>
          <p:spPr>
            <a:xfrm flipV="1">
              <a:off x="3538" y="1471"/>
              <a:ext cx="364" cy="183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1164" name="Line 112"/>
            <p:cNvSpPr/>
            <p:nvPr/>
          </p:nvSpPr>
          <p:spPr>
            <a:xfrm flipV="1">
              <a:off x="3447" y="2476"/>
              <a:ext cx="364" cy="137"/>
            </a:xfrm>
            <a:prstGeom prst="line">
              <a:avLst/>
            </a:prstGeom>
            <a:ln w="2540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1165" name="Line 113"/>
            <p:cNvSpPr/>
            <p:nvPr/>
          </p:nvSpPr>
          <p:spPr>
            <a:xfrm>
              <a:off x="3538" y="1791"/>
              <a:ext cx="364" cy="46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1166" name="Line 114"/>
            <p:cNvSpPr/>
            <p:nvPr/>
          </p:nvSpPr>
          <p:spPr>
            <a:xfrm>
              <a:off x="4495" y="2019"/>
              <a:ext cx="319" cy="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1167" name="Text Box 115"/>
            <p:cNvSpPr txBox="1"/>
            <p:nvPr/>
          </p:nvSpPr>
          <p:spPr>
            <a:xfrm>
              <a:off x="4157" y="1837"/>
              <a:ext cx="240" cy="27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…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68" name="Line 116"/>
            <p:cNvSpPr/>
            <p:nvPr/>
          </p:nvSpPr>
          <p:spPr>
            <a:xfrm flipV="1">
              <a:off x="3219" y="1928"/>
              <a:ext cx="91" cy="502"/>
            </a:xfrm>
            <a:prstGeom prst="line">
              <a:avLst/>
            </a:prstGeom>
            <a:ln w="25400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1169" name="Text Box 117"/>
            <p:cNvSpPr txBox="1"/>
            <p:nvPr/>
          </p:nvSpPr>
          <p:spPr>
            <a:xfrm>
              <a:off x="1374" y="1471"/>
              <a:ext cx="328" cy="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招标</a:t>
              </a:r>
              <a:endPara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91170" name="Text Box 118"/>
            <p:cNvSpPr txBox="1"/>
            <p:nvPr/>
          </p:nvSpPr>
          <p:spPr>
            <a:xfrm>
              <a:off x="1528" y="1600"/>
              <a:ext cx="285" cy="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1600" b="1" dirty="0">
                  <a:solidFill>
                    <a:srgbClr val="FF00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7</a:t>
              </a:r>
              <a:r>
                <a:rPr lang="zh-CN" altLang="en-US" sz="1600" b="1" dirty="0">
                  <a:solidFill>
                    <a:srgbClr val="FF00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天</a:t>
              </a:r>
              <a:endParaRPr lang="zh-CN" altLang="en-US" sz="16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71" name="Text Box 119"/>
            <p:cNvSpPr txBox="1"/>
            <p:nvPr/>
          </p:nvSpPr>
          <p:spPr>
            <a:xfrm>
              <a:off x="1416" y="2246"/>
              <a:ext cx="554" cy="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联系材料</a:t>
              </a:r>
              <a:endPara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91172" name="Text Box 120"/>
            <p:cNvSpPr txBox="1"/>
            <p:nvPr/>
          </p:nvSpPr>
          <p:spPr>
            <a:xfrm>
              <a:off x="1490" y="2384"/>
              <a:ext cx="285" cy="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1600" b="1" dirty="0">
                  <a:solidFill>
                    <a:srgbClr val="FF00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8</a:t>
              </a:r>
              <a:r>
                <a:rPr lang="zh-CN" altLang="en-US" sz="1600" b="1" dirty="0">
                  <a:solidFill>
                    <a:srgbClr val="FF00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天</a:t>
              </a:r>
              <a:endParaRPr lang="zh-CN" altLang="en-US" sz="16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73" name="Text Box 121"/>
            <p:cNvSpPr txBox="1"/>
            <p:nvPr/>
          </p:nvSpPr>
          <p:spPr>
            <a:xfrm>
              <a:off x="1463" y="1791"/>
              <a:ext cx="554" cy="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图纸设计</a:t>
              </a:r>
              <a:endPara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91174" name="Text Box 122"/>
            <p:cNvSpPr txBox="1"/>
            <p:nvPr/>
          </p:nvSpPr>
          <p:spPr>
            <a:xfrm>
              <a:off x="1534" y="1955"/>
              <a:ext cx="355" cy="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1600" b="1" dirty="0">
                  <a:solidFill>
                    <a:srgbClr val="FF00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15</a:t>
              </a:r>
              <a:r>
                <a:rPr lang="zh-CN" altLang="en-US" sz="1600" b="1" dirty="0">
                  <a:solidFill>
                    <a:srgbClr val="FF00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天</a:t>
              </a:r>
              <a:endParaRPr lang="zh-CN" altLang="en-US" sz="16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75" name="Text Box 123"/>
            <p:cNvSpPr txBox="1"/>
            <p:nvPr/>
          </p:nvSpPr>
          <p:spPr>
            <a:xfrm>
              <a:off x="2370" y="1243"/>
              <a:ext cx="554" cy="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进驻工地</a:t>
              </a:r>
              <a:endPara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91176" name="Text Box 124"/>
            <p:cNvSpPr txBox="1"/>
            <p:nvPr/>
          </p:nvSpPr>
          <p:spPr>
            <a:xfrm>
              <a:off x="2402" y="1426"/>
              <a:ext cx="285" cy="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1600" b="1" dirty="0">
                  <a:solidFill>
                    <a:srgbClr val="FF00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4</a:t>
              </a:r>
              <a:r>
                <a:rPr lang="zh-CN" altLang="en-US" sz="1600" b="1" dirty="0">
                  <a:solidFill>
                    <a:srgbClr val="FF00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天</a:t>
              </a:r>
              <a:endParaRPr lang="zh-CN" altLang="en-US" sz="16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77" name="Text Box 125"/>
            <p:cNvSpPr txBox="1"/>
            <p:nvPr/>
          </p:nvSpPr>
          <p:spPr>
            <a:xfrm>
              <a:off x="2484" y="2548"/>
              <a:ext cx="441" cy="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运材料</a:t>
              </a:r>
              <a:endPara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91178" name="Text Box 126"/>
            <p:cNvSpPr txBox="1"/>
            <p:nvPr/>
          </p:nvSpPr>
          <p:spPr>
            <a:xfrm>
              <a:off x="2539" y="2704"/>
              <a:ext cx="285" cy="2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1600" b="1" dirty="0">
                  <a:solidFill>
                    <a:srgbClr val="FF00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6</a:t>
              </a:r>
              <a:r>
                <a:rPr lang="zh-CN" altLang="en-US" sz="1600" b="1" dirty="0">
                  <a:solidFill>
                    <a:srgbClr val="FF00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天</a:t>
              </a:r>
              <a:endParaRPr lang="zh-CN" altLang="en-US" sz="16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79" name="Text Box 127"/>
            <p:cNvSpPr txBox="1"/>
            <p:nvPr/>
          </p:nvSpPr>
          <p:spPr>
            <a:xfrm>
              <a:off x="3090" y="2019"/>
              <a:ext cx="215" cy="34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搬</a:t>
              </a:r>
              <a:endPara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运</a:t>
              </a:r>
              <a:endPara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91180" name="Text Box 128"/>
            <p:cNvSpPr txBox="1"/>
            <p:nvPr/>
          </p:nvSpPr>
          <p:spPr>
            <a:xfrm>
              <a:off x="3228" y="2019"/>
              <a:ext cx="215" cy="34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1600" b="1" dirty="0">
                  <a:solidFill>
                    <a:srgbClr val="FF00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3</a:t>
              </a:r>
              <a:endParaRPr lang="en-US" altLang="zh-CN" sz="16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0" lvl="0" indent="0" algn="ctr" eaLnBrk="1" hangingPunct="1">
                <a:spcBef>
                  <a:spcPct val="0"/>
                </a:spcBef>
              </a:pPr>
              <a:r>
                <a:rPr lang="zh-CN" altLang="en-US" sz="1600" b="1" dirty="0">
                  <a:solidFill>
                    <a:srgbClr val="FF00FF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天</a:t>
              </a:r>
              <a:endParaRPr lang="zh-CN" altLang="en-US" sz="16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1139" name="Group 130"/>
          <p:cNvGrpSpPr/>
          <p:nvPr/>
        </p:nvGrpSpPr>
        <p:grpSpPr>
          <a:xfrm>
            <a:off x="820738" y="1301750"/>
            <a:ext cx="1219200" cy="1143000"/>
            <a:chOff x="599" y="551"/>
            <a:chExt cx="768" cy="720"/>
          </a:xfrm>
        </p:grpSpPr>
        <p:sp>
          <p:nvSpPr>
            <p:cNvPr id="91143" name="AutoShape 131"/>
            <p:cNvSpPr/>
            <p:nvPr/>
          </p:nvSpPr>
          <p:spPr>
            <a:xfrm rot="2209811">
              <a:off x="599" y="551"/>
              <a:ext cx="768" cy="720"/>
            </a:xfrm>
            <a:prstGeom prst="irregularSeal2">
              <a:avLst/>
            </a:prstGeom>
            <a:gradFill rotWithShape="0">
              <a:gsLst>
                <a:gs pos="0">
                  <a:srgbClr val="007600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  <a:tileRect/>
            </a:gradFill>
            <a:ln w="12700" cap="sq" cmpd="sng">
              <a:solidFill>
                <a:srgbClr val="80808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144" name="Text Box 132"/>
            <p:cNvSpPr txBox="1"/>
            <p:nvPr/>
          </p:nvSpPr>
          <p:spPr>
            <a:xfrm>
              <a:off x="745" y="713"/>
              <a:ext cx="373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zh-CN" altLang="en-US" b="1" dirty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例</a:t>
              </a:r>
              <a:endPara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sp>
        <p:nvSpPr>
          <p:cNvPr id="91140" name="Oval 7"/>
          <p:cNvSpPr/>
          <p:nvPr/>
        </p:nvSpPr>
        <p:spPr>
          <a:xfrm>
            <a:off x="547688" y="92868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1141" name="Text Box 8"/>
          <p:cNvSpPr txBox="1"/>
          <p:nvPr/>
        </p:nvSpPr>
        <p:spPr>
          <a:xfrm>
            <a:off x="971550" y="844550"/>
            <a:ext cx="604361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AOE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——Activity On Edge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1142" name="Text Box 2"/>
          <p:cNvSpPr txBox="1"/>
          <p:nvPr/>
        </p:nvSpPr>
        <p:spPr>
          <a:xfrm>
            <a:off x="4773930" y="84455"/>
            <a:ext cx="4376420" cy="5835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7.6 AOE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网与关键路径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150"/>
          <p:cNvSpPr txBox="1"/>
          <p:nvPr/>
        </p:nvSpPr>
        <p:spPr>
          <a:xfrm>
            <a:off x="742950" y="1500188"/>
            <a:ext cx="8080375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AOE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网为一个带权的有向无环图，其中，顶点表示事件，有向边表示活动，边上的权值表示活动持续的时间。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2163" name="Oval 152"/>
          <p:cNvSpPr/>
          <p:nvPr/>
        </p:nvSpPr>
        <p:spPr>
          <a:xfrm>
            <a:off x="1387475" y="3797300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64" name="Text Box 153"/>
          <p:cNvSpPr txBox="1"/>
          <p:nvPr/>
        </p:nvSpPr>
        <p:spPr>
          <a:xfrm>
            <a:off x="1349693" y="3663950"/>
            <a:ext cx="46291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baseline="-2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65" name="Oval 154"/>
          <p:cNvSpPr/>
          <p:nvPr/>
        </p:nvSpPr>
        <p:spPr>
          <a:xfrm>
            <a:off x="2600325" y="4656138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66" name="Text Box 155"/>
          <p:cNvSpPr txBox="1"/>
          <p:nvPr/>
        </p:nvSpPr>
        <p:spPr>
          <a:xfrm>
            <a:off x="2560956" y="4559300"/>
            <a:ext cx="46291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400" b="1" baseline="-2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67" name="Oval 157"/>
          <p:cNvSpPr/>
          <p:nvPr/>
        </p:nvSpPr>
        <p:spPr>
          <a:xfrm>
            <a:off x="2616200" y="2768600"/>
            <a:ext cx="381000" cy="381000"/>
          </a:xfrm>
          <a:prstGeom prst="ellipse">
            <a:avLst/>
          </a:prstGeom>
          <a:solidFill>
            <a:srgbClr val="00FFCC"/>
          </a:solidFill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68" name="Text Box 158"/>
          <p:cNvSpPr txBox="1"/>
          <p:nvPr/>
        </p:nvSpPr>
        <p:spPr>
          <a:xfrm>
            <a:off x="2603818" y="2668588"/>
            <a:ext cx="46291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b="1" baseline="-2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69" name="Oval 159"/>
          <p:cNvSpPr/>
          <p:nvPr/>
        </p:nvSpPr>
        <p:spPr>
          <a:xfrm>
            <a:off x="2635250" y="3835400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70" name="Text Box 160"/>
          <p:cNvSpPr txBox="1"/>
          <p:nvPr/>
        </p:nvSpPr>
        <p:spPr>
          <a:xfrm>
            <a:off x="2603818" y="3721100"/>
            <a:ext cx="46291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400" b="1" baseline="-2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71" name="Oval 161"/>
          <p:cNvSpPr/>
          <p:nvPr/>
        </p:nvSpPr>
        <p:spPr>
          <a:xfrm>
            <a:off x="3987800" y="3316288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72" name="Text Box 162"/>
          <p:cNvSpPr txBox="1"/>
          <p:nvPr/>
        </p:nvSpPr>
        <p:spPr>
          <a:xfrm>
            <a:off x="3937318" y="3225800"/>
            <a:ext cx="46291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400" b="1" baseline="-2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73" name="Oval 163"/>
          <p:cNvSpPr/>
          <p:nvPr/>
        </p:nvSpPr>
        <p:spPr>
          <a:xfrm>
            <a:off x="5435600" y="2997200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74" name="Text Box 164"/>
          <p:cNvSpPr txBox="1"/>
          <p:nvPr/>
        </p:nvSpPr>
        <p:spPr>
          <a:xfrm>
            <a:off x="5402581" y="2913063"/>
            <a:ext cx="46291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2400" b="1" baseline="-2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75" name="Oval 165"/>
          <p:cNvSpPr/>
          <p:nvPr/>
        </p:nvSpPr>
        <p:spPr>
          <a:xfrm>
            <a:off x="6654800" y="3486150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76" name="Text Box 166"/>
          <p:cNvSpPr txBox="1"/>
          <p:nvPr/>
        </p:nvSpPr>
        <p:spPr>
          <a:xfrm>
            <a:off x="6617018" y="3368675"/>
            <a:ext cx="46291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altLang="zh-CN" sz="2400" b="1" baseline="-2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77" name="Oval 167"/>
          <p:cNvSpPr/>
          <p:nvPr/>
        </p:nvSpPr>
        <p:spPr>
          <a:xfrm>
            <a:off x="5435600" y="4140200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78" name="Text Box 168"/>
          <p:cNvSpPr txBox="1"/>
          <p:nvPr/>
        </p:nvSpPr>
        <p:spPr>
          <a:xfrm>
            <a:off x="5378768" y="4025900"/>
            <a:ext cx="46291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2400" b="1" baseline="-2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79" name="Oval 169"/>
          <p:cNvSpPr/>
          <p:nvPr/>
        </p:nvSpPr>
        <p:spPr>
          <a:xfrm>
            <a:off x="3987800" y="4445000"/>
            <a:ext cx="381000" cy="381000"/>
          </a:xfrm>
          <a:prstGeom prst="ellipse">
            <a:avLst/>
          </a:prstGeom>
          <a:solidFill>
            <a:srgbClr val="00FFCC"/>
          </a:solidFill>
          <a:ln w="1905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80" name="Text Box 170"/>
          <p:cNvSpPr txBox="1"/>
          <p:nvPr/>
        </p:nvSpPr>
        <p:spPr>
          <a:xfrm>
            <a:off x="3953193" y="4340225"/>
            <a:ext cx="46291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400" b="1" baseline="-2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81" name="Line 171"/>
          <p:cNvSpPr/>
          <p:nvPr/>
        </p:nvSpPr>
        <p:spPr>
          <a:xfrm flipV="1">
            <a:off x="1701800" y="3073400"/>
            <a:ext cx="990600" cy="76200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92182" name="Line 172"/>
          <p:cNvSpPr/>
          <p:nvPr/>
        </p:nvSpPr>
        <p:spPr>
          <a:xfrm>
            <a:off x="1778000" y="3987800"/>
            <a:ext cx="8382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92183" name="Line 173"/>
          <p:cNvSpPr/>
          <p:nvPr/>
        </p:nvSpPr>
        <p:spPr>
          <a:xfrm>
            <a:off x="1701800" y="4140200"/>
            <a:ext cx="914400" cy="60960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92184" name="Line 174"/>
          <p:cNvSpPr/>
          <p:nvPr/>
        </p:nvSpPr>
        <p:spPr>
          <a:xfrm>
            <a:off x="2997200" y="2997200"/>
            <a:ext cx="990600" cy="38100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92185" name="Line 175"/>
          <p:cNvSpPr/>
          <p:nvPr/>
        </p:nvSpPr>
        <p:spPr>
          <a:xfrm flipV="1">
            <a:off x="3014663" y="3606800"/>
            <a:ext cx="990600" cy="38100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92186" name="Line 176"/>
          <p:cNvSpPr/>
          <p:nvPr/>
        </p:nvSpPr>
        <p:spPr>
          <a:xfrm flipV="1">
            <a:off x="2997200" y="4749800"/>
            <a:ext cx="990600" cy="15240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92187" name="Line 177"/>
          <p:cNvSpPr/>
          <p:nvPr/>
        </p:nvSpPr>
        <p:spPr>
          <a:xfrm flipV="1">
            <a:off x="4368800" y="3225800"/>
            <a:ext cx="1066800" cy="22860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92188" name="Line 178"/>
          <p:cNvSpPr/>
          <p:nvPr/>
        </p:nvSpPr>
        <p:spPr>
          <a:xfrm flipV="1">
            <a:off x="4368800" y="4368800"/>
            <a:ext cx="1066800" cy="30480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92189" name="Line 179"/>
          <p:cNvSpPr/>
          <p:nvPr/>
        </p:nvSpPr>
        <p:spPr>
          <a:xfrm>
            <a:off x="4368800" y="3606800"/>
            <a:ext cx="1066800" cy="60960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92190" name="Line 180"/>
          <p:cNvSpPr/>
          <p:nvPr/>
        </p:nvSpPr>
        <p:spPr>
          <a:xfrm>
            <a:off x="5816600" y="3225800"/>
            <a:ext cx="838200" cy="38100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92191" name="Line 181"/>
          <p:cNvSpPr/>
          <p:nvPr/>
        </p:nvSpPr>
        <p:spPr>
          <a:xfrm flipV="1">
            <a:off x="5816600" y="3835400"/>
            <a:ext cx="914400" cy="45720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92192" name="Text Box 182"/>
          <p:cNvSpPr txBox="1"/>
          <p:nvPr/>
        </p:nvSpPr>
        <p:spPr>
          <a:xfrm>
            <a:off x="2032953" y="2944813"/>
            <a:ext cx="439420" cy="42989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2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3" name="Text Box 183"/>
          <p:cNvSpPr txBox="1"/>
          <p:nvPr/>
        </p:nvSpPr>
        <p:spPr>
          <a:xfrm>
            <a:off x="1972628" y="3589338"/>
            <a:ext cx="439420" cy="42989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2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4" name="Text Box 184"/>
          <p:cNvSpPr txBox="1"/>
          <p:nvPr/>
        </p:nvSpPr>
        <p:spPr>
          <a:xfrm>
            <a:off x="1955165" y="4087813"/>
            <a:ext cx="439420" cy="42989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2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5" name="Text Box 185"/>
          <p:cNvSpPr txBox="1"/>
          <p:nvPr/>
        </p:nvSpPr>
        <p:spPr>
          <a:xfrm>
            <a:off x="3063240" y="2716213"/>
            <a:ext cx="439420" cy="42989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2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6" name="Text Box 186"/>
          <p:cNvSpPr txBox="1"/>
          <p:nvPr/>
        </p:nvSpPr>
        <p:spPr>
          <a:xfrm>
            <a:off x="3139440" y="3436938"/>
            <a:ext cx="439420" cy="42989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2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7" name="Text Box 187"/>
          <p:cNvSpPr txBox="1"/>
          <p:nvPr/>
        </p:nvSpPr>
        <p:spPr>
          <a:xfrm>
            <a:off x="3063240" y="4468813"/>
            <a:ext cx="439420" cy="42989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2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8" name="Text Box 188"/>
          <p:cNvSpPr txBox="1"/>
          <p:nvPr/>
        </p:nvSpPr>
        <p:spPr>
          <a:xfrm>
            <a:off x="4633278" y="2944813"/>
            <a:ext cx="439420" cy="42989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22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9" name="Text Box 189"/>
          <p:cNvSpPr txBox="1"/>
          <p:nvPr/>
        </p:nvSpPr>
        <p:spPr>
          <a:xfrm>
            <a:off x="4611053" y="3471863"/>
            <a:ext cx="439420" cy="42989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22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00" name="Text Box 190"/>
          <p:cNvSpPr txBox="1"/>
          <p:nvPr/>
        </p:nvSpPr>
        <p:spPr>
          <a:xfrm>
            <a:off x="4376103" y="4198938"/>
            <a:ext cx="439420" cy="42989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altLang="zh-CN" sz="22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01" name="Text Box 191"/>
          <p:cNvSpPr txBox="1"/>
          <p:nvPr/>
        </p:nvSpPr>
        <p:spPr>
          <a:xfrm>
            <a:off x="5876608" y="2944813"/>
            <a:ext cx="540385" cy="42989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zh-CN" sz="22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02" name="Text Box 192"/>
          <p:cNvSpPr txBox="1"/>
          <p:nvPr/>
        </p:nvSpPr>
        <p:spPr>
          <a:xfrm>
            <a:off x="5814695" y="3706813"/>
            <a:ext cx="524510" cy="42989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altLang="zh-CN" sz="22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03" name="Text Box 193"/>
          <p:cNvSpPr txBox="1"/>
          <p:nvPr/>
        </p:nvSpPr>
        <p:spPr>
          <a:xfrm>
            <a:off x="2312035" y="3240088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04" name="Text Box 194"/>
          <p:cNvSpPr txBox="1"/>
          <p:nvPr/>
        </p:nvSpPr>
        <p:spPr>
          <a:xfrm>
            <a:off x="2070735" y="391160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05" name="Text Box 195"/>
          <p:cNvSpPr txBox="1"/>
          <p:nvPr/>
        </p:nvSpPr>
        <p:spPr>
          <a:xfrm>
            <a:off x="2013585" y="448945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06" name="Text Box 196"/>
          <p:cNvSpPr txBox="1"/>
          <p:nvPr/>
        </p:nvSpPr>
        <p:spPr>
          <a:xfrm>
            <a:off x="3061336" y="299720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07" name="Text Box 197"/>
          <p:cNvSpPr txBox="1"/>
          <p:nvPr/>
        </p:nvSpPr>
        <p:spPr>
          <a:xfrm>
            <a:off x="3137536" y="380365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08" name="Text Box 198"/>
          <p:cNvSpPr txBox="1"/>
          <p:nvPr/>
        </p:nvSpPr>
        <p:spPr>
          <a:xfrm>
            <a:off x="3137536" y="482600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09" name="Text Box 199"/>
          <p:cNvSpPr txBox="1"/>
          <p:nvPr/>
        </p:nvSpPr>
        <p:spPr>
          <a:xfrm>
            <a:off x="4813936" y="330200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10" name="Text Box 200"/>
          <p:cNvSpPr txBox="1"/>
          <p:nvPr/>
        </p:nvSpPr>
        <p:spPr>
          <a:xfrm>
            <a:off x="4585336" y="375920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11" name="Text Box 201"/>
          <p:cNvSpPr txBox="1"/>
          <p:nvPr/>
        </p:nvSpPr>
        <p:spPr>
          <a:xfrm>
            <a:off x="5956936" y="330200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12" name="Text Box 202"/>
          <p:cNvSpPr txBox="1"/>
          <p:nvPr/>
        </p:nvSpPr>
        <p:spPr>
          <a:xfrm>
            <a:off x="5956936" y="406400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13" name="Text Box 203"/>
          <p:cNvSpPr txBox="1"/>
          <p:nvPr/>
        </p:nvSpPr>
        <p:spPr>
          <a:xfrm>
            <a:off x="4528186" y="4521200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334" name="Text Box 206"/>
          <p:cNvSpPr txBox="1">
            <a:spLocks noChangeArrowheads="1"/>
          </p:cNvSpPr>
          <p:nvPr/>
        </p:nvSpPr>
        <p:spPr bwMode="auto">
          <a:xfrm>
            <a:off x="700088" y="5513388"/>
            <a:ext cx="8153400" cy="829945"/>
          </a:xfrm>
          <a:prstGeom prst="rect">
            <a:avLst/>
          </a:prstGeom>
          <a:gradFill rotWithShape="1">
            <a:gsLst>
              <a:gs pos="0">
                <a:srgbClr val="BABFE0"/>
              </a:gs>
              <a:gs pos="50000">
                <a:schemeClr val="bg1"/>
              </a:gs>
              <a:gs pos="100000">
                <a:srgbClr val="BABFE0"/>
              </a:gs>
            </a:gsLst>
            <a:lin ang="5400000" scaled="1"/>
          </a:gradFill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ea typeface="微软雅黑" panose="020B0503020204020204" charset="-122"/>
                <a:cs typeface="Times New Roman" panose="02020603050405020304" pitchFamily="18" charset="0"/>
              </a:rPr>
              <a:t>         </a:t>
            </a:r>
            <a:r>
              <a:rPr kumimoji="0" lang="zh-CN" altLang="en-US" kern="1200" cap="none" spc="0" normalizeH="0" baseline="0" noProof="0" dirty="0">
                <a:ea typeface="微软雅黑" panose="020B0503020204020204" charset="-122"/>
                <a:cs typeface="Times New Roman" panose="02020603050405020304" pitchFamily="18" charset="0"/>
              </a:rPr>
              <a:t>正常情况下，</a:t>
            </a:r>
            <a:r>
              <a:rPr kumimoji="0" lang="en-US" altLang="zh-CN" kern="1200" cap="none" spc="0" normalizeH="0" baseline="0" noProof="0" dirty="0">
                <a:ea typeface="微软雅黑" panose="020B0503020204020204" charset="-122"/>
                <a:cs typeface="Times New Roman" panose="02020603050405020304" pitchFamily="18" charset="0"/>
              </a:rPr>
              <a:t>AOE</a:t>
            </a:r>
            <a:r>
              <a:rPr kumimoji="0" lang="zh-CN" altLang="en-US" kern="1200" cap="none" spc="0" normalizeH="0" baseline="0" noProof="0" dirty="0">
                <a:ea typeface="微软雅黑" panose="020B0503020204020204" charset="-122"/>
                <a:cs typeface="Times New Roman" panose="02020603050405020304" pitchFamily="18" charset="0"/>
              </a:rPr>
              <a:t>网中只有一个入度为</a:t>
            </a:r>
            <a:r>
              <a:rPr kumimoji="0" lang="en-US" altLang="zh-CN" kern="1200" cap="none" spc="0" normalizeH="0" baseline="0" noProof="0" dirty="0">
                <a:ea typeface="微软雅黑" panose="020B0503020204020204" charset="-122"/>
                <a:cs typeface="Times New Roman" panose="02020603050405020304" pitchFamily="18" charset="0"/>
              </a:rPr>
              <a:t>0 </a:t>
            </a:r>
            <a:r>
              <a:rPr kumimoji="0" lang="zh-CN" altLang="en-US" kern="1200" cap="none" spc="0" normalizeH="0" baseline="0" noProof="0" dirty="0">
                <a:ea typeface="微软雅黑" panose="020B0503020204020204" charset="-122"/>
                <a:cs typeface="Times New Roman" panose="02020603050405020304" pitchFamily="18" charset="0"/>
              </a:rPr>
              <a:t>的顶点，称之为</a:t>
            </a:r>
            <a:r>
              <a:rPr kumimoji="0" lang="zh-CN" altLang="en-US" kern="1200" cap="none" spc="0" normalizeH="0" baseline="0" noProof="0" dirty="0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源点</a:t>
            </a:r>
            <a:r>
              <a:rPr kumimoji="0" lang="zh-CN" altLang="en-US" kern="1200" cap="none" spc="0" normalizeH="0" baseline="0" noProof="0" dirty="0">
                <a:ea typeface="微软雅黑" panose="020B0503020204020204" charset="-122"/>
                <a:cs typeface="Times New Roman" panose="02020603050405020304" pitchFamily="18" charset="0"/>
              </a:rPr>
              <a:t>；有一个出度为</a:t>
            </a:r>
            <a:r>
              <a:rPr kumimoji="0" lang="en-US" altLang="zh-CN" kern="1200" cap="none" spc="0" normalizeH="0" baseline="0" noProof="0" dirty="0">
                <a:ea typeface="微软雅黑" panose="020B0503020204020204" charset="-122"/>
                <a:cs typeface="Times New Roman" panose="02020603050405020304" pitchFamily="18" charset="0"/>
              </a:rPr>
              <a:t>0 </a:t>
            </a:r>
            <a:r>
              <a:rPr kumimoji="0" lang="zh-CN" altLang="en-US" kern="1200" cap="none" spc="0" normalizeH="0" baseline="0" noProof="0" dirty="0">
                <a:ea typeface="微软雅黑" panose="020B0503020204020204" charset="-122"/>
                <a:cs typeface="Times New Roman" panose="02020603050405020304" pitchFamily="18" charset="0"/>
              </a:rPr>
              <a:t>的顶点，称之为</a:t>
            </a:r>
            <a:r>
              <a:rPr kumimoji="0" lang="zh-CN" altLang="en-US" kern="1200" cap="none" spc="0" normalizeH="0" baseline="0" noProof="0" dirty="0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终点</a:t>
            </a:r>
            <a:r>
              <a:rPr kumimoji="0" lang="zh-CN" altLang="en-US" kern="1200" cap="none" spc="0" normalizeH="0" baseline="0" noProof="0" dirty="0"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kumimoji="0" lang="zh-CN" altLang="en-US" kern="1200" cap="none" spc="0" normalizeH="0" baseline="0" noProof="0" dirty="0"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2215" name="Oval 7"/>
          <p:cNvSpPr/>
          <p:nvPr/>
        </p:nvSpPr>
        <p:spPr>
          <a:xfrm>
            <a:off x="547688" y="92868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2216" name="Text Box 8"/>
          <p:cNvSpPr txBox="1"/>
          <p:nvPr/>
        </p:nvSpPr>
        <p:spPr>
          <a:xfrm>
            <a:off x="971550" y="844550"/>
            <a:ext cx="604361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AOE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网定义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2217" name="Text Box 2"/>
          <p:cNvSpPr txBox="1"/>
          <p:nvPr/>
        </p:nvSpPr>
        <p:spPr>
          <a:xfrm>
            <a:off x="4747895" y="84455"/>
            <a:ext cx="4402455" cy="5835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7.6 AOE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网与关键路径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4" grpId="0" bldLvl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ext Box 19"/>
          <p:cNvSpPr txBox="1"/>
          <p:nvPr/>
        </p:nvSpPr>
        <p:spPr>
          <a:xfrm>
            <a:off x="547688" y="1831975"/>
            <a:ext cx="814705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-45720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只有在某个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顶点所代表的事件发生以后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，该顶点引发的活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-45720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动才能开始。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4994" name="Text Box 20"/>
          <p:cNvSpPr txBox="1"/>
          <p:nvPr/>
        </p:nvSpPr>
        <p:spPr>
          <a:xfrm>
            <a:off x="547688" y="2903538"/>
            <a:ext cx="8326437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进入某事件的所有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边所代表的活动都已完成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，该顶点所代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表的事件才能发生。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0341" name="Rectangle 165"/>
          <p:cNvSpPr/>
          <p:nvPr/>
        </p:nvSpPr>
        <p:spPr>
          <a:xfrm>
            <a:off x="931863" y="5010151"/>
            <a:ext cx="3736975" cy="46037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采用邻接矩阵存储方法。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93189" name="Oval 7"/>
          <p:cNvSpPr/>
          <p:nvPr/>
        </p:nvSpPr>
        <p:spPr>
          <a:xfrm>
            <a:off x="547688" y="92868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3190" name="Text Box 8"/>
          <p:cNvSpPr txBox="1"/>
          <p:nvPr/>
        </p:nvSpPr>
        <p:spPr>
          <a:xfrm>
            <a:off x="971550" y="844550"/>
            <a:ext cx="604361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AOE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网特点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8073" name="Oval 7"/>
          <p:cNvSpPr/>
          <p:nvPr/>
        </p:nvSpPr>
        <p:spPr>
          <a:xfrm>
            <a:off x="547688" y="438943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8074" name="Text Box 8"/>
          <p:cNvSpPr txBox="1"/>
          <p:nvPr/>
        </p:nvSpPr>
        <p:spPr>
          <a:xfrm>
            <a:off x="971550" y="4305300"/>
            <a:ext cx="604361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4. AOE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网的存储方法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3193" name="Text Box 2"/>
          <p:cNvSpPr txBox="1"/>
          <p:nvPr/>
        </p:nvSpPr>
        <p:spPr>
          <a:xfrm>
            <a:off x="4731385" y="84455"/>
            <a:ext cx="4418965" cy="5835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7.6 AOE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网与关键路径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3" grpId="0"/>
      <p:bldP spid="84994" grpId="0"/>
      <p:bldP spid="50341" grpId="0"/>
      <p:bldP spid="88073" grpId="0" animBg="1"/>
      <p:bldP spid="88074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00" name="Text Box 24"/>
          <p:cNvSpPr txBox="1"/>
          <p:nvPr/>
        </p:nvSpPr>
        <p:spPr>
          <a:xfrm>
            <a:off x="971550" y="1511300"/>
            <a:ext cx="3079750" cy="49149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</a:t>
            </a: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关键路径的定义</a:t>
            </a:r>
            <a:endParaRPr lang="zh-CN" altLang="en-US" sz="26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0201" name="Text Box 25"/>
          <p:cNvSpPr txBox="1"/>
          <p:nvPr/>
        </p:nvSpPr>
        <p:spPr>
          <a:xfrm>
            <a:off x="439738" y="1963738"/>
            <a:ext cx="8264525" cy="115316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3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</a:t>
            </a:r>
            <a:r>
              <a:rPr lang="zh-CN" altLang="en-US" sz="23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从源点到终点的路径中具有</a:t>
            </a:r>
            <a:r>
              <a:rPr lang="zh-CN" altLang="en-US" sz="23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最大路径长度的路径</a:t>
            </a:r>
            <a:r>
              <a:rPr lang="zh-CN" altLang="en-US" sz="23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为关键路径</a:t>
            </a:r>
            <a:r>
              <a:rPr lang="en-US" altLang="zh-CN" sz="23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;  </a:t>
            </a:r>
            <a:r>
              <a:rPr lang="zh-CN" altLang="en-US" sz="23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关键路径上的活动称为</a:t>
            </a:r>
            <a:r>
              <a:rPr lang="zh-CN" altLang="en-US" sz="23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关键活动</a:t>
            </a:r>
            <a:r>
              <a:rPr lang="zh-CN" altLang="en-US" sz="23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zh-CN" altLang="en-US" sz="23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4212" name="Oval 7"/>
          <p:cNvSpPr/>
          <p:nvPr/>
        </p:nvSpPr>
        <p:spPr>
          <a:xfrm>
            <a:off x="547688" y="92868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4213" name="Text Box 8"/>
          <p:cNvSpPr txBox="1"/>
          <p:nvPr/>
        </p:nvSpPr>
        <p:spPr>
          <a:xfrm>
            <a:off x="971550" y="844550"/>
            <a:ext cx="604361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关键路径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2" name="Oval 7"/>
          <p:cNvSpPr/>
          <p:nvPr/>
        </p:nvSpPr>
        <p:spPr>
          <a:xfrm>
            <a:off x="542925" y="1547813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9933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3" name="Text Box 86"/>
          <p:cNvSpPr txBox="1"/>
          <p:nvPr/>
        </p:nvSpPr>
        <p:spPr>
          <a:xfrm>
            <a:off x="1033463" y="3346450"/>
            <a:ext cx="3538537" cy="49149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</a:t>
            </a: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关键路径的特点</a:t>
            </a:r>
            <a:endParaRPr lang="zh-CN" altLang="en-US" sz="26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4" name="Text Box 87"/>
          <p:cNvSpPr txBox="1">
            <a:spLocks noChangeArrowheads="1"/>
          </p:cNvSpPr>
          <p:nvPr/>
        </p:nvSpPr>
        <p:spPr bwMode="auto">
          <a:xfrm>
            <a:off x="974725" y="3938588"/>
            <a:ext cx="7640638" cy="939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3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defRPr/>
            </a:pP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关键路径的长度</a:t>
            </a:r>
            <a:r>
              <a:rPr kumimoji="0" lang="en-US" altLang="zh-CN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路径上的边的权值之和</a:t>
            </a:r>
            <a:r>
              <a:rPr kumimoji="0" lang="en-US" altLang="zh-CN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为完成整个工</a:t>
            </a:r>
            <a:endParaRPr kumimoji="0" lang="en-US" altLang="zh-CN" sz="2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</a:t>
            </a: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程所需要的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最短时间</a:t>
            </a: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kumimoji="0" lang="zh-CN" altLang="en-US" sz="2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5" name="Text Box 88"/>
          <p:cNvSpPr txBox="1"/>
          <p:nvPr/>
        </p:nvSpPr>
        <p:spPr>
          <a:xfrm>
            <a:off x="990600" y="4899025"/>
            <a:ext cx="7908925" cy="136461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3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2) </a:t>
            </a:r>
            <a:r>
              <a:rPr lang="zh-CN" altLang="en-US" sz="2300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关键路径的长度变化</a:t>
            </a:r>
            <a:r>
              <a:rPr lang="en-US" altLang="zh-CN" sz="23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zh-CN" altLang="en-US" sz="23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即任意关键活动的权值变化</a:t>
            </a:r>
            <a:r>
              <a:rPr lang="en-US" altLang="zh-CN" sz="23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lang="zh-CN" altLang="en-US" sz="23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将</a:t>
            </a:r>
            <a:r>
              <a:rPr lang="zh-CN" altLang="en-US" sz="2300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影响</a:t>
            </a:r>
            <a:endParaRPr lang="en-US" altLang="zh-CN" sz="2300" b="1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300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</a:t>
            </a:r>
            <a:r>
              <a:rPr lang="zh-CN" altLang="en-US" sz="2300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整个工程的进度</a:t>
            </a:r>
            <a:r>
              <a:rPr lang="zh-CN" altLang="en-US" sz="23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，而其他非关键活动在一定范围内的变化</a:t>
            </a:r>
            <a:endParaRPr lang="en-US" altLang="zh-CN" sz="23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3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</a:t>
            </a:r>
            <a:r>
              <a:rPr lang="zh-CN" altLang="en-US" sz="23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不会影响工期。</a:t>
            </a:r>
            <a:endParaRPr lang="zh-CN" altLang="en-US" sz="23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6" name="Oval 7"/>
          <p:cNvSpPr/>
          <p:nvPr/>
        </p:nvSpPr>
        <p:spPr>
          <a:xfrm>
            <a:off x="561975" y="338613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9933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4219" name="Text Box 2"/>
          <p:cNvSpPr txBox="1"/>
          <p:nvPr/>
        </p:nvSpPr>
        <p:spPr>
          <a:xfrm>
            <a:off x="4822190" y="84455"/>
            <a:ext cx="4328160" cy="5835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7.6 AOE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网与关键路径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00" grpId="0"/>
      <p:bldP spid="50201" grpId="0"/>
      <p:bldP spid="22" grpId="0" animBg="1"/>
      <p:bldP spid="23" grpId="0"/>
      <p:bldP spid="24" grpId="0"/>
      <p:bldP spid="25" grpId="0"/>
      <p:bldP spid="2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45" name="Text Box 89"/>
          <p:cNvSpPr txBox="1"/>
          <p:nvPr/>
        </p:nvSpPr>
        <p:spPr>
          <a:xfrm>
            <a:off x="631825" y="1354773"/>
            <a:ext cx="6647815" cy="177863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20000"/>
              </a:spcAft>
            </a:pP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求关键活动的思路：</a:t>
            </a:r>
            <a:endParaRPr lang="zh-CN" altLang="en-US" sz="2400" b="1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e(i) —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活动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zh-CN" sz="2400" baseline="-20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的最早开始时间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l(i) —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活动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zh-CN" sz="2400" baseline="-20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的最迟开始时间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若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l(i)–a(i)=0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，则说明活动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zh-CN" sz="2400" baseline="-20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为一个关键活动。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21947" name="Text Box 91"/>
          <p:cNvSpPr txBox="1"/>
          <p:nvPr/>
        </p:nvSpPr>
        <p:spPr>
          <a:xfrm>
            <a:off x="930275" y="3244215"/>
            <a:ext cx="4689475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Ve(k) —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事件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k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的最早发生时间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21959" name="Group 103"/>
          <p:cNvGrpSpPr/>
          <p:nvPr/>
        </p:nvGrpSpPr>
        <p:grpSpPr>
          <a:xfrm>
            <a:off x="5921375" y="2985135"/>
            <a:ext cx="1998663" cy="652463"/>
            <a:chOff x="3754" y="3063"/>
            <a:chExt cx="1259" cy="411"/>
          </a:xfrm>
        </p:grpSpPr>
        <p:sp>
          <p:nvSpPr>
            <p:cNvPr id="95255" name="Oval 92"/>
            <p:cNvSpPr/>
            <p:nvPr/>
          </p:nvSpPr>
          <p:spPr>
            <a:xfrm>
              <a:off x="3754" y="3138"/>
              <a:ext cx="336" cy="336"/>
            </a:xfrm>
            <a:prstGeom prst="ellipse">
              <a:avLst/>
            </a:prstGeom>
            <a:noFill/>
            <a:ln w="28575" cap="sq" cmpd="sng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k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5256" name="Oval 93"/>
            <p:cNvSpPr/>
            <p:nvPr/>
          </p:nvSpPr>
          <p:spPr>
            <a:xfrm>
              <a:off x="4677" y="3131"/>
              <a:ext cx="336" cy="336"/>
            </a:xfrm>
            <a:prstGeom prst="ellipse">
              <a:avLst/>
            </a:prstGeom>
            <a:noFill/>
            <a:ln w="28575" cap="rnd" cmpd="sng">
              <a:solidFill>
                <a:srgbClr val="00B0F0"/>
              </a:solidFill>
              <a:prstDash val="sysDot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95257" name="Line 94"/>
            <p:cNvSpPr/>
            <p:nvPr/>
          </p:nvSpPr>
          <p:spPr>
            <a:xfrm>
              <a:off x="4101" y="3323"/>
              <a:ext cx="576" cy="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5258" name="Rectangle 95"/>
            <p:cNvSpPr/>
            <p:nvPr/>
          </p:nvSpPr>
          <p:spPr>
            <a:xfrm>
              <a:off x="4263" y="3063"/>
              <a:ext cx="239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0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i</a:t>
              </a:r>
              <a:endParaRPr lang="en-US" altLang="zh-CN" sz="2400" baseline="-20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21953" name="Text Box 97"/>
          <p:cNvSpPr txBox="1"/>
          <p:nvPr/>
        </p:nvSpPr>
        <p:spPr>
          <a:xfrm>
            <a:off x="985838" y="3799523"/>
            <a:ext cx="4722812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Vl(k) —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事件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k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的最迟发生时间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915025" y="3674110"/>
            <a:ext cx="1951038" cy="661988"/>
            <a:chOff x="6007100" y="4344988"/>
            <a:chExt cx="1951038" cy="661987"/>
          </a:xfrm>
        </p:grpSpPr>
        <p:sp>
          <p:nvSpPr>
            <p:cNvPr id="95249" name="Rectangle 101"/>
            <p:cNvSpPr/>
            <p:nvPr/>
          </p:nvSpPr>
          <p:spPr>
            <a:xfrm>
              <a:off x="6798067" y="4344988"/>
              <a:ext cx="378629" cy="46166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00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i</a:t>
              </a:r>
              <a:endParaRPr lang="en-US" altLang="zh-CN" sz="2400" baseline="-20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95250" name="Group 104"/>
            <p:cNvGrpSpPr/>
            <p:nvPr/>
          </p:nvGrpSpPr>
          <p:grpSpPr>
            <a:xfrm>
              <a:off x="6007100" y="4452938"/>
              <a:ext cx="1951038" cy="554037"/>
              <a:chOff x="3784" y="3694"/>
              <a:chExt cx="1229" cy="349"/>
            </a:xfrm>
          </p:grpSpPr>
          <p:sp>
            <p:nvSpPr>
              <p:cNvPr id="95251" name="Oval 98"/>
              <p:cNvSpPr/>
              <p:nvPr/>
            </p:nvSpPr>
            <p:spPr>
              <a:xfrm>
                <a:off x="3784" y="3694"/>
                <a:ext cx="336" cy="336"/>
              </a:xfrm>
              <a:prstGeom prst="ellipse">
                <a:avLst/>
              </a:prstGeom>
              <a:noFill/>
              <a:ln w="28575" cap="rnd" cmpd="sng">
                <a:solidFill>
                  <a:srgbClr val="00B0F0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</a:pPr>
                <a:endParaRPr lang="zh-CN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252" name="Oval 99"/>
              <p:cNvSpPr/>
              <p:nvPr/>
            </p:nvSpPr>
            <p:spPr>
              <a:xfrm>
                <a:off x="4677" y="3707"/>
                <a:ext cx="336" cy="336"/>
              </a:xfrm>
              <a:prstGeom prst="ellipse">
                <a:avLst/>
              </a:prstGeom>
              <a:noFill/>
              <a:ln w="28575" cap="flat" cmpd="sng">
                <a:solidFill>
                  <a:srgbClr val="00B0F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</a:pPr>
                <a:endPara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253" name="Line 100"/>
              <p:cNvSpPr/>
              <p:nvPr/>
            </p:nvSpPr>
            <p:spPr>
              <a:xfrm>
                <a:off x="4120" y="3886"/>
                <a:ext cx="576" cy="0"/>
              </a:xfrm>
              <a:prstGeom prst="line">
                <a:avLst/>
              </a:prstGeom>
              <a:ln w="28575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triangle" w="med" len="med"/>
              </a:ln>
            </p:spPr>
          </p:sp>
          <p:sp>
            <p:nvSpPr>
              <p:cNvPr id="95254" name="Rectangle 102"/>
              <p:cNvSpPr/>
              <p:nvPr/>
            </p:nvSpPr>
            <p:spPr>
              <a:xfrm>
                <a:off x="4738" y="3733"/>
                <a:ext cx="220" cy="29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k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95239" name="Text Box 86"/>
          <p:cNvSpPr txBox="1"/>
          <p:nvPr/>
        </p:nvSpPr>
        <p:spPr>
          <a:xfrm>
            <a:off x="822325" y="856298"/>
            <a:ext cx="3538538" cy="49149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</a:t>
            </a: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关键路径的计算</a:t>
            </a:r>
            <a:endParaRPr lang="zh-CN" altLang="en-US" sz="26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5240" name="Oval 7"/>
          <p:cNvSpPr/>
          <p:nvPr/>
        </p:nvSpPr>
        <p:spPr>
          <a:xfrm>
            <a:off x="350838" y="895985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9933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3" name="Text Box 117"/>
          <p:cNvSpPr txBox="1">
            <a:spLocks noChangeArrowheads="1"/>
          </p:cNvSpPr>
          <p:nvPr/>
        </p:nvSpPr>
        <p:spPr bwMode="auto">
          <a:xfrm>
            <a:off x="592138" y="4893310"/>
            <a:ext cx="3789680" cy="82994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事件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k</a:t>
            </a: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的最早发生时间</a:t>
            </a:r>
            <a:r>
              <a:rPr kumimoji="0" lang="en-US" altLang="zh-CN" kern="1200" cap="none" spc="0" normalizeH="0" baseline="0" noProof="0" dirty="0" err="1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Ve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(k)</a:t>
            </a:r>
            <a:endParaRPr kumimoji="0" lang="en-US" altLang="zh-CN" kern="1200" cap="none" spc="0" normalizeH="0" baseline="0" noProof="0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事件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k</a:t>
            </a: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的最迟发生时间</a:t>
            </a:r>
            <a:r>
              <a:rPr kumimoji="0" lang="en-US" altLang="zh-CN" kern="1200" cap="none" spc="0" normalizeH="0" baseline="0" noProof="0" dirty="0" err="1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Vl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(k)</a:t>
            </a:r>
            <a:endParaRPr kumimoji="0" lang="en-US" altLang="zh-CN" kern="1200" cap="none" spc="0" normalizeH="0" baseline="0" noProof="0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4" name="Text Box 118"/>
          <p:cNvSpPr txBox="1">
            <a:spLocks noChangeArrowheads="1"/>
          </p:cNvSpPr>
          <p:nvPr/>
        </p:nvSpPr>
        <p:spPr bwMode="auto">
          <a:xfrm>
            <a:off x="5175250" y="4893310"/>
            <a:ext cx="3776663" cy="82994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活动的</a:t>
            </a:r>
            <a:r>
              <a:rPr kumimoji="0" lang="en-US" altLang="zh-CN" kern="1200" cap="none" spc="0" normalizeH="0" baseline="0" noProof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kern="1200" cap="none" spc="0" normalizeH="0" baseline="-20000" noProof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kumimoji="0" lang="zh-CN" altLang="en-US" kern="1200" cap="none" spc="0" normalizeH="0" baseline="0" noProof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最早开始时间</a:t>
            </a:r>
            <a:r>
              <a:rPr kumimoji="0" lang="en-US" altLang="zh-CN" kern="1200" cap="none" spc="0" normalizeH="0" baseline="0" noProof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e(i)</a:t>
            </a:r>
            <a:endParaRPr kumimoji="0" lang="en-US" altLang="zh-CN" kern="1200" cap="none" spc="0" normalizeH="0" baseline="0" noProof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活动的</a:t>
            </a:r>
            <a:r>
              <a:rPr kumimoji="0" lang="en-US" altLang="zh-CN" kern="1200" cap="none" spc="0" normalizeH="0" baseline="0" noProof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kern="1200" cap="none" spc="0" normalizeH="0" baseline="-20000" noProof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kumimoji="0" lang="zh-CN" altLang="en-US" kern="1200" cap="none" spc="0" normalizeH="0" baseline="0" noProof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最迟开始时间</a:t>
            </a:r>
            <a:r>
              <a:rPr kumimoji="0" lang="en-US" altLang="zh-CN" kern="1200" cap="none" spc="0" normalizeH="0" baseline="0" noProof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l(i)</a:t>
            </a:r>
            <a:endParaRPr kumimoji="0" lang="en-US" altLang="zh-CN" kern="1200" cap="none" spc="0" normalizeH="0" baseline="0" noProof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5" name="Text Box 119"/>
          <p:cNvSpPr txBox="1">
            <a:spLocks noChangeArrowheads="1"/>
          </p:cNvSpPr>
          <p:nvPr/>
        </p:nvSpPr>
        <p:spPr bwMode="auto">
          <a:xfrm>
            <a:off x="3633153" y="5952173"/>
            <a:ext cx="1877695" cy="49149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600" b="1" kern="1200" cap="none" spc="0" normalizeH="0" baseline="0" noProof="0" dirty="0">
                <a:solidFill>
                  <a:srgbClr val="FF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求 </a:t>
            </a:r>
            <a:r>
              <a:rPr kumimoji="0" lang="en-US" altLang="zh-CN" sz="2600" b="1" kern="1200" cap="none" spc="0" normalizeH="0" baseline="0" noProof="0" dirty="0">
                <a:solidFill>
                  <a:srgbClr val="FF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e(</a:t>
            </a:r>
            <a:r>
              <a:rPr kumimoji="0" lang="en-US" altLang="zh-CN" sz="2600" b="1" kern="1200" cap="none" spc="0" normalizeH="0" baseline="0" noProof="0" dirty="0" err="1">
                <a:solidFill>
                  <a:srgbClr val="FF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600" b="1" kern="1200" cap="none" spc="0" normalizeH="0" baseline="0" noProof="0" dirty="0">
                <a:solidFill>
                  <a:srgbClr val="FF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) = l(</a:t>
            </a:r>
            <a:r>
              <a:rPr kumimoji="0" lang="en-US" altLang="zh-CN" sz="2600" b="1" kern="1200" cap="none" spc="0" normalizeH="0" baseline="0" noProof="0" dirty="0" err="1">
                <a:solidFill>
                  <a:srgbClr val="FF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600" b="1" kern="1200" cap="none" spc="0" normalizeH="0" baseline="0" noProof="0" dirty="0">
                <a:solidFill>
                  <a:srgbClr val="FF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kumimoji="0" lang="en-US" altLang="zh-CN" sz="2600" b="1" kern="1200" cap="none" spc="0" normalizeH="0" baseline="0" noProof="0" dirty="0">
              <a:solidFill>
                <a:srgbClr val="FF00FF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6" name="AutoShape 120"/>
          <p:cNvSpPr>
            <a:spLocks noChangeArrowheads="1"/>
          </p:cNvSpPr>
          <p:nvPr/>
        </p:nvSpPr>
        <p:spPr bwMode="auto">
          <a:xfrm>
            <a:off x="4422775" y="512191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33CC33"/>
          </a:solidFill>
          <a:ln w="12700" cap="sq">
            <a:solidFill>
              <a:srgbClr val="FFFF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7" name="AutoShape 121"/>
          <p:cNvSpPr>
            <a:spLocks noChangeArrowheads="1"/>
          </p:cNvSpPr>
          <p:nvPr/>
        </p:nvSpPr>
        <p:spPr bwMode="auto">
          <a:xfrm>
            <a:off x="4498975" y="5655310"/>
            <a:ext cx="457200" cy="4572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CC33"/>
          </a:solidFill>
          <a:ln w="12700" cap="sq">
            <a:solidFill>
              <a:srgbClr val="FFFF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2138" y="4588510"/>
            <a:ext cx="8170862" cy="1855788"/>
          </a:xfrm>
          <a:prstGeom prst="rect">
            <a:avLst/>
          </a:prstGeom>
          <a:noFill/>
          <a:ln w="31750" cap="flat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Box 124"/>
          <p:cNvSpPr txBox="1"/>
          <p:nvPr/>
        </p:nvSpPr>
        <p:spPr>
          <a:xfrm>
            <a:off x="381000" y="4355148"/>
            <a:ext cx="1209675" cy="506730"/>
          </a:xfrm>
          <a:prstGeom prst="rect">
            <a:avLst/>
          </a:prstGeom>
          <a:solidFill>
            <a:srgbClr val="FF9933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7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结论</a:t>
            </a:r>
            <a:endParaRPr lang="zh-CN" altLang="en-US" sz="27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5248" name="Text Box 2"/>
          <p:cNvSpPr txBox="1"/>
          <p:nvPr/>
        </p:nvSpPr>
        <p:spPr>
          <a:xfrm>
            <a:off x="4779645" y="84455"/>
            <a:ext cx="4370705" cy="5835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7.6 AOE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网与关键路径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945" grpId="0"/>
      <p:bldP spid="121947" grpId="0"/>
      <p:bldP spid="121953" grpId="0"/>
      <p:bldP spid="23" grpId="0"/>
      <p:bldP spid="24" grpId="0"/>
      <p:bldP spid="25" grpId="0"/>
      <p:bldP spid="26" grpId="0" bldLvl="0" animBg="1"/>
      <p:bldP spid="27" grpId="0" bldLvl="0" animBg="1"/>
      <p:bldP spid="3" grpId="0" bldLvl="0" animBg="1"/>
      <p:bldP spid="30" grpId="0" bldLvl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77" name="Text Box 125"/>
          <p:cNvSpPr txBox="1">
            <a:spLocks noChangeArrowheads="1"/>
          </p:cNvSpPr>
          <p:nvPr/>
        </p:nvSpPr>
        <p:spPr bwMode="auto">
          <a:xfrm>
            <a:off x="431800" y="1258888"/>
            <a:ext cx="5213350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1.  </a:t>
            </a:r>
            <a:r>
              <a:rPr kumimoji="0" lang="zh-CN" altLang="en-US" b="1" kern="1200" cap="none" spc="0" normalizeH="0" baseline="0" noProof="0" dirty="0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计算事件</a:t>
            </a:r>
            <a:r>
              <a:rPr kumimoji="0" lang="en-US" altLang="zh-CN" b="1" kern="1200" cap="none" spc="0" normalizeH="0" baseline="0" noProof="0" dirty="0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k</a:t>
            </a:r>
            <a:r>
              <a:rPr kumimoji="0" lang="zh-CN" altLang="en-US" b="1" kern="1200" cap="none" spc="0" normalizeH="0" baseline="0" noProof="0" dirty="0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的最早发生时间</a:t>
            </a:r>
            <a:r>
              <a:rPr kumimoji="0" lang="en-US" altLang="zh-CN" b="1" kern="1200" cap="none" spc="0" normalizeH="0" baseline="0" noProof="0" dirty="0" err="1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Ve</a:t>
            </a:r>
            <a:r>
              <a:rPr kumimoji="0" lang="en-US" altLang="zh-CN" b="1" kern="1200" cap="none" spc="0" normalizeH="0" baseline="0" noProof="0" dirty="0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(k) </a:t>
            </a:r>
            <a:endParaRPr kumimoji="0" lang="en-US" altLang="zh-CN" b="1" kern="1200" cap="none" spc="0" normalizeH="0" baseline="0" noProof="0" dirty="0">
              <a:solidFill>
                <a:srgbClr val="0000FF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9278" name="Text Box 126"/>
          <p:cNvSpPr txBox="1">
            <a:spLocks noChangeArrowheads="1"/>
          </p:cNvSpPr>
          <p:nvPr/>
        </p:nvSpPr>
        <p:spPr bwMode="auto">
          <a:xfrm>
            <a:off x="479425" y="1658938"/>
            <a:ext cx="8183563" cy="82994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ea typeface="微软雅黑" panose="020B0503020204020204" charset="-122"/>
                <a:cs typeface="Times New Roman" panose="02020603050405020304" pitchFamily="18" charset="0"/>
              </a:rPr>
              <a:t>        </a:t>
            </a: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事件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k</a:t>
            </a: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的最早发生时间</a:t>
            </a:r>
            <a:r>
              <a:rPr kumimoji="0" lang="en-US" altLang="zh-CN" kern="1200" cap="none" spc="0" normalizeH="0" baseline="0" noProof="0" dirty="0" err="1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Ve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(k)</a:t>
            </a: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是指从源点到顶点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k</a:t>
            </a: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的最大路径长度。</a:t>
            </a:r>
            <a:endParaRPr kumimoji="0" lang="zh-CN" altLang="en-US" kern="1200" cap="none" spc="0" normalizeH="0" baseline="0" noProof="0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8076" name="Text Box 138"/>
          <p:cNvSpPr txBox="1">
            <a:spLocks noChangeArrowheads="1"/>
          </p:cNvSpPr>
          <p:nvPr/>
        </p:nvSpPr>
        <p:spPr bwMode="auto">
          <a:xfrm>
            <a:off x="479425" y="2381250"/>
            <a:ext cx="6881813" cy="135064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spcAft>
                <a:spcPct val="30000"/>
              </a:spcAft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0" dirty="0">
                <a:solidFill>
                  <a:srgbClr val="00B050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计算方法</a:t>
            </a:r>
            <a:r>
              <a:rPr kumimoji="0" lang="en-US" altLang="zh-CN" b="1" kern="1200" cap="none" spc="0" normalizeH="0" baseline="0" noProof="0" dirty="0">
                <a:solidFill>
                  <a:srgbClr val="00B050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:</a:t>
            </a:r>
            <a:endParaRPr kumimoji="0" lang="en-US" altLang="zh-CN" b="1" kern="1200" cap="none" spc="0" normalizeH="0" baseline="0" noProof="0" dirty="0">
              <a:solidFill>
                <a:srgbClr val="00B050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solidFill>
                  <a:schemeClr val="bg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kern="1200" cap="none" spc="0" normalizeH="0" baseline="0" noProof="0" dirty="0" err="1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Ve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(1) = 0</a:t>
            </a:r>
            <a:endParaRPr kumimoji="0" lang="en-US" altLang="zh-CN" kern="1200" cap="none" spc="0" normalizeH="0" baseline="0" noProof="0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kern="1200" cap="none" spc="0" normalizeH="0" baseline="0" noProof="0" dirty="0" err="1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Ve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(k) = Max{ </a:t>
            </a:r>
            <a:r>
              <a:rPr kumimoji="0" lang="en-US" altLang="zh-CN" kern="1200" cap="none" spc="0" normalizeH="0" baseline="0" noProof="0" dirty="0" err="1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Ve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(j) + &lt;j, k&gt;</a:t>
            </a: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的权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b="1" kern="1200" cap="none" spc="0" normalizeH="0" baseline="0" noProof="0" dirty="0">
                <a:solidFill>
                  <a:srgbClr val="FF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&lt;j,  k&gt;</a:t>
            </a:r>
            <a:r>
              <a:rPr kumimoji="0" lang="en-US" altLang="zh-CN" b="1" kern="1200" cap="none" spc="0" normalizeH="0" baseline="0" noProof="0" dirty="0">
                <a:solidFill>
                  <a:srgbClr val="FF00FF"/>
                </a:solidFill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P( j )</a:t>
            </a:r>
            <a:endParaRPr kumimoji="0" lang="en-US" altLang="zh-CN" b="1" kern="1200" cap="none" spc="0" normalizeH="0" baseline="0" noProof="0" dirty="0">
              <a:solidFill>
                <a:srgbClr val="FF00FF"/>
              </a:solidFill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6261" name="Text Box 86"/>
          <p:cNvSpPr txBox="1"/>
          <p:nvPr/>
        </p:nvSpPr>
        <p:spPr>
          <a:xfrm>
            <a:off x="822325" y="812800"/>
            <a:ext cx="3538538" cy="49149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</a:t>
            </a: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关键路径的求解</a:t>
            </a:r>
            <a:endParaRPr lang="zh-CN" altLang="en-US" sz="26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6262" name="Oval 7"/>
          <p:cNvSpPr/>
          <p:nvPr/>
        </p:nvSpPr>
        <p:spPr>
          <a:xfrm>
            <a:off x="350838" y="85248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9933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2" name="Text Box 41"/>
          <p:cNvSpPr txBox="1"/>
          <p:nvPr/>
        </p:nvSpPr>
        <p:spPr>
          <a:xfrm>
            <a:off x="479425" y="3808413"/>
            <a:ext cx="526415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计算事件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的最迟发生时间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Vl(k) 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3" name="Text Box 42"/>
          <p:cNvSpPr txBox="1"/>
          <p:nvPr/>
        </p:nvSpPr>
        <p:spPr>
          <a:xfrm>
            <a:off x="449263" y="4238625"/>
            <a:ext cx="8166100" cy="82994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事件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k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的最晚发生时间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Vl(k)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是指不影响整个工期的前提下事件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k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必须发生的最晚时间。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5" name="Text Box 44"/>
          <p:cNvSpPr txBox="1"/>
          <p:nvPr/>
        </p:nvSpPr>
        <p:spPr>
          <a:xfrm>
            <a:off x="450850" y="5078413"/>
            <a:ext cx="6654800" cy="14744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spcAft>
                <a:spcPct val="30000"/>
              </a:spcAft>
            </a:pP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计算方法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</a:t>
            </a:r>
            <a:endParaRPr lang="en-US" altLang="zh-CN" sz="2400" b="1" dirty="0">
              <a:solidFill>
                <a:srgbClr val="00B05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spcAft>
                <a:spcPct val="30000"/>
              </a:spcAft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Vl(n) = Ve(n)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spcAft>
                <a:spcPct val="30000"/>
              </a:spcAft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Vl(k) = Min{ Vl(j) – &lt;k, j&gt;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的权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&lt;k, j&gt;</a:t>
            </a: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S(k)</a:t>
            </a:r>
            <a:endParaRPr lang="en-US" altLang="zh-CN" sz="2400" b="1" dirty="0">
              <a:solidFill>
                <a:srgbClr val="FF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6256338" y="5172075"/>
            <a:ext cx="2389187" cy="1130300"/>
            <a:chOff x="2928938" y="3986213"/>
            <a:chExt cx="2389187" cy="1593850"/>
          </a:xfrm>
        </p:grpSpPr>
        <p:sp>
          <p:nvSpPr>
            <p:cNvPr id="96282" name="Oval 47"/>
            <p:cNvSpPr/>
            <p:nvPr/>
          </p:nvSpPr>
          <p:spPr>
            <a:xfrm>
              <a:off x="3652838" y="4421188"/>
              <a:ext cx="434975" cy="434975"/>
            </a:xfrm>
            <a:prstGeom prst="ellipse">
              <a:avLst/>
            </a:prstGeom>
            <a:noFill/>
            <a:ln w="28575" cap="sq" cmpd="sng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283" name="Text Box 48"/>
            <p:cNvSpPr txBox="1"/>
            <p:nvPr/>
          </p:nvSpPr>
          <p:spPr>
            <a:xfrm>
              <a:off x="3691732" y="4292992"/>
              <a:ext cx="356188" cy="65100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284" name="Oval 49"/>
            <p:cNvSpPr/>
            <p:nvPr/>
          </p:nvSpPr>
          <p:spPr>
            <a:xfrm>
              <a:off x="4865688" y="5145088"/>
              <a:ext cx="434975" cy="434975"/>
            </a:xfrm>
            <a:prstGeom prst="ellipse">
              <a:avLst/>
            </a:prstGeom>
            <a:noFill/>
            <a:ln w="25400" cap="sq" cmpd="sng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285" name="Oval 50"/>
            <p:cNvSpPr/>
            <p:nvPr/>
          </p:nvSpPr>
          <p:spPr>
            <a:xfrm>
              <a:off x="4883150" y="4565650"/>
              <a:ext cx="434975" cy="434975"/>
            </a:xfrm>
            <a:prstGeom prst="ellipse">
              <a:avLst/>
            </a:prstGeom>
            <a:noFill/>
            <a:ln w="25400" cap="sq" cmpd="sng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286" name="Oval 51"/>
            <p:cNvSpPr/>
            <p:nvPr/>
          </p:nvSpPr>
          <p:spPr>
            <a:xfrm>
              <a:off x="4883150" y="3986213"/>
              <a:ext cx="434975" cy="434975"/>
            </a:xfrm>
            <a:prstGeom prst="ellipse">
              <a:avLst/>
            </a:prstGeom>
            <a:noFill/>
            <a:ln w="25400" cap="sq" cmpd="sng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287" name="Line 52"/>
            <p:cNvSpPr/>
            <p:nvPr/>
          </p:nvSpPr>
          <p:spPr>
            <a:xfrm>
              <a:off x="4087813" y="4710113"/>
              <a:ext cx="795337" cy="73025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6288" name="Line 53"/>
            <p:cNvSpPr/>
            <p:nvPr/>
          </p:nvSpPr>
          <p:spPr>
            <a:xfrm flipV="1">
              <a:off x="4087813" y="4276725"/>
              <a:ext cx="795337" cy="288925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6289" name="Line 54"/>
            <p:cNvSpPr/>
            <p:nvPr/>
          </p:nvSpPr>
          <p:spPr>
            <a:xfrm>
              <a:off x="4014788" y="4856163"/>
              <a:ext cx="868362" cy="433387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6290" name="Line 55"/>
            <p:cNvSpPr/>
            <p:nvPr/>
          </p:nvSpPr>
          <p:spPr>
            <a:xfrm>
              <a:off x="2928938" y="4348163"/>
              <a:ext cx="723900" cy="217487"/>
            </a:xfrm>
            <a:prstGeom prst="line">
              <a:avLst/>
            </a:prstGeom>
            <a:ln w="28575" cap="rnd" cmpd="sng">
              <a:solidFill>
                <a:schemeClr val="accent4">
                  <a:lumMod val="75000"/>
                </a:schemeClr>
              </a:solidFill>
              <a:prstDash val="sysDot"/>
              <a:headEnd type="none" w="sm" len="sm"/>
              <a:tailEnd type="triangle" w="med" len="med"/>
            </a:ln>
          </p:spPr>
        </p:sp>
        <p:sp>
          <p:nvSpPr>
            <p:cNvPr id="96291" name="Line 56"/>
            <p:cNvSpPr/>
            <p:nvPr/>
          </p:nvSpPr>
          <p:spPr>
            <a:xfrm flipV="1">
              <a:off x="2928938" y="4710113"/>
              <a:ext cx="723900" cy="146050"/>
            </a:xfrm>
            <a:prstGeom prst="line">
              <a:avLst/>
            </a:prstGeom>
            <a:ln w="28575" cap="rnd" cmpd="sng">
              <a:solidFill>
                <a:schemeClr val="accent4">
                  <a:lumMod val="75000"/>
                </a:schemeClr>
              </a:solidFill>
              <a:prstDash val="sysDot"/>
              <a:headEnd type="none" w="sm" len="sm"/>
              <a:tailEnd type="triangle" w="med" len="med"/>
            </a:ln>
          </p:spPr>
        </p:sp>
      </p:grpSp>
      <p:grpSp>
        <p:nvGrpSpPr>
          <p:cNvPr id="3" name="组合 2"/>
          <p:cNvGrpSpPr/>
          <p:nvPr/>
        </p:nvGrpSpPr>
        <p:grpSpPr>
          <a:xfrm>
            <a:off x="5895975" y="1951038"/>
            <a:ext cx="2816225" cy="1265237"/>
            <a:chOff x="5895247" y="1950597"/>
            <a:chExt cx="2817329" cy="1264888"/>
          </a:xfrm>
        </p:grpSpPr>
        <p:grpSp>
          <p:nvGrpSpPr>
            <p:cNvPr id="96269" name="Group 143"/>
            <p:cNvGrpSpPr/>
            <p:nvPr/>
          </p:nvGrpSpPr>
          <p:grpSpPr>
            <a:xfrm>
              <a:off x="5895247" y="2052509"/>
              <a:ext cx="2817329" cy="1127184"/>
              <a:chOff x="1820" y="3072"/>
              <a:chExt cx="1780" cy="959"/>
            </a:xfrm>
          </p:grpSpPr>
          <p:sp>
            <p:nvSpPr>
              <p:cNvPr id="88082" name="Oval 144"/>
              <p:cNvSpPr>
                <a:spLocks noChangeArrowheads="1"/>
              </p:cNvSpPr>
              <p:nvPr/>
            </p:nvSpPr>
            <p:spPr bwMode="auto">
              <a:xfrm>
                <a:off x="2880" y="3551"/>
                <a:ext cx="237" cy="227"/>
              </a:xfrm>
              <a:prstGeom prst="ellipse">
                <a:avLst/>
              </a:prstGeom>
              <a:noFill/>
              <a:ln w="28575" cap="sq">
                <a:solidFill>
                  <a:srgbClr val="00B0F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微软雅黑" panose="020B0503020204020204" charset="-122"/>
                    <a:cs typeface="Times New Roman" panose="02020603050405020304" pitchFamily="18" charset="0"/>
                  </a:rPr>
                  <a:t>k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083" name="Oval 145"/>
              <p:cNvSpPr>
                <a:spLocks noChangeArrowheads="1"/>
              </p:cNvSpPr>
              <p:nvPr/>
            </p:nvSpPr>
            <p:spPr bwMode="auto">
              <a:xfrm>
                <a:off x="1820" y="3801"/>
                <a:ext cx="228" cy="228"/>
              </a:xfrm>
              <a:prstGeom prst="ellipse">
                <a:avLst/>
              </a:prstGeom>
              <a:noFill/>
              <a:ln w="28575" cap="sq">
                <a:solidFill>
                  <a:srgbClr val="00B0F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084" name="Oval 146"/>
              <p:cNvSpPr>
                <a:spLocks noChangeArrowheads="1"/>
              </p:cNvSpPr>
              <p:nvPr/>
            </p:nvSpPr>
            <p:spPr bwMode="auto">
              <a:xfrm>
                <a:off x="1820" y="3435"/>
                <a:ext cx="228" cy="231"/>
              </a:xfrm>
              <a:prstGeom prst="ellipse">
                <a:avLst/>
              </a:prstGeom>
              <a:noFill/>
              <a:ln w="28575" cap="sq">
                <a:solidFill>
                  <a:srgbClr val="00B0F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085" name="Oval 147"/>
              <p:cNvSpPr>
                <a:spLocks noChangeArrowheads="1"/>
              </p:cNvSpPr>
              <p:nvPr/>
            </p:nvSpPr>
            <p:spPr bwMode="auto">
              <a:xfrm>
                <a:off x="1831" y="3072"/>
                <a:ext cx="228" cy="228"/>
              </a:xfrm>
              <a:prstGeom prst="ellipse">
                <a:avLst/>
              </a:prstGeom>
              <a:noFill/>
              <a:ln w="28575" cap="sq">
                <a:solidFill>
                  <a:srgbClr val="00B0F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086" name="Line 148"/>
              <p:cNvSpPr>
                <a:spLocks noChangeShapeType="1"/>
              </p:cNvSpPr>
              <p:nvPr/>
            </p:nvSpPr>
            <p:spPr bwMode="auto">
              <a:xfrm>
                <a:off x="2059" y="3208"/>
                <a:ext cx="822" cy="366"/>
              </a:xfrm>
              <a:prstGeom prst="line">
                <a:avLst/>
              </a:prstGeom>
              <a:noFill/>
              <a:ln w="28575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8087" name="Line 149"/>
              <p:cNvSpPr>
                <a:spLocks noChangeShapeType="1"/>
              </p:cNvSpPr>
              <p:nvPr/>
            </p:nvSpPr>
            <p:spPr bwMode="auto">
              <a:xfrm flipV="1">
                <a:off x="2064" y="3666"/>
                <a:ext cx="806" cy="270"/>
              </a:xfrm>
              <a:prstGeom prst="line">
                <a:avLst/>
              </a:prstGeom>
              <a:noFill/>
              <a:ln w="28575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8088" name="Line 150"/>
              <p:cNvSpPr>
                <a:spLocks noChangeShapeType="1"/>
              </p:cNvSpPr>
              <p:nvPr/>
            </p:nvSpPr>
            <p:spPr bwMode="auto">
              <a:xfrm>
                <a:off x="2048" y="3574"/>
                <a:ext cx="822" cy="46"/>
              </a:xfrm>
              <a:prstGeom prst="line">
                <a:avLst/>
              </a:prstGeom>
              <a:noFill/>
              <a:ln w="28575" cap="sq">
                <a:solidFill>
                  <a:schemeClr val="accent4">
                    <a:lumMod val="75000"/>
                  </a:schemeClr>
                </a:solidFill>
                <a:round/>
                <a:headEnd type="none" w="sm" len="sm"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8089" name="Line 151"/>
              <p:cNvSpPr>
                <a:spLocks noChangeShapeType="1"/>
              </p:cNvSpPr>
              <p:nvPr/>
            </p:nvSpPr>
            <p:spPr bwMode="auto">
              <a:xfrm flipV="1">
                <a:off x="3098" y="3435"/>
                <a:ext cx="502" cy="139"/>
              </a:xfrm>
              <a:prstGeom prst="line">
                <a:avLst/>
              </a:prstGeom>
              <a:noFill/>
              <a:ln w="28575" cap="rnd">
                <a:solidFill>
                  <a:srgbClr val="FFC000"/>
                </a:solidFill>
                <a:prstDash val="sysDot"/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8090" name="Line 152"/>
              <p:cNvSpPr>
                <a:spLocks noChangeShapeType="1"/>
              </p:cNvSpPr>
              <p:nvPr/>
            </p:nvSpPr>
            <p:spPr bwMode="auto">
              <a:xfrm>
                <a:off x="3098" y="3666"/>
                <a:ext cx="502" cy="135"/>
              </a:xfrm>
              <a:prstGeom prst="line">
                <a:avLst/>
              </a:prstGeom>
              <a:noFill/>
              <a:ln w="28575" cap="rnd">
                <a:solidFill>
                  <a:srgbClr val="FFC000"/>
                </a:solidFill>
                <a:prstDash val="sysDot"/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96270" name="文本框 1"/>
            <p:cNvSpPr txBox="1"/>
            <p:nvPr/>
          </p:nvSpPr>
          <p:spPr>
            <a:xfrm>
              <a:off x="5979648" y="1950597"/>
              <a:ext cx="269732" cy="4000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271" name="文本框 59"/>
            <p:cNvSpPr txBox="1"/>
            <p:nvPr/>
          </p:nvSpPr>
          <p:spPr>
            <a:xfrm>
              <a:off x="5971202" y="2394611"/>
              <a:ext cx="269732" cy="4000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272" name="文本框 60"/>
            <p:cNvSpPr txBox="1"/>
            <p:nvPr/>
          </p:nvSpPr>
          <p:spPr>
            <a:xfrm>
              <a:off x="5965493" y="2815459"/>
              <a:ext cx="269732" cy="4000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6268" name="Text Box 2"/>
          <p:cNvSpPr txBox="1"/>
          <p:nvPr/>
        </p:nvSpPr>
        <p:spPr>
          <a:xfrm>
            <a:off x="4768850" y="84455"/>
            <a:ext cx="4381500" cy="5835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7.6 AOE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网与关键路径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77" grpId="0"/>
      <p:bldP spid="49278" grpId="0"/>
      <p:bldP spid="88076" grpId="0"/>
      <p:bldP spid="32" grpId="0"/>
      <p:bldP spid="33" grpId="0"/>
      <p:bldP spid="3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86"/>
          <p:cNvSpPr txBox="1"/>
          <p:nvPr/>
        </p:nvSpPr>
        <p:spPr>
          <a:xfrm>
            <a:off x="822325" y="812800"/>
            <a:ext cx="3538538" cy="49149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</a:t>
            </a: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关键路径的求解</a:t>
            </a:r>
            <a:endParaRPr lang="zh-CN" altLang="en-US" sz="26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7283" name="Oval 7"/>
          <p:cNvSpPr/>
          <p:nvPr/>
        </p:nvSpPr>
        <p:spPr>
          <a:xfrm>
            <a:off x="350838" y="85248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9933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0" name="Text Box 223"/>
          <p:cNvSpPr txBox="1">
            <a:spLocks noChangeArrowheads="1"/>
          </p:cNvSpPr>
          <p:nvPr/>
        </p:nvSpPr>
        <p:spPr bwMode="auto">
          <a:xfrm>
            <a:off x="471488" y="1311275"/>
            <a:ext cx="4956175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3.  </a:t>
            </a:r>
            <a:r>
              <a:rPr kumimoji="0" lang="zh-CN" altLang="en-US" kern="1200" cap="none" spc="0" normalizeH="0" baseline="0" noProof="0" dirty="0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计算活动</a:t>
            </a:r>
            <a:r>
              <a:rPr kumimoji="0" lang="en-US" altLang="zh-CN" kern="1200" cap="none" spc="0" normalizeH="0" baseline="0" noProof="0" dirty="0" err="1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zh-CN" altLang="en-US" kern="1200" cap="none" spc="0" normalizeH="0" baseline="0" noProof="0" dirty="0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的最早开始时间</a:t>
            </a:r>
            <a:r>
              <a:rPr kumimoji="0" lang="en-US" altLang="zh-CN" kern="1200" cap="none" spc="0" normalizeH="0" baseline="0" noProof="0" dirty="0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e(</a:t>
            </a:r>
            <a:r>
              <a:rPr kumimoji="0" lang="en-US" altLang="zh-CN" kern="1200" cap="none" spc="0" normalizeH="0" baseline="0" noProof="0" dirty="0" err="1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kern="1200" cap="none" spc="0" normalizeH="0" baseline="0" noProof="0" dirty="0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) </a:t>
            </a:r>
            <a:endParaRPr kumimoji="0" lang="en-US" altLang="zh-CN" kern="1200" cap="none" spc="0" normalizeH="0" baseline="0" noProof="0" dirty="0">
              <a:solidFill>
                <a:srgbClr val="0000FF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1" name="Text Box 224"/>
          <p:cNvSpPr txBox="1">
            <a:spLocks noChangeArrowheads="1"/>
          </p:cNvSpPr>
          <p:nvPr/>
        </p:nvSpPr>
        <p:spPr bwMode="auto">
          <a:xfrm>
            <a:off x="508000" y="1730375"/>
            <a:ext cx="8197850" cy="90297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solidFill>
                  <a:schemeClr val="bg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kern="1200" cap="none" spc="0" normalizeH="0" baseline="0" noProof="0" dirty="0">
                <a:solidFill>
                  <a:schemeClr val="bg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  活动</a:t>
            </a:r>
            <a:r>
              <a:rPr kumimoji="0" lang="en-US" altLang="zh-CN" kern="1200" cap="none" spc="0" normalizeH="0" baseline="0" noProof="0" dirty="0" err="1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的最早开始时间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e(</a:t>
            </a:r>
            <a:r>
              <a:rPr kumimoji="0" lang="en-US" altLang="zh-CN" kern="1200" cap="none" spc="0" normalizeH="0" baseline="0" noProof="0" dirty="0" err="1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) </a:t>
            </a: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是事件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k</a:t>
            </a: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发生的最早时间，即只有事件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k </a:t>
            </a: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发生了，活动</a:t>
            </a:r>
            <a:r>
              <a:rPr kumimoji="0" lang="en-US" altLang="zh-CN" kern="1200" cap="none" spc="0" normalizeH="0" baseline="0" noProof="0" dirty="0" err="1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才能开始。</a:t>
            </a:r>
            <a:endParaRPr kumimoji="0" lang="zh-CN" altLang="en-US" kern="1200" cap="none" spc="0" normalizeH="0" baseline="0" noProof="0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42" name="Group 242"/>
          <p:cNvGrpSpPr/>
          <p:nvPr/>
        </p:nvGrpSpPr>
        <p:grpSpPr>
          <a:xfrm>
            <a:off x="3146425" y="2605088"/>
            <a:ext cx="2481263" cy="536575"/>
            <a:chOff x="1874" y="1228"/>
            <a:chExt cx="1563" cy="338"/>
          </a:xfrm>
        </p:grpSpPr>
        <p:sp>
          <p:nvSpPr>
            <p:cNvPr id="43" name="Oval 226"/>
            <p:cNvSpPr>
              <a:spLocks noChangeArrowheads="1"/>
            </p:cNvSpPr>
            <p:nvPr/>
          </p:nvSpPr>
          <p:spPr bwMode="auto">
            <a:xfrm>
              <a:off x="1874" y="1290"/>
              <a:ext cx="274" cy="273"/>
            </a:xfrm>
            <a:prstGeom prst="ellipse">
              <a:avLst/>
            </a:prstGeom>
            <a:noFill/>
            <a:ln w="28575" cap="sq">
              <a:solidFill>
                <a:srgbClr val="00B0F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Oval 227"/>
            <p:cNvSpPr>
              <a:spLocks noChangeArrowheads="1"/>
            </p:cNvSpPr>
            <p:nvPr/>
          </p:nvSpPr>
          <p:spPr bwMode="auto">
            <a:xfrm>
              <a:off x="3163" y="1290"/>
              <a:ext cx="274" cy="273"/>
            </a:xfrm>
            <a:prstGeom prst="ellipse">
              <a:avLst/>
            </a:prstGeom>
            <a:noFill/>
            <a:ln w="25400" cap="sq">
              <a:solidFill>
                <a:srgbClr val="00B0F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Line 228"/>
            <p:cNvSpPr>
              <a:spLocks noChangeShapeType="1"/>
            </p:cNvSpPr>
            <p:nvPr/>
          </p:nvSpPr>
          <p:spPr bwMode="auto">
            <a:xfrm>
              <a:off x="2148" y="1427"/>
              <a:ext cx="1003" cy="0"/>
            </a:xfrm>
            <a:prstGeom prst="line">
              <a:avLst/>
            </a:prstGeom>
            <a:noFill/>
            <a:ln w="28575" cap="sq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6" name="Text Box 229"/>
            <p:cNvSpPr txBox="1">
              <a:spLocks noChangeArrowheads="1"/>
            </p:cNvSpPr>
            <p:nvPr/>
          </p:nvSpPr>
          <p:spPr bwMode="auto">
            <a:xfrm>
              <a:off x="2442" y="1228"/>
              <a:ext cx="451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R="0" algn="ctr" defTabSz="914400" eaLnBrk="1" hangingPunct="1">
                <a:buClrTx/>
                <a:buSzTx/>
                <a:buFontTx/>
                <a:buNone/>
                <a:defRPr/>
              </a:pPr>
              <a:r>
                <a:rPr kumimoji="0" lang="zh-CN" altLang="en-US" sz="1800" kern="1200" cap="none" spc="0" normalizeH="0" baseline="0" noProof="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活动</a:t>
              </a:r>
              <a:r>
                <a:rPr kumimoji="0" lang="en-US" altLang="zh-CN" sz="1800" kern="1200" cap="none" spc="0" normalizeH="0" baseline="0" noProof="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1800" kern="1200" cap="none" spc="0" normalizeH="0" baseline="0" noProof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Text Box 230"/>
            <p:cNvSpPr txBox="1">
              <a:spLocks noChangeArrowheads="1"/>
            </p:cNvSpPr>
            <p:nvPr/>
          </p:nvSpPr>
          <p:spPr bwMode="auto">
            <a:xfrm>
              <a:off x="1913" y="1314"/>
              <a:ext cx="206" cy="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R="0" algn="ctr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sz="2000" b="1" kern="1200" cap="none" spc="0" normalizeH="0" baseline="0" noProof="0" dirty="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k</a:t>
              </a:r>
              <a:endParaRPr kumimoji="0" lang="en-US" altLang="zh-CN" sz="2000" b="1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Text Box 231"/>
            <p:cNvSpPr txBox="1">
              <a:spLocks noChangeArrowheads="1"/>
            </p:cNvSpPr>
            <p:nvPr/>
          </p:nvSpPr>
          <p:spPr bwMode="auto">
            <a:xfrm>
              <a:off x="3240" y="1289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R="0" algn="ctr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sz="2000" b="1" kern="1200" cap="none" spc="0" normalizeH="0" baseline="0" noProof="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j</a:t>
              </a:r>
              <a:endParaRPr kumimoji="0" lang="en-US" altLang="zh-CN" sz="2000" b="1" kern="1200" cap="none" spc="0" normalizeH="0" baseline="0" noProof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9" name="Text Box 232"/>
          <p:cNvSpPr txBox="1">
            <a:spLocks noChangeArrowheads="1"/>
          </p:cNvSpPr>
          <p:nvPr/>
        </p:nvSpPr>
        <p:spPr bwMode="auto">
          <a:xfrm>
            <a:off x="565150" y="3236913"/>
            <a:ext cx="3987800" cy="49149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500" b="1" kern="1200" cap="none" spc="0" normalizeH="0" baseline="0" noProof="0" dirty="0">
                <a:solidFill>
                  <a:srgbClr val="00B050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计算方法：</a:t>
            </a:r>
            <a:r>
              <a:rPr kumimoji="0" lang="en-US" altLang="zh-CN" sz="2600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e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kern="1200" cap="none" spc="0" normalizeH="0" baseline="0" noProof="0" dirty="0" err="1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) = </a:t>
            </a:r>
            <a:r>
              <a:rPr kumimoji="0" lang="en-US" altLang="zh-CN" sz="2600" kern="1200" cap="none" spc="0" normalizeH="0" baseline="0" noProof="0" dirty="0" err="1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Ve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(k)</a:t>
            </a:r>
            <a:endParaRPr kumimoji="0" lang="en-US" altLang="zh-CN" kern="1200" cap="none" spc="0" normalizeH="0" baseline="0" noProof="0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0" name="Text Box 233"/>
          <p:cNvSpPr txBox="1"/>
          <p:nvPr/>
        </p:nvSpPr>
        <p:spPr>
          <a:xfrm>
            <a:off x="373063" y="3997325"/>
            <a:ext cx="48529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4.  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计算活动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 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的最迟开始时间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l(i) 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1" name="Text Box 234"/>
          <p:cNvSpPr txBox="1">
            <a:spLocks noChangeArrowheads="1"/>
          </p:cNvSpPr>
          <p:nvPr/>
        </p:nvSpPr>
        <p:spPr bwMode="auto">
          <a:xfrm>
            <a:off x="508000" y="4460875"/>
            <a:ext cx="8197850" cy="82994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ea typeface="微软雅黑" panose="020B0503020204020204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kern="1200" cap="none" spc="0" normalizeH="0" baseline="0" noProof="0" dirty="0">
                <a:ea typeface="微软雅黑" panose="020B0503020204020204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活动</a:t>
            </a:r>
            <a:r>
              <a:rPr kumimoji="0" lang="en-US" altLang="zh-CN" kern="1200" cap="none" spc="0" normalizeH="0" baseline="0" noProof="0" dirty="0" err="1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的最迟开始时间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l(</a:t>
            </a:r>
            <a:r>
              <a:rPr kumimoji="0" lang="en-US" altLang="zh-CN" kern="1200" cap="none" spc="0" normalizeH="0" baseline="0" noProof="0" dirty="0" err="1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) </a:t>
            </a: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是指不推迟整个工期的前提下活动</a:t>
            </a:r>
            <a:r>
              <a:rPr kumimoji="0" lang="en-US" altLang="zh-CN" kern="1200" cap="none" spc="0" normalizeH="0" baseline="0" noProof="0" dirty="0" err="1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开始的最晚时间。</a:t>
            </a:r>
            <a:endParaRPr kumimoji="0" lang="zh-CN" altLang="en-US" kern="1200" cap="none" spc="0" normalizeH="0" baseline="0" noProof="0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2" name="Text Box 235"/>
          <p:cNvSpPr txBox="1">
            <a:spLocks noChangeArrowheads="1"/>
          </p:cNvSpPr>
          <p:nvPr/>
        </p:nvSpPr>
        <p:spPr bwMode="auto">
          <a:xfrm>
            <a:off x="581025" y="5994400"/>
            <a:ext cx="6002338" cy="47561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spcAft>
                <a:spcPct val="2000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kern="1200" cap="none" spc="0" normalizeH="0" baseline="0" noProof="0" dirty="0">
                <a:solidFill>
                  <a:srgbClr val="00B050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计算方法：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l(</a:t>
            </a:r>
            <a:r>
              <a:rPr kumimoji="0" lang="en-US" altLang="zh-CN" kern="1200" cap="none" spc="0" normalizeH="0" baseline="0" noProof="0" dirty="0" err="1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) = </a:t>
            </a:r>
            <a:r>
              <a:rPr kumimoji="0" lang="en-US" altLang="zh-CN" kern="1200" cap="none" spc="0" normalizeH="0" baseline="0" noProof="0" dirty="0" err="1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Vl</a:t>
            </a:r>
            <a:r>
              <a:rPr kumimoji="0" lang="en-US" altLang="zh-CN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(j) -&lt;k, j&gt;</a:t>
            </a: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的权</a:t>
            </a:r>
            <a:endParaRPr kumimoji="0" lang="zh-CN" altLang="en-US" kern="1200" cap="none" spc="0" normalizeH="0" baseline="0" noProof="0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53" name="Group 243"/>
          <p:cNvGrpSpPr/>
          <p:nvPr/>
        </p:nvGrpSpPr>
        <p:grpSpPr>
          <a:xfrm>
            <a:off x="3017838" y="5316538"/>
            <a:ext cx="2481262" cy="536575"/>
            <a:chOff x="1843" y="3231"/>
            <a:chExt cx="1563" cy="338"/>
          </a:xfrm>
        </p:grpSpPr>
        <p:sp>
          <p:nvSpPr>
            <p:cNvPr id="54" name="Oval 236"/>
            <p:cNvSpPr>
              <a:spLocks noChangeArrowheads="1"/>
            </p:cNvSpPr>
            <p:nvPr/>
          </p:nvSpPr>
          <p:spPr bwMode="auto">
            <a:xfrm>
              <a:off x="1843" y="3293"/>
              <a:ext cx="274" cy="273"/>
            </a:xfrm>
            <a:prstGeom prst="ellipse">
              <a:avLst/>
            </a:prstGeom>
            <a:noFill/>
            <a:ln w="28575" cap="sq">
              <a:solidFill>
                <a:srgbClr val="00B0F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5" name="Oval 237"/>
            <p:cNvSpPr>
              <a:spLocks noChangeArrowheads="1"/>
            </p:cNvSpPr>
            <p:nvPr/>
          </p:nvSpPr>
          <p:spPr bwMode="auto">
            <a:xfrm>
              <a:off x="3132" y="3293"/>
              <a:ext cx="274" cy="273"/>
            </a:xfrm>
            <a:prstGeom prst="ellipse">
              <a:avLst/>
            </a:prstGeom>
            <a:noFill/>
            <a:ln w="28575" cap="sq">
              <a:solidFill>
                <a:srgbClr val="00B0F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Text Box 238"/>
            <p:cNvSpPr txBox="1">
              <a:spLocks noChangeArrowheads="1"/>
            </p:cNvSpPr>
            <p:nvPr/>
          </p:nvSpPr>
          <p:spPr bwMode="auto">
            <a:xfrm>
              <a:off x="2411" y="3231"/>
              <a:ext cx="451" cy="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R="0" algn="ctr" defTabSz="914400" eaLnBrk="1" hangingPunct="1">
                <a:buClrTx/>
                <a:buSzTx/>
                <a:buFontTx/>
                <a:buNone/>
                <a:defRPr/>
              </a:pPr>
              <a:r>
                <a:rPr kumimoji="0" lang="zh-CN" altLang="en-US" sz="1800" kern="1200" cap="none" spc="0" normalizeH="0" baseline="0" noProof="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活动</a:t>
              </a:r>
              <a:r>
                <a:rPr kumimoji="0" lang="en-US" altLang="zh-CN" sz="1800" kern="1200" cap="none" spc="0" normalizeH="0" baseline="0" noProof="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1800" kern="1200" cap="none" spc="0" normalizeH="0" baseline="0" noProof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Text Box 239"/>
            <p:cNvSpPr txBox="1">
              <a:spLocks noChangeArrowheads="1"/>
            </p:cNvSpPr>
            <p:nvPr/>
          </p:nvSpPr>
          <p:spPr bwMode="auto">
            <a:xfrm>
              <a:off x="1882" y="3317"/>
              <a:ext cx="206" cy="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R="0" algn="ctr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sz="2000" b="1" kern="1200" cap="none" spc="0" normalizeH="0" baseline="0" noProof="0" dirty="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k</a:t>
              </a:r>
              <a:endParaRPr kumimoji="0" lang="en-US" altLang="zh-CN" sz="2000" b="1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Text Box 240"/>
            <p:cNvSpPr txBox="1">
              <a:spLocks noChangeArrowheads="1"/>
            </p:cNvSpPr>
            <p:nvPr/>
          </p:nvSpPr>
          <p:spPr bwMode="auto">
            <a:xfrm>
              <a:off x="3209" y="3292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R="0" algn="ctr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sz="2000" b="1" kern="1200" cap="none" spc="0" normalizeH="0" baseline="0" noProof="0" dirty="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j</a:t>
              </a:r>
              <a:endParaRPr kumimoji="0" lang="en-US" altLang="zh-CN" sz="2000" b="1" kern="1200" cap="none" spc="0" normalizeH="0" baseline="0" noProof="0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Line 241"/>
            <p:cNvSpPr>
              <a:spLocks noChangeShapeType="1"/>
            </p:cNvSpPr>
            <p:nvPr/>
          </p:nvSpPr>
          <p:spPr bwMode="auto">
            <a:xfrm>
              <a:off x="2124" y="3439"/>
              <a:ext cx="1003" cy="0"/>
            </a:xfrm>
            <a:prstGeom prst="line">
              <a:avLst/>
            </a:prstGeom>
            <a:noFill/>
            <a:ln w="28575" cap="sq">
              <a:solidFill>
                <a:schemeClr val="accent4">
                  <a:lumMod val="75000"/>
                </a:schemeClr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97292" name="Text Box 2"/>
          <p:cNvSpPr txBox="1"/>
          <p:nvPr/>
        </p:nvSpPr>
        <p:spPr>
          <a:xfrm>
            <a:off x="4718685" y="84455"/>
            <a:ext cx="4431665" cy="5835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7.6 AOE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网与关键路径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9" grpId="0"/>
      <p:bldP spid="50" grpId="0"/>
      <p:bldP spid="51" grpId="0"/>
      <p:bldP spid="52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9"/>
          <p:cNvGraphicFramePr>
            <a:graphicFrameLocks noGrp="1"/>
          </p:cNvGraphicFramePr>
          <p:nvPr/>
        </p:nvGraphicFramePr>
        <p:xfrm>
          <a:off x="5770563" y="2371725"/>
          <a:ext cx="3306762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2518"/>
                <a:gridCol w="1071006"/>
                <a:gridCol w="1743238"/>
              </a:tblGrid>
              <a:tr h="3657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活动</a:t>
                      </a:r>
                      <a:endParaRPr lang="zh-CN" altLang="en-US" sz="1800" b="0" dirty="0"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0" marR="0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e(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l(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</a:tr>
              <a:tr h="36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</a:tr>
              <a:tr h="36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</a:tr>
              <a:tr h="36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</a:tr>
              <a:tr h="36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</a:tr>
              <a:tr h="36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</a:tr>
              <a:tr h="36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</a:tr>
              <a:tr h="36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</a:tr>
              <a:tr h="36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</a:tr>
              <a:tr h="36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</a:tr>
              <a:tr h="36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</a:tr>
              <a:tr h="3657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02" marR="91402" marT="45723" marB="45723"/>
                </a:tc>
              </a:tr>
            </a:tbl>
          </a:graphicData>
        </a:graphic>
      </p:graphicFrame>
      <p:graphicFrame>
        <p:nvGraphicFramePr>
          <p:cNvPr id="124" name="表格 6"/>
          <p:cNvGraphicFramePr>
            <a:graphicFrameLocks noGrp="1"/>
          </p:cNvGraphicFramePr>
          <p:nvPr/>
        </p:nvGraphicFramePr>
        <p:xfrm>
          <a:off x="122238" y="2370138"/>
          <a:ext cx="5581650" cy="44640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0737"/>
                <a:gridCol w="2518123"/>
                <a:gridCol w="2552790"/>
              </a:tblGrid>
              <a:tr h="37257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</a:rPr>
                        <a:t>事件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</a:endParaRPr>
                    </a:p>
                  </a:txBody>
                  <a:tcPr marL="0" marR="0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Ve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Vl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</a:tr>
              <a:tr h="64019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altLang="zh-CN" sz="18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  <a:tc>
                  <a:txBody>
                    <a:bodyPr/>
                    <a:lstStyle/>
                    <a:p>
                      <a:endParaRPr lang="zh-CN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</a:tr>
              <a:tr h="3658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</a:tr>
              <a:tr h="3658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</a:tr>
              <a:tr h="3658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</a:tr>
              <a:tr h="4856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</a:tr>
              <a:tr h="3658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</a:tr>
              <a:tr h="3725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</a:tr>
              <a:tr h="5155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</a:tr>
              <a:tr h="614163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</a:pPr>
                      <a:endParaRPr lang="zh-CN" alt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53" marR="91453" marT="45728" marB="45728"/>
                </a:tc>
              </a:tr>
            </a:tbl>
          </a:graphicData>
        </a:graphic>
      </p:graphicFrame>
      <p:grpSp>
        <p:nvGrpSpPr>
          <p:cNvPr id="98406" name="Group 75"/>
          <p:cNvGrpSpPr/>
          <p:nvPr/>
        </p:nvGrpSpPr>
        <p:grpSpPr>
          <a:xfrm>
            <a:off x="742950" y="-53975"/>
            <a:ext cx="5638800" cy="2479675"/>
            <a:chOff x="680" y="2635"/>
            <a:chExt cx="3552" cy="1562"/>
          </a:xfrm>
        </p:grpSpPr>
        <p:sp>
          <p:nvSpPr>
            <p:cNvPr id="98465" name="Oval 6"/>
            <p:cNvSpPr/>
            <p:nvPr/>
          </p:nvSpPr>
          <p:spPr>
            <a:xfrm>
              <a:off x="680" y="3292"/>
              <a:ext cx="240" cy="240"/>
            </a:xfrm>
            <a:prstGeom prst="ellipse">
              <a:avLst/>
            </a:prstGeom>
            <a:solidFill>
              <a:srgbClr val="33CC33"/>
            </a:solidFill>
            <a:ln w="12700" cap="sq" cmpd="sng">
              <a:solidFill>
                <a:srgbClr val="FF0000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532" name="Oval 9"/>
            <p:cNvSpPr/>
            <p:nvPr/>
          </p:nvSpPr>
          <p:spPr>
            <a:xfrm>
              <a:off x="1460" y="3868"/>
              <a:ext cx="240" cy="240"/>
            </a:xfrm>
            <a:prstGeom prst="ellipse">
              <a:avLst/>
            </a:prstGeom>
            <a:solidFill>
              <a:srgbClr val="33CC33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530" name="Oval 12"/>
            <p:cNvSpPr/>
            <p:nvPr/>
          </p:nvSpPr>
          <p:spPr>
            <a:xfrm>
              <a:off x="1448" y="2668"/>
              <a:ext cx="240" cy="240"/>
            </a:xfrm>
            <a:prstGeom prst="ellipse">
              <a:avLst/>
            </a:prstGeom>
            <a:solidFill>
              <a:srgbClr val="33CC33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528" name="Oval 15"/>
            <p:cNvSpPr/>
            <p:nvPr/>
          </p:nvSpPr>
          <p:spPr>
            <a:xfrm>
              <a:off x="1460" y="3340"/>
              <a:ext cx="240" cy="240"/>
            </a:xfrm>
            <a:prstGeom prst="ellipse">
              <a:avLst/>
            </a:prstGeom>
            <a:solidFill>
              <a:srgbClr val="33CC33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526" name="Oval 18"/>
            <p:cNvSpPr/>
            <p:nvPr/>
          </p:nvSpPr>
          <p:spPr>
            <a:xfrm>
              <a:off x="2312" y="3004"/>
              <a:ext cx="240" cy="240"/>
            </a:xfrm>
            <a:prstGeom prst="ellipse">
              <a:avLst/>
            </a:prstGeom>
            <a:solidFill>
              <a:srgbClr val="33CC33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524" name="Oval 21"/>
            <p:cNvSpPr/>
            <p:nvPr/>
          </p:nvSpPr>
          <p:spPr>
            <a:xfrm>
              <a:off x="3224" y="2812"/>
              <a:ext cx="240" cy="240"/>
            </a:xfrm>
            <a:prstGeom prst="ellipse">
              <a:avLst/>
            </a:prstGeom>
            <a:solidFill>
              <a:srgbClr val="33CC33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522" name="Oval 24"/>
            <p:cNvSpPr/>
            <p:nvPr/>
          </p:nvSpPr>
          <p:spPr>
            <a:xfrm>
              <a:off x="3992" y="3100"/>
              <a:ext cx="240" cy="240"/>
            </a:xfrm>
            <a:prstGeom prst="ellipse">
              <a:avLst/>
            </a:prstGeom>
            <a:solidFill>
              <a:srgbClr val="33CC33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520" name="Oval 27"/>
            <p:cNvSpPr/>
            <p:nvPr/>
          </p:nvSpPr>
          <p:spPr>
            <a:xfrm>
              <a:off x="3224" y="3532"/>
              <a:ext cx="240" cy="240"/>
            </a:xfrm>
            <a:prstGeom prst="ellipse">
              <a:avLst/>
            </a:prstGeom>
            <a:solidFill>
              <a:srgbClr val="33CC33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518" name="Oval 30"/>
            <p:cNvSpPr/>
            <p:nvPr/>
          </p:nvSpPr>
          <p:spPr>
            <a:xfrm>
              <a:off x="2312" y="3724"/>
              <a:ext cx="240" cy="240"/>
            </a:xfrm>
            <a:prstGeom prst="ellipse">
              <a:avLst/>
            </a:prstGeom>
            <a:solidFill>
              <a:srgbClr val="33CC33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475" name="Line 32"/>
            <p:cNvSpPr/>
            <p:nvPr/>
          </p:nvSpPr>
          <p:spPr>
            <a:xfrm flipV="1">
              <a:off x="872" y="2860"/>
              <a:ext cx="624" cy="480"/>
            </a:xfrm>
            <a:prstGeom prst="line">
              <a:avLst/>
            </a:prstGeom>
            <a:ln w="12700" cap="sq" cmpd="sng">
              <a:solidFill>
                <a:srgbClr val="FFFF00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8476" name="Line 33"/>
            <p:cNvSpPr/>
            <p:nvPr/>
          </p:nvSpPr>
          <p:spPr>
            <a:xfrm>
              <a:off x="920" y="3436"/>
              <a:ext cx="528" cy="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8477" name="Line 34"/>
            <p:cNvSpPr/>
            <p:nvPr/>
          </p:nvSpPr>
          <p:spPr>
            <a:xfrm>
              <a:off x="872" y="3532"/>
              <a:ext cx="576" cy="384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8478" name="Line 35"/>
            <p:cNvSpPr/>
            <p:nvPr/>
          </p:nvSpPr>
          <p:spPr>
            <a:xfrm>
              <a:off x="1688" y="2812"/>
              <a:ext cx="624" cy="240"/>
            </a:xfrm>
            <a:prstGeom prst="line">
              <a:avLst/>
            </a:prstGeom>
            <a:ln w="12700" cap="sq" cmpd="sng">
              <a:solidFill>
                <a:srgbClr val="FFFF00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8479" name="Line 36"/>
            <p:cNvSpPr/>
            <p:nvPr/>
          </p:nvSpPr>
          <p:spPr>
            <a:xfrm flipV="1">
              <a:off x="1688" y="3196"/>
              <a:ext cx="624" cy="240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8480" name="Line 37"/>
            <p:cNvSpPr/>
            <p:nvPr/>
          </p:nvSpPr>
          <p:spPr>
            <a:xfrm flipV="1">
              <a:off x="1688" y="3916"/>
              <a:ext cx="624" cy="96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8481" name="Line 38"/>
            <p:cNvSpPr/>
            <p:nvPr/>
          </p:nvSpPr>
          <p:spPr>
            <a:xfrm flipV="1">
              <a:off x="2552" y="2956"/>
              <a:ext cx="672" cy="144"/>
            </a:xfrm>
            <a:prstGeom prst="line">
              <a:avLst/>
            </a:prstGeom>
            <a:ln w="12700" cap="sq" cmpd="sng">
              <a:solidFill>
                <a:srgbClr val="FFFF00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8482" name="Line 39"/>
            <p:cNvSpPr/>
            <p:nvPr/>
          </p:nvSpPr>
          <p:spPr>
            <a:xfrm flipV="1">
              <a:off x="2552" y="3676"/>
              <a:ext cx="672" cy="192"/>
            </a:xfrm>
            <a:prstGeom prst="line">
              <a:avLst/>
            </a:prstGeom>
            <a:ln w="28575" cap="sq" cmpd="sng">
              <a:solidFill>
                <a:schemeClr val="accent4">
                  <a:lumMod val="75000"/>
                </a:schemeClr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8483" name="Line 40"/>
            <p:cNvSpPr/>
            <p:nvPr/>
          </p:nvSpPr>
          <p:spPr>
            <a:xfrm>
              <a:off x="2552" y="3196"/>
              <a:ext cx="672" cy="384"/>
            </a:xfrm>
            <a:prstGeom prst="line">
              <a:avLst/>
            </a:prstGeom>
            <a:ln w="12700" cap="sq" cmpd="sng">
              <a:solidFill>
                <a:srgbClr val="FFFF00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8484" name="Line 41"/>
            <p:cNvSpPr/>
            <p:nvPr/>
          </p:nvSpPr>
          <p:spPr>
            <a:xfrm>
              <a:off x="3464" y="2956"/>
              <a:ext cx="528" cy="240"/>
            </a:xfrm>
            <a:prstGeom prst="line">
              <a:avLst/>
            </a:prstGeom>
            <a:ln w="12700" cap="sq" cmpd="sng">
              <a:solidFill>
                <a:srgbClr val="FFFF00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8485" name="Line 42"/>
            <p:cNvSpPr/>
            <p:nvPr/>
          </p:nvSpPr>
          <p:spPr>
            <a:xfrm flipV="1">
              <a:off x="3464" y="3292"/>
              <a:ext cx="564" cy="336"/>
            </a:xfrm>
            <a:prstGeom prst="line">
              <a:avLst/>
            </a:prstGeom>
            <a:ln w="12700" cap="sq" cmpd="sng">
              <a:solidFill>
                <a:srgbClr val="FFFF00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8486" name="Text Box 43"/>
            <p:cNvSpPr txBox="1"/>
            <p:nvPr/>
          </p:nvSpPr>
          <p:spPr>
            <a:xfrm>
              <a:off x="1087" y="2779"/>
              <a:ext cx="264" cy="26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200" b="1" baseline="-2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487" name="Text Box 44"/>
            <p:cNvSpPr txBox="1"/>
            <p:nvPr/>
          </p:nvSpPr>
          <p:spPr>
            <a:xfrm>
              <a:off x="1011" y="3148"/>
              <a:ext cx="276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488" name="Text Box 45"/>
            <p:cNvSpPr txBox="1"/>
            <p:nvPr/>
          </p:nvSpPr>
          <p:spPr>
            <a:xfrm>
              <a:off x="1166" y="3547"/>
              <a:ext cx="276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4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489" name="Text Box 46"/>
            <p:cNvSpPr txBox="1"/>
            <p:nvPr/>
          </p:nvSpPr>
          <p:spPr>
            <a:xfrm>
              <a:off x="1724" y="2635"/>
              <a:ext cx="264" cy="26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200" b="1" baseline="-2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490" name="Text Box 47"/>
            <p:cNvSpPr txBox="1"/>
            <p:nvPr/>
          </p:nvSpPr>
          <p:spPr>
            <a:xfrm>
              <a:off x="1779" y="3052"/>
              <a:ext cx="276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4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491" name="Text Box 48"/>
            <p:cNvSpPr txBox="1"/>
            <p:nvPr/>
          </p:nvSpPr>
          <p:spPr>
            <a:xfrm>
              <a:off x="1731" y="3724"/>
              <a:ext cx="276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492" name="Text Box 49"/>
            <p:cNvSpPr txBox="1"/>
            <p:nvPr/>
          </p:nvSpPr>
          <p:spPr>
            <a:xfrm>
              <a:off x="2696" y="2779"/>
              <a:ext cx="264" cy="26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200" b="1" baseline="-2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493" name="Text Box 50"/>
            <p:cNvSpPr txBox="1"/>
            <p:nvPr/>
          </p:nvSpPr>
          <p:spPr>
            <a:xfrm>
              <a:off x="2623" y="3067"/>
              <a:ext cx="264" cy="26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200" b="1" baseline="-2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494" name="Text Box 51"/>
            <p:cNvSpPr txBox="1"/>
            <p:nvPr/>
          </p:nvSpPr>
          <p:spPr>
            <a:xfrm>
              <a:off x="2547" y="3532"/>
              <a:ext cx="276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altLang="zh-CN" sz="24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495" name="Text Box 52"/>
            <p:cNvSpPr txBox="1"/>
            <p:nvPr/>
          </p:nvSpPr>
          <p:spPr>
            <a:xfrm>
              <a:off x="3466" y="2736"/>
              <a:ext cx="324" cy="26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200" b="1" baseline="-2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496" name="Text Box 53"/>
            <p:cNvSpPr txBox="1"/>
            <p:nvPr/>
          </p:nvSpPr>
          <p:spPr>
            <a:xfrm>
              <a:off x="3466" y="3259"/>
              <a:ext cx="324" cy="26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200" b="1" baseline="-2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497" name="Text Box 54"/>
            <p:cNvSpPr txBox="1"/>
            <p:nvPr/>
          </p:nvSpPr>
          <p:spPr>
            <a:xfrm>
              <a:off x="1260" y="2965"/>
              <a:ext cx="188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498" name="Text Box 55"/>
            <p:cNvSpPr txBox="1"/>
            <p:nvPr/>
          </p:nvSpPr>
          <p:spPr>
            <a:xfrm>
              <a:off x="1107" y="3388"/>
              <a:ext cx="189" cy="23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499" name="Text Box 56"/>
            <p:cNvSpPr txBox="1"/>
            <p:nvPr/>
          </p:nvSpPr>
          <p:spPr>
            <a:xfrm>
              <a:off x="1071" y="3752"/>
              <a:ext cx="189" cy="23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500" name="Text Box 57"/>
            <p:cNvSpPr txBox="1"/>
            <p:nvPr/>
          </p:nvSpPr>
          <p:spPr>
            <a:xfrm>
              <a:off x="1731" y="2812"/>
              <a:ext cx="189" cy="23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501" name="Text Box 58"/>
            <p:cNvSpPr txBox="1"/>
            <p:nvPr/>
          </p:nvSpPr>
          <p:spPr>
            <a:xfrm>
              <a:off x="1779" y="3320"/>
              <a:ext cx="189" cy="23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502" name="Text Box 59"/>
            <p:cNvSpPr txBox="1"/>
            <p:nvPr/>
          </p:nvSpPr>
          <p:spPr>
            <a:xfrm>
              <a:off x="1779" y="3964"/>
              <a:ext cx="189" cy="23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503" name="Text Box 60"/>
            <p:cNvSpPr txBox="1"/>
            <p:nvPr/>
          </p:nvSpPr>
          <p:spPr>
            <a:xfrm>
              <a:off x="2835" y="3004"/>
              <a:ext cx="189" cy="23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504" name="Text Box 61"/>
            <p:cNvSpPr txBox="1"/>
            <p:nvPr/>
          </p:nvSpPr>
          <p:spPr>
            <a:xfrm>
              <a:off x="2691" y="3292"/>
              <a:ext cx="189" cy="23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505" name="Text Box 62"/>
            <p:cNvSpPr txBox="1"/>
            <p:nvPr/>
          </p:nvSpPr>
          <p:spPr>
            <a:xfrm>
              <a:off x="3543" y="3004"/>
              <a:ext cx="189" cy="23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506" name="Text Box 63"/>
            <p:cNvSpPr txBox="1"/>
            <p:nvPr/>
          </p:nvSpPr>
          <p:spPr>
            <a:xfrm>
              <a:off x="3555" y="3484"/>
              <a:ext cx="189" cy="23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507" name="Text Box 64"/>
            <p:cNvSpPr txBox="1"/>
            <p:nvPr/>
          </p:nvSpPr>
          <p:spPr>
            <a:xfrm>
              <a:off x="2655" y="3772"/>
              <a:ext cx="189" cy="23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1800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1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8508" name="Group 65"/>
            <p:cNvGrpSpPr/>
            <p:nvPr/>
          </p:nvGrpSpPr>
          <p:grpSpPr>
            <a:xfrm>
              <a:off x="872" y="2813"/>
              <a:ext cx="3120" cy="528"/>
              <a:chOff x="1404" y="576"/>
              <a:chExt cx="3120" cy="528"/>
            </a:xfrm>
          </p:grpSpPr>
          <p:sp>
            <p:nvSpPr>
              <p:cNvPr id="98514" name="Line 66"/>
              <p:cNvSpPr/>
              <p:nvPr/>
            </p:nvSpPr>
            <p:spPr>
              <a:xfrm flipV="1">
                <a:off x="1404" y="624"/>
                <a:ext cx="624" cy="480"/>
              </a:xfrm>
              <a:prstGeom prst="line">
                <a:avLst/>
              </a:prstGeom>
              <a:ln w="28575" cap="sq" cmpd="sng">
                <a:solidFill>
                  <a:srgbClr val="FF00FF"/>
                </a:solidFill>
                <a:prstDash val="solid"/>
                <a:headEnd type="none" w="sm" len="sm"/>
                <a:tailEnd type="triangle" w="med" len="med"/>
              </a:ln>
            </p:spPr>
          </p:sp>
          <p:sp>
            <p:nvSpPr>
              <p:cNvPr id="98515" name="Line 67"/>
              <p:cNvSpPr/>
              <p:nvPr/>
            </p:nvSpPr>
            <p:spPr>
              <a:xfrm>
                <a:off x="2220" y="576"/>
                <a:ext cx="624" cy="240"/>
              </a:xfrm>
              <a:prstGeom prst="line">
                <a:avLst/>
              </a:prstGeom>
              <a:ln w="28575" cap="sq" cmpd="sng">
                <a:solidFill>
                  <a:srgbClr val="FF00FF"/>
                </a:solidFill>
                <a:prstDash val="solid"/>
                <a:headEnd type="none" w="sm" len="sm"/>
                <a:tailEnd type="triangle" w="med" len="med"/>
              </a:ln>
            </p:spPr>
          </p:sp>
          <p:sp>
            <p:nvSpPr>
              <p:cNvPr id="98516" name="Line 68"/>
              <p:cNvSpPr/>
              <p:nvPr/>
            </p:nvSpPr>
            <p:spPr>
              <a:xfrm flipV="1">
                <a:off x="3084" y="720"/>
                <a:ext cx="672" cy="144"/>
              </a:xfrm>
              <a:prstGeom prst="line">
                <a:avLst/>
              </a:prstGeom>
              <a:ln w="28575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triangle" w="med" len="med"/>
              </a:ln>
            </p:spPr>
          </p:sp>
          <p:sp>
            <p:nvSpPr>
              <p:cNvPr id="98517" name="Line 69"/>
              <p:cNvSpPr/>
              <p:nvPr/>
            </p:nvSpPr>
            <p:spPr>
              <a:xfrm>
                <a:off x="3996" y="720"/>
                <a:ext cx="528" cy="240"/>
              </a:xfrm>
              <a:prstGeom prst="line">
                <a:avLst/>
              </a:prstGeom>
              <a:ln w="28575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triangle" w="med" len="med"/>
              </a:ln>
            </p:spPr>
          </p:sp>
        </p:grpSp>
        <p:grpSp>
          <p:nvGrpSpPr>
            <p:cNvPr id="98509" name="Group 70"/>
            <p:cNvGrpSpPr/>
            <p:nvPr/>
          </p:nvGrpSpPr>
          <p:grpSpPr>
            <a:xfrm>
              <a:off x="872" y="2812"/>
              <a:ext cx="3156" cy="816"/>
              <a:chOff x="1308" y="2812"/>
              <a:chExt cx="3156" cy="816"/>
            </a:xfrm>
          </p:grpSpPr>
          <p:sp>
            <p:nvSpPr>
              <p:cNvPr id="98510" name="Line 71"/>
              <p:cNvSpPr/>
              <p:nvPr/>
            </p:nvSpPr>
            <p:spPr>
              <a:xfrm flipV="1">
                <a:off x="1308" y="2860"/>
                <a:ext cx="624" cy="480"/>
              </a:xfrm>
              <a:prstGeom prst="line">
                <a:avLst/>
              </a:prstGeom>
              <a:ln w="28575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triangle" w="med" len="med"/>
              </a:ln>
            </p:spPr>
          </p:sp>
          <p:sp>
            <p:nvSpPr>
              <p:cNvPr id="98511" name="Line 72"/>
              <p:cNvSpPr/>
              <p:nvPr/>
            </p:nvSpPr>
            <p:spPr>
              <a:xfrm>
                <a:off x="2124" y="2812"/>
                <a:ext cx="624" cy="240"/>
              </a:xfrm>
              <a:prstGeom prst="line">
                <a:avLst/>
              </a:prstGeom>
              <a:ln w="28575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triangle" w="med" len="med"/>
              </a:ln>
            </p:spPr>
          </p:sp>
          <p:sp>
            <p:nvSpPr>
              <p:cNvPr id="98512" name="Line 73"/>
              <p:cNvSpPr/>
              <p:nvPr/>
            </p:nvSpPr>
            <p:spPr>
              <a:xfrm>
                <a:off x="2988" y="3196"/>
                <a:ext cx="672" cy="384"/>
              </a:xfrm>
              <a:prstGeom prst="line">
                <a:avLst/>
              </a:prstGeom>
              <a:ln w="28575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triangle" w="med" len="med"/>
              </a:ln>
            </p:spPr>
          </p:sp>
          <p:sp>
            <p:nvSpPr>
              <p:cNvPr id="98513" name="Line 74"/>
              <p:cNvSpPr/>
              <p:nvPr/>
            </p:nvSpPr>
            <p:spPr>
              <a:xfrm flipV="1">
                <a:off x="3900" y="3292"/>
                <a:ext cx="564" cy="336"/>
              </a:xfrm>
              <a:prstGeom prst="line">
                <a:avLst/>
              </a:prstGeom>
              <a:ln w="28575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triangle" w="med" len="med"/>
              </a:ln>
            </p:spPr>
          </p:sp>
        </p:grpSp>
      </p:grpSp>
      <p:sp>
        <p:nvSpPr>
          <p:cNvPr id="98407" name="AutoShape 76"/>
          <p:cNvSpPr/>
          <p:nvPr/>
        </p:nvSpPr>
        <p:spPr>
          <a:xfrm>
            <a:off x="139700" y="104775"/>
            <a:ext cx="914400" cy="914400"/>
          </a:xfrm>
          <a:prstGeom prst="irregularSeal1">
            <a:avLst/>
          </a:prstGeom>
          <a:solidFill>
            <a:srgbClr val="CCFFFF"/>
          </a:solidFill>
          <a:ln w="19050" cap="sq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例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53677" name="Text Box 77"/>
          <p:cNvSpPr txBox="1"/>
          <p:nvPr/>
        </p:nvSpPr>
        <p:spPr>
          <a:xfrm>
            <a:off x="5889625" y="1393825"/>
            <a:ext cx="257429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zh-CN" altLang="en-US" sz="2000" b="1" dirty="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计算方法：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l(i) = e(i)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678" name="Text Box 78"/>
          <p:cNvSpPr txBox="1"/>
          <p:nvPr/>
        </p:nvSpPr>
        <p:spPr>
          <a:xfrm>
            <a:off x="374491" y="1922463"/>
            <a:ext cx="1097280" cy="460375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解答：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53679" name="Text Box 79"/>
          <p:cNvSpPr txBox="1"/>
          <p:nvPr/>
        </p:nvSpPr>
        <p:spPr>
          <a:xfrm>
            <a:off x="523875" y="3330575"/>
            <a:ext cx="2601913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max{Ve(1) + &lt;1,2&gt;}=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3975" y="2343150"/>
            <a:ext cx="8939213" cy="4479925"/>
            <a:chOff x="54720" y="2343237"/>
            <a:chExt cx="8938436" cy="4479388"/>
          </a:xfrm>
        </p:grpSpPr>
        <p:cxnSp>
          <p:nvCxnSpPr>
            <p:cNvPr id="98463" name="直接连接符 2"/>
            <p:cNvCxnSpPr/>
            <p:nvPr/>
          </p:nvCxnSpPr>
          <p:spPr>
            <a:xfrm>
              <a:off x="54720" y="2343237"/>
              <a:ext cx="8938436" cy="0"/>
            </a:xfrm>
            <a:prstGeom prst="line">
              <a:avLst/>
            </a:prstGeom>
            <a:ln w="12700">
              <a:noFill/>
            </a:ln>
          </p:spPr>
        </p:cxnSp>
        <p:cxnSp>
          <p:nvCxnSpPr>
            <p:cNvPr id="98464" name="直接连接符 4"/>
            <p:cNvCxnSpPr/>
            <p:nvPr/>
          </p:nvCxnSpPr>
          <p:spPr>
            <a:xfrm>
              <a:off x="5691552" y="2353948"/>
              <a:ext cx="0" cy="4468677"/>
            </a:xfrm>
            <a:prstGeom prst="line">
              <a:avLst/>
            </a:prstGeom>
            <a:ln w="12700">
              <a:noFill/>
            </a:ln>
          </p:spPr>
        </p:cxnSp>
      </p:grpSp>
      <p:sp>
        <p:nvSpPr>
          <p:cNvPr id="104" name="Text Box 79"/>
          <p:cNvSpPr txBox="1"/>
          <p:nvPr/>
        </p:nvSpPr>
        <p:spPr>
          <a:xfrm>
            <a:off x="522288" y="3700463"/>
            <a:ext cx="2603500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max{Ve(1) + &lt;1,3&gt;}=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5" name="Text Box 79"/>
          <p:cNvSpPr txBox="1"/>
          <p:nvPr/>
        </p:nvSpPr>
        <p:spPr>
          <a:xfrm>
            <a:off x="522288" y="4068763"/>
            <a:ext cx="2603500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max{Ve(1) + &lt;1,4&gt;}=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6" name="Text Box 79"/>
          <p:cNvSpPr txBox="1"/>
          <p:nvPr/>
        </p:nvSpPr>
        <p:spPr>
          <a:xfrm>
            <a:off x="95250" y="4464050"/>
            <a:ext cx="3130550" cy="58356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max{Ve(2) + &lt;2,5&gt;,    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     Ve(3) + &lt;3,5&gt;}=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7" name="Text Box 79"/>
          <p:cNvSpPr txBox="1"/>
          <p:nvPr/>
        </p:nvSpPr>
        <p:spPr>
          <a:xfrm>
            <a:off x="501650" y="4945063"/>
            <a:ext cx="2603500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max{Ve(4) + &lt;4,6&gt;}=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8" name="Text Box 79"/>
          <p:cNvSpPr txBox="1"/>
          <p:nvPr/>
        </p:nvSpPr>
        <p:spPr>
          <a:xfrm>
            <a:off x="485775" y="5235575"/>
            <a:ext cx="2767013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max{Ve(5) + &lt;5,7&gt;}=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16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9" name="Text Box 79"/>
          <p:cNvSpPr txBox="1"/>
          <p:nvPr/>
        </p:nvSpPr>
        <p:spPr>
          <a:xfrm>
            <a:off x="523875" y="5627688"/>
            <a:ext cx="3028950" cy="58356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max{Ve(5) + &lt;5,8&gt;,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Ve(6) + &lt;6,8&gt;}=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14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0" name="Text Box 79"/>
          <p:cNvSpPr txBox="1"/>
          <p:nvPr/>
        </p:nvSpPr>
        <p:spPr>
          <a:xfrm>
            <a:off x="523875" y="6192838"/>
            <a:ext cx="2743200" cy="58356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max{Ve(7) + &lt;7,9&gt;,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 Ve(8) + &lt;8,9&gt;}=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18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2" name="Text Box 79"/>
          <p:cNvSpPr txBox="1"/>
          <p:nvPr/>
        </p:nvSpPr>
        <p:spPr>
          <a:xfrm>
            <a:off x="4522788" y="6242050"/>
            <a:ext cx="1201737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Ve(9)=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18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Text Box 79"/>
          <p:cNvSpPr txBox="1"/>
          <p:nvPr/>
        </p:nvSpPr>
        <p:spPr>
          <a:xfrm>
            <a:off x="3024188" y="5718175"/>
            <a:ext cx="2768600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min{Vl(9) - &lt;8,9&gt;}=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14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5" name="Text Box 79"/>
          <p:cNvSpPr txBox="1"/>
          <p:nvPr/>
        </p:nvSpPr>
        <p:spPr>
          <a:xfrm>
            <a:off x="3003550" y="5294313"/>
            <a:ext cx="2767013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min{Vl(9) - &lt;7,9&gt;}=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16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6" name="Text Box 79"/>
          <p:cNvSpPr txBox="1"/>
          <p:nvPr/>
        </p:nvSpPr>
        <p:spPr>
          <a:xfrm>
            <a:off x="2994025" y="4895850"/>
            <a:ext cx="2767013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min{Vl(8) - &lt;6,8&gt;}=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10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7" name="Text Box 79"/>
          <p:cNvSpPr txBox="1"/>
          <p:nvPr/>
        </p:nvSpPr>
        <p:spPr>
          <a:xfrm>
            <a:off x="3108325" y="4462463"/>
            <a:ext cx="2768600" cy="58356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min{Vl(7) - &lt;5,7&gt;,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Vl(8) - &lt;5,8&gt;}=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8" name="Text Box 79"/>
          <p:cNvSpPr txBox="1"/>
          <p:nvPr/>
        </p:nvSpPr>
        <p:spPr>
          <a:xfrm>
            <a:off x="3113088" y="4051300"/>
            <a:ext cx="2601912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min{Vl(6) - &lt;4,6&gt;}=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9" name="Text Box 79"/>
          <p:cNvSpPr txBox="1"/>
          <p:nvPr/>
        </p:nvSpPr>
        <p:spPr>
          <a:xfrm>
            <a:off x="3105150" y="3686175"/>
            <a:ext cx="2603500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min{Vl(5) - &lt;3,5&gt;}=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20" name="Text Box 79"/>
          <p:cNvSpPr txBox="1"/>
          <p:nvPr/>
        </p:nvSpPr>
        <p:spPr>
          <a:xfrm>
            <a:off x="3113088" y="3336925"/>
            <a:ext cx="2601912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min{Vl(5) - &lt;2,5&gt;}=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21" name="Text Box 79"/>
          <p:cNvSpPr txBox="1"/>
          <p:nvPr/>
        </p:nvSpPr>
        <p:spPr>
          <a:xfrm>
            <a:off x="3113088" y="2743200"/>
            <a:ext cx="2601912" cy="70675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ts val="1600"/>
              </a:lnSpc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min{Vl(2) - &lt;1,2&gt;,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ts val="1600"/>
              </a:lnSpc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Vl(3) - &lt;1,3&gt;,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ts val="1600"/>
              </a:lnSpc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 Vl(4) - &lt;1,4&gt;}=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22" name="Text Box 79"/>
          <p:cNvSpPr txBox="1"/>
          <p:nvPr/>
        </p:nvSpPr>
        <p:spPr>
          <a:xfrm>
            <a:off x="2655888" y="2844800"/>
            <a:ext cx="547687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27" name="Text Box 79"/>
          <p:cNvSpPr txBox="1"/>
          <p:nvPr/>
        </p:nvSpPr>
        <p:spPr>
          <a:xfrm>
            <a:off x="6165850" y="2714625"/>
            <a:ext cx="1146175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Ve(1) 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Text Box 79"/>
          <p:cNvSpPr txBox="1"/>
          <p:nvPr/>
        </p:nvSpPr>
        <p:spPr>
          <a:xfrm>
            <a:off x="6165850" y="3076575"/>
            <a:ext cx="1146175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Ve(1) 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Text Box 79"/>
          <p:cNvSpPr txBox="1"/>
          <p:nvPr/>
        </p:nvSpPr>
        <p:spPr>
          <a:xfrm>
            <a:off x="6165850" y="3444875"/>
            <a:ext cx="1146175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Ve(1) 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Text Box 79"/>
          <p:cNvSpPr txBox="1"/>
          <p:nvPr/>
        </p:nvSpPr>
        <p:spPr>
          <a:xfrm>
            <a:off x="6165850" y="3806825"/>
            <a:ext cx="1146175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Ve(2) 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Text Box 79"/>
          <p:cNvSpPr txBox="1"/>
          <p:nvPr/>
        </p:nvSpPr>
        <p:spPr>
          <a:xfrm>
            <a:off x="6165850" y="4171950"/>
            <a:ext cx="1146175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Ve(3) 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Text Box 79"/>
          <p:cNvSpPr txBox="1"/>
          <p:nvPr/>
        </p:nvSpPr>
        <p:spPr>
          <a:xfrm>
            <a:off x="6165850" y="4549775"/>
            <a:ext cx="1146175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Ve(4) 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 Box 79"/>
          <p:cNvSpPr txBox="1"/>
          <p:nvPr/>
        </p:nvSpPr>
        <p:spPr>
          <a:xfrm>
            <a:off x="6165850" y="4879975"/>
            <a:ext cx="1146175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Ve(5) 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Text Box 79"/>
          <p:cNvSpPr txBox="1"/>
          <p:nvPr/>
        </p:nvSpPr>
        <p:spPr>
          <a:xfrm>
            <a:off x="6165850" y="5240338"/>
            <a:ext cx="1146175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Ve(5) 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Text Box 79"/>
          <p:cNvSpPr txBox="1"/>
          <p:nvPr/>
        </p:nvSpPr>
        <p:spPr>
          <a:xfrm>
            <a:off x="6167438" y="5641975"/>
            <a:ext cx="1146175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Ve(6) 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Text Box 79"/>
          <p:cNvSpPr txBox="1"/>
          <p:nvPr/>
        </p:nvSpPr>
        <p:spPr>
          <a:xfrm>
            <a:off x="6165850" y="5999163"/>
            <a:ext cx="1300163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Ve(7) 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16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 Box 79"/>
          <p:cNvSpPr txBox="1"/>
          <p:nvPr/>
        </p:nvSpPr>
        <p:spPr>
          <a:xfrm>
            <a:off x="6183313" y="6353175"/>
            <a:ext cx="1360487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Ve(8) 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14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 Box 79"/>
          <p:cNvSpPr txBox="1"/>
          <p:nvPr/>
        </p:nvSpPr>
        <p:spPr>
          <a:xfrm>
            <a:off x="7243763" y="6364288"/>
            <a:ext cx="1909762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Vl(9) -&lt;8,9&gt;=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14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Text Box 79"/>
          <p:cNvSpPr txBox="1"/>
          <p:nvPr/>
        </p:nvSpPr>
        <p:spPr>
          <a:xfrm>
            <a:off x="7243763" y="6043613"/>
            <a:ext cx="1909762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Vl(9) -&lt;7,9&gt;=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16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Text Box 79"/>
          <p:cNvSpPr txBox="1"/>
          <p:nvPr/>
        </p:nvSpPr>
        <p:spPr>
          <a:xfrm>
            <a:off x="7250113" y="5651500"/>
            <a:ext cx="1909762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Vl(8) -&lt;6,8&gt;=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10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Text Box 79"/>
          <p:cNvSpPr txBox="1"/>
          <p:nvPr/>
        </p:nvSpPr>
        <p:spPr>
          <a:xfrm>
            <a:off x="7234238" y="5280025"/>
            <a:ext cx="1909762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Vl(8) -&lt;5,8&gt;=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Text Box 79"/>
          <p:cNvSpPr txBox="1"/>
          <p:nvPr/>
        </p:nvSpPr>
        <p:spPr>
          <a:xfrm>
            <a:off x="7237413" y="4905375"/>
            <a:ext cx="1908175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Vl(7) -&lt;5,7&gt;=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 Box 79"/>
          <p:cNvSpPr txBox="1"/>
          <p:nvPr/>
        </p:nvSpPr>
        <p:spPr>
          <a:xfrm>
            <a:off x="7234238" y="4565650"/>
            <a:ext cx="1909762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Vl(6) -&lt;4,6&gt;=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Text Box 79"/>
          <p:cNvSpPr txBox="1"/>
          <p:nvPr/>
        </p:nvSpPr>
        <p:spPr>
          <a:xfrm>
            <a:off x="7243763" y="4189413"/>
            <a:ext cx="1909762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Vl(5) -&lt;3,5&gt;=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Text Box 79"/>
          <p:cNvSpPr txBox="1"/>
          <p:nvPr/>
        </p:nvSpPr>
        <p:spPr>
          <a:xfrm>
            <a:off x="7246938" y="3813175"/>
            <a:ext cx="1909762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Vl(5) -&lt;2,5&gt;=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Text Box 79"/>
          <p:cNvSpPr txBox="1"/>
          <p:nvPr/>
        </p:nvSpPr>
        <p:spPr>
          <a:xfrm>
            <a:off x="7237413" y="3463925"/>
            <a:ext cx="1908175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Vl(4) -&lt;1,4&gt;=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Text Box 79"/>
          <p:cNvSpPr txBox="1"/>
          <p:nvPr/>
        </p:nvSpPr>
        <p:spPr>
          <a:xfrm>
            <a:off x="7250113" y="3076575"/>
            <a:ext cx="1909762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Vl(3) -&lt;1,3&gt;=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Text Box 79"/>
          <p:cNvSpPr txBox="1"/>
          <p:nvPr/>
        </p:nvSpPr>
        <p:spPr>
          <a:xfrm>
            <a:off x="7246938" y="2740025"/>
            <a:ext cx="1908175" cy="39878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Vl(2) -&lt;1,2&gt;=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770563" y="2714625"/>
            <a:ext cx="3306762" cy="37623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5745163" y="3848100"/>
            <a:ext cx="3308350" cy="37623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5770563" y="4913313"/>
            <a:ext cx="3308350" cy="37623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5773738" y="5270500"/>
            <a:ext cx="3308350" cy="37623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5780088" y="6005513"/>
            <a:ext cx="3308350" cy="37623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5780088" y="6364288"/>
            <a:ext cx="3308350" cy="37623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Text Box 79"/>
          <p:cNvSpPr txBox="1"/>
          <p:nvPr/>
        </p:nvSpPr>
        <p:spPr>
          <a:xfrm>
            <a:off x="5913438" y="2760663"/>
            <a:ext cx="214312" cy="307340"/>
          </a:xfrm>
          <a:prstGeom prst="rect">
            <a:avLst/>
          </a:prstGeom>
          <a:noFill/>
          <a:ln w="19050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9" name="Text Box 79"/>
          <p:cNvSpPr txBox="1"/>
          <p:nvPr/>
        </p:nvSpPr>
        <p:spPr>
          <a:xfrm>
            <a:off x="5913438" y="3852863"/>
            <a:ext cx="214312" cy="307340"/>
          </a:xfrm>
          <a:prstGeom prst="rect">
            <a:avLst/>
          </a:prstGeom>
          <a:noFill/>
          <a:ln w="19050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60" name="Text Box 79"/>
          <p:cNvSpPr txBox="1"/>
          <p:nvPr/>
        </p:nvSpPr>
        <p:spPr>
          <a:xfrm>
            <a:off x="5899150" y="4962525"/>
            <a:ext cx="214313" cy="307340"/>
          </a:xfrm>
          <a:prstGeom prst="rect">
            <a:avLst/>
          </a:prstGeom>
          <a:noFill/>
          <a:ln w="19050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61" name="Text Box 79"/>
          <p:cNvSpPr txBox="1"/>
          <p:nvPr/>
        </p:nvSpPr>
        <p:spPr>
          <a:xfrm>
            <a:off x="5908675" y="5327650"/>
            <a:ext cx="214313" cy="307340"/>
          </a:xfrm>
          <a:prstGeom prst="rect">
            <a:avLst/>
          </a:prstGeom>
          <a:noFill/>
          <a:ln w="19050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62" name="Text Box 79"/>
          <p:cNvSpPr txBox="1"/>
          <p:nvPr/>
        </p:nvSpPr>
        <p:spPr>
          <a:xfrm>
            <a:off x="5864225" y="6053138"/>
            <a:ext cx="285750" cy="307340"/>
          </a:xfrm>
          <a:prstGeom prst="rect">
            <a:avLst/>
          </a:prstGeom>
          <a:noFill/>
          <a:ln w="19050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10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63" name="Text Box 79"/>
          <p:cNvSpPr txBox="1"/>
          <p:nvPr/>
        </p:nvSpPr>
        <p:spPr>
          <a:xfrm>
            <a:off x="5864225" y="6410325"/>
            <a:ext cx="322263" cy="307340"/>
          </a:xfrm>
          <a:prstGeom prst="rect">
            <a:avLst/>
          </a:prstGeom>
          <a:noFill/>
          <a:ln w="19050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11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77" grpId="0"/>
      <p:bldP spid="153678" grpId="0"/>
      <p:bldP spid="153679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2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3" grpId="0" animBg="1"/>
      <p:bldP spid="13" grpId="1" animBg="1"/>
      <p:bldP spid="153" grpId="0" animBg="1"/>
      <p:bldP spid="153" grpId="1" animBg="1"/>
      <p:bldP spid="154" grpId="0" animBg="1"/>
      <p:bldP spid="154" grpId="1" animBg="1"/>
      <p:bldP spid="155" grpId="0" animBg="1"/>
      <p:bldP spid="155" grpId="1" animBg="1"/>
      <p:bldP spid="156" grpId="0" animBg="1"/>
      <p:bldP spid="156" grpId="1" animBg="1"/>
      <p:bldP spid="157" grpId="0" animBg="1"/>
      <p:bldP spid="157" grpId="1" animBg="1"/>
      <p:bldP spid="158" grpId="0"/>
      <p:bldP spid="159" grpId="0"/>
      <p:bldP spid="160" grpId="0"/>
      <p:bldP spid="161" grpId="0"/>
      <p:bldP spid="162" grpId="0"/>
      <p:bldP spid="163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30"/>
          <p:cNvSpPr/>
          <p:nvPr/>
        </p:nvSpPr>
        <p:spPr>
          <a:xfrm>
            <a:off x="2078038" y="24336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55" name="Rectangle 31"/>
          <p:cNvSpPr/>
          <p:nvPr/>
        </p:nvSpPr>
        <p:spPr>
          <a:xfrm>
            <a:off x="2459038" y="24336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56" name="Rectangle 32"/>
          <p:cNvSpPr/>
          <p:nvPr/>
        </p:nvSpPr>
        <p:spPr>
          <a:xfrm>
            <a:off x="2840038" y="24336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57" name="Rectangle 33"/>
          <p:cNvSpPr/>
          <p:nvPr/>
        </p:nvSpPr>
        <p:spPr>
          <a:xfrm>
            <a:off x="3602038" y="24336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58" name="Rectangle 34"/>
          <p:cNvSpPr/>
          <p:nvPr/>
        </p:nvSpPr>
        <p:spPr>
          <a:xfrm>
            <a:off x="5126038" y="24336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59" name="Rectangle 35"/>
          <p:cNvSpPr/>
          <p:nvPr/>
        </p:nvSpPr>
        <p:spPr>
          <a:xfrm>
            <a:off x="4745038" y="24336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60" name="Rectangle 36"/>
          <p:cNvSpPr/>
          <p:nvPr/>
        </p:nvSpPr>
        <p:spPr>
          <a:xfrm>
            <a:off x="3221038" y="24336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61" name="Rectangle 37"/>
          <p:cNvSpPr/>
          <p:nvPr/>
        </p:nvSpPr>
        <p:spPr>
          <a:xfrm>
            <a:off x="3983038" y="24336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62" name="Rectangle 38"/>
          <p:cNvSpPr/>
          <p:nvPr/>
        </p:nvSpPr>
        <p:spPr>
          <a:xfrm>
            <a:off x="4364038" y="24336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63" name="Text Box 39"/>
          <p:cNvSpPr txBox="1"/>
          <p:nvPr/>
        </p:nvSpPr>
        <p:spPr>
          <a:xfrm>
            <a:off x="2108200" y="2782888"/>
            <a:ext cx="4579620" cy="33718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1      2     3       4     5      6     7     8     9    10    11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64" name="Text Box 40"/>
          <p:cNvSpPr txBox="1"/>
          <p:nvPr/>
        </p:nvSpPr>
        <p:spPr>
          <a:xfrm>
            <a:off x="923290" y="2357438"/>
            <a:ext cx="74104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l(i) :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65" name="Rectangle 41"/>
          <p:cNvSpPr/>
          <p:nvPr/>
        </p:nvSpPr>
        <p:spPr>
          <a:xfrm>
            <a:off x="5507038" y="24336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66" name="Rectangle 42"/>
          <p:cNvSpPr/>
          <p:nvPr/>
        </p:nvSpPr>
        <p:spPr>
          <a:xfrm>
            <a:off x="5888038" y="24336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67" name="Rectangle 46"/>
          <p:cNvSpPr/>
          <p:nvPr/>
        </p:nvSpPr>
        <p:spPr>
          <a:xfrm>
            <a:off x="2103438" y="15192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68" name="Rectangle 47"/>
          <p:cNvSpPr/>
          <p:nvPr/>
        </p:nvSpPr>
        <p:spPr>
          <a:xfrm>
            <a:off x="2484438" y="15192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69" name="Rectangle 48"/>
          <p:cNvSpPr/>
          <p:nvPr/>
        </p:nvSpPr>
        <p:spPr>
          <a:xfrm>
            <a:off x="2865438" y="15192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70" name="Rectangle 49"/>
          <p:cNvSpPr/>
          <p:nvPr/>
        </p:nvSpPr>
        <p:spPr>
          <a:xfrm>
            <a:off x="3627438" y="15192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71" name="Rectangle 50"/>
          <p:cNvSpPr/>
          <p:nvPr/>
        </p:nvSpPr>
        <p:spPr>
          <a:xfrm>
            <a:off x="5151438" y="15192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72" name="Rectangle 51"/>
          <p:cNvSpPr/>
          <p:nvPr/>
        </p:nvSpPr>
        <p:spPr>
          <a:xfrm>
            <a:off x="4770438" y="15192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73" name="Rectangle 52"/>
          <p:cNvSpPr/>
          <p:nvPr/>
        </p:nvSpPr>
        <p:spPr>
          <a:xfrm>
            <a:off x="3246438" y="15192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74" name="Rectangle 53"/>
          <p:cNvSpPr/>
          <p:nvPr/>
        </p:nvSpPr>
        <p:spPr>
          <a:xfrm>
            <a:off x="4008438" y="15192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75" name="Rectangle 54"/>
          <p:cNvSpPr/>
          <p:nvPr/>
        </p:nvSpPr>
        <p:spPr>
          <a:xfrm>
            <a:off x="4389438" y="15192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76" name="Text Box 55"/>
          <p:cNvSpPr txBox="1"/>
          <p:nvPr/>
        </p:nvSpPr>
        <p:spPr>
          <a:xfrm>
            <a:off x="2133600" y="1868488"/>
            <a:ext cx="4579620" cy="33718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1      2     3       4     5      6     7     8     9    10    11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77" name="Text Box 56"/>
          <p:cNvSpPr txBox="1"/>
          <p:nvPr/>
        </p:nvSpPr>
        <p:spPr>
          <a:xfrm>
            <a:off x="906145" y="1443038"/>
            <a:ext cx="82613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e(i) :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78" name="Rectangle 57"/>
          <p:cNvSpPr/>
          <p:nvPr/>
        </p:nvSpPr>
        <p:spPr>
          <a:xfrm>
            <a:off x="5532438" y="15192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79" name="Rectangle 58"/>
          <p:cNvSpPr/>
          <p:nvPr/>
        </p:nvSpPr>
        <p:spPr>
          <a:xfrm>
            <a:off x="5913438" y="1519238"/>
            <a:ext cx="381000" cy="381000"/>
          </a:xfrm>
          <a:prstGeom prst="rect">
            <a:avLst/>
          </a:prstGeom>
          <a:solidFill>
            <a:srgbClr val="CCFFFF"/>
          </a:solidFill>
          <a:ln w="1905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35" name="Text Box 63"/>
          <p:cNvSpPr txBox="1"/>
          <p:nvPr/>
        </p:nvSpPr>
        <p:spPr>
          <a:xfrm>
            <a:off x="2060417" y="2967038"/>
            <a:ext cx="49085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aseline="-2500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36" name="Text Box 64"/>
          <p:cNvSpPr txBox="1"/>
          <p:nvPr/>
        </p:nvSpPr>
        <p:spPr>
          <a:xfrm>
            <a:off x="4332129" y="2967038"/>
            <a:ext cx="49085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2400" baseline="-2500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37" name="Text Box 65"/>
          <p:cNvSpPr txBox="1"/>
          <p:nvPr/>
        </p:nvSpPr>
        <p:spPr>
          <a:xfrm>
            <a:off x="3189129" y="2967038"/>
            <a:ext cx="49085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400" baseline="-2500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38" name="Text Box 66"/>
          <p:cNvSpPr txBox="1"/>
          <p:nvPr/>
        </p:nvSpPr>
        <p:spPr>
          <a:xfrm>
            <a:off x="5419884" y="2967038"/>
            <a:ext cx="60134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zh-CN" sz="2400" baseline="-2500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39" name="Text Box 67"/>
          <p:cNvSpPr txBox="1"/>
          <p:nvPr/>
        </p:nvSpPr>
        <p:spPr>
          <a:xfrm>
            <a:off x="4713129" y="2967038"/>
            <a:ext cx="49085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2400" baseline="-2500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40" name="Text Box 68"/>
          <p:cNvSpPr txBox="1"/>
          <p:nvPr/>
        </p:nvSpPr>
        <p:spPr>
          <a:xfrm>
            <a:off x="5852002" y="2967038"/>
            <a:ext cx="578485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altLang="zh-CN" sz="2400" baseline="-2500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86" name="Oval 85"/>
          <p:cNvSpPr/>
          <p:nvPr/>
        </p:nvSpPr>
        <p:spPr>
          <a:xfrm>
            <a:off x="1079500" y="5068888"/>
            <a:ext cx="381000" cy="381000"/>
          </a:xfrm>
          <a:prstGeom prst="ellipse">
            <a:avLst/>
          </a:prstGeom>
          <a:solidFill>
            <a:srgbClr val="33CC33"/>
          </a:solidFill>
          <a:ln w="12700" cap="sq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77" name="Oval 88"/>
          <p:cNvSpPr/>
          <p:nvPr/>
        </p:nvSpPr>
        <p:spPr>
          <a:xfrm>
            <a:off x="2317750" y="5983605"/>
            <a:ext cx="381000" cy="381000"/>
          </a:xfrm>
          <a:prstGeom prst="ellipse">
            <a:avLst/>
          </a:prstGeom>
          <a:solidFill>
            <a:srgbClr val="33CC33"/>
          </a:solidFill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4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75" name="Oval 91"/>
          <p:cNvSpPr/>
          <p:nvPr/>
        </p:nvSpPr>
        <p:spPr>
          <a:xfrm>
            <a:off x="2298700" y="4078605"/>
            <a:ext cx="381000" cy="381000"/>
          </a:xfrm>
          <a:prstGeom prst="ellipse">
            <a:avLst/>
          </a:prstGeom>
          <a:solidFill>
            <a:srgbClr val="33CC33"/>
          </a:solidFill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73" name="Oval 94"/>
          <p:cNvSpPr/>
          <p:nvPr/>
        </p:nvSpPr>
        <p:spPr>
          <a:xfrm>
            <a:off x="2317750" y="5145405"/>
            <a:ext cx="381000" cy="381000"/>
          </a:xfrm>
          <a:prstGeom prst="ellipse">
            <a:avLst/>
          </a:prstGeom>
          <a:solidFill>
            <a:srgbClr val="33CC33"/>
          </a:solidFill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4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71" name="Oval 97"/>
          <p:cNvSpPr/>
          <p:nvPr/>
        </p:nvSpPr>
        <p:spPr>
          <a:xfrm>
            <a:off x="3670300" y="4612005"/>
            <a:ext cx="381000" cy="381000"/>
          </a:xfrm>
          <a:prstGeom prst="ellipse">
            <a:avLst/>
          </a:prstGeom>
          <a:solidFill>
            <a:srgbClr val="33CC33"/>
          </a:solidFill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4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69" name="Oval 100"/>
          <p:cNvSpPr/>
          <p:nvPr/>
        </p:nvSpPr>
        <p:spPr>
          <a:xfrm>
            <a:off x="5118100" y="4307205"/>
            <a:ext cx="381000" cy="381000"/>
          </a:xfrm>
          <a:prstGeom prst="ellipse">
            <a:avLst/>
          </a:prstGeom>
          <a:solidFill>
            <a:srgbClr val="33CC33"/>
          </a:solidFill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24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67" name="Oval 103"/>
          <p:cNvSpPr/>
          <p:nvPr/>
        </p:nvSpPr>
        <p:spPr>
          <a:xfrm>
            <a:off x="6337300" y="4764405"/>
            <a:ext cx="381000" cy="381000"/>
          </a:xfrm>
          <a:prstGeom prst="ellipse">
            <a:avLst/>
          </a:prstGeom>
          <a:solidFill>
            <a:srgbClr val="33CC33"/>
          </a:solidFill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altLang="zh-CN" sz="24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65" name="Oval 106"/>
          <p:cNvSpPr/>
          <p:nvPr/>
        </p:nvSpPr>
        <p:spPr>
          <a:xfrm>
            <a:off x="5118100" y="5450205"/>
            <a:ext cx="381000" cy="381000"/>
          </a:xfrm>
          <a:prstGeom prst="ellipse">
            <a:avLst/>
          </a:prstGeom>
          <a:solidFill>
            <a:srgbClr val="33CC33"/>
          </a:solidFill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24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63" name="Oval 109"/>
          <p:cNvSpPr/>
          <p:nvPr/>
        </p:nvSpPr>
        <p:spPr>
          <a:xfrm>
            <a:off x="3670300" y="5755005"/>
            <a:ext cx="381000" cy="381000"/>
          </a:xfrm>
          <a:prstGeom prst="ellipse">
            <a:avLst/>
          </a:prstGeom>
          <a:solidFill>
            <a:srgbClr val="33CC33"/>
          </a:solidFill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4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96" name="Line 111"/>
          <p:cNvSpPr/>
          <p:nvPr/>
        </p:nvSpPr>
        <p:spPr>
          <a:xfrm flipV="1">
            <a:off x="1384300" y="4383088"/>
            <a:ext cx="990600" cy="762000"/>
          </a:xfrm>
          <a:prstGeom prst="line">
            <a:avLst/>
          </a:prstGeom>
          <a:ln w="12700" cap="sq" cmpd="sng">
            <a:solidFill>
              <a:srgbClr val="FFFF00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100397" name="Line 112"/>
          <p:cNvSpPr/>
          <p:nvPr/>
        </p:nvSpPr>
        <p:spPr>
          <a:xfrm>
            <a:off x="1460500" y="5297488"/>
            <a:ext cx="838200" cy="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100398" name="Line 113"/>
          <p:cNvSpPr/>
          <p:nvPr/>
        </p:nvSpPr>
        <p:spPr>
          <a:xfrm>
            <a:off x="1384300" y="5449888"/>
            <a:ext cx="914400" cy="60960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100399" name="Line 114"/>
          <p:cNvSpPr/>
          <p:nvPr/>
        </p:nvSpPr>
        <p:spPr>
          <a:xfrm>
            <a:off x="2679700" y="4306888"/>
            <a:ext cx="990600" cy="381000"/>
          </a:xfrm>
          <a:prstGeom prst="line">
            <a:avLst/>
          </a:prstGeom>
          <a:ln w="12700" cap="sq" cmpd="sng">
            <a:solidFill>
              <a:srgbClr val="FFFF00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100400" name="Line 115"/>
          <p:cNvSpPr/>
          <p:nvPr/>
        </p:nvSpPr>
        <p:spPr>
          <a:xfrm flipV="1">
            <a:off x="2679700" y="4916488"/>
            <a:ext cx="990600" cy="38100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100401" name="Line 116"/>
          <p:cNvSpPr/>
          <p:nvPr/>
        </p:nvSpPr>
        <p:spPr>
          <a:xfrm flipV="1">
            <a:off x="2679700" y="6059488"/>
            <a:ext cx="990600" cy="15240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100402" name="Line 117"/>
          <p:cNvSpPr/>
          <p:nvPr/>
        </p:nvSpPr>
        <p:spPr>
          <a:xfrm flipV="1">
            <a:off x="4051300" y="4535488"/>
            <a:ext cx="1066800" cy="228600"/>
          </a:xfrm>
          <a:prstGeom prst="line">
            <a:avLst/>
          </a:prstGeom>
          <a:ln w="22225" cap="sq" cmpd="sng">
            <a:solidFill>
              <a:schemeClr val="tx1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100403" name="Line 118"/>
          <p:cNvSpPr/>
          <p:nvPr/>
        </p:nvSpPr>
        <p:spPr>
          <a:xfrm flipV="1">
            <a:off x="4051300" y="5678488"/>
            <a:ext cx="1066800" cy="304800"/>
          </a:xfrm>
          <a:prstGeom prst="line">
            <a:avLst/>
          </a:prstGeom>
          <a:ln w="25400" cap="sq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100404" name="Line 119"/>
          <p:cNvSpPr/>
          <p:nvPr/>
        </p:nvSpPr>
        <p:spPr>
          <a:xfrm>
            <a:off x="4051300" y="4916488"/>
            <a:ext cx="1066800" cy="609600"/>
          </a:xfrm>
          <a:prstGeom prst="line">
            <a:avLst/>
          </a:prstGeom>
          <a:ln w="22225" cap="sq" cmpd="sng">
            <a:solidFill>
              <a:schemeClr val="tx1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100405" name="Line 120"/>
          <p:cNvSpPr/>
          <p:nvPr/>
        </p:nvSpPr>
        <p:spPr>
          <a:xfrm>
            <a:off x="5499100" y="4535488"/>
            <a:ext cx="838200" cy="381000"/>
          </a:xfrm>
          <a:prstGeom prst="line">
            <a:avLst/>
          </a:prstGeom>
          <a:ln w="22225" cap="sq" cmpd="sng">
            <a:solidFill>
              <a:schemeClr val="tx1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100406" name="Line 121"/>
          <p:cNvSpPr/>
          <p:nvPr/>
        </p:nvSpPr>
        <p:spPr>
          <a:xfrm flipV="1">
            <a:off x="5499100" y="5068888"/>
            <a:ext cx="895350" cy="533400"/>
          </a:xfrm>
          <a:prstGeom prst="line">
            <a:avLst/>
          </a:prstGeom>
          <a:ln w="22225" cap="sq" cmpd="sng">
            <a:solidFill>
              <a:schemeClr val="tx1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100407" name="Text Box 122"/>
          <p:cNvSpPr txBox="1"/>
          <p:nvPr/>
        </p:nvSpPr>
        <p:spPr>
          <a:xfrm>
            <a:off x="1715453" y="4254500"/>
            <a:ext cx="439420" cy="42989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2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08" name="Text Box 123"/>
          <p:cNvSpPr txBox="1"/>
          <p:nvPr/>
        </p:nvSpPr>
        <p:spPr>
          <a:xfrm>
            <a:off x="1592580" y="4840288"/>
            <a:ext cx="46291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09" name="Text Box 124"/>
          <p:cNvSpPr txBox="1"/>
          <p:nvPr/>
        </p:nvSpPr>
        <p:spPr>
          <a:xfrm>
            <a:off x="1592580" y="5373688"/>
            <a:ext cx="46291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4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10" name="Text Box 125"/>
          <p:cNvSpPr txBox="1"/>
          <p:nvPr/>
        </p:nvSpPr>
        <p:spPr>
          <a:xfrm>
            <a:off x="2726690" y="4025900"/>
            <a:ext cx="439420" cy="42989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22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11" name="Text Box 126"/>
          <p:cNvSpPr txBox="1"/>
          <p:nvPr/>
        </p:nvSpPr>
        <p:spPr>
          <a:xfrm>
            <a:off x="2811781" y="4687888"/>
            <a:ext cx="46291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4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12" name="Text Box 127"/>
          <p:cNvSpPr txBox="1"/>
          <p:nvPr/>
        </p:nvSpPr>
        <p:spPr>
          <a:xfrm>
            <a:off x="2735581" y="5754688"/>
            <a:ext cx="46291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4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13" name="Text Box 128"/>
          <p:cNvSpPr txBox="1"/>
          <p:nvPr/>
        </p:nvSpPr>
        <p:spPr>
          <a:xfrm>
            <a:off x="4269740" y="4254500"/>
            <a:ext cx="439420" cy="42989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22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14" name="Text Box 129"/>
          <p:cNvSpPr txBox="1"/>
          <p:nvPr/>
        </p:nvSpPr>
        <p:spPr>
          <a:xfrm>
            <a:off x="4153853" y="4711700"/>
            <a:ext cx="439420" cy="42989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sz="22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15" name="Text Box 130"/>
          <p:cNvSpPr txBox="1"/>
          <p:nvPr/>
        </p:nvSpPr>
        <p:spPr>
          <a:xfrm>
            <a:off x="4030981" y="5449888"/>
            <a:ext cx="46291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altLang="zh-CN" sz="24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16" name="Text Box 131"/>
          <p:cNvSpPr txBox="1"/>
          <p:nvPr/>
        </p:nvSpPr>
        <p:spPr>
          <a:xfrm>
            <a:off x="5646421" y="4291013"/>
            <a:ext cx="540385" cy="42989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zh-CN" sz="22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17" name="Text Box 132"/>
          <p:cNvSpPr txBox="1"/>
          <p:nvPr/>
        </p:nvSpPr>
        <p:spPr>
          <a:xfrm>
            <a:off x="5386070" y="4979988"/>
            <a:ext cx="524510" cy="42989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b="1" baseline="-2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altLang="zh-CN" sz="2200" b="1" baseline="-2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18" name="Text Box 133"/>
          <p:cNvSpPr txBox="1"/>
          <p:nvPr/>
        </p:nvSpPr>
        <p:spPr>
          <a:xfrm>
            <a:off x="1994535" y="4549775"/>
            <a:ext cx="309880" cy="3683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19" name="Text Box 134"/>
          <p:cNvSpPr txBox="1"/>
          <p:nvPr/>
        </p:nvSpPr>
        <p:spPr>
          <a:xfrm>
            <a:off x="1760220" y="5221288"/>
            <a:ext cx="295910" cy="33718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20" name="Text Box 135"/>
          <p:cNvSpPr txBox="1"/>
          <p:nvPr/>
        </p:nvSpPr>
        <p:spPr>
          <a:xfrm>
            <a:off x="1703070" y="5799138"/>
            <a:ext cx="295910" cy="33718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21" name="Text Box 136"/>
          <p:cNvSpPr txBox="1"/>
          <p:nvPr/>
        </p:nvSpPr>
        <p:spPr>
          <a:xfrm>
            <a:off x="2720658" y="4335463"/>
            <a:ext cx="295910" cy="33718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22" name="Text Box 137"/>
          <p:cNvSpPr txBox="1"/>
          <p:nvPr/>
        </p:nvSpPr>
        <p:spPr>
          <a:xfrm>
            <a:off x="2827020" y="5113338"/>
            <a:ext cx="295910" cy="33718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23" name="Text Box 138"/>
          <p:cNvSpPr txBox="1"/>
          <p:nvPr/>
        </p:nvSpPr>
        <p:spPr>
          <a:xfrm>
            <a:off x="2827020" y="6135688"/>
            <a:ext cx="295910" cy="33718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24" name="Text Box 139"/>
          <p:cNvSpPr txBox="1"/>
          <p:nvPr/>
        </p:nvSpPr>
        <p:spPr>
          <a:xfrm>
            <a:off x="4503420" y="4611688"/>
            <a:ext cx="295910" cy="33718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25" name="Text Box 140"/>
          <p:cNvSpPr txBox="1"/>
          <p:nvPr/>
        </p:nvSpPr>
        <p:spPr>
          <a:xfrm>
            <a:off x="4208145" y="5068888"/>
            <a:ext cx="295910" cy="33718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26" name="Text Box 141"/>
          <p:cNvSpPr txBox="1"/>
          <p:nvPr/>
        </p:nvSpPr>
        <p:spPr>
          <a:xfrm>
            <a:off x="5627370" y="4611688"/>
            <a:ext cx="295910" cy="33718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27" name="Text Box 142"/>
          <p:cNvSpPr txBox="1"/>
          <p:nvPr/>
        </p:nvSpPr>
        <p:spPr>
          <a:xfrm>
            <a:off x="5722620" y="5373688"/>
            <a:ext cx="295910" cy="33718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28" name="Text Box 143"/>
          <p:cNvSpPr txBox="1"/>
          <p:nvPr/>
        </p:nvSpPr>
        <p:spPr>
          <a:xfrm>
            <a:off x="4217670" y="5830888"/>
            <a:ext cx="295910" cy="33718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29" name="Line 145"/>
          <p:cNvSpPr/>
          <p:nvPr/>
        </p:nvSpPr>
        <p:spPr>
          <a:xfrm flipV="1">
            <a:off x="1384300" y="4384675"/>
            <a:ext cx="990600" cy="762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100430" name="Line 146"/>
          <p:cNvSpPr/>
          <p:nvPr/>
        </p:nvSpPr>
        <p:spPr>
          <a:xfrm>
            <a:off x="2679700" y="4308475"/>
            <a:ext cx="990600" cy="381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54419" name="Line 147"/>
          <p:cNvSpPr/>
          <p:nvPr/>
        </p:nvSpPr>
        <p:spPr>
          <a:xfrm flipV="1">
            <a:off x="4041775" y="4537075"/>
            <a:ext cx="1066800" cy="228600"/>
          </a:xfrm>
          <a:prstGeom prst="line">
            <a:avLst/>
          </a:prstGeom>
          <a:ln w="44450" cap="sq" cmpd="sng">
            <a:solidFill>
              <a:srgbClr val="00B0F0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54420" name="Line 148"/>
          <p:cNvSpPr/>
          <p:nvPr/>
        </p:nvSpPr>
        <p:spPr>
          <a:xfrm>
            <a:off x="5480050" y="4525963"/>
            <a:ext cx="838200" cy="381000"/>
          </a:xfrm>
          <a:prstGeom prst="line">
            <a:avLst/>
          </a:prstGeom>
          <a:ln w="44450" cap="sq" cmpd="sng">
            <a:solidFill>
              <a:srgbClr val="00B0F0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54422" name="Line 150"/>
          <p:cNvSpPr/>
          <p:nvPr/>
        </p:nvSpPr>
        <p:spPr>
          <a:xfrm flipV="1">
            <a:off x="1384300" y="4383088"/>
            <a:ext cx="990600" cy="762000"/>
          </a:xfrm>
          <a:prstGeom prst="line">
            <a:avLst/>
          </a:prstGeom>
          <a:ln w="44450" cap="sq" cmpd="sng">
            <a:solidFill>
              <a:srgbClr val="FF00FF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54423" name="Line 151"/>
          <p:cNvSpPr/>
          <p:nvPr/>
        </p:nvSpPr>
        <p:spPr>
          <a:xfrm>
            <a:off x="2689225" y="4311650"/>
            <a:ext cx="990600" cy="381000"/>
          </a:xfrm>
          <a:prstGeom prst="line">
            <a:avLst/>
          </a:prstGeom>
          <a:ln w="44450" cap="sq" cmpd="sng">
            <a:solidFill>
              <a:srgbClr val="FF00FF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54424" name="Line 152"/>
          <p:cNvSpPr/>
          <p:nvPr/>
        </p:nvSpPr>
        <p:spPr>
          <a:xfrm>
            <a:off x="4041775" y="4916488"/>
            <a:ext cx="1133475" cy="641350"/>
          </a:xfrm>
          <a:prstGeom prst="line">
            <a:avLst/>
          </a:prstGeom>
          <a:ln w="44450" cap="sq" cmpd="sng">
            <a:solidFill>
              <a:srgbClr val="0000FF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54425" name="Line 153"/>
          <p:cNvSpPr/>
          <p:nvPr/>
        </p:nvSpPr>
        <p:spPr>
          <a:xfrm flipV="1">
            <a:off x="5507038" y="5051425"/>
            <a:ext cx="895350" cy="533400"/>
          </a:xfrm>
          <a:prstGeom prst="line">
            <a:avLst/>
          </a:prstGeom>
          <a:ln w="44450" cap="sq" cmpd="sng">
            <a:solidFill>
              <a:srgbClr val="0000FF"/>
            </a:solidFill>
            <a:prstDash val="solid"/>
            <a:headEnd type="none" w="sm" len="sm"/>
            <a:tailEnd type="triangle" w="med" len="med"/>
          </a:ln>
        </p:spPr>
      </p:sp>
      <p:grpSp>
        <p:nvGrpSpPr>
          <p:cNvPr id="54426" name="Group 154"/>
          <p:cNvGrpSpPr/>
          <p:nvPr/>
        </p:nvGrpSpPr>
        <p:grpSpPr>
          <a:xfrm>
            <a:off x="4737100" y="3652838"/>
            <a:ext cx="3962400" cy="398462"/>
            <a:chOff x="3216" y="2437"/>
            <a:chExt cx="2496" cy="251"/>
          </a:xfrm>
        </p:grpSpPr>
        <p:sp>
          <p:nvSpPr>
            <p:cNvPr id="100461" name="AutoShape 155"/>
            <p:cNvSpPr/>
            <p:nvPr/>
          </p:nvSpPr>
          <p:spPr>
            <a:xfrm>
              <a:off x="3216" y="2448"/>
              <a:ext cx="2496" cy="240"/>
            </a:xfrm>
            <a:prstGeom prst="cloudCallout">
              <a:avLst>
                <a:gd name="adj1" fmla="val -2644"/>
                <a:gd name="adj2" fmla="val 165417"/>
              </a:avLst>
            </a:prstGeom>
            <a:solidFill>
              <a:srgbClr val="CCCCFF"/>
            </a:soli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endPara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462" name="Text Box 156"/>
            <p:cNvSpPr txBox="1"/>
            <p:nvPr/>
          </p:nvSpPr>
          <p:spPr>
            <a:xfrm>
              <a:off x="3342" y="2437"/>
              <a:ext cx="2363" cy="231"/>
            </a:xfrm>
            <a:prstGeom prst="rect">
              <a:avLst/>
            </a:prstGeom>
            <a:solidFill>
              <a:srgbClr val="CCCCFF"/>
            </a:solidFill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</a:pPr>
              <a:r>
                <a:rPr lang="zh-CN" altLang="en-US" sz="1800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关键路径的长度为</a:t>
              </a:r>
              <a:r>
                <a:rPr lang="en-US" altLang="zh-CN" sz="1800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18</a:t>
              </a:r>
              <a:r>
                <a:rPr lang="zh-CN" altLang="en-US" sz="1800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个时间单位</a:t>
              </a:r>
              <a:r>
                <a:rPr lang="zh-CN" altLang="en-US" sz="1800" b="1" i="1" dirty="0">
                  <a:latin typeface="Times New Roman" panose="02020603050405020304" pitchFamily="18" charset="0"/>
                  <a:ea typeface="楷体_GB2312" panose="02010609030101010101" pitchFamily="49" charset="-122"/>
                  <a:cs typeface="Times New Roman" panose="02020603050405020304" pitchFamily="18" charset="0"/>
                </a:rPr>
                <a:t>。</a:t>
              </a:r>
              <a:endParaRPr lang="zh-CN" altLang="en-US" sz="1800" b="1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00438" name="Text Box 86"/>
          <p:cNvSpPr txBox="1"/>
          <p:nvPr/>
        </p:nvSpPr>
        <p:spPr>
          <a:xfrm>
            <a:off x="822325" y="812800"/>
            <a:ext cx="3538538" cy="49149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</a:t>
            </a: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关键路径的求解</a:t>
            </a:r>
            <a:endParaRPr lang="zh-CN" altLang="en-US" sz="26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0439" name="Oval 7"/>
          <p:cNvSpPr/>
          <p:nvPr/>
        </p:nvSpPr>
        <p:spPr>
          <a:xfrm>
            <a:off x="350838" y="85248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9933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0440" name="Text Box 2"/>
          <p:cNvSpPr txBox="1"/>
          <p:nvPr/>
        </p:nvSpPr>
        <p:spPr>
          <a:xfrm>
            <a:off x="4766945" y="84455"/>
            <a:ext cx="4383405" cy="5835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7.6 AOE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网与关键路径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0441" name="Text Box 43"/>
          <p:cNvSpPr txBox="1"/>
          <p:nvPr/>
        </p:nvSpPr>
        <p:spPr>
          <a:xfrm>
            <a:off x="2111375" y="1471613"/>
            <a:ext cx="4667885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0   2   3   6   6   8   7   7  10 16 14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442" name="Text Box 59"/>
          <p:cNvSpPr txBox="1"/>
          <p:nvPr/>
        </p:nvSpPr>
        <p:spPr>
          <a:xfrm>
            <a:off x="2103438" y="2401888"/>
            <a:ext cx="4667250" cy="4603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0   0   0   6   4   5   7   7   7  16 14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347" name="Group 75"/>
          <p:cNvGrpSpPr/>
          <p:nvPr/>
        </p:nvGrpSpPr>
        <p:grpSpPr>
          <a:xfrm>
            <a:off x="4767263" y="1471613"/>
            <a:ext cx="344487" cy="1390650"/>
            <a:chOff x="3312" y="1620"/>
            <a:chExt cx="217" cy="876"/>
          </a:xfrm>
        </p:grpSpPr>
        <p:sp>
          <p:nvSpPr>
            <p:cNvPr id="100459" name="Text Box 76"/>
            <p:cNvSpPr txBox="1"/>
            <p:nvPr/>
          </p:nvSpPr>
          <p:spPr>
            <a:xfrm>
              <a:off x="3312" y="2208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460" name="Text Box 77"/>
            <p:cNvSpPr txBox="1"/>
            <p:nvPr/>
          </p:nvSpPr>
          <p:spPr>
            <a:xfrm>
              <a:off x="3317" y="1620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4344" name="Group 72"/>
          <p:cNvGrpSpPr/>
          <p:nvPr/>
        </p:nvGrpSpPr>
        <p:grpSpPr>
          <a:xfrm>
            <a:off x="4387850" y="1484313"/>
            <a:ext cx="336550" cy="1371600"/>
            <a:chOff x="3052" y="1632"/>
            <a:chExt cx="212" cy="864"/>
          </a:xfrm>
        </p:grpSpPr>
        <p:sp>
          <p:nvSpPr>
            <p:cNvPr id="100457" name="Text Box 73"/>
            <p:cNvSpPr txBox="1"/>
            <p:nvPr/>
          </p:nvSpPr>
          <p:spPr>
            <a:xfrm>
              <a:off x="3052" y="2208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458" name="Text Box 74"/>
            <p:cNvSpPr txBox="1"/>
            <p:nvPr/>
          </p:nvSpPr>
          <p:spPr>
            <a:xfrm>
              <a:off x="3052" y="1632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4341" name="Group 69"/>
          <p:cNvGrpSpPr/>
          <p:nvPr/>
        </p:nvGrpSpPr>
        <p:grpSpPr>
          <a:xfrm>
            <a:off x="3246438" y="1466850"/>
            <a:ext cx="347662" cy="1389063"/>
            <a:chOff x="2345" y="1632"/>
            <a:chExt cx="219" cy="875"/>
          </a:xfrm>
        </p:grpSpPr>
        <p:sp>
          <p:nvSpPr>
            <p:cNvPr id="100455" name="Text Box 70"/>
            <p:cNvSpPr txBox="1"/>
            <p:nvPr/>
          </p:nvSpPr>
          <p:spPr>
            <a:xfrm>
              <a:off x="2352" y="1632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456" name="Text Box 71"/>
            <p:cNvSpPr txBox="1"/>
            <p:nvPr/>
          </p:nvSpPr>
          <p:spPr>
            <a:xfrm>
              <a:off x="2345" y="2219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4430" name="Group 158"/>
          <p:cNvGrpSpPr/>
          <p:nvPr/>
        </p:nvGrpSpPr>
        <p:grpSpPr>
          <a:xfrm>
            <a:off x="2108200" y="1481138"/>
            <a:ext cx="336550" cy="1371600"/>
            <a:chOff x="1332" y="957"/>
            <a:chExt cx="212" cy="864"/>
          </a:xfrm>
        </p:grpSpPr>
        <p:sp>
          <p:nvSpPr>
            <p:cNvPr id="100453" name="Text Box 61"/>
            <p:cNvSpPr txBox="1"/>
            <p:nvPr/>
          </p:nvSpPr>
          <p:spPr>
            <a:xfrm>
              <a:off x="1332" y="957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454" name="Text Box 62"/>
            <p:cNvSpPr txBox="1"/>
            <p:nvPr/>
          </p:nvSpPr>
          <p:spPr>
            <a:xfrm>
              <a:off x="1332" y="1533"/>
              <a:ext cx="21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4350" name="Group 78"/>
          <p:cNvGrpSpPr/>
          <p:nvPr/>
        </p:nvGrpSpPr>
        <p:grpSpPr>
          <a:xfrm>
            <a:off x="5465763" y="1477963"/>
            <a:ext cx="488950" cy="1371600"/>
            <a:chOff x="3744" y="1632"/>
            <a:chExt cx="308" cy="864"/>
          </a:xfrm>
        </p:grpSpPr>
        <p:sp>
          <p:nvSpPr>
            <p:cNvPr id="100451" name="Text Box 79"/>
            <p:cNvSpPr txBox="1"/>
            <p:nvPr/>
          </p:nvSpPr>
          <p:spPr>
            <a:xfrm>
              <a:off x="3744" y="2208"/>
              <a:ext cx="308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452" name="Text Box 80"/>
            <p:cNvSpPr txBox="1"/>
            <p:nvPr/>
          </p:nvSpPr>
          <p:spPr>
            <a:xfrm>
              <a:off x="3744" y="1632"/>
              <a:ext cx="308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4353" name="Group 81"/>
          <p:cNvGrpSpPr/>
          <p:nvPr/>
        </p:nvGrpSpPr>
        <p:grpSpPr>
          <a:xfrm>
            <a:off x="5837238" y="1465263"/>
            <a:ext cx="500062" cy="1400175"/>
            <a:chOff x="3977" y="1632"/>
            <a:chExt cx="315" cy="882"/>
          </a:xfrm>
        </p:grpSpPr>
        <p:sp>
          <p:nvSpPr>
            <p:cNvPr id="100449" name="Text Box 82"/>
            <p:cNvSpPr txBox="1"/>
            <p:nvPr/>
          </p:nvSpPr>
          <p:spPr>
            <a:xfrm>
              <a:off x="3984" y="1632"/>
              <a:ext cx="308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450" name="Text Box 83"/>
            <p:cNvSpPr txBox="1"/>
            <p:nvPr/>
          </p:nvSpPr>
          <p:spPr>
            <a:xfrm>
              <a:off x="3977" y="2226"/>
              <a:ext cx="308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35" grpId="0"/>
      <p:bldP spid="54336" grpId="0"/>
      <p:bldP spid="54337" grpId="0"/>
      <p:bldP spid="54338" grpId="0"/>
      <p:bldP spid="54339" grpId="0"/>
      <p:bldP spid="54340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2" name="Rectangle 4"/>
          <p:cNvSpPr>
            <a:spLocks noChangeArrowheads="1"/>
          </p:cNvSpPr>
          <p:nvPr/>
        </p:nvSpPr>
        <p:spPr bwMode="auto">
          <a:xfrm>
            <a:off x="565150" y="1700213"/>
            <a:ext cx="8193088" cy="26365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742950" indent="-28575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2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注意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: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1.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关键活动的速度提高是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有限度的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，只有在不改变网的关键路径的情况下，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提高关键活动的速度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才有效。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若网中有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条关键路径，那么必须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提高在所有关键路径的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那个关键活动速度才行。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微软雅黑" panose="020B0503020204020204" charset="-122"/>
                <a:cs typeface="Times New Roman" panose="02020603050405020304" pitchFamily="18" charset="0"/>
              </a:rPr>
              <a:t>                     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1379" name="Text Box 86"/>
          <p:cNvSpPr txBox="1"/>
          <p:nvPr/>
        </p:nvSpPr>
        <p:spPr>
          <a:xfrm>
            <a:off x="822325" y="812800"/>
            <a:ext cx="3538538" cy="49149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</a:t>
            </a: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关键路径的求解</a:t>
            </a:r>
            <a:endParaRPr lang="zh-CN" altLang="en-US" sz="26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1380" name="Oval 7"/>
          <p:cNvSpPr/>
          <p:nvPr/>
        </p:nvSpPr>
        <p:spPr>
          <a:xfrm>
            <a:off x="350838" y="852488"/>
            <a:ext cx="428625" cy="41592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9933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1381" name="Text Box 2"/>
          <p:cNvSpPr txBox="1"/>
          <p:nvPr/>
        </p:nvSpPr>
        <p:spPr>
          <a:xfrm>
            <a:off x="4576445" y="84455"/>
            <a:ext cx="4573905" cy="5835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7.6 AOE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网与关键路径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文本框 100"/>
          <p:cNvSpPr txBox="1"/>
          <p:nvPr/>
        </p:nvSpPr>
        <p:spPr>
          <a:xfrm>
            <a:off x="700088" y="671513"/>
            <a:ext cx="8016875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66700" lvl="0" indent="-266700"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问题：</a:t>
            </a: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若使用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AOE</a:t>
            </a: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网估算工程进度，则下列叙述中正确的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66700" lvl="0" indent="-266700">
              <a:lnSpc>
                <a:spcPct val="150000"/>
              </a:lnSpc>
              <a:spcBef>
                <a:spcPct val="0"/>
              </a:spcBef>
            </a:pP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   )</a:t>
            </a: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zh-CN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00113" y="1892300"/>
          <a:ext cx="7881937" cy="1884362"/>
        </p:xfrm>
        <a:graphic>
          <a:graphicData uri="http://schemas.openxmlformats.org/drawingml/2006/table">
            <a:tbl>
              <a:tblPr/>
              <a:tblGrid>
                <a:gridCol w="7881937"/>
              </a:tblGrid>
              <a:tr h="4792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A. 关键路径是从原点到汇点边数最多的一条路径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2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B. 关键路径是从原点到汇点路径长度最长的路径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29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C.增加任一关键活动的时间不会延长工程的工期</a:t>
                      </a:r>
                      <a:endParaRPr kumimoji="0" lang="en-US" altLang="zh-CN" sz="24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29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D.缩短任一关键活动的时间将会缩短工程的工期</a:t>
                      </a:r>
                      <a:endParaRPr kumimoji="0" lang="en-US" altLang="zh-CN" sz="24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2408" name="Text Box 5"/>
          <p:cNvSpPr txBox="1"/>
          <p:nvPr/>
        </p:nvSpPr>
        <p:spPr>
          <a:xfrm>
            <a:off x="7524750" y="122238"/>
            <a:ext cx="162083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互动答题</a:t>
            </a:r>
            <a:endParaRPr lang="zh-CN" altLang="en-US" sz="2800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00361" name="文本框 7"/>
          <p:cNvSpPr txBox="1"/>
          <p:nvPr/>
        </p:nvSpPr>
        <p:spPr>
          <a:xfrm>
            <a:off x="1108393" y="1380490"/>
            <a:ext cx="54133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/>
      <p:bldP spid="10036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文本框 100"/>
          <p:cNvSpPr txBox="1"/>
          <p:nvPr/>
        </p:nvSpPr>
        <p:spPr>
          <a:xfrm>
            <a:off x="715963" y="803275"/>
            <a:ext cx="8215312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66700" lvl="0" indent="-266700"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问题：</a:t>
            </a: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下图所示的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AOE</a:t>
            </a: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网表示一项包含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</a:t>
            </a: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个活动的工程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活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66700" lvl="0" indent="-266700">
              <a:lnSpc>
                <a:spcPct val="150000"/>
              </a:lnSpc>
              <a:spcBef>
                <a:spcPct val="0"/>
              </a:spcBef>
            </a:pP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动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</a:t>
            </a: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的最早开始时间和最迟开始时间分别是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    )</a:t>
            </a: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zh-CN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874713" y="4800600"/>
          <a:ext cx="7394575" cy="4781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7532"/>
                <a:gridCol w="1850073"/>
                <a:gridCol w="1847532"/>
                <a:gridCol w="1849438"/>
              </a:tblGrid>
              <a:tr h="4781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A. 3和7</a:t>
                      </a:r>
                      <a:endParaRPr lang="en-US" altLang="en-US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B.12和12</a:t>
                      </a:r>
                      <a:endParaRPr lang="en-US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C.12和14</a:t>
                      </a:r>
                      <a:endParaRPr lang="en-US" altLang="en-US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D.15和15</a:t>
                      </a:r>
                      <a:endParaRPr lang="en-US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3433" name="Text Box 5"/>
          <p:cNvSpPr txBox="1"/>
          <p:nvPr/>
        </p:nvSpPr>
        <p:spPr>
          <a:xfrm>
            <a:off x="7524750" y="122238"/>
            <a:ext cx="162083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互动答题</a:t>
            </a:r>
            <a:endParaRPr lang="zh-CN" altLang="en-US" sz="2800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656205" y="2259330"/>
            <a:ext cx="3832860" cy="1948815"/>
            <a:chOff x="7667" y="3599"/>
            <a:chExt cx="6036" cy="3069"/>
          </a:xfrm>
        </p:grpSpPr>
        <p:grpSp>
          <p:nvGrpSpPr>
            <p:cNvPr id="7" name="组合 6"/>
            <p:cNvGrpSpPr/>
            <p:nvPr/>
          </p:nvGrpSpPr>
          <p:grpSpPr>
            <a:xfrm>
              <a:off x="7667" y="3845"/>
              <a:ext cx="5976" cy="2527"/>
              <a:chOff x="6662" y="2491"/>
              <a:chExt cx="5976" cy="2527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6662" y="2491"/>
                <a:ext cx="5976" cy="2471"/>
                <a:chOff x="8272" y="2074"/>
                <a:chExt cx="5976" cy="2471"/>
              </a:xfrm>
            </p:grpSpPr>
            <p:grpSp>
              <p:nvGrpSpPr>
                <p:cNvPr id="45126" name="组合 1"/>
                <p:cNvGrpSpPr/>
                <p:nvPr/>
              </p:nvGrpSpPr>
              <p:grpSpPr>
                <a:xfrm>
                  <a:off x="8272" y="2087"/>
                  <a:ext cx="5976" cy="2458"/>
                  <a:chOff x="525780" y="1221423"/>
                  <a:chExt cx="3794760" cy="1561147"/>
                </a:xfrm>
              </p:grpSpPr>
              <p:sp>
                <p:nvSpPr>
                  <p:cNvPr id="45172" name="Oval 4"/>
                  <p:cNvSpPr/>
                  <p:nvPr/>
                </p:nvSpPr>
                <p:spPr>
                  <a:xfrm>
                    <a:off x="1580198" y="1221423"/>
                    <a:ext cx="381000" cy="381000"/>
                  </a:xfrm>
                  <a:prstGeom prst="ellipse">
                    <a:avLst/>
                  </a:prstGeom>
                  <a:solidFill>
                    <a:srgbClr val="00FFCC"/>
                  </a:solidFill>
                  <a:ln w="1905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rPr>
                      <a:t>2</a:t>
                    </a:r>
                    <a:endParaRPr lang="en-US" altLang="zh-CN" sz="20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173" name="Oval 5"/>
                  <p:cNvSpPr/>
                  <p:nvPr/>
                </p:nvSpPr>
                <p:spPr>
                  <a:xfrm>
                    <a:off x="2868930" y="1221740"/>
                    <a:ext cx="381000" cy="381000"/>
                  </a:xfrm>
                  <a:prstGeom prst="ellipse">
                    <a:avLst/>
                  </a:prstGeom>
                  <a:solidFill>
                    <a:srgbClr val="00FFCC"/>
                  </a:solidFill>
                  <a:ln w="1905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/>
                    <a:r>
                      <a:rPr lang="en-US" altLang="zh-CN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rPr>
                      <a:t>4</a:t>
                    </a:r>
                    <a:endParaRPr lang="en-US" altLang="zh-CN" sz="20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176" name="Oval 8"/>
                  <p:cNvSpPr/>
                  <p:nvPr/>
                </p:nvSpPr>
                <p:spPr>
                  <a:xfrm>
                    <a:off x="2860993" y="2401570"/>
                    <a:ext cx="381000" cy="381000"/>
                  </a:xfrm>
                  <a:prstGeom prst="ellipse">
                    <a:avLst/>
                  </a:prstGeom>
                  <a:solidFill>
                    <a:srgbClr val="00FFCC"/>
                  </a:solidFill>
                  <a:ln w="1905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/>
                    <a:r>
                      <a:rPr lang="en-US" altLang="zh-CN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rPr>
                      <a:t>5</a:t>
                    </a:r>
                    <a:endParaRPr lang="en-US" altLang="zh-CN" sz="20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177" name="Oval 9"/>
                  <p:cNvSpPr/>
                  <p:nvPr/>
                </p:nvSpPr>
                <p:spPr>
                  <a:xfrm>
                    <a:off x="525780" y="1937385"/>
                    <a:ext cx="381000" cy="381000"/>
                  </a:xfrm>
                  <a:prstGeom prst="ellipse">
                    <a:avLst/>
                  </a:prstGeom>
                  <a:solidFill>
                    <a:srgbClr val="00FFCC"/>
                  </a:solidFill>
                  <a:ln w="1905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/>
                    <a:r>
                      <a:rPr lang="en-US" altLang="zh-CN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rPr>
                      <a:t>1</a:t>
                    </a:r>
                    <a:endParaRPr lang="en-US" altLang="zh-CN" sz="20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178" name="Line 11"/>
                  <p:cNvSpPr/>
                  <p:nvPr/>
                </p:nvSpPr>
                <p:spPr>
                  <a:xfrm>
                    <a:off x="3245485" y="1465898"/>
                    <a:ext cx="758825" cy="505460"/>
                  </a:xfrm>
                  <a:prstGeom prst="line">
                    <a:avLst/>
                  </a:prstGeom>
                  <a:ln w="28575" cap="sq" cmpd="sng">
                    <a:solidFill>
                      <a:schemeClr val="accent4">
                        <a:lumMod val="75000"/>
                      </a:schemeClr>
                    </a:solidFill>
                    <a:prstDash val="solid"/>
                    <a:headEnd type="none" w="sm" len="sm"/>
                    <a:tailEnd type="triangle" w="med" len="med"/>
                  </a:ln>
                </p:spPr>
              </p:sp>
              <p:sp>
                <p:nvSpPr>
                  <p:cNvPr id="45179" name="Line 12"/>
                  <p:cNvSpPr/>
                  <p:nvPr/>
                </p:nvSpPr>
                <p:spPr>
                  <a:xfrm flipV="1">
                    <a:off x="816610" y="1486218"/>
                    <a:ext cx="791845" cy="485775"/>
                  </a:xfrm>
                  <a:prstGeom prst="line">
                    <a:avLst/>
                  </a:prstGeom>
                  <a:ln w="28575" cap="sq" cmpd="sng">
                    <a:solidFill>
                      <a:schemeClr val="accent4">
                        <a:lumMod val="75000"/>
                      </a:schemeClr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45182" name="Line 159"/>
                  <p:cNvSpPr/>
                  <p:nvPr/>
                </p:nvSpPr>
                <p:spPr>
                  <a:xfrm rot="11100000">
                    <a:off x="784860" y="2333943"/>
                    <a:ext cx="855345" cy="282575"/>
                  </a:xfrm>
                  <a:prstGeom prst="line">
                    <a:avLst/>
                  </a:prstGeom>
                  <a:ln w="28575" cap="sq" cmpd="sng">
                    <a:solidFill>
                      <a:schemeClr val="accent4">
                        <a:lumMod val="75000"/>
                      </a:schemeClr>
                    </a:solidFill>
                    <a:prstDash val="solid"/>
                    <a:headEnd type="triangle" w="med" len="med"/>
                    <a:tailEnd type="none" w="sm" len="sm"/>
                  </a:ln>
                </p:spPr>
              </p:sp>
              <p:sp>
                <p:nvSpPr>
                  <p:cNvPr id="45183" name="Oval 160"/>
                  <p:cNvSpPr/>
                  <p:nvPr/>
                </p:nvSpPr>
                <p:spPr>
                  <a:xfrm>
                    <a:off x="3939540" y="1934528"/>
                    <a:ext cx="381000" cy="381000"/>
                  </a:xfrm>
                  <a:prstGeom prst="ellipse">
                    <a:avLst/>
                  </a:prstGeom>
                  <a:solidFill>
                    <a:srgbClr val="00FFCC"/>
                  </a:solidFill>
                  <a:ln w="1905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/>
                    <a:r>
                      <a:rPr lang="en-US" altLang="zh-CN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rPr>
                      <a:t>6</a:t>
                    </a:r>
                    <a:endParaRPr lang="en-US" altLang="zh-CN" sz="20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184" name="Line 161"/>
                  <p:cNvSpPr/>
                  <p:nvPr/>
                </p:nvSpPr>
                <p:spPr>
                  <a:xfrm flipH="1" flipV="1">
                    <a:off x="1883410" y="1546543"/>
                    <a:ext cx="1087120" cy="905510"/>
                  </a:xfrm>
                  <a:prstGeom prst="line">
                    <a:avLst/>
                  </a:prstGeom>
                  <a:ln w="28575" cap="sq" cmpd="sng">
                    <a:solidFill>
                      <a:schemeClr val="accent4">
                        <a:lumMod val="75000"/>
                      </a:schemeClr>
                    </a:solidFill>
                    <a:prstDash val="solid"/>
                    <a:headEnd type="triangle" w="med" len="med"/>
                    <a:tailEnd type="none" w="sm" len="sm"/>
                  </a:ln>
                </p:spPr>
              </p:sp>
              <p:sp>
                <p:nvSpPr>
                  <p:cNvPr id="45185" name="Line 162"/>
                  <p:cNvSpPr/>
                  <p:nvPr/>
                </p:nvSpPr>
                <p:spPr>
                  <a:xfrm flipV="1">
                    <a:off x="1771015" y="1602423"/>
                    <a:ext cx="6350" cy="849630"/>
                  </a:xfrm>
                  <a:prstGeom prst="line">
                    <a:avLst/>
                  </a:prstGeom>
                  <a:ln w="28575" cap="sq" cmpd="sng">
                    <a:solidFill>
                      <a:schemeClr val="accent4">
                        <a:lumMod val="75000"/>
                      </a:schemeClr>
                    </a:solidFill>
                    <a:prstDash val="solid"/>
                    <a:headEnd type="none" w="sm" len="sm"/>
                    <a:tailEnd type="triangle" w="med" len="med"/>
                  </a:ln>
                </p:spPr>
              </p:sp>
              <p:sp>
                <p:nvSpPr>
                  <p:cNvPr id="45189" name="Line 166"/>
                  <p:cNvSpPr/>
                  <p:nvPr/>
                </p:nvSpPr>
                <p:spPr>
                  <a:xfrm rot="11040000" flipV="1">
                    <a:off x="1962150" y="2626678"/>
                    <a:ext cx="907415" cy="55880"/>
                  </a:xfrm>
                  <a:prstGeom prst="line">
                    <a:avLst/>
                  </a:prstGeom>
                  <a:ln w="28575" cap="sq" cmpd="sng">
                    <a:solidFill>
                      <a:schemeClr val="accent4">
                        <a:lumMod val="75000"/>
                      </a:schemeClr>
                    </a:solidFill>
                    <a:prstDash val="solid"/>
                    <a:headEnd type="triangle" w="med" len="med"/>
                    <a:tailEnd type="none" w="sm" len="sm"/>
                  </a:ln>
                </p:spPr>
              </p:sp>
            </p:grpSp>
            <p:sp>
              <p:nvSpPr>
                <p:cNvPr id="2" name="Line 11"/>
                <p:cNvSpPr/>
                <p:nvPr/>
              </p:nvSpPr>
              <p:spPr>
                <a:xfrm rot="14580000" flipH="1">
                  <a:off x="10968" y="1765"/>
                  <a:ext cx="613" cy="1230"/>
                </a:xfrm>
                <a:prstGeom prst="line">
                  <a:avLst/>
                </a:prstGeom>
                <a:ln w="28575" cap="sq" cmpd="sng">
                  <a:solidFill>
                    <a:schemeClr val="accent4">
                      <a:lumMod val="75000"/>
                    </a:schemeClr>
                  </a:solidFill>
                  <a:prstDash val="solid"/>
                  <a:headEnd type="none" w="sm" len="sm"/>
                  <a:tailEnd type="triangle" w="med" len="med"/>
                </a:ln>
              </p:spPr>
            </p:sp>
          </p:grpSp>
          <p:sp>
            <p:nvSpPr>
              <p:cNvPr id="4" name="Oval 5"/>
              <p:cNvSpPr/>
              <p:nvPr/>
            </p:nvSpPr>
            <p:spPr>
              <a:xfrm>
                <a:off x="8367" y="4418"/>
                <a:ext cx="600" cy="600"/>
              </a:xfrm>
              <a:prstGeom prst="ellipse">
                <a:avLst/>
              </a:prstGeom>
              <a:solidFill>
                <a:srgbClr val="00FFCC"/>
              </a:solidFill>
              <a:ln w="1905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/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3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Line 11"/>
              <p:cNvSpPr/>
              <p:nvPr/>
            </p:nvSpPr>
            <p:spPr>
              <a:xfrm rot="14580000">
                <a:off x="11571" y="3728"/>
                <a:ext cx="11" cy="1411"/>
              </a:xfrm>
              <a:prstGeom prst="line">
                <a:avLst/>
              </a:prstGeom>
              <a:ln w="28575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triangle" w="med" len="med"/>
              </a:ln>
            </p:spPr>
          </p:sp>
        </p:grpSp>
        <p:sp>
          <p:nvSpPr>
            <p:cNvPr id="9" name="文本框 8"/>
            <p:cNvSpPr txBox="1"/>
            <p:nvPr/>
          </p:nvSpPr>
          <p:spPr>
            <a:xfrm>
              <a:off x="8100" y="4075"/>
              <a:ext cx="12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a=3</a:t>
              </a:r>
              <a:endParaRPr lang="en-US" altLang="zh-CN" sz="200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126" y="3599"/>
              <a:ext cx="12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d=7</a:t>
              </a:r>
              <a:endParaRPr lang="en-US" altLang="zh-CN" sz="200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2386" y="4075"/>
              <a:ext cx="12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g=6</a:t>
              </a:r>
              <a:endParaRPr lang="en-US" altLang="zh-CN" sz="200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754" y="4814"/>
              <a:ext cx="12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b=4</a:t>
              </a:r>
              <a:endParaRPr lang="en-US" altLang="zh-CN" sz="200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812" y="4781"/>
              <a:ext cx="12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e=6</a:t>
              </a:r>
              <a:endParaRPr lang="en-US" altLang="zh-CN" sz="200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065" y="5759"/>
              <a:ext cx="12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c=8</a:t>
              </a:r>
              <a:endParaRPr lang="en-US" altLang="zh-CN" sz="200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0160" y="6040"/>
              <a:ext cx="12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f=10</a:t>
              </a:r>
              <a:endParaRPr lang="en-US" altLang="zh-CN" sz="200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2431" y="5733"/>
              <a:ext cx="12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h=9</a:t>
              </a:r>
              <a:endParaRPr lang="en-US" altLang="zh-CN" sz="200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6546955" y="1541862"/>
            <a:ext cx="423204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endParaRPr lang="en-US" altLang="zh-CN" sz="2400" b="1" dirty="0">
              <a:solidFill>
                <a:srgbClr val="0000FF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文本框 2"/>
          <p:cNvSpPr txBox="1"/>
          <p:nvPr/>
        </p:nvSpPr>
        <p:spPr>
          <a:xfrm>
            <a:off x="830263" y="847725"/>
            <a:ext cx="7899400" cy="14204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66700" indent="-266700"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问题：</a:t>
            </a:r>
            <a:r>
              <a:rPr lang="zh-CN" altLang="zh-CN" b="1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下列</a:t>
            </a:r>
            <a:r>
              <a:rPr lang="en-US" altLang="zh-CN" b="1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AOE</a:t>
            </a:r>
            <a:r>
              <a:rPr lang="zh-CN" altLang="zh-CN" b="1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网表示一项包含</a:t>
            </a:r>
            <a:r>
              <a:rPr lang="en-US" altLang="zh-CN" b="1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8</a:t>
            </a:r>
            <a:r>
              <a:rPr lang="zh-CN" altLang="zh-CN" b="1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个活动的工程。通过同</a:t>
            </a:r>
            <a:endParaRPr lang="en-US" altLang="zh-CN" b="1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66700" indent="-266700">
              <a:lnSpc>
                <a:spcPct val="120000"/>
              </a:lnSpc>
            </a:pPr>
            <a:r>
              <a:rPr lang="zh-CN" altLang="zh-CN" b="1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时加快若干活动的进度可以缩短整个工程的工期。下列选</a:t>
            </a:r>
            <a:endParaRPr lang="en-US" altLang="zh-CN" b="1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66700" indent="-266700">
              <a:lnSpc>
                <a:spcPct val="120000"/>
              </a:lnSpc>
            </a:pPr>
            <a:r>
              <a:rPr lang="zh-CN" altLang="zh-CN" b="1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项中，加快其进度就可以缩短工程工期的是</a:t>
            </a:r>
            <a:r>
              <a:rPr lang="en-US" altLang="zh-CN" b="1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(       )</a:t>
            </a:r>
            <a:r>
              <a:rPr lang="zh-CN" altLang="zh-CN" b="1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zh-CN" altLang="zh-CN" b="1" dirty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4452" name="表格 104451"/>
          <p:cNvGraphicFramePr/>
          <p:nvPr/>
        </p:nvGraphicFramePr>
        <p:xfrm>
          <a:off x="1554163" y="5111750"/>
          <a:ext cx="6081713" cy="365760"/>
        </p:xfrm>
        <a:graphic>
          <a:graphicData uri="http://schemas.openxmlformats.org/drawingml/2006/table">
            <a:tbl>
              <a:tblPr/>
              <a:tblGrid>
                <a:gridCol w="1519238"/>
                <a:gridCol w="1522412"/>
                <a:gridCol w="1519238"/>
                <a:gridCol w="1520825"/>
              </a:tblGrid>
              <a:tr h="3651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A. c和e</a:t>
                      </a:r>
                      <a:endParaRPr lang="en-US" altLang="zh-CN" b="1" dirty="0">
                        <a:solidFill>
                          <a:schemeClr val="tx1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B.d和c</a:t>
                      </a:r>
                      <a:endParaRPr lang="en-US" altLang="zh-CN" b="1" dirty="0">
                        <a:solidFill>
                          <a:schemeClr val="tx1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C.f和d</a:t>
                      </a:r>
                      <a:endParaRPr lang="en-US" altLang="zh-CN" b="1" dirty="0">
                        <a:solidFill>
                          <a:schemeClr val="tx1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D.f和h</a:t>
                      </a:r>
                      <a:endParaRPr lang="en-US" altLang="zh-CN" b="1" dirty="0">
                        <a:solidFill>
                          <a:schemeClr val="tx1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457" name="Text Box 5"/>
          <p:cNvSpPr txBox="1"/>
          <p:nvPr/>
        </p:nvSpPr>
        <p:spPr>
          <a:xfrm>
            <a:off x="7524750" y="122238"/>
            <a:ext cx="162083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互动答题</a:t>
            </a:r>
            <a:endParaRPr lang="zh-CN" altLang="en-US" sz="2800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733040" y="2559050"/>
            <a:ext cx="3832860" cy="1948815"/>
            <a:chOff x="7667" y="3599"/>
            <a:chExt cx="6036" cy="3069"/>
          </a:xfrm>
        </p:grpSpPr>
        <p:grpSp>
          <p:nvGrpSpPr>
            <p:cNvPr id="7" name="组合 6"/>
            <p:cNvGrpSpPr/>
            <p:nvPr/>
          </p:nvGrpSpPr>
          <p:grpSpPr>
            <a:xfrm>
              <a:off x="7667" y="3845"/>
              <a:ext cx="5976" cy="2527"/>
              <a:chOff x="6662" y="2491"/>
              <a:chExt cx="5976" cy="2527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6662" y="2491"/>
                <a:ext cx="5976" cy="2471"/>
                <a:chOff x="8272" y="2074"/>
                <a:chExt cx="5976" cy="2471"/>
              </a:xfrm>
            </p:grpSpPr>
            <p:grpSp>
              <p:nvGrpSpPr>
                <p:cNvPr id="45126" name="组合 1"/>
                <p:cNvGrpSpPr/>
                <p:nvPr/>
              </p:nvGrpSpPr>
              <p:grpSpPr>
                <a:xfrm>
                  <a:off x="8272" y="2087"/>
                  <a:ext cx="5976" cy="2458"/>
                  <a:chOff x="525780" y="1221423"/>
                  <a:chExt cx="3794760" cy="1561147"/>
                </a:xfrm>
              </p:grpSpPr>
              <p:sp>
                <p:nvSpPr>
                  <p:cNvPr id="45172" name="Oval 4"/>
                  <p:cNvSpPr/>
                  <p:nvPr/>
                </p:nvSpPr>
                <p:spPr>
                  <a:xfrm>
                    <a:off x="1580198" y="1221423"/>
                    <a:ext cx="381000" cy="381000"/>
                  </a:xfrm>
                  <a:prstGeom prst="ellipse">
                    <a:avLst/>
                  </a:prstGeom>
                  <a:solidFill>
                    <a:srgbClr val="00FFCC"/>
                  </a:solidFill>
                  <a:ln w="1905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</a:pPr>
                    <a:r>
                      <a:rPr lang="en-US" altLang="zh-CN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rPr>
                      <a:t>2</a:t>
                    </a:r>
                    <a:endParaRPr lang="en-US" altLang="zh-CN" sz="20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173" name="Oval 5"/>
                  <p:cNvSpPr/>
                  <p:nvPr/>
                </p:nvSpPr>
                <p:spPr>
                  <a:xfrm>
                    <a:off x="2868930" y="1221740"/>
                    <a:ext cx="381000" cy="381000"/>
                  </a:xfrm>
                  <a:prstGeom prst="ellipse">
                    <a:avLst/>
                  </a:prstGeom>
                  <a:solidFill>
                    <a:srgbClr val="00FFCC"/>
                  </a:solidFill>
                  <a:ln w="1905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/>
                    <a:r>
                      <a:rPr lang="en-US" altLang="zh-CN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rPr>
                      <a:t>4</a:t>
                    </a:r>
                    <a:endParaRPr lang="en-US" altLang="zh-CN" sz="20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176" name="Oval 8"/>
                  <p:cNvSpPr/>
                  <p:nvPr/>
                </p:nvSpPr>
                <p:spPr>
                  <a:xfrm>
                    <a:off x="2860993" y="2401570"/>
                    <a:ext cx="381000" cy="381000"/>
                  </a:xfrm>
                  <a:prstGeom prst="ellipse">
                    <a:avLst/>
                  </a:prstGeom>
                  <a:solidFill>
                    <a:srgbClr val="00FFCC"/>
                  </a:solidFill>
                  <a:ln w="1905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/>
                    <a:r>
                      <a:rPr lang="en-US" altLang="zh-CN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rPr>
                      <a:t>5</a:t>
                    </a:r>
                    <a:endParaRPr lang="en-US" altLang="zh-CN" sz="20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177" name="Oval 9"/>
                  <p:cNvSpPr/>
                  <p:nvPr/>
                </p:nvSpPr>
                <p:spPr>
                  <a:xfrm>
                    <a:off x="525780" y="1937385"/>
                    <a:ext cx="381000" cy="381000"/>
                  </a:xfrm>
                  <a:prstGeom prst="ellipse">
                    <a:avLst/>
                  </a:prstGeom>
                  <a:solidFill>
                    <a:srgbClr val="00FFCC"/>
                  </a:solidFill>
                  <a:ln w="1905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/>
                    <a:r>
                      <a:rPr lang="en-US" altLang="zh-CN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rPr>
                      <a:t>1</a:t>
                    </a:r>
                    <a:endParaRPr lang="en-US" altLang="zh-CN" sz="20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178" name="Line 11"/>
                  <p:cNvSpPr/>
                  <p:nvPr/>
                </p:nvSpPr>
                <p:spPr>
                  <a:xfrm>
                    <a:off x="3245485" y="1465898"/>
                    <a:ext cx="758825" cy="505460"/>
                  </a:xfrm>
                  <a:prstGeom prst="line">
                    <a:avLst/>
                  </a:prstGeom>
                  <a:ln w="28575" cap="sq" cmpd="sng">
                    <a:solidFill>
                      <a:schemeClr val="accent4">
                        <a:lumMod val="75000"/>
                      </a:schemeClr>
                    </a:solidFill>
                    <a:prstDash val="solid"/>
                    <a:headEnd type="none" w="sm" len="sm"/>
                    <a:tailEnd type="triangle" w="med" len="med"/>
                  </a:ln>
                </p:spPr>
              </p:sp>
              <p:sp>
                <p:nvSpPr>
                  <p:cNvPr id="45179" name="Line 12"/>
                  <p:cNvSpPr/>
                  <p:nvPr/>
                </p:nvSpPr>
                <p:spPr>
                  <a:xfrm flipV="1">
                    <a:off x="816610" y="1486218"/>
                    <a:ext cx="791845" cy="485775"/>
                  </a:xfrm>
                  <a:prstGeom prst="line">
                    <a:avLst/>
                  </a:prstGeom>
                  <a:ln w="28575" cap="sq" cmpd="sng">
                    <a:solidFill>
                      <a:schemeClr val="accent4">
                        <a:lumMod val="75000"/>
                      </a:schemeClr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45182" name="Line 159"/>
                  <p:cNvSpPr/>
                  <p:nvPr/>
                </p:nvSpPr>
                <p:spPr>
                  <a:xfrm rot="11100000">
                    <a:off x="784860" y="2333943"/>
                    <a:ext cx="855345" cy="282575"/>
                  </a:xfrm>
                  <a:prstGeom prst="line">
                    <a:avLst/>
                  </a:prstGeom>
                  <a:ln w="28575" cap="sq" cmpd="sng">
                    <a:solidFill>
                      <a:schemeClr val="accent4">
                        <a:lumMod val="75000"/>
                      </a:schemeClr>
                    </a:solidFill>
                    <a:prstDash val="solid"/>
                    <a:headEnd type="triangle" w="med" len="med"/>
                    <a:tailEnd type="none" w="sm" len="sm"/>
                  </a:ln>
                </p:spPr>
              </p:sp>
              <p:sp>
                <p:nvSpPr>
                  <p:cNvPr id="45183" name="Oval 160"/>
                  <p:cNvSpPr/>
                  <p:nvPr/>
                </p:nvSpPr>
                <p:spPr>
                  <a:xfrm>
                    <a:off x="3939540" y="1934528"/>
                    <a:ext cx="381000" cy="381000"/>
                  </a:xfrm>
                  <a:prstGeom prst="ellipse">
                    <a:avLst/>
                  </a:prstGeom>
                  <a:solidFill>
                    <a:srgbClr val="00FFCC"/>
                  </a:solidFill>
                  <a:ln w="19050" cap="sq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/>
                    <a:r>
                      <a:rPr lang="en-US" altLang="zh-CN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rPr>
                      <a:t>6</a:t>
                    </a:r>
                    <a:endParaRPr lang="en-US" altLang="zh-CN" sz="20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184" name="Line 161"/>
                  <p:cNvSpPr/>
                  <p:nvPr/>
                </p:nvSpPr>
                <p:spPr>
                  <a:xfrm flipH="1" flipV="1">
                    <a:off x="1883410" y="1546543"/>
                    <a:ext cx="1087120" cy="905510"/>
                  </a:xfrm>
                  <a:prstGeom prst="line">
                    <a:avLst/>
                  </a:prstGeom>
                  <a:ln w="28575" cap="sq" cmpd="sng">
                    <a:solidFill>
                      <a:schemeClr val="accent4">
                        <a:lumMod val="75000"/>
                      </a:schemeClr>
                    </a:solidFill>
                    <a:prstDash val="solid"/>
                    <a:headEnd type="triangle" w="med" len="med"/>
                    <a:tailEnd type="none" w="sm" len="sm"/>
                  </a:ln>
                </p:spPr>
              </p:sp>
              <p:sp>
                <p:nvSpPr>
                  <p:cNvPr id="45185" name="Line 162"/>
                  <p:cNvSpPr/>
                  <p:nvPr/>
                </p:nvSpPr>
                <p:spPr>
                  <a:xfrm flipV="1">
                    <a:off x="1771015" y="1602423"/>
                    <a:ext cx="6350" cy="849630"/>
                  </a:xfrm>
                  <a:prstGeom prst="line">
                    <a:avLst/>
                  </a:prstGeom>
                  <a:ln w="28575" cap="sq" cmpd="sng">
                    <a:solidFill>
                      <a:schemeClr val="accent4">
                        <a:lumMod val="75000"/>
                      </a:schemeClr>
                    </a:solidFill>
                    <a:prstDash val="solid"/>
                    <a:headEnd type="none" w="sm" len="sm"/>
                    <a:tailEnd type="triangle" w="med" len="med"/>
                  </a:ln>
                </p:spPr>
              </p:sp>
              <p:sp>
                <p:nvSpPr>
                  <p:cNvPr id="45189" name="Line 166"/>
                  <p:cNvSpPr/>
                  <p:nvPr/>
                </p:nvSpPr>
                <p:spPr>
                  <a:xfrm rot="11040000" flipV="1">
                    <a:off x="1962150" y="2626678"/>
                    <a:ext cx="907415" cy="55880"/>
                  </a:xfrm>
                  <a:prstGeom prst="line">
                    <a:avLst/>
                  </a:prstGeom>
                  <a:ln w="28575" cap="sq" cmpd="sng">
                    <a:solidFill>
                      <a:schemeClr val="accent4">
                        <a:lumMod val="75000"/>
                      </a:schemeClr>
                    </a:solidFill>
                    <a:prstDash val="solid"/>
                    <a:headEnd type="triangle" w="med" len="med"/>
                    <a:tailEnd type="none" w="sm" len="sm"/>
                  </a:ln>
                </p:spPr>
              </p:sp>
            </p:grpSp>
            <p:sp>
              <p:nvSpPr>
                <p:cNvPr id="2" name="Line 11"/>
                <p:cNvSpPr/>
                <p:nvPr/>
              </p:nvSpPr>
              <p:spPr>
                <a:xfrm rot="14580000" flipH="1">
                  <a:off x="10968" y="1765"/>
                  <a:ext cx="613" cy="1230"/>
                </a:xfrm>
                <a:prstGeom prst="line">
                  <a:avLst/>
                </a:prstGeom>
                <a:ln w="28575" cap="sq" cmpd="sng">
                  <a:solidFill>
                    <a:schemeClr val="accent4">
                      <a:lumMod val="75000"/>
                    </a:schemeClr>
                  </a:solidFill>
                  <a:prstDash val="solid"/>
                  <a:headEnd type="none" w="sm" len="sm"/>
                  <a:tailEnd type="triangle" w="med" len="med"/>
                </a:ln>
              </p:spPr>
            </p:sp>
          </p:grpSp>
          <p:sp>
            <p:nvSpPr>
              <p:cNvPr id="4" name="Oval 5"/>
              <p:cNvSpPr/>
              <p:nvPr/>
            </p:nvSpPr>
            <p:spPr>
              <a:xfrm>
                <a:off x="8367" y="4418"/>
                <a:ext cx="600" cy="600"/>
              </a:xfrm>
              <a:prstGeom prst="ellipse">
                <a:avLst/>
              </a:prstGeom>
              <a:solidFill>
                <a:srgbClr val="00FFCC"/>
              </a:solidFill>
              <a:ln w="1905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/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3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Line 11"/>
              <p:cNvSpPr/>
              <p:nvPr/>
            </p:nvSpPr>
            <p:spPr>
              <a:xfrm rot="14580000">
                <a:off x="11571" y="3728"/>
                <a:ext cx="11" cy="1411"/>
              </a:xfrm>
              <a:prstGeom prst="line">
                <a:avLst/>
              </a:prstGeom>
              <a:ln w="28575" cap="sq" cmpd="sng">
                <a:solidFill>
                  <a:schemeClr val="accent4">
                    <a:lumMod val="75000"/>
                  </a:schemeClr>
                </a:solidFill>
                <a:prstDash val="solid"/>
                <a:headEnd type="none" w="sm" len="sm"/>
                <a:tailEnd type="triangle" w="med" len="med"/>
              </a:ln>
            </p:spPr>
          </p:sp>
        </p:grpSp>
        <p:sp>
          <p:nvSpPr>
            <p:cNvPr id="9" name="文本框 8"/>
            <p:cNvSpPr txBox="1"/>
            <p:nvPr/>
          </p:nvSpPr>
          <p:spPr>
            <a:xfrm>
              <a:off x="8100" y="4075"/>
              <a:ext cx="12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a=3</a:t>
              </a:r>
              <a:endParaRPr lang="en-US" altLang="zh-CN" sz="200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126" y="3599"/>
              <a:ext cx="12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c=9</a:t>
              </a:r>
              <a:endParaRPr lang="en-US" altLang="zh-CN" sz="200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2386" y="4075"/>
              <a:ext cx="12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g=6</a:t>
              </a:r>
              <a:endParaRPr lang="en-US" altLang="zh-CN" sz="200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754" y="4814"/>
              <a:ext cx="12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d=4</a:t>
              </a:r>
              <a:endParaRPr lang="en-US" altLang="zh-CN" sz="200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812" y="4781"/>
              <a:ext cx="12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e=6</a:t>
              </a:r>
              <a:endParaRPr lang="en-US" altLang="zh-CN" sz="200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065" y="5759"/>
              <a:ext cx="12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b=8</a:t>
              </a:r>
              <a:endParaRPr lang="en-US" altLang="zh-CN" sz="200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0160" y="6040"/>
              <a:ext cx="12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f=10</a:t>
              </a:r>
              <a:endParaRPr lang="en-US" altLang="zh-CN" sz="200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2431" y="5733"/>
              <a:ext cx="12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微软雅黑" panose="020B0503020204020204" charset="-122"/>
                  <a:cs typeface="Times New Roman" panose="02020603050405020304" pitchFamily="18" charset="0"/>
                </a:rPr>
                <a:t>h=9</a:t>
              </a:r>
              <a:endParaRPr lang="en-US" altLang="zh-CN" sz="200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6894935" y="1807292"/>
            <a:ext cx="423204" cy="460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2400" b="1" dirty="0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endParaRPr lang="en-US" altLang="zh-CN" sz="2400" b="1" dirty="0">
              <a:solidFill>
                <a:srgbClr val="0000FF"/>
              </a:solidFill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002" name="Group 2"/>
          <p:cNvGrpSpPr/>
          <p:nvPr/>
        </p:nvGrpSpPr>
        <p:grpSpPr>
          <a:xfrm>
            <a:off x="523875" y="1600200"/>
            <a:ext cx="8620125" cy="4038600"/>
            <a:chOff x="336" y="1008"/>
            <a:chExt cx="5430" cy="2544"/>
          </a:xfrm>
        </p:grpSpPr>
        <p:sp>
          <p:nvSpPr>
            <p:cNvPr id="105475" name="Freeform 3"/>
            <p:cNvSpPr/>
            <p:nvPr/>
          </p:nvSpPr>
          <p:spPr>
            <a:xfrm>
              <a:off x="336" y="1008"/>
              <a:ext cx="5430" cy="2467"/>
            </a:xfrm>
            <a:custGeom>
              <a:avLst/>
              <a:gdLst/>
              <a:ahLst/>
              <a:cxnLst>
                <a:cxn ang="0">
                  <a:pos x="757" y="186"/>
                </a:cxn>
                <a:cxn ang="0">
                  <a:pos x="1837" y="186"/>
                </a:cxn>
                <a:cxn ang="0">
                  <a:pos x="3157" y="77"/>
                </a:cxn>
                <a:cxn ang="0">
                  <a:pos x="4302" y="23"/>
                </a:cxn>
                <a:cxn ang="0">
                  <a:pos x="4880" y="12"/>
                </a:cxn>
                <a:cxn ang="0">
                  <a:pos x="4858" y="88"/>
                </a:cxn>
                <a:cxn ang="0">
                  <a:pos x="4509" y="274"/>
                </a:cxn>
                <a:cxn ang="0">
                  <a:pos x="4215" y="394"/>
                </a:cxn>
                <a:cxn ang="0">
                  <a:pos x="4160" y="503"/>
                </a:cxn>
                <a:cxn ang="0">
                  <a:pos x="4989" y="601"/>
                </a:cxn>
                <a:cxn ang="0">
                  <a:pos x="4378" y="623"/>
                </a:cxn>
                <a:cxn ang="0">
                  <a:pos x="3931" y="677"/>
                </a:cxn>
                <a:cxn ang="0">
                  <a:pos x="4029" y="699"/>
                </a:cxn>
                <a:cxn ang="0">
                  <a:pos x="4182" y="732"/>
                </a:cxn>
                <a:cxn ang="0">
                  <a:pos x="4389" y="884"/>
                </a:cxn>
                <a:cxn ang="0">
                  <a:pos x="4891" y="1135"/>
                </a:cxn>
                <a:cxn ang="0">
                  <a:pos x="4815" y="1506"/>
                </a:cxn>
                <a:cxn ang="0">
                  <a:pos x="5055" y="1812"/>
                </a:cxn>
                <a:cxn ang="0">
                  <a:pos x="5415" y="1932"/>
                </a:cxn>
                <a:cxn ang="0">
                  <a:pos x="5077" y="2281"/>
                </a:cxn>
                <a:cxn ang="0">
                  <a:pos x="4182" y="2412"/>
                </a:cxn>
                <a:cxn ang="0">
                  <a:pos x="2524" y="2314"/>
                </a:cxn>
                <a:cxn ang="0">
                  <a:pos x="866" y="2412"/>
                </a:cxn>
                <a:cxn ang="0">
                  <a:pos x="418" y="2444"/>
                </a:cxn>
                <a:cxn ang="0">
                  <a:pos x="506" y="2412"/>
                </a:cxn>
                <a:cxn ang="0">
                  <a:pos x="1815" y="2259"/>
                </a:cxn>
                <a:cxn ang="0">
                  <a:pos x="2426" y="2194"/>
                </a:cxn>
                <a:cxn ang="0">
                  <a:pos x="2753" y="2084"/>
                </a:cxn>
                <a:cxn ang="0">
                  <a:pos x="1422" y="2052"/>
                </a:cxn>
                <a:cxn ang="0">
                  <a:pos x="669" y="1986"/>
                </a:cxn>
                <a:cxn ang="0">
                  <a:pos x="1106" y="1779"/>
                </a:cxn>
                <a:cxn ang="0">
                  <a:pos x="440" y="1681"/>
                </a:cxn>
                <a:cxn ang="0">
                  <a:pos x="822" y="1594"/>
                </a:cxn>
                <a:cxn ang="0">
                  <a:pos x="855" y="1375"/>
                </a:cxn>
                <a:cxn ang="0">
                  <a:pos x="691" y="1081"/>
                </a:cxn>
                <a:cxn ang="0">
                  <a:pos x="757" y="917"/>
                </a:cxn>
                <a:cxn ang="0">
                  <a:pos x="833" y="655"/>
                </a:cxn>
                <a:cxn ang="0">
                  <a:pos x="517" y="415"/>
                </a:cxn>
                <a:cxn ang="0">
                  <a:pos x="244" y="295"/>
                </a:cxn>
                <a:cxn ang="0">
                  <a:pos x="48" y="241"/>
                </a:cxn>
                <a:cxn ang="0">
                  <a:pos x="58" y="208"/>
                </a:cxn>
                <a:cxn ang="0">
                  <a:pos x="713" y="154"/>
                </a:cxn>
                <a:cxn ang="0">
                  <a:pos x="691" y="208"/>
                </a:cxn>
              </a:cxnLst>
              <a:rect l="0" t="0" r="0" b="0"/>
              <a:pathLst>
                <a:path w="5430" h="2467">
                  <a:moveTo>
                    <a:pt x="691" y="208"/>
                  </a:moveTo>
                  <a:cubicBezTo>
                    <a:pt x="713" y="201"/>
                    <a:pt x="735" y="193"/>
                    <a:pt x="757" y="186"/>
                  </a:cubicBezTo>
                  <a:cubicBezTo>
                    <a:pt x="768" y="182"/>
                    <a:pt x="789" y="175"/>
                    <a:pt x="789" y="175"/>
                  </a:cubicBezTo>
                  <a:cubicBezTo>
                    <a:pt x="1618" y="200"/>
                    <a:pt x="1269" y="205"/>
                    <a:pt x="1837" y="186"/>
                  </a:cubicBezTo>
                  <a:cubicBezTo>
                    <a:pt x="2218" y="151"/>
                    <a:pt x="2600" y="145"/>
                    <a:pt x="2982" y="121"/>
                  </a:cubicBezTo>
                  <a:cubicBezTo>
                    <a:pt x="3043" y="111"/>
                    <a:pt x="3096" y="84"/>
                    <a:pt x="3157" y="77"/>
                  </a:cubicBezTo>
                  <a:cubicBezTo>
                    <a:pt x="3337" y="56"/>
                    <a:pt x="3521" y="52"/>
                    <a:pt x="3702" y="44"/>
                  </a:cubicBezTo>
                  <a:cubicBezTo>
                    <a:pt x="3942" y="0"/>
                    <a:pt x="3680" y="45"/>
                    <a:pt x="4302" y="23"/>
                  </a:cubicBezTo>
                  <a:cubicBezTo>
                    <a:pt x="4422" y="19"/>
                    <a:pt x="4542" y="6"/>
                    <a:pt x="4662" y="1"/>
                  </a:cubicBezTo>
                  <a:cubicBezTo>
                    <a:pt x="4735" y="5"/>
                    <a:pt x="4807" y="6"/>
                    <a:pt x="4880" y="12"/>
                  </a:cubicBezTo>
                  <a:cubicBezTo>
                    <a:pt x="4895" y="13"/>
                    <a:pt x="4921" y="8"/>
                    <a:pt x="4924" y="23"/>
                  </a:cubicBezTo>
                  <a:cubicBezTo>
                    <a:pt x="4928" y="44"/>
                    <a:pt x="4873" y="79"/>
                    <a:pt x="4858" y="88"/>
                  </a:cubicBezTo>
                  <a:cubicBezTo>
                    <a:pt x="4782" y="132"/>
                    <a:pt x="4717" y="186"/>
                    <a:pt x="4629" y="208"/>
                  </a:cubicBezTo>
                  <a:cubicBezTo>
                    <a:pt x="4589" y="235"/>
                    <a:pt x="4560" y="257"/>
                    <a:pt x="4509" y="274"/>
                  </a:cubicBezTo>
                  <a:cubicBezTo>
                    <a:pt x="4476" y="285"/>
                    <a:pt x="4440" y="287"/>
                    <a:pt x="4411" y="306"/>
                  </a:cubicBezTo>
                  <a:cubicBezTo>
                    <a:pt x="4351" y="346"/>
                    <a:pt x="4281" y="367"/>
                    <a:pt x="4215" y="394"/>
                  </a:cubicBezTo>
                  <a:cubicBezTo>
                    <a:pt x="4156" y="418"/>
                    <a:pt x="4102" y="443"/>
                    <a:pt x="4040" y="459"/>
                  </a:cubicBezTo>
                  <a:cubicBezTo>
                    <a:pt x="4081" y="471"/>
                    <a:pt x="4119" y="491"/>
                    <a:pt x="4160" y="503"/>
                  </a:cubicBezTo>
                  <a:cubicBezTo>
                    <a:pt x="4258" y="531"/>
                    <a:pt x="4397" y="535"/>
                    <a:pt x="4488" y="546"/>
                  </a:cubicBezTo>
                  <a:cubicBezTo>
                    <a:pt x="4955" y="605"/>
                    <a:pt x="4629" y="581"/>
                    <a:pt x="4989" y="601"/>
                  </a:cubicBezTo>
                  <a:cubicBezTo>
                    <a:pt x="4881" y="656"/>
                    <a:pt x="4790" y="629"/>
                    <a:pt x="4662" y="623"/>
                  </a:cubicBezTo>
                  <a:cubicBezTo>
                    <a:pt x="4365" y="585"/>
                    <a:pt x="4601" y="597"/>
                    <a:pt x="4378" y="623"/>
                  </a:cubicBezTo>
                  <a:cubicBezTo>
                    <a:pt x="4233" y="640"/>
                    <a:pt x="3942" y="666"/>
                    <a:pt x="3942" y="666"/>
                  </a:cubicBezTo>
                  <a:cubicBezTo>
                    <a:pt x="3860" y="707"/>
                    <a:pt x="3902" y="683"/>
                    <a:pt x="3931" y="677"/>
                  </a:cubicBezTo>
                  <a:cubicBezTo>
                    <a:pt x="3971" y="668"/>
                    <a:pt x="4011" y="663"/>
                    <a:pt x="4051" y="655"/>
                  </a:cubicBezTo>
                  <a:cubicBezTo>
                    <a:pt x="4044" y="670"/>
                    <a:pt x="4016" y="689"/>
                    <a:pt x="4029" y="699"/>
                  </a:cubicBezTo>
                  <a:cubicBezTo>
                    <a:pt x="4056" y="718"/>
                    <a:pt x="4096" y="703"/>
                    <a:pt x="4128" y="710"/>
                  </a:cubicBezTo>
                  <a:cubicBezTo>
                    <a:pt x="4147" y="714"/>
                    <a:pt x="4165" y="723"/>
                    <a:pt x="4182" y="732"/>
                  </a:cubicBezTo>
                  <a:cubicBezTo>
                    <a:pt x="4213" y="748"/>
                    <a:pt x="4259" y="792"/>
                    <a:pt x="4280" y="808"/>
                  </a:cubicBezTo>
                  <a:cubicBezTo>
                    <a:pt x="4315" y="835"/>
                    <a:pt x="4353" y="858"/>
                    <a:pt x="4389" y="884"/>
                  </a:cubicBezTo>
                  <a:cubicBezTo>
                    <a:pt x="4500" y="1051"/>
                    <a:pt x="4692" y="1056"/>
                    <a:pt x="4880" y="1092"/>
                  </a:cubicBezTo>
                  <a:cubicBezTo>
                    <a:pt x="4884" y="1106"/>
                    <a:pt x="4900" y="1123"/>
                    <a:pt x="4891" y="1135"/>
                  </a:cubicBezTo>
                  <a:cubicBezTo>
                    <a:pt x="4870" y="1162"/>
                    <a:pt x="4804" y="1190"/>
                    <a:pt x="4804" y="1190"/>
                  </a:cubicBezTo>
                  <a:cubicBezTo>
                    <a:pt x="4808" y="1295"/>
                    <a:pt x="4780" y="1407"/>
                    <a:pt x="4815" y="1506"/>
                  </a:cubicBezTo>
                  <a:cubicBezTo>
                    <a:pt x="4837" y="1570"/>
                    <a:pt x="4930" y="1578"/>
                    <a:pt x="4978" y="1626"/>
                  </a:cubicBezTo>
                  <a:cubicBezTo>
                    <a:pt x="4996" y="1696"/>
                    <a:pt x="4970" y="1780"/>
                    <a:pt x="5055" y="1812"/>
                  </a:cubicBezTo>
                  <a:cubicBezTo>
                    <a:pt x="5162" y="1852"/>
                    <a:pt x="5382" y="1910"/>
                    <a:pt x="5382" y="1910"/>
                  </a:cubicBezTo>
                  <a:cubicBezTo>
                    <a:pt x="5393" y="1917"/>
                    <a:pt x="5411" y="1919"/>
                    <a:pt x="5415" y="1932"/>
                  </a:cubicBezTo>
                  <a:cubicBezTo>
                    <a:pt x="5430" y="1976"/>
                    <a:pt x="5384" y="1985"/>
                    <a:pt x="5360" y="1997"/>
                  </a:cubicBezTo>
                  <a:cubicBezTo>
                    <a:pt x="5295" y="2126"/>
                    <a:pt x="5244" y="2276"/>
                    <a:pt x="5077" y="2281"/>
                  </a:cubicBezTo>
                  <a:cubicBezTo>
                    <a:pt x="4855" y="2287"/>
                    <a:pt x="4633" y="2288"/>
                    <a:pt x="4411" y="2292"/>
                  </a:cubicBezTo>
                  <a:cubicBezTo>
                    <a:pt x="4333" y="2344"/>
                    <a:pt x="4274" y="2385"/>
                    <a:pt x="4182" y="2412"/>
                  </a:cubicBezTo>
                  <a:cubicBezTo>
                    <a:pt x="3522" y="2405"/>
                    <a:pt x="3474" y="2445"/>
                    <a:pt x="3080" y="2379"/>
                  </a:cubicBezTo>
                  <a:cubicBezTo>
                    <a:pt x="2909" y="2309"/>
                    <a:pt x="2705" y="2326"/>
                    <a:pt x="2524" y="2314"/>
                  </a:cubicBezTo>
                  <a:cubicBezTo>
                    <a:pt x="2337" y="2283"/>
                    <a:pt x="2406" y="2293"/>
                    <a:pt x="2088" y="2303"/>
                  </a:cubicBezTo>
                  <a:cubicBezTo>
                    <a:pt x="1689" y="2398"/>
                    <a:pt x="1274" y="2399"/>
                    <a:pt x="866" y="2412"/>
                  </a:cubicBezTo>
                  <a:cubicBezTo>
                    <a:pt x="768" y="2422"/>
                    <a:pt x="669" y="2434"/>
                    <a:pt x="571" y="2444"/>
                  </a:cubicBezTo>
                  <a:cubicBezTo>
                    <a:pt x="510" y="2464"/>
                    <a:pt x="515" y="2467"/>
                    <a:pt x="418" y="2444"/>
                  </a:cubicBezTo>
                  <a:cubicBezTo>
                    <a:pt x="407" y="2441"/>
                    <a:pt x="440" y="2438"/>
                    <a:pt x="451" y="2434"/>
                  </a:cubicBezTo>
                  <a:cubicBezTo>
                    <a:pt x="470" y="2427"/>
                    <a:pt x="488" y="2420"/>
                    <a:pt x="506" y="2412"/>
                  </a:cubicBezTo>
                  <a:cubicBezTo>
                    <a:pt x="639" y="2351"/>
                    <a:pt x="510" y="2385"/>
                    <a:pt x="746" y="2357"/>
                  </a:cubicBezTo>
                  <a:cubicBezTo>
                    <a:pt x="1105" y="2314"/>
                    <a:pt x="1452" y="2284"/>
                    <a:pt x="1815" y="2259"/>
                  </a:cubicBezTo>
                  <a:cubicBezTo>
                    <a:pt x="1924" y="2252"/>
                    <a:pt x="2142" y="2237"/>
                    <a:pt x="2142" y="2237"/>
                  </a:cubicBezTo>
                  <a:cubicBezTo>
                    <a:pt x="2237" y="2223"/>
                    <a:pt x="2331" y="2208"/>
                    <a:pt x="2426" y="2194"/>
                  </a:cubicBezTo>
                  <a:cubicBezTo>
                    <a:pt x="2519" y="2180"/>
                    <a:pt x="2617" y="2141"/>
                    <a:pt x="2709" y="2117"/>
                  </a:cubicBezTo>
                  <a:cubicBezTo>
                    <a:pt x="2724" y="2106"/>
                    <a:pt x="2771" y="2085"/>
                    <a:pt x="2753" y="2084"/>
                  </a:cubicBezTo>
                  <a:cubicBezTo>
                    <a:pt x="2361" y="2061"/>
                    <a:pt x="1968" y="2074"/>
                    <a:pt x="1575" y="2063"/>
                  </a:cubicBezTo>
                  <a:cubicBezTo>
                    <a:pt x="1524" y="2059"/>
                    <a:pt x="1473" y="2054"/>
                    <a:pt x="1422" y="2052"/>
                  </a:cubicBezTo>
                  <a:cubicBezTo>
                    <a:pt x="1247" y="2043"/>
                    <a:pt x="898" y="2030"/>
                    <a:pt x="898" y="2030"/>
                  </a:cubicBezTo>
                  <a:cubicBezTo>
                    <a:pt x="895" y="2030"/>
                    <a:pt x="702" y="2019"/>
                    <a:pt x="669" y="1986"/>
                  </a:cubicBezTo>
                  <a:cubicBezTo>
                    <a:pt x="658" y="1976"/>
                    <a:pt x="662" y="1957"/>
                    <a:pt x="658" y="1943"/>
                  </a:cubicBezTo>
                  <a:cubicBezTo>
                    <a:pt x="711" y="1784"/>
                    <a:pt x="970" y="1800"/>
                    <a:pt x="1106" y="1779"/>
                  </a:cubicBezTo>
                  <a:cubicBezTo>
                    <a:pt x="1350" y="1592"/>
                    <a:pt x="1099" y="1798"/>
                    <a:pt x="408" y="1735"/>
                  </a:cubicBezTo>
                  <a:cubicBezTo>
                    <a:pt x="387" y="1733"/>
                    <a:pt x="421" y="1690"/>
                    <a:pt x="440" y="1681"/>
                  </a:cubicBezTo>
                  <a:cubicBezTo>
                    <a:pt x="523" y="1641"/>
                    <a:pt x="699" y="1626"/>
                    <a:pt x="789" y="1615"/>
                  </a:cubicBezTo>
                  <a:cubicBezTo>
                    <a:pt x="800" y="1608"/>
                    <a:pt x="820" y="1607"/>
                    <a:pt x="822" y="1594"/>
                  </a:cubicBezTo>
                  <a:cubicBezTo>
                    <a:pt x="825" y="1574"/>
                    <a:pt x="802" y="1559"/>
                    <a:pt x="800" y="1539"/>
                  </a:cubicBezTo>
                  <a:cubicBezTo>
                    <a:pt x="795" y="1486"/>
                    <a:pt x="832" y="1420"/>
                    <a:pt x="855" y="1375"/>
                  </a:cubicBezTo>
                  <a:cubicBezTo>
                    <a:pt x="773" y="1335"/>
                    <a:pt x="690" y="1339"/>
                    <a:pt x="604" y="1310"/>
                  </a:cubicBezTo>
                  <a:cubicBezTo>
                    <a:pt x="629" y="1202"/>
                    <a:pt x="636" y="1163"/>
                    <a:pt x="691" y="1081"/>
                  </a:cubicBezTo>
                  <a:cubicBezTo>
                    <a:pt x="698" y="1045"/>
                    <a:pt x="699" y="1006"/>
                    <a:pt x="713" y="972"/>
                  </a:cubicBezTo>
                  <a:cubicBezTo>
                    <a:pt x="722" y="950"/>
                    <a:pt x="744" y="937"/>
                    <a:pt x="757" y="917"/>
                  </a:cubicBezTo>
                  <a:cubicBezTo>
                    <a:pt x="791" y="866"/>
                    <a:pt x="824" y="812"/>
                    <a:pt x="844" y="754"/>
                  </a:cubicBezTo>
                  <a:cubicBezTo>
                    <a:pt x="840" y="721"/>
                    <a:pt x="843" y="687"/>
                    <a:pt x="833" y="655"/>
                  </a:cubicBezTo>
                  <a:cubicBezTo>
                    <a:pt x="828" y="638"/>
                    <a:pt x="813" y="624"/>
                    <a:pt x="800" y="612"/>
                  </a:cubicBezTo>
                  <a:cubicBezTo>
                    <a:pt x="735" y="552"/>
                    <a:pt x="605" y="445"/>
                    <a:pt x="517" y="415"/>
                  </a:cubicBezTo>
                  <a:cubicBezTo>
                    <a:pt x="464" y="364"/>
                    <a:pt x="403" y="346"/>
                    <a:pt x="331" y="328"/>
                  </a:cubicBezTo>
                  <a:cubicBezTo>
                    <a:pt x="301" y="320"/>
                    <a:pt x="274" y="302"/>
                    <a:pt x="244" y="295"/>
                  </a:cubicBezTo>
                  <a:cubicBezTo>
                    <a:pt x="201" y="285"/>
                    <a:pt x="113" y="274"/>
                    <a:pt x="113" y="274"/>
                  </a:cubicBezTo>
                  <a:cubicBezTo>
                    <a:pt x="91" y="263"/>
                    <a:pt x="71" y="250"/>
                    <a:pt x="48" y="241"/>
                  </a:cubicBezTo>
                  <a:cubicBezTo>
                    <a:pt x="34" y="235"/>
                    <a:pt x="0" y="244"/>
                    <a:pt x="4" y="230"/>
                  </a:cubicBezTo>
                  <a:cubicBezTo>
                    <a:pt x="10" y="211"/>
                    <a:pt x="39" y="210"/>
                    <a:pt x="58" y="208"/>
                  </a:cubicBezTo>
                  <a:cubicBezTo>
                    <a:pt x="181" y="198"/>
                    <a:pt x="305" y="201"/>
                    <a:pt x="429" y="197"/>
                  </a:cubicBezTo>
                  <a:cubicBezTo>
                    <a:pt x="524" y="185"/>
                    <a:pt x="618" y="169"/>
                    <a:pt x="713" y="154"/>
                  </a:cubicBezTo>
                  <a:cubicBezTo>
                    <a:pt x="724" y="157"/>
                    <a:pt x="743" y="153"/>
                    <a:pt x="746" y="164"/>
                  </a:cubicBezTo>
                  <a:cubicBezTo>
                    <a:pt x="754" y="195"/>
                    <a:pt x="705" y="203"/>
                    <a:pt x="691" y="208"/>
                  </a:cubicBezTo>
                  <a:close/>
                </a:path>
              </a:pathLst>
            </a:custGeom>
            <a:solidFill>
              <a:srgbClr val="0000FF">
                <a:alpha val="50195"/>
              </a:srgbClr>
            </a:solidFill>
            <a:ln w="12700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76" name="WordArt 4"/>
            <p:cNvSpPr>
              <a:spLocks noTextEdit="1"/>
            </p:cNvSpPr>
            <p:nvPr/>
          </p:nvSpPr>
          <p:spPr>
            <a:xfrm>
              <a:off x="1104" y="1008"/>
              <a:ext cx="3408" cy="2544"/>
            </a:xfrm>
            <a:prstGeom prst="rect">
              <a:avLst/>
            </a:prstGeom>
          </p:spPr>
          <p:txBody>
            <a:bodyPr wrap="none" fromWordArt="1">
              <a:prstTxWarp prst="textCascadeUp">
                <a:avLst>
                  <a:gd name="adj" fmla="val 81380"/>
                </a:avLst>
              </a:prstTxWarp>
              <a:normAutofit/>
              <a:scene3d>
                <a:camera prst="legacyPerspectiveFront">
                  <a:rot lat="20520000" lon="1080000" rev="0"/>
                </a:camera>
                <a:lightRig rig="legacyHarsh2" dir="b"/>
              </a:scene3d>
              <a:sp3d extrusionH="430200" prstMaterial="legacyMatte">
                <a:extrusionClr>
                  <a:srgbClr val="FF6600"/>
                </a:extrusionClr>
              </a:sp3d>
            </a:bodyPr>
            <a:lstStyle/>
            <a:p>
              <a:pPr algn="ctr"/>
              <a:r>
                <a:rPr lang="zh-CN" altLang="en-US" sz="3600">
                  <a:gradFill rotWithShape="1">
                    <a:gsLst>
                      <a:gs pos="0">
                        <a:srgbClr val="FFE701"/>
                      </a:gs>
                      <a:gs pos="100000">
                        <a:srgbClr val="FE3E02"/>
                      </a:gs>
                    </a:gsLst>
                    <a:lin ang="5400000" scaled="1"/>
                    <a:tileRect/>
                  </a:gradFill>
                  <a:latin typeface="Impact" panose="020B0806030902050204" charset="0"/>
                  <a:ea typeface="Impact" panose="020B0806030902050204" charset="0"/>
                </a:rPr>
                <a:t>The end . . . </a:t>
              </a:r>
              <a:endParaRPr lang="zh-CN" altLang="en-US" sz="3600"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  <a:tileRect/>
                </a:gradFill>
                <a:latin typeface="Impact" panose="020B0806030902050204" charset="0"/>
                <a:ea typeface="Impact" panose="020B0806030902050204" charset="0"/>
              </a:endParaRPr>
            </a:p>
            <a:p>
              <a:pPr algn="ctr"/>
              <a:r>
                <a:rPr lang="zh-CN" altLang="en-US" sz="3600">
                  <a:gradFill rotWithShape="1">
                    <a:gsLst>
                      <a:gs pos="0">
                        <a:srgbClr val="FFE701"/>
                      </a:gs>
                      <a:gs pos="100000">
                        <a:srgbClr val="FE3E02"/>
                      </a:gs>
                    </a:gsLst>
                    <a:lin ang="5400000" scaled="1"/>
                    <a:tileRect/>
                  </a:gradFill>
                  <a:latin typeface="Impact" panose="020B0806030902050204" charset="0"/>
                  <a:ea typeface="Impact" panose="020B0806030902050204" charset="0"/>
                </a:rPr>
                <a:t>thank you for</a:t>
              </a:r>
              <a:endParaRPr lang="zh-CN" altLang="en-US" sz="3600"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  <a:tileRect/>
                </a:gradFill>
                <a:latin typeface="Impact" panose="020B0806030902050204" charset="0"/>
                <a:ea typeface="Impact" panose="020B0806030902050204" charset="0"/>
              </a:endParaRPr>
            </a:p>
            <a:p>
              <a:pPr algn="ctr"/>
              <a:r>
                <a:rPr lang="zh-CN" altLang="en-US" sz="3600">
                  <a:gradFill rotWithShape="1">
                    <a:gsLst>
                      <a:gs pos="0">
                        <a:srgbClr val="FFE701"/>
                      </a:gs>
                      <a:gs pos="100000">
                        <a:srgbClr val="FE3E02"/>
                      </a:gs>
                    </a:gsLst>
                    <a:lin ang="5400000" scaled="1"/>
                    <a:tileRect/>
                  </a:gradFill>
                  <a:latin typeface="Impact" panose="020B0806030902050204" charset="0"/>
                  <a:ea typeface="Impact" panose="020B0806030902050204" charset="0"/>
                </a:rPr>
                <a:t>listening</a:t>
              </a:r>
              <a:endParaRPr lang="zh-CN" altLang="en-US" sz="3600"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  <a:tileRect/>
                </a:gradFill>
                <a:latin typeface="Impact" panose="020B0806030902050204" charset="0"/>
                <a:ea typeface="Impact" panose="020B080603090205020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UNIT_TABLE_BEAUTIFY" val="smartTable{1e19c23f-08e1-41a0-966a-ea67d5b72e02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UNIT_TABLE_BEAUTIFY" val="smartTable{99488fd1-98d8-4d06-a52e-5b806d2ac7c0}"/>
</p:tagLst>
</file>

<file path=ppt/tags/tag97.xml><?xml version="1.0" encoding="utf-8"?>
<p:tagLst xmlns:p="http://schemas.openxmlformats.org/presentationml/2006/main">
  <p:tag name="KSO_WM_UNIT_TABLE_BEAUTIFY" val="smartTable{9b556186-d8e7-4d8b-981d-a6703583a5b5}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UNIT_TABLE_BEAUTIFY" val="smartTable{a96c83c7-4c9d-45b9-94b2-37e1a43e99d3}"/>
</p:tagLst>
</file>

<file path=ppt/tags/tag100.xml><?xml version="1.0" encoding="utf-8"?>
<p:tagLst xmlns:p="http://schemas.openxmlformats.org/presentationml/2006/main">
  <p:tag name="KSO_WPP_MARK_KEY" val="21a6977f-ecd9-497c-afab-81f0e28a0cbb"/>
  <p:tag name="COMMONDATA" val="eyJoZGlkIjoiZjQxNWI2MDg3NGFlNmMwMzQ4ZjI4ZTAwNDZhMTgwYzUifQ=="/>
  <p:tag name="commondata" val="eyJoZGlkIjoiOWI0NzFjMGI2NTNkYjBiZWI4N2UxNWMwMDkxYTE3Y2Y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FF99FF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 cap="flat" cmpd="sng">
          <a:solidFill>
            <a:srgbClr val="FFC000"/>
          </a:solidFill>
          <a:prstDash val="solid"/>
          <a:headEnd type="none" w="med" len="med"/>
          <a:tailEnd type="none" w="med" len="med"/>
        </a:ln>
      </a:spPr>
      <a:bodyPr wrap="none" anchor="ctr" anchorCtr="0"/>
      <a:lstStyle>
        <a:defPPr marL="0" lvl="0" indent="0" algn="ctr" eaLnBrk="1" hangingPunct="1">
          <a:spcBef>
            <a:spcPct val="0"/>
          </a:spcBef>
          <a:defRPr lang="zh-CN" altLang="en-US" sz="24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 cap="flat" cmpd="sng">
          <a:solidFill>
            <a:srgbClr val="FFC000"/>
          </a:solidFill>
          <a:prstDash val="solid"/>
          <a:headEnd type="none" w="med" len="med"/>
          <a:tailEnd type="none" w="med" len="med"/>
        </a:ln>
      </a:spPr>
      <a:bodyPr wrap="none" anchor="ctr" anchorCtr="0"/>
      <a:lstStyle>
        <a:defPPr marL="0" lvl="0" indent="0" algn="ctr" eaLnBrk="1" hangingPunct="1">
          <a:spcBef>
            <a:spcPct val="0"/>
          </a:spcBef>
          <a:defRPr lang="zh-CN" altLang="en-US" sz="24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22846</Words>
  <Application>WPS 演示</Application>
  <PresentationFormat>全屏显示(4:3)</PresentationFormat>
  <Paragraphs>4261</Paragraphs>
  <Slides>91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91</vt:i4>
      </vt:variant>
    </vt:vector>
  </HeadingPairs>
  <TitlesOfParts>
    <vt:vector size="111" baseType="lpstr">
      <vt:lpstr>Arial</vt:lpstr>
      <vt:lpstr>宋体</vt:lpstr>
      <vt:lpstr>Wingdings</vt:lpstr>
      <vt:lpstr>Times New Roman</vt:lpstr>
      <vt:lpstr>楷体_GB2312</vt:lpstr>
      <vt:lpstr>新宋体</vt:lpstr>
      <vt:lpstr>隶书</vt:lpstr>
      <vt:lpstr>微软雅黑</vt:lpstr>
      <vt:lpstr>Wingdings</vt:lpstr>
      <vt:lpstr>黑体</vt:lpstr>
      <vt:lpstr>Symbol</vt:lpstr>
      <vt:lpstr>Arial Unicode MS</vt:lpstr>
      <vt:lpstr>等线</vt:lpstr>
      <vt:lpstr>仿宋</vt:lpstr>
      <vt:lpstr>微软雅黑 Light</vt:lpstr>
      <vt:lpstr>Impact</vt:lpstr>
      <vt:lpstr>默认设计模板</vt:lpstr>
      <vt:lpstr>Office 主题​​</vt:lpstr>
      <vt:lpstr>1_Office 主题​​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xdup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</dc:title>
  <dc:creator>kj3</dc:creator>
  <cp:lastModifiedBy>崔克彬</cp:lastModifiedBy>
  <cp:revision>948</cp:revision>
  <cp:lastPrinted>2019-10-30T09:30:00Z</cp:lastPrinted>
  <dcterms:created xsi:type="dcterms:W3CDTF">2002-08-29T06:53:00Z</dcterms:created>
  <dcterms:modified xsi:type="dcterms:W3CDTF">2024-01-15T06:40:45Z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2DCAAA049F6541CEAA32A38C86F9F5B2_13</vt:lpwstr>
  </property>
</Properties>
</file>